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tags/tag14.xml" ContentType="application/vnd.openxmlformats-officedocument.presentationml.tags+xml"/>
  <Override PartName="/ppt/tags/tag12.xml" ContentType="application/vnd.openxmlformats-officedocument.presentationml.tags+xml"/>
  <Override PartName="/customXml/itemProps4.xml" ContentType="application/vnd.openxmlformats-officedocument.customXmlPropertie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tags/tag15.xml" ContentType="application/vnd.openxmlformats-officedocument.presentationml.tags+xml"/>
  <Override PartName="/ppt/tags/tag13.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5"/>
    <p:sldMasterId id="2147483651" r:id="rId6"/>
  </p:sldMasterIdLst>
  <p:notesMasterIdLst>
    <p:notesMasterId r:id="rId36"/>
  </p:notesMasterIdLst>
  <p:handoutMasterIdLst>
    <p:handoutMasterId r:id="rId37"/>
  </p:handoutMasterIdLst>
  <p:sldIdLst>
    <p:sldId id="427" r:id="rId7"/>
    <p:sldId id="275" r:id="rId8"/>
    <p:sldId id="430" r:id="rId9"/>
    <p:sldId id="431" r:id="rId10"/>
    <p:sldId id="498" r:id="rId11"/>
    <p:sldId id="497" r:id="rId12"/>
    <p:sldId id="499" r:id="rId13"/>
    <p:sldId id="500" r:id="rId14"/>
    <p:sldId id="501" r:id="rId15"/>
    <p:sldId id="502" r:id="rId16"/>
    <p:sldId id="503" r:id="rId17"/>
    <p:sldId id="504" r:id="rId18"/>
    <p:sldId id="505" r:id="rId19"/>
    <p:sldId id="506" r:id="rId20"/>
    <p:sldId id="507" r:id="rId21"/>
    <p:sldId id="508" r:id="rId22"/>
    <p:sldId id="509" r:id="rId23"/>
    <p:sldId id="510" r:id="rId24"/>
    <p:sldId id="511" r:id="rId25"/>
    <p:sldId id="512" r:id="rId26"/>
    <p:sldId id="513" r:id="rId27"/>
    <p:sldId id="514" r:id="rId28"/>
    <p:sldId id="515" r:id="rId29"/>
    <p:sldId id="521" r:id="rId30"/>
    <p:sldId id="516" r:id="rId31"/>
    <p:sldId id="517" r:id="rId32"/>
    <p:sldId id="518" r:id="rId33"/>
    <p:sldId id="519" r:id="rId34"/>
    <p:sldId id="494" r:id="rId35"/>
  </p:sldIdLst>
  <p:sldSz cx="10693400" cy="7561263"/>
  <p:notesSz cx="6986588" cy="9271000"/>
  <p:custDataLst>
    <p:tags r:id="rId38"/>
  </p:custDataLst>
  <p:defaultTextStyle>
    <a:defPPr>
      <a:defRPr lang="de-DE"/>
    </a:defPPr>
    <a:lvl1pPr algn="l" rtl="0" eaLnBrk="0" fontAlgn="base" hangingPunct="0">
      <a:spcBef>
        <a:spcPct val="0"/>
      </a:spcBef>
      <a:spcAft>
        <a:spcPct val="0"/>
      </a:spcAft>
      <a:defRPr sz="2200" b="1" kern="1200">
        <a:solidFill>
          <a:schemeClr val="tx1"/>
        </a:solidFill>
        <a:latin typeface="Arial" charset="0"/>
        <a:ea typeface="+mn-ea"/>
        <a:cs typeface="+mn-cs"/>
      </a:defRPr>
    </a:lvl1pPr>
    <a:lvl2pPr marL="457200" algn="l" rtl="0" eaLnBrk="0" fontAlgn="base" hangingPunct="0">
      <a:spcBef>
        <a:spcPct val="0"/>
      </a:spcBef>
      <a:spcAft>
        <a:spcPct val="0"/>
      </a:spcAft>
      <a:defRPr sz="2200" b="1" kern="1200">
        <a:solidFill>
          <a:schemeClr val="tx1"/>
        </a:solidFill>
        <a:latin typeface="Arial" charset="0"/>
        <a:ea typeface="+mn-ea"/>
        <a:cs typeface="+mn-cs"/>
      </a:defRPr>
    </a:lvl2pPr>
    <a:lvl3pPr marL="914400" algn="l" rtl="0" eaLnBrk="0" fontAlgn="base" hangingPunct="0">
      <a:spcBef>
        <a:spcPct val="0"/>
      </a:spcBef>
      <a:spcAft>
        <a:spcPct val="0"/>
      </a:spcAft>
      <a:defRPr sz="2200" b="1" kern="1200">
        <a:solidFill>
          <a:schemeClr val="tx1"/>
        </a:solidFill>
        <a:latin typeface="Arial" charset="0"/>
        <a:ea typeface="+mn-ea"/>
        <a:cs typeface="+mn-cs"/>
      </a:defRPr>
    </a:lvl3pPr>
    <a:lvl4pPr marL="1371600" algn="l" rtl="0" eaLnBrk="0" fontAlgn="base" hangingPunct="0">
      <a:spcBef>
        <a:spcPct val="0"/>
      </a:spcBef>
      <a:spcAft>
        <a:spcPct val="0"/>
      </a:spcAft>
      <a:defRPr sz="2200" b="1" kern="1200">
        <a:solidFill>
          <a:schemeClr val="tx1"/>
        </a:solidFill>
        <a:latin typeface="Arial" charset="0"/>
        <a:ea typeface="+mn-ea"/>
        <a:cs typeface="+mn-cs"/>
      </a:defRPr>
    </a:lvl4pPr>
    <a:lvl5pPr marL="1828800" algn="l" rtl="0" eaLnBrk="0" fontAlgn="base" hangingPunct="0">
      <a:spcBef>
        <a:spcPct val="0"/>
      </a:spcBef>
      <a:spcAft>
        <a:spcPct val="0"/>
      </a:spcAft>
      <a:defRPr sz="2200" b="1" kern="1200">
        <a:solidFill>
          <a:schemeClr val="tx1"/>
        </a:solidFill>
        <a:latin typeface="Arial" charset="0"/>
        <a:ea typeface="+mn-ea"/>
        <a:cs typeface="+mn-cs"/>
      </a:defRPr>
    </a:lvl5pPr>
    <a:lvl6pPr marL="2286000" algn="l" defTabSz="914400" rtl="0" eaLnBrk="1" latinLnBrk="0" hangingPunct="1">
      <a:defRPr sz="2200" b="1" kern="1200">
        <a:solidFill>
          <a:schemeClr val="tx1"/>
        </a:solidFill>
        <a:latin typeface="Arial" charset="0"/>
        <a:ea typeface="+mn-ea"/>
        <a:cs typeface="+mn-cs"/>
      </a:defRPr>
    </a:lvl6pPr>
    <a:lvl7pPr marL="2743200" algn="l" defTabSz="914400" rtl="0" eaLnBrk="1" latinLnBrk="0" hangingPunct="1">
      <a:defRPr sz="2200" b="1" kern="1200">
        <a:solidFill>
          <a:schemeClr val="tx1"/>
        </a:solidFill>
        <a:latin typeface="Arial" charset="0"/>
        <a:ea typeface="+mn-ea"/>
        <a:cs typeface="+mn-cs"/>
      </a:defRPr>
    </a:lvl7pPr>
    <a:lvl8pPr marL="3200400" algn="l" defTabSz="914400" rtl="0" eaLnBrk="1" latinLnBrk="0" hangingPunct="1">
      <a:defRPr sz="2200" b="1" kern="1200">
        <a:solidFill>
          <a:schemeClr val="tx1"/>
        </a:solidFill>
        <a:latin typeface="Arial" charset="0"/>
        <a:ea typeface="+mn-ea"/>
        <a:cs typeface="+mn-cs"/>
      </a:defRPr>
    </a:lvl8pPr>
    <a:lvl9pPr marL="3657600" algn="l" defTabSz="914400" rtl="0" eaLnBrk="1" latinLnBrk="0" hangingPunct="1">
      <a:defRPr sz="22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9E9E9E"/>
    <a:srgbClr val="747474"/>
    <a:srgbClr val="545454"/>
    <a:srgbClr val="FFCC99"/>
    <a:srgbClr val="FFCCFF"/>
    <a:srgbClr val="CCFFFF"/>
    <a:srgbClr val="CCFFCC"/>
    <a:srgbClr val="99FF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79" autoAdjust="0"/>
    <p:restoredTop sz="95374" autoAdjust="0"/>
  </p:normalViewPr>
  <p:slideViewPr>
    <p:cSldViewPr>
      <p:cViewPr>
        <p:scale>
          <a:sx n="75" d="100"/>
          <a:sy n="75" d="100"/>
        </p:scale>
        <p:origin x="-2388" y="-708"/>
      </p:cViewPr>
      <p:guideLst>
        <p:guide orient="horz" pos="4116"/>
        <p:guide orient="horz" pos="470"/>
        <p:guide orient="horz" pos="941"/>
        <p:guide orient="horz" pos="3881"/>
        <p:guide pos="3669"/>
        <p:guide pos="5112"/>
        <p:guide pos="6556"/>
        <p:guide pos="2225"/>
        <p:guide pos="1143"/>
        <p:guide pos="24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2"/>
    </p:cViewPr>
  </p:sorterViewPr>
  <p:notesViewPr>
    <p:cSldViewPr>
      <p:cViewPr>
        <p:scale>
          <a:sx n="100" d="100"/>
          <a:sy n="100" d="100"/>
        </p:scale>
        <p:origin x="-1848" y="-72"/>
      </p:cViewPr>
      <p:guideLst>
        <p:guide orient="horz" pos="2920"/>
        <p:guide pos="2201"/>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2786"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502787" name="Rectangle 3"/>
          <p:cNvSpPr>
            <a:spLocks noGrp="1" noChangeArrowheads="1"/>
          </p:cNvSpPr>
          <p:nvPr>
            <p:ph type="dt" sz="quarter" idx="1"/>
          </p:nvPr>
        </p:nvSpPr>
        <p:spPr bwMode="auto">
          <a:xfrm>
            <a:off x="3957638" y="0"/>
            <a:ext cx="3027362"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2788" name="Rectangle 4"/>
          <p:cNvSpPr>
            <a:spLocks noGrp="1" noChangeArrowheads="1"/>
          </p:cNvSpPr>
          <p:nvPr>
            <p:ph type="ftr" sz="quarter" idx="2"/>
          </p:nvPr>
        </p:nvSpPr>
        <p:spPr bwMode="auto">
          <a:xfrm>
            <a:off x="0" y="8805863"/>
            <a:ext cx="3027363"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502789" name="Rectangle 5"/>
          <p:cNvSpPr>
            <a:spLocks noGrp="1" noChangeArrowheads="1"/>
          </p:cNvSpPr>
          <p:nvPr>
            <p:ph type="sldNum" sz="quarter" idx="3"/>
          </p:nvPr>
        </p:nvSpPr>
        <p:spPr bwMode="auto">
          <a:xfrm>
            <a:off x="3957638" y="8805863"/>
            <a:ext cx="3027362"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8B11E1E6-42B4-4FC6-8413-5C215F3CEFA6}" type="slidenum">
              <a:rPr lang="en-US"/>
              <a:pPr>
                <a:defRPr/>
              </a:pPr>
              <a:t>‹#›</a:t>
            </a:fld>
            <a:endParaRPr lang="en-US"/>
          </a:p>
        </p:txBody>
      </p:sp>
    </p:spTree>
    <p:extLst>
      <p:ext uri="{BB962C8B-B14F-4D97-AF65-F5344CB8AC3E}">
        <p14:creationId xmlns:p14="http://schemas.microsoft.com/office/powerpoint/2010/main" xmlns="" val="285758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894" tIns="46447" rIns="92894" bIns="46447" numCol="1" anchor="t" anchorCtr="0" compatLnSpc="1">
            <a:prstTxWarp prst="textNoShape">
              <a:avLst/>
            </a:prstTxWarp>
          </a:bodyPr>
          <a:lstStyle>
            <a:lvl1pPr defTabSz="928688">
              <a:defRPr sz="1200" b="0" smtClean="0">
                <a:latin typeface="Times New Roman" pitchFamily="18" charset="0"/>
              </a:defRPr>
            </a:lvl1pPr>
          </a:lstStyle>
          <a:p>
            <a:pPr>
              <a:defRPr/>
            </a:pPr>
            <a:endParaRPr lang="en-GB"/>
          </a:p>
        </p:txBody>
      </p:sp>
      <p:sp>
        <p:nvSpPr>
          <p:cNvPr id="19459" name="Rectangle 3"/>
          <p:cNvSpPr>
            <a:spLocks noGrp="1" noChangeArrowheads="1"/>
          </p:cNvSpPr>
          <p:nvPr>
            <p:ph type="dt" idx="1"/>
          </p:nvPr>
        </p:nvSpPr>
        <p:spPr bwMode="auto">
          <a:xfrm>
            <a:off x="3959225" y="0"/>
            <a:ext cx="3027363" cy="463550"/>
          </a:xfrm>
          <a:prstGeom prst="rect">
            <a:avLst/>
          </a:prstGeom>
          <a:noFill/>
          <a:ln w="9525">
            <a:noFill/>
            <a:miter lim="800000"/>
            <a:headEnd/>
            <a:tailEnd/>
          </a:ln>
          <a:effectLst/>
        </p:spPr>
        <p:txBody>
          <a:bodyPr vert="horz" wrap="square" lIns="92894" tIns="46447" rIns="92894" bIns="46447" numCol="1" anchor="t" anchorCtr="0" compatLnSpc="1">
            <a:prstTxWarp prst="textNoShape">
              <a:avLst/>
            </a:prstTxWarp>
          </a:bodyPr>
          <a:lstStyle>
            <a:lvl1pPr algn="r" defTabSz="928688">
              <a:defRPr sz="1200" b="0" smtClean="0">
                <a:latin typeface="Times New Roman" pitchFamily="18" charset="0"/>
              </a:defRPr>
            </a:lvl1pPr>
          </a:lstStyle>
          <a:p>
            <a:pPr>
              <a:defRPr/>
            </a:pPr>
            <a:endParaRPr lang="en-GB"/>
          </a:p>
        </p:txBody>
      </p:sp>
      <p:sp>
        <p:nvSpPr>
          <p:cNvPr id="77828" name="Rectangle 4"/>
          <p:cNvSpPr>
            <a:spLocks noGrp="1" noRot="1" noChangeAspect="1" noChangeArrowheads="1" noTextEdit="1"/>
          </p:cNvSpPr>
          <p:nvPr>
            <p:ph type="sldImg" idx="2"/>
          </p:nvPr>
        </p:nvSpPr>
        <p:spPr bwMode="auto">
          <a:xfrm>
            <a:off x="1035050" y="695325"/>
            <a:ext cx="4914900" cy="3476625"/>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931863" y="4403725"/>
            <a:ext cx="5122862" cy="4171950"/>
          </a:xfrm>
          <a:prstGeom prst="rect">
            <a:avLst/>
          </a:prstGeom>
          <a:noFill/>
          <a:ln w="9525">
            <a:noFill/>
            <a:miter lim="800000"/>
            <a:headEnd/>
            <a:tailEnd/>
          </a:ln>
          <a:effectLst/>
        </p:spPr>
        <p:txBody>
          <a:bodyPr vert="horz" wrap="square" lIns="92894" tIns="46447" rIns="92894" bIns="46447"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9462" name="Rectangle 6"/>
          <p:cNvSpPr>
            <a:spLocks noGrp="1" noChangeArrowheads="1"/>
          </p:cNvSpPr>
          <p:nvPr>
            <p:ph type="ftr" sz="quarter" idx="4"/>
          </p:nvPr>
        </p:nvSpPr>
        <p:spPr bwMode="auto">
          <a:xfrm>
            <a:off x="0" y="8807450"/>
            <a:ext cx="3027363" cy="463550"/>
          </a:xfrm>
          <a:prstGeom prst="rect">
            <a:avLst/>
          </a:prstGeom>
          <a:noFill/>
          <a:ln w="9525">
            <a:noFill/>
            <a:miter lim="800000"/>
            <a:headEnd/>
            <a:tailEnd/>
          </a:ln>
          <a:effectLst/>
        </p:spPr>
        <p:txBody>
          <a:bodyPr vert="horz" wrap="square" lIns="92894" tIns="46447" rIns="92894" bIns="46447" numCol="1" anchor="b" anchorCtr="0" compatLnSpc="1">
            <a:prstTxWarp prst="textNoShape">
              <a:avLst/>
            </a:prstTxWarp>
          </a:bodyPr>
          <a:lstStyle>
            <a:lvl1pPr defTabSz="928688">
              <a:defRPr sz="1200" b="0" smtClean="0">
                <a:latin typeface="Times New Roman" pitchFamily="18" charset="0"/>
              </a:defRPr>
            </a:lvl1pPr>
          </a:lstStyle>
          <a:p>
            <a:pPr>
              <a:defRPr/>
            </a:pPr>
            <a:endParaRPr lang="en-GB"/>
          </a:p>
        </p:txBody>
      </p:sp>
      <p:sp>
        <p:nvSpPr>
          <p:cNvPr id="19463" name="Rectangle 7"/>
          <p:cNvSpPr>
            <a:spLocks noGrp="1" noChangeArrowheads="1"/>
          </p:cNvSpPr>
          <p:nvPr>
            <p:ph type="sldNum" sz="quarter" idx="5"/>
          </p:nvPr>
        </p:nvSpPr>
        <p:spPr bwMode="auto">
          <a:xfrm>
            <a:off x="3959225" y="8807450"/>
            <a:ext cx="3027363" cy="463550"/>
          </a:xfrm>
          <a:prstGeom prst="rect">
            <a:avLst/>
          </a:prstGeom>
          <a:noFill/>
          <a:ln w="9525">
            <a:noFill/>
            <a:miter lim="800000"/>
            <a:headEnd/>
            <a:tailEnd/>
          </a:ln>
          <a:effectLst/>
        </p:spPr>
        <p:txBody>
          <a:bodyPr vert="horz" wrap="square" lIns="92894" tIns="46447" rIns="92894" bIns="46447" numCol="1" anchor="b" anchorCtr="0" compatLnSpc="1">
            <a:prstTxWarp prst="textNoShape">
              <a:avLst/>
            </a:prstTxWarp>
          </a:bodyPr>
          <a:lstStyle>
            <a:lvl1pPr algn="r" defTabSz="928688">
              <a:defRPr sz="1200" b="0" smtClean="0">
                <a:latin typeface="Times New Roman" pitchFamily="18" charset="0"/>
              </a:defRPr>
            </a:lvl1pPr>
          </a:lstStyle>
          <a:p>
            <a:pPr>
              <a:defRPr/>
            </a:pPr>
            <a:fld id="{651A548D-BD3C-48B1-BE87-0837EC9EA82B}" type="slidenum">
              <a:rPr lang="en-GB"/>
              <a:pPr>
                <a:defRPr/>
              </a:pPr>
              <a:t>‹#›</a:t>
            </a:fld>
            <a:endParaRPr lang="en-GB"/>
          </a:p>
        </p:txBody>
      </p:sp>
    </p:spTree>
    <p:extLst>
      <p:ext uri="{BB962C8B-B14F-4D97-AF65-F5344CB8AC3E}">
        <p14:creationId xmlns:p14="http://schemas.microsoft.com/office/powerpoint/2010/main" xmlns="" val="3749049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34391203-CDB4-43D0-98C0-6D85DA189E46}" type="slidenum">
              <a:rPr lang="en-GB"/>
              <a:pPr/>
              <a:t>1</a:t>
            </a:fld>
            <a:endParaRPr lang="en-GB"/>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BD8EA246-78AC-4177-9519-64F301700295}" type="slidenum">
              <a:rPr lang="en-GB"/>
              <a:pPr/>
              <a:t>2</a:t>
            </a:fld>
            <a:endParaRPr lang="en-GB"/>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A02EA46E-27FC-4553-BF9C-AB7635A89CC9}" type="slidenum">
              <a:rPr lang="en-GB"/>
              <a:pPr/>
              <a:t>3</a:t>
            </a:fld>
            <a:endParaRPr lang="en-GB"/>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A0BB4CAA-2D13-4439-A62D-CFA7AE7AD466}" type="slidenum">
              <a:rPr lang="en-GB"/>
              <a:pPr/>
              <a:t>4</a:t>
            </a:fld>
            <a:endParaRPr lang="en-GB"/>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xfrm>
            <a:off x="698493" y="4404949"/>
            <a:ext cx="5589603" cy="4172172"/>
          </a:xfrm>
          <a:noFill/>
          <a:ln/>
        </p:spPr>
        <p:txBody>
          <a:bodyPr/>
          <a:lstStyle/>
          <a:p>
            <a:pPr eaLnBrk="1" hangingPunct="1"/>
            <a:endParaRPr lang="en-GB" altLang="zh-CN" smtClean="0"/>
          </a:p>
        </p:txBody>
      </p:sp>
      <p:sp>
        <p:nvSpPr>
          <p:cNvPr id="9220" name="Datumsplatzhalter 3"/>
          <p:cNvSpPr>
            <a:spLocks noGrp="1"/>
          </p:cNvSpPr>
          <p:nvPr>
            <p:ph type="dt" sz="quarter" idx="1"/>
          </p:nvPr>
        </p:nvSpPr>
        <p:spPr>
          <a:noFill/>
        </p:spPr>
        <p:txBody>
          <a:bodyPr/>
          <a:lstStyle/>
          <a:p>
            <a:fld id="{FB6B674A-269C-46E2-88AE-74F43FB3BACC}" type="datetime5">
              <a:rPr lang="de-DE" smtClean="0"/>
              <a:pPr/>
              <a:t>14-03-19</a:t>
            </a:fld>
            <a:endParaRPr lang="de-DE" smtClean="0"/>
          </a:p>
        </p:txBody>
      </p:sp>
      <p:sp>
        <p:nvSpPr>
          <p:cNvPr id="9221" name="Foliennummernplatzhalter 4"/>
          <p:cNvSpPr>
            <a:spLocks noGrp="1"/>
          </p:cNvSpPr>
          <p:nvPr>
            <p:ph type="sldNum" sz="quarter" idx="5"/>
          </p:nvPr>
        </p:nvSpPr>
        <p:spPr>
          <a:noFill/>
        </p:spPr>
        <p:txBody>
          <a:bodyPr/>
          <a:lstStyle/>
          <a:p>
            <a:fld id="{223A9F31-D381-4E2D-9B9C-14134214867B}" type="slidenum">
              <a:rPr lang="de-DE" smtClean="0"/>
              <a:pPr/>
              <a:t>29</a:t>
            </a:fld>
            <a:endParaRPr lang="de-DE"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688" y="2349500"/>
            <a:ext cx="9090025" cy="1620838"/>
          </a:xfrm>
        </p:spPr>
        <p:txBody>
          <a:bodyPr/>
          <a:lstStyle/>
          <a:p>
            <a:r>
              <a:rPr lang="en-US" smtClean="0"/>
              <a:t>Click to edit Master title style</a:t>
            </a:r>
            <a:endParaRPr lang="en-US"/>
          </a:p>
        </p:txBody>
      </p:sp>
      <p:sp>
        <p:nvSpPr>
          <p:cNvPr id="3" name="Subtitle 2"/>
          <p:cNvSpPr>
            <a:spLocks noGrp="1"/>
          </p:cNvSpPr>
          <p:nvPr>
            <p:ph type="subTitle" idx="1"/>
          </p:nvPr>
        </p:nvSpPr>
        <p:spPr>
          <a:xfrm>
            <a:off x="1603375" y="4284663"/>
            <a:ext cx="7486650" cy="1931987"/>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18423FD8-9BB6-42EC-B66E-3F6DF0B1C519}"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F00EA5BB-B354-47EA-A9B0-3240F140E159}"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9338"/>
            <a:ext cx="9090025"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44550" y="3205163"/>
            <a:ext cx="9090025"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671DBD9-A864-44B1-9878-732312442C0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4988" y="1763713"/>
            <a:ext cx="4735512" cy="499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22900" y="1763713"/>
            <a:ext cx="4735513" cy="499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EC17AE4-9EA3-4A2F-9A9C-90BF4BC4B878}"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34988" y="1692275"/>
            <a:ext cx="47244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4988" y="2397125"/>
            <a:ext cx="4724400"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432425" y="1692275"/>
            <a:ext cx="472598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432425" y="2397125"/>
            <a:ext cx="4725988"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413AAA41-1289-44F5-A496-91E7F6FFA90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1E48E070-CB69-49BB-940C-3F1807667C1B}"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92867A0C-3F86-49AF-97AC-81E77912496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81113"/>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181475" y="301625"/>
            <a:ext cx="5976938" cy="64531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34988" y="1582738"/>
            <a:ext cx="35179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1CFA61EC-6E2B-4C13-8841-CC5110453CC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2725"/>
            <a:ext cx="6416675" cy="62547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095500" y="676275"/>
            <a:ext cx="6416675" cy="45354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095500" y="5918200"/>
            <a:ext cx="6416675" cy="8874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D781FFF5-3ADF-44E3-ABB6-56E14D30EB5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3D226DA4-F327-4645-BA3B-E8D671E82BDD}"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3350" y="303213"/>
            <a:ext cx="2405063" cy="6451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4988" y="303213"/>
            <a:ext cx="7065962" cy="6451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997B1E6-EB2A-49BA-BB9E-01CC284F2380}"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4"/>
          <p:cNvGrpSpPr>
            <a:grpSpLocks/>
          </p:cNvGrpSpPr>
          <p:nvPr/>
        </p:nvGrpSpPr>
        <p:grpSpPr bwMode="auto">
          <a:xfrm>
            <a:off x="361950" y="987425"/>
            <a:ext cx="9969500" cy="5726113"/>
            <a:chOff x="228" y="622"/>
            <a:chExt cx="6280" cy="3607"/>
          </a:xfrm>
        </p:grpSpPr>
        <p:pic>
          <p:nvPicPr>
            <p:cNvPr id="4" name="Picture 5" descr="g_strich"/>
            <p:cNvPicPr>
              <a:picLocks noChangeArrowheads="1"/>
            </p:cNvPicPr>
            <p:nvPr userDrawn="1"/>
          </p:nvPicPr>
          <p:blipFill>
            <a:blip r:embed="rId2" cstate="print"/>
            <a:srcRect/>
            <a:stretch>
              <a:fillRect/>
            </a:stretch>
          </p:blipFill>
          <p:spPr bwMode="auto">
            <a:xfrm>
              <a:off x="228" y="622"/>
              <a:ext cx="6280" cy="25"/>
            </a:xfrm>
            <a:prstGeom prst="rect">
              <a:avLst/>
            </a:prstGeom>
            <a:noFill/>
            <a:ln w="9525">
              <a:noFill/>
              <a:miter lim="800000"/>
              <a:headEnd/>
              <a:tailEnd/>
            </a:ln>
          </p:spPr>
        </p:pic>
        <p:pic>
          <p:nvPicPr>
            <p:cNvPr id="5" name="Picture 6" descr="sg_strich"/>
            <p:cNvPicPr>
              <a:picLocks noChangeArrowheads="1"/>
            </p:cNvPicPr>
            <p:nvPr userDrawn="1"/>
          </p:nvPicPr>
          <p:blipFill>
            <a:blip r:embed="rId3" cstate="print"/>
            <a:srcRect/>
            <a:stretch>
              <a:fillRect/>
            </a:stretch>
          </p:blipFill>
          <p:spPr bwMode="auto">
            <a:xfrm>
              <a:off x="228" y="4179"/>
              <a:ext cx="6280" cy="50"/>
            </a:xfrm>
            <a:prstGeom prst="rect">
              <a:avLst/>
            </a:prstGeom>
            <a:noFill/>
            <a:ln w="9525">
              <a:noFill/>
              <a:miter lim="800000"/>
              <a:headEnd/>
              <a:tailEnd/>
            </a:ln>
          </p:spPr>
        </p:pic>
      </p:grpSp>
      <p:pic>
        <p:nvPicPr>
          <p:cNvPr id="6" name="Picture 7" descr="continental_255_153_0_RGB"/>
          <p:cNvPicPr>
            <a:picLocks noChangeAspect="1" noChangeArrowheads="1"/>
          </p:cNvPicPr>
          <p:nvPr/>
        </p:nvPicPr>
        <p:blipFill>
          <a:blip r:embed="rId4" cstate="print"/>
          <a:srcRect/>
          <a:stretch>
            <a:fillRect/>
          </a:stretch>
        </p:blipFill>
        <p:spPr bwMode="auto">
          <a:xfrm>
            <a:off x="2447925" y="1966913"/>
            <a:ext cx="5757863" cy="950912"/>
          </a:xfrm>
          <a:prstGeom prst="rect">
            <a:avLst/>
          </a:prstGeom>
          <a:noFill/>
          <a:ln w="9525">
            <a:noFill/>
            <a:miter lim="800000"/>
            <a:headEnd/>
            <a:tailEnd/>
          </a:ln>
        </p:spPr>
      </p:pic>
      <p:sp>
        <p:nvSpPr>
          <p:cNvPr id="368642" name="Rectangle 2"/>
          <p:cNvSpPr>
            <a:spLocks noGrp="1" noChangeArrowheads="1"/>
          </p:cNvSpPr>
          <p:nvPr>
            <p:ph type="ctrTitle"/>
          </p:nvPr>
        </p:nvSpPr>
        <p:spPr>
          <a:xfrm>
            <a:off x="993775" y="4806950"/>
            <a:ext cx="8705850" cy="1620838"/>
          </a:xfrm>
        </p:spPr>
        <p:txBody>
          <a:bodyPr anchor="t"/>
          <a:lstStyle>
            <a:lvl1pPr algn="ctr">
              <a:defRPr/>
            </a:lvl1pPr>
          </a:lstStyle>
          <a:p>
            <a:r>
              <a:rPr lang="de-DE"/>
              <a:t>Title</a:t>
            </a:r>
          </a:p>
        </p:txBody>
      </p:sp>
      <p:sp>
        <p:nvSpPr>
          <p:cNvPr id="7" name="Rectangle 8"/>
          <p:cNvSpPr>
            <a:spLocks noGrp="1" noChangeArrowheads="1"/>
          </p:cNvSpPr>
          <p:nvPr>
            <p:ph type="sldNum" sz="quarter" idx="10"/>
          </p:nvPr>
        </p:nvSpPr>
        <p:spPr/>
        <p:txBody>
          <a:bodyPr/>
          <a:lstStyle>
            <a:lvl1pPr>
              <a:defRPr/>
            </a:lvl1pPr>
          </a:lstStyle>
          <a:p>
            <a:fld id="{E5D966A4-B4FE-48BE-94C4-942BA68CDD0F}"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1B8FCC23-F9C6-4830-BB71-E1E9E8EA4E28}"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9338"/>
            <a:ext cx="9090025"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44550" y="3205163"/>
            <a:ext cx="9090025"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fld id="{C66B6CF2-3BE6-444B-8174-555B15E9497F}"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61950" y="1277938"/>
            <a:ext cx="4908550" cy="53260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22900" y="1277938"/>
            <a:ext cx="4908550" cy="53260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sldNum" sz="quarter" idx="10"/>
          </p:nvPr>
        </p:nvSpPr>
        <p:spPr>
          <a:ln/>
        </p:spPr>
        <p:txBody>
          <a:bodyPr/>
          <a:lstStyle>
            <a:lvl1pPr>
              <a:defRPr/>
            </a:lvl1pPr>
          </a:lstStyle>
          <a:p>
            <a:fld id="{69FEF4FF-88A1-4973-A3B1-1ADEB63AB781}"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3213"/>
            <a:ext cx="9623425" cy="1260475"/>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34988" y="1692275"/>
            <a:ext cx="47244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4988" y="2397125"/>
            <a:ext cx="4724400"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432425" y="1692275"/>
            <a:ext cx="472598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432425" y="2397125"/>
            <a:ext cx="4725988"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sldNum" sz="quarter" idx="10"/>
          </p:nvPr>
        </p:nvSpPr>
        <p:spPr>
          <a:ln/>
        </p:spPr>
        <p:txBody>
          <a:bodyPr/>
          <a:lstStyle>
            <a:lvl1pPr>
              <a:defRPr/>
            </a:lvl1pPr>
          </a:lstStyle>
          <a:p>
            <a:fld id="{3F196701-5A48-4CAD-8931-A56CA06B018C}"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sldNum" sz="quarter" idx="10"/>
          </p:nvPr>
        </p:nvSpPr>
        <p:spPr>
          <a:ln/>
        </p:spPr>
        <p:txBody>
          <a:bodyPr/>
          <a:lstStyle>
            <a:lvl1pPr>
              <a:defRPr/>
            </a:lvl1pPr>
          </a:lstStyle>
          <a:p>
            <a:fld id="{1443EB09-455E-41C5-9193-B2FAC662B927}"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fld id="{2AA0CA14-7197-4AA2-A3C3-5E00188DB7A9}"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81113"/>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181475" y="301625"/>
            <a:ext cx="5976938" cy="64531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34988" y="1582738"/>
            <a:ext cx="35179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CF780CBE-AE0B-4C5A-98DF-F44383F2DC8D}"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2725"/>
            <a:ext cx="6416675" cy="625475"/>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095500" y="676275"/>
            <a:ext cx="6416675" cy="45354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095500" y="5918200"/>
            <a:ext cx="6416675" cy="8874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A8F204F0-520F-46C1-8811-D22C6F05D1F9}"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1899D5AA-A664-4B70-8233-437B70A9C1A1}"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1775" y="180975"/>
            <a:ext cx="2495550" cy="64230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61950" y="180975"/>
            <a:ext cx="7337425" cy="64230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772ECB9D-08A1-447F-9F1A-80209D571048}"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77825" y="180975"/>
            <a:ext cx="9969500" cy="69215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61950" y="1277938"/>
            <a:ext cx="9969500" cy="5326062"/>
          </a:xfrm>
        </p:spPr>
        <p:txBody>
          <a:bodyPr/>
          <a:lstStyle/>
          <a:p>
            <a:pPr lvl="0"/>
            <a:endParaRPr lang="en-US" noProof="0" smtClean="0"/>
          </a:p>
        </p:txBody>
      </p:sp>
      <p:sp>
        <p:nvSpPr>
          <p:cNvPr id="4" name="Rectangle 4"/>
          <p:cNvSpPr>
            <a:spLocks noGrp="1" noChangeArrowheads="1"/>
          </p:cNvSpPr>
          <p:nvPr>
            <p:ph type="sldNum" sz="quarter" idx="10"/>
          </p:nvPr>
        </p:nvSpPr>
        <p:spPr>
          <a:ln/>
        </p:spPr>
        <p:txBody>
          <a:bodyPr/>
          <a:lstStyle>
            <a:lvl1pPr>
              <a:defRPr/>
            </a:lvl1pPr>
          </a:lstStyle>
          <a:p>
            <a:fld id="{2B5FE281-631F-481B-BC32-69E86E661FF7}"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77825" y="180975"/>
            <a:ext cx="9969500" cy="6921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61950" y="1277938"/>
            <a:ext cx="4908550" cy="53260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5422900" y="1277938"/>
            <a:ext cx="4908550" cy="25860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5422900" y="4016375"/>
            <a:ext cx="4908550" cy="2587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sldNum" sz="quarter" idx="10"/>
          </p:nvPr>
        </p:nvSpPr>
        <p:spPr>
          <a:ln/>
        </p:spPr>
        <p:txBody>
          <a:bodyPr/>
          <a:lstStyle>
            <a:lvl1pPr>
              <a:defRPr/>
            </a:lvl1pPr>
          </a:lstStyle>
          <a:p>
            <a:fld id="{A46BACA3-0DC7-4B46-8BFC-9562E420D836}" type="slidenum">
              <a:rPr lang="de-DE"/>
              <a:pPr/>
              <a:t>‹#›</a:t>
            </a:fld>
            <a:r>
              <a:rPr lang="de-DE" dirty="0"/>
              <a:t> / </a:t>
            </a:r>
            <a:r>
              <a:rPr lang="de-DE" dirty="0" smtClean="0"/>
              <a:t>Gurudutt B R/  25.10.2013   </a:t>
            </a:r>
            <a:r>
              <a:rPr lang="de-DE" dirty="0"/>
              <a:t>© Continental AG</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pic>
        <p:nvPicPr>
          <p:cNvPr id="9" name="Picture 8" descr="2.JPG"/>
          <p:cNvPicPr>
            <a:picLocks noChangeAspect="1"/>
          </p:cNvPicPr>
          <p:nvPr userDrawn="1"/>
        </p:nvPicPr>
        <p:blipFill>
          <a:blip r:embed="rId2" cstate="print"/>
          <a:stretch>
            <a:fillRect/>
          </a:stretch>
        </p:blipFill>
        <p:spPr>
          <a:xfrm>
            <a:off x="9113517" y="4460050"/>
            <a:ext cx="1192725" cy="1680281"/>
          </a:xfrm>
          <a:prstGeom prst="rect">
            <a:avLst/>
          </a:prstGeom>
        </p:spPr>
      </p:pic>
      <p:pic>
        <p:nvPicPr>
          <p:cNvPr id="4" name="Picture 3"/>
          <p:cNvPicPr>
            <a:picLocks noChangeAspect="1" noChangeArrowheads="1"/>
          </p:cNvPicPr>
          <p:nvPr userDrawn="1"/>
        </p:nvPicPr>
        <p:blipFill>
          <a:blip r:embed="rId3" cstate="print"/>
          <a:srcRect/>
          <a:stretch>
            <a:fillRect/>
          </a:stretch>
        </p:blipFill>
        <p:spPr bwMode="auto">
          <a:xfrm>
            <a:off x="0" y="1"/>
            <a:ext cx="10689973" cy="4239208"/>
          </a:xfrm>
          <a:prstGeom prst="rect">
            <a:avLst/>
          </a:prstGeom>
          <a:noFill/>
          <a:ln w="9525">
            <a:noFill/>
            <a:miter lim="800000"/>
            <a:headEnd/>
            <a:tailEnd/>
          </a:ln>
        </p:spPr>
      </p:pic>
      <p:sp>
        <p:nvSpPr>
          <p:cNvPr id="5" name="Rechteck 17"/>
          <p:cNvSpPr/>
          <p:nvPr userDrawn="1"/>
        </p:nvSpPr>
        <p:spPr>
          <a:xfrm>
            <a:off x="0" y="6479583"/>
            <a:ext cx="10693400" cy="1081681"/>
          </a:xfrm>
          <a:prstGeom prst="rect">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9" tIns="52150" rIns="104299" bIns="52150" anchor="ctr"/>
          <a:lstStyle/>
          <a:p>
            <a:pPr algn="ctr">
              <a:defRPr/>
            </a:pPr>
            <a:endParaRPr lang="en-US"/>
          </a:p>
        </p:txBody>
      </p:sp>
      <p:pic>
        <p:nvPicPr>
          <p:cNvPr id="6" name="Picture 2" descr="I:\ContiTech\Bildarchiv\CT_Logos_Claims_Fonts\0_CT_logo_vorlagen\01_logos_continental\continental_ppt.png"/>
          <p:cNvPicPr>
            <a:picLocks noChangeAspect="1" noChangeArrowheads="1"/>
          </p:cNvPicPr>
          <p:nvPr userDrawn="1"/>
        </p:nvPicPr>
        <p:blipFill>
          <a:blip r:embed="rId4" cstate="print"/>
          <a:srcRect/>
          <a:stretch>
            <a:fillRect/>
          </a:stretch>
        </p:blipFill>
        <p:spPr bwMode="auto">
          <a:xfrm>
            <a:off x="7754429" y="6838393"/>
            <a:ext cx="2568815" cy="416570"/>
          </a:xfrm>
          <a:prstGeom prst="rect">
            <a:avLst/>
          </a:prstGeom>
          <a:noFill/>
          <a:ln w="9525">
            <a:noFill/>
            <a:miter lim="800000"/>
            <a:headEnd/>
            <a:tailEnd/>
          </a:ln>
        </p:spPr>
      </p:pic>
      <p:sp>
        <p:nvSpPr>
          <p:cNvPr id="8" name="Textfeld 12"/>
          <p:cNvSpPr txBox="1"/>
          <p:nvPr userDrawn="1"/>
        </p:nvSpPr>
        <p:spPr>
          <a:xfrm>
            <a:off x="2390664" y="355310"/>
            <a:ext cx="4460581" cy="1090204"/>
          </a:xfrm>
          <a:prstGeom prst="rect">
            <a:avLst/>
          </a:prstGeom>
          <a:noFill/>
        </p:spPr>
        <p:txBody>
          <a:bodyPr wrap="none" lIns="104299" tIns="52150" rIns="104299" bIns="5215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3200" dirty="0" smtClean="0"/>
              <a:t>140 </a:t>
            </a:r>
            <a:r>
              <a:rPr lang="de-DE" sz="3200" dirty="0" err="1" smtClean="0"/>
              <a:t>Years</a:t>
            </a:r>
            <a:r>
              <a:rPr lang="de-DE" sz="3200" dirty="0" smtClean="0"/>
              <a:t> Continental</a:t>
            </a:r>
          </a:p>
          <a:p>
            <a:pPr algn="ctr">
              <a:defRPr/>
            </a:pPr>
            <a:r>
              <a:rPr lang="de-DE" sz="3200" dirty="0" smtClean="0"/>
              <a:t>1871 – 2011</a:t>
            </a:r>
            <a:endParaRPr lang="de-DE" sz="3200" dirty="0"/>
          </a:p>
        </p:txBody>
      </p:sp>
      <p:sp>
        <p:nvSpPr>
          <p:cNvPr id="2" name="Titel 1"/>
          <p:cNvSpPr>
            <a:spLocks noGrp="1"/>
          </p:cNvSpPr>
          <p:nvPr>
            <p:ph type="ctrTitle"/>
          </p:nvPr>
        </p:nvSpPr>
        <p:spPr>
          <a:xfrm>
            <a:off x="800149" y="3780631"/>
            <a:ext cx="9093105" cy="976669"/>
          </a:xfrm>
        </p:spPr>
        <p:txBody>
          <a:bodyPr>
            <a:normAutofit/>
          </a:bodyPr>
          <a:lstStyle>
            <a:lvl1pPr algn="ctr">
              <a:defRPr sz="3200"/>
            </a:lvl1pPr>
          </a:lstStyle>
          <a:p>
            <a:r>
              <a:rPr lang="de-DE" smtClean="0"/>
              <a:t>Titelmasterformat durch Klicken bearbeiten</a:t>
            </a:r>
            <a:endParaRPr lang="de-DE" dirty="0"/>
          </a:p>
        </p:txBody>
      </p:sp>
      <p:sp>
        <p:nvSpPr>
          <p:cNvPr id="3" name="Untertitel 2"/>
          <p:cNvSpPr>
            <a:spLocks noGrp="1"/>
          </p:cNvSpPr>
          <p:nvPr>
            <p:ph type="subTitle" idx="1"/>
          </p:nvPr>
        </p:nvSpPr>
        <p:spPr>
          <a:xfrm>
            <a:off x="800151" y="4962087"/>
            <a:ext cx="9093103" cy="1254951"/>
          </a:xfrm>
        </p:spPr>
        <p:txBody>
          <a:bodyPr/>
          <a:lstStyle>
            <a:lvl1pPr marL="0" indent="0" algn="ctr">
              <a:buNone/>
              <a:defRPr>
                <a:solidFill>
                  <a:schemeClr val="tx1"/>
                </a:solidFill>
              </a:defRPr>
            </a:lvl1pPr>
            <a:lvl2pPr marL="521495" indent="0" algn="ctr">
              <a:buNone/>
              <a:defRPr>
                <a:solidFill>
                  <a:schemeClr val="tx1">
                    <a:tint val="75000"/>
                  </a:schemeClr>
                </a:solidFill>
              </a:defRPr>
            </a:lvl2pPr>
            <a:lvl3pPr marL="1042990" indent="0" algn="ctr">
              <a:buNone/>
              <a:defRPr>
                <a:solidFill>
                  <a:schemeClr val="tx1">
                    <a:tint val="75000"/>
                  </a:schemeClr>
                </a:solidFill>
              </a:defRPr>
            </a:lvl3pPr>
            <a:lvl4pPr marL="1564485" indent="0" algn="ctr">
              <a:buNone/>
              <a:defRPr>
                <a:solidFill>
                  <a:schemeClr val="tx1">
                    <a:tint val="75000"/>
                  </a:schemeClr>
                </a:solidFill>
              </a:defRPr>
            </a:lvl4pPr>
            <a:lvl5pPr marL="2085981" indent="0" algn="ctr">
              <a:buNone/>
              <a:defRPr>
                <a:solidFill>
                  <a:schemeClr val="tx1">
                    <a:tint val="75000"/>
                  </a:schemeClr>
                </a:solidFill>
              </a:defRPr>
            </a:lvl5pPr>
            <a:lvl6pPr marL="2607476" indent="0" algn="ctr">
              <a:buNone/>
              <a:defRPr>
                <a:solidFill>
                  <a:schemeClr val="tx1">
                    <a:tint val="75000"/>
                  </a:schemeClr>
                </a:solidFill>
              </a:defRPr>
            </a:lvl6pPr>
            <a:lvl7pPr marL="3128970" indent="0" algn="ctr">
              <a:buNone/>
              <a:defRPr>
                <a:solidFill>
                  <a:schemeClr val="tx1">
                    <a:tint val="75000"/>
                  </a:schemeClr>
                </a:solidFill>
              </a:defRPr>
            </a:lvl7pPr>
            <a:lvl8pPr marL="3650465" indent="0" algn="ctr">
              <a:buNone/>
              <a:defRPr>
                <a:solidFill>
                  <a:schemeClr val="tx1">
                    <a:tint val="75000"/>
                  </a:schemeClr>
                </a:solidFill>
              </a:defRPr>
            </a:lvl8pPr>
            <a:lvl9pPr marL="4171960" indent="0" algn="ctr">
              <a:buNone/>
              <a:defRPr>
                <a:solidFill>
                  <a:schemeClr val="tx1">
                    <a:tint val="75000"/>
                  </a:schemeClr>
                </a:solidFill>
              </a:defRPr>
            </a:lvl9pPr>
          </a:lstStyle>
          <a:p>
            <a:r>
              <a:rPr lang="de-DE" smtClean="0"/>
              <a:t>Formatvorlage des Untertitelmasters durch Klicken bearbeiten</a:t>
            </a:r>
            <a:endParaRPr lang="de-DE"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image" Target="../media/image4.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34988" y="303213"/>
            <a:ext cx="9623425" cy="1260475"/>
          </a:xfrm>
          <a:prstGeom prst="rect">
            <a:avLst/>
          </a:prstGeom>
          <a:noFill/>
          <a:ln w="9525">
            <a:noFill/>
            <a:miter lim="800000"/>
            <a:headEnd/>
            <a:tailEnd/>
          </a:ln>
        </p:spPr>
        <p:txBody>
          <a:bodyPr vert="horz" wrap="square" lIns="113495" tIns="56748" rIns="113495" bIns="56748" numCol="1" anchor="ctr" anchorCtr="0" compatLnSpc="1">
            <a:prstTxWarp prst="textNoShape">
              <a:avLst/>
            </a:prstTxWarp>
          </a:bodyPr>
          <a:lstStyle/>
          <a:p>
            <a:pPr lvl="0"/>
            <a:r>
              <a:rPr lang="en-US" smtClean="0"/>
              <a:t>Click to edit Master title style</a:t>
            </a:r>
          </a:p>
        </p:txBody>
      </p:sp>
      <p:sp>
        <p:nvSpPr>
          <p:cNvPr id="2051" name="Rectangle 3"/>
          <p:cNvSpPr>
            <a:spLocks noGrp="1" noChangeArrowheads="1"/>
          </p:cNvSpPr>
          <p:nvPr>
            <p:ph type="body" idx="1"/>
          </p:nvPr>
        </p:nvSpPr>
        <p:spPr bwMode="auto">
          <a:xfrm>
            <a:off x="534988" y="1763713"/>
            <a:ext cx="9623425" cy="4991100"/>
          </a:xfrm>
          <a:prstGeom prst="rect">
            <a:avLst/>
          </a:prstGeom>
          <a:noFill/>
          <a:ln w="9525">
            <a:noFill/>
            <a:miter lim="800000"/>
            <a:headEnd/>
            <a:tailEnd/>
          </a:ln>
        </p:spPr>
        <p:txBody>
          <a:bodyPr vert="horz" wrap="square" lIns="113495" tIns="56748" rIns="113495" bIns="5674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54308" name="Rectangle 4"/>
          <p:cNvSpPr>
            <a:spLocks noGrp="1" noChangeArrowheads="1"/>
          </p:cNvSpPr>
          <p:nvPr>
            <p:ph type="dt" sz="half" idx="2"/>
          </p:nvPr>
        </p:nvSpPr>
        <p:spPr bwMode="auto">
          <a:xfrm>
            <a:off x="534988" y="6886575"/>
            <a:ext cx="2493962" cy="525463"/>
          </a:xfrm>
          <a:prstGeom prst="rect">
            <a:avLst/>
          </a:prstGeom>
          <a:noFill/>
          <a:ln w="9525">
            <a:noFill/>
            <a:miter lim="800000"/>
            <a:headEnd/>
            <a:tailEnd/>
          </a:ln>
          <a:effectLst/>
        </p:spPr>
        <p:txBody>
          <a:bodyPr vert="horz" wrap="square" lIns="113495" tIns="56748" rIns="113495" bIns="56748" numCol="1" anchor="t" anchorCtr="0" compatLnSpc="1">
            <a:prstTxWarp prst="textNoShape">
              <a:avLst/>
            </a:prstTxWarp>
          </a:bodyPr>
          <a:lstStyle>
            <a:lvl1pPr>
              <a:defRPr sz="1700" b="0">
                <a:latin typeface="Times New Roman" pitchFamily="18" charset="0"/>
              </a:defRPr>
            </a:lvl1pPr>
          </a:lstStyle>
          <a:p>
            <a:endParaRPr lang="en-US"/>
          </a:p>
        </p:txBody>
      </p:sp>
      <p:sp>
        <p:nvSpPr>
          <p:cNvPr id="354309" name="Rectangle 5"/>
          <p:cNvSpPr>
            <a:spLocks noGrp="1" noChangeArrowheads="1"/>
          </p:cNvSpPr>
          <p:nvPr>
            <p:ph type="ftr" sz="quarter" idx="3"/>
          </p:nvPr>
        </p:nvSpPr>
        <p:spPr bwMode="auto">
          <a:xfrm>
            <a:off x="3654425" y="6886575"/>
            <a:ext cx="3384550" cy="525463"/>
          </a:xfrm>
          <a:prstGeom prst="rect">
            <a:avLst/>
          </a:prstGeom>
          <a:noFill/>
          <a:ln w="9525">
            <a:noFill/>
            <a:miter lim="800000"/>
            <a:headEnd/>
            <a:tailEnd/>
          </a:ln>
          <a:effectLst/>
        </p:spPr>
        <p:txBody>
          <a:bodyPr vert="horz" wrap="square" lIns="113495" tIns="56748" rIns="113495" bIns="56748" numCol="1" anchor="t" anchorCtr="0" compatLnSpc="1">
            <a:prstTxWarp prst="textNoShape">
              <a:avLst/>
            </a:prstTxWarp>
          </a:bodyPr>
          <a:lstStyle>
            <a:lvl1pPr algn="ctr">
              <a:defRPr sz="1700" b="0">
                <a:latin typeface="Times New Roman" pitchFamily="18" charset="0"/>
              </a:defRPr>
            </a:lvl1pPr>
          </a:lstStyle>
          <a:p>
            <a:endParaRPr lang="en-US"/>
          </a:p>
        </p:txBody>
      </p:sp>
      <p:sp>
        <p:nvSpPr>
          <p:cNvPr id="354310" name="Rectangle 6"/>
          <p:cNvSpPr>
            <a:spLocks noGrp="1" noChangeArrowheads="1"/>
          </p:cNvSpPr>
          <p:nvPr>
            <p:ph type="sldNum" sz="quarter" idx="4"/>
          </p:nvPr>
        </p:nvSpPr>
        <p:spPr bwMode="auto">
          <a:xfrm>
            <a:off x="7664450" y="6886575"/>
            <a:ext cx="2493963" cy="525463"/>
          </a:xfrm>
          <a:prstGeom prst="rect">
            <a:avLst/>
          </a:prstGeom>
          <a:noFill/>
          <a:ln w="9525">
            <a:noFill/>
            <a:miter lim="800000"/>
            <a:headEnd/>
            <a:tailEnd/>
          </a:ln>
          <a:effectLst/>
        </p:spPr>
        <p:txBody>
          <a:bodyPr vert="horz" wrap="square" lIns="113495" tIns="56748" rIns="113495" bIns="56748" numCol="1" anchor="t" anchorCtr="0" compatLnSpc="1">
            <a:prstTxWarp prst="textNoShape">
              <a:avLst/>
            </a:prstTxWarp>
          </a:bodyPr>
          <a:lstStyle>
            <a:lvl1pPr algn="r">
              <a:defRPr sz="1700" b="0">
                <a:latin typeface="Times New Roman" pitchFamily="18" charset="0"/>
              </a:defRPr>
            </a:lvl1pPr>
          </a:lstStyle>
          <a:p>
            <a:fld id="{F4AA9086-01CD-4D49-A605-14D3F049D61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ctr" defTabSz="1135063" rtl="0" eaLnBrk="0" fontAlgn="base" hangingPunct="0">
        <a:spcBef>
          <a:spcPct val="0"/>
        </a:spcBef>
        <a:spcAft>
          <a:spcPct val="0"/>
        </a:spcAft>
        <a:defRPr sz="5500">
          <a:solidFill>
            <a:schemeClr val="tx2"/>
          </a:solidFill>
          <a:latin typeface="+mj-lt"/>
          <a:ea typeface="+mj-ea"/>
          <a:cs typeface="+mj-cs"/>
        </a:defRPr>
      </a:lvl1pPr>
      <a:lvl2pPr algn="ctr" defTabSz="1135063" rtl="0" eaLnBrk="0" fontAlgn="base" hangingPunct="0">
        <a:spcBef>
          <a:spcPct val="0"/>
        </a:spcBef>
        <a:spcAft>
          <a:spcPct val="0"/>
        </a:spcAft>
        <a:defRPr sz="5500">
          <a:solidFill>
            <a:schemeClr val="tx2"/>
          </a:solidFill>
          <a:latin typeface="Arial" charset="0"/>
        </a:defRPr>
      </a:lvl2pPr>
      <a:lvl3pPr algn="ctr" defTabSz="1135063" rtl="0" eaLnBrk="0" fontAlgn="base" hangingPunct="0">
        <a:spcBef>
          <a:spcPct val="0"/>
        </a:spcBef>
        <a:spcAft>
          <a:spcPct val="0"/>
        </a:spcAft>
        <a:defRPr sz="5500">
          <a:solidFill>
            <a:schemeClr val="tx2"/>
          </a:solidFill>
          <a:latin typeface="Arial" charset="0"/>
        </a:defRPr>
      </a:lvl3pPr>
      <a:lvl4pPr algn="ctr" defTabSz="1135063" rtl="0" eaLnBrk="0" fontAlgn="base" hangingPunct="0">
        <a:spcBef>
          <a:spcPct val="0"/>
        </a:spcBef>
        <a:spcAft>
          <a:spcPct val="0"/>
        </a:spcAft>
        <a:defRPr sz="5500">
          <a:solidFill>
            <a:schemeClr val="tx2"/>
          </a:solidFill>
          <a:latin typeface="Arial" charset="0"/>
        </a:defRPr>
      </a:lvl4pPr>
      <a:lvl5pPr algn="ctr" defTabSz="1135063" rtl="0" eaLnBrk="0" fontAlgn="base" hangingPunct="0">
        <a:spcBef>
          <a:spcPct val="0"/>
        </a:spcBef>
        <a:spcAft>
          <a:spcPct val="0"/>
        </a:spcAft>
        <a:defRPr sz="5500">
          <a:solidFill>
            <a:schemeClr val="tx2"/>
          </a:solidFill>
          <a:latin typeface="Arial" charset="0"/>
        </a:defRPr>
      </a:lvl5pPr>
      <a:lvl6pPr marL="457200" algn="ctr" defTabSz="1135063" rtl="0" fontAlgn="base">
        <a:spcBef>
          <a:spcPct val="0"/>
        </a:spcBef>
        <a:spcAft>
          <a:spcPct val="0"/>
        </a:spcAft>
        <a:defRPr sz="5500">
          <a:solidFill>
            <a:schemeClr val="tx2"/>
          </a:solidFill>
          <a:latin typeface="Arial" charset="0"/>
        </a:defRPr>
      </a:lvl6pPr>
      <a:lvl7pPr marL="914400" algn="ctr" defTabSz="1135063" rtl="0" fontAlgn="base">
        <a:spcBef>
          <a:spcPct val="0"/>
        </a:spcBef>
        <a:spcAft>
          <a:spcPct val="0"/>
        </a:spcAft>
        <a:defRPr sz="5500">
          <a:solidFill>
            <a:schemeClr val="tx2"/>
          </a:solidFill>
          <a:latin typeface="Arial" charset="0"/>
        </a:defRPr>
      </a:lvl7pPr>
      <a:lvl8pPr marL="1371600" algn="ctr" defTabSz="1135063" rtl="0" fontAlgn="base">
        <a:spcBef>
          <a:spcPct val="0"/>
        </a:spcBef>
        <a:spcAft>
          <a:spcPct val="0"/>
        </a:spcAft>
        <a:defRPr sz="5500">
          <a:solidFill>
            <a:schemeClr val="tx2"/>
          </a:solidFill>
          <a:latin typeface="Arial" charset="0"/>
        </a:defRPr>
      </a:lvl8pPr>
      <a:lvl9pPr marL="1828800" algn="ctr" defTabSz="1135063" rtl="0" fontAlgn="base">
        <a:spcBef>
          <a:spcPct val="0"/>
        </a:spcBef>
        <a:spcAft>
          <a:spcPct val="0"/>
        </a:spcAft>
        <a:defRPr sz="5500">
          <a:solidFill>
            <a:schemeClr val="tx2"/>
          </a:solidFill>
          <a:latin typeface="Arial" charset="0"/>
        </a:defRPr>
      </a:lvl9pPr>
    </p:titleStyle>
    <p:bodyStyle>
      <a:lvl1pPr marL="425450" indent="-425450" algn="l" defTabSz="1135063" rtl="0" eaLnBrk="0" fontAlgn="base" hangingPunct="0">
        <a:spcBef>
          <a:spcPct val="20000"/>
        </a:spcBef>
        <a:spcAft>
          <a:spcPct val="0"/>
        </a:spcAft>
        <a:buChar char="•"/>
        <a:defRPr sz="4000">
          <a:solidFill>
            <a:schemeClr val="tx1"/>
          </a:solidFill>
          <a:latin typeface="+mn-lt"/>
          <a:ea typeface="+mn-ea"/>
          <a:cs typeface="+mn-cs"/>
        </a:defRPr>
      </a:lvl1pPr>
      <a:lvl2pPr marL="922338" indent="-355600" algn="l" defTabSz="1135063" rtl="0" eaLnBrk="0" fontAlgn="base" hangingPunct="0">
        <a:spcBef>
          <a:spcPct val="20000"/>
        </a:spcBef>
        <a:spcAft>
          <a:spcPct val="0"/>
        </a:spcAft>
        <a:buChar char="–"/>
        <a:defRPr sz="3500">
          <a:solidFill>
            <a:schemeClr val="tx1"/>
          </a:solidFill>
          <a:latin typeface="+mn-lt"/>
        </a:defRPr>
      </a:lvl2pPr>
      <a:lvl3pPr marL="1419225" indent="-284163" algn="l" defTabSz="1135063" rtl="0" eaLnBrk="0" fontAlgn="base" hangingPunct="0">
        <a:spcBef>
          <a:spcPct val="20000"/>
        </a:spcBef>
        <a:spcAft>
          <a:spcPct val="0"/>
        </a:spcAft>
        <a:buChar char="•"/>
        <a:defRPr sz="3000">
          <a:solidFill>
            <a:schemeClr val="tx1"/>
          </a:solidFill>
          <a:latin typeface="+mn-lt"/>
        </a:defRPr>
      </a:lvl3pPr>
      <a:lvl4pPr marL="1985963" indent="-284163" algn="l" defTabSz="1135063" rtl="0" eaLnBrk="0" fontAlgn="base" hangingPunct="0">
        <a:spcBef>
          <a:spcPct val="20000"/>
        </a:spcBef>
        <a:spcAft>
          <a:spcPct val="0"/>
        </a:spcAft>
        <a:buChar char="–"/>
        <a:defRPr sz="2500">
          <a:solidFill>
            <a:schemeClr val="tx1"/>
          </a:solidFill>
          <a:latin typeface="+mn-lt"/>
        </a:defRPr>
      </a:lvl4pPr>
      <a:lvl5pPr marL="2554288" indent="-284163" algn="l" defTabSz="1135063" rtl="0" eaLnBrk="0" fontAlgn="base" hangingPunct="0">
        <a:spcBef>
          <a:spcPct val="20000"/>
        </a:spcBef>
        <a:spcAft>
          <a:spcPct val="0"/>
        </a:spcAft>
        <a:buChar char="»"/>
        <a:defRPr sz="2500">
          <a:solidFill>
            <a:schemeClr val="tx1"/>
          </a:solidFill>
          <a:latin typeface="+mn-lt"/>
        </a:defRPr>
      </a:lvl5pPr>
      <a:lvl6pPr marL="3011488" indent="-284163" algn="l" defTabSz="1135063" rtl="0" fontAlgn="base">
        <a:spcBef>
          <a:spcPct val="20000"/>
        </a:spcBef>
        <a:spcAft>
          <a:spcPct val="0"/>
        </a:spcAft>
        <a:buChar char="»"/>
        <a:defRPr sz="2500">
          <a:solidFill>
            <a:schemeClr val="tx1"/>
          </a:solidFill>
          <a:latin typeface="+mn-lt"/>
        </a:defRPr>
      </a:lvl6pPr>
      <a:lvl7pPr marL="3468688" indent="-284163" algn="l" defTabSz="1135063" rtl="0" fontAlgn="base">
        <a:spcBef>
          <a:spcPct val="20000"/>
        </a:spcBef>
        <a:spcAft>
          <a:spcPct val="0"/>
        </a:spcAft>
        <a:buChar char="»"/>
        <a:defRPr sz="2500">
          <a:solidFill>
            <a:schemeClr val="tx1"/>
          </a:solidFill>
          <a:latin typeface="+mn-lt"/>
        </a:defRPr>
      </a:lvl7pPr>
      <a:lvl8pPr marL="3925888" indent="-284163" algn="l" defTabSz="1135063" rtl="0" fontAlgn="base">
        <a:spcBef>
          <a:spcPct val="20000"/>
        </a:spcBef>
        <a:spcAft>
          <a:spcPct val="0"/>
        </a:spcAft>
        <a:buChar char="»"/>
        <a:defRPr sz="2500">
          <a:solidFill>
            <a:schemeClr val="tx1"/>
          </a:solidFill>
          <a:latin typeface="+mn-lt"/>
        </a:defRPr>
      </a:lvl8pPr>
      <a:lvl9pPr marL="4383088" indent="-284163" algn="l" defTabSz="1135063" rtl="0" fontAlgn="base">
        <a:spcBef>
          <a:spcPct val="20000"/>
        </a:spcBef>
        <a:spcAft>
          <a:spcPct val="0"/>
        </a:spcAft>
        <a:buChar char="»"/>
        <a:defRPr sz="2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77825" y="180975"/>
            <a:ext cx="9969500" cy="69215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de-DE" smtClean="0"/>
              <a:t>Headline</a:t>
            </a:r>
            <a:br>
              <a:rPr lang="de-DE" smtClean="0"/>
            </a:br>
            <a:r>
              <a:rPr lang="de-DE" smtClean="0"/>
              <a:t>single- or double lines</a:t>
            </a:r>
          </a:p>
        </p:txBody>
      </p:sp>
      <p:sp>
        <p:nvSpPr>
          <p:cNvPr id="3075" name="Rectangle 3"/>
          <p:cNvSpPr>
            <a:spLocks noGrp="1" noChangeArrowheads="1"/>
          </p:cNvSpPr>
          <p:nvPr>
            <p:ph type="body" idx="1"/>
          </p:nvPr>
        </p:nvSpPr>
        <p:spPr bwMode="auto">
          <a:xfrm>
            <a:off x="361950" y="1277938"/>
            <a:ext cx="9969500" cy="53260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DE" smtClean="0"/>
              <a:t>First indent setting</a:t>
            </a:r>
          </a:p>
          <a:p>
            <a:pPr lvl="1"/>
            <a:r>
              <a:rPr lang="de-DE" smtClean="0"/>
              <a:t>Second indent setting</a:t>
            </a:r>
          </a:p>
          <a:p>
            <a:pPr lvl="2"/>
            <a:r>
              <a:rPr lang="de-DE" smtClean="0"/>
              <a:t>Third indent setting</a:t>
            </a:r>
          </a:p>
          <a:p>
            <a:pPr lvl="3"/>
            <a:r>
              <a:rPr lang="de-DE" smtClean="0"/>
              <a:t>Fourth indent setting</a:t>
            </a:r>
          </a:p>
          <a:p>
            <a:pPr lvl="4"/>
            <a:r>
              <a:rPr lang="de-DE" smtClean="0"/>
              <a:t>Fifth indent setting</a:t>
            </a:r>
          </a:p>
        </p:txBody>
      </p:sp>
      <p:sp>
        <p:nvSpPr>
          <p:cNvPr id="367620" name="Rectangle 4"/>
          <p:cNvSpPr>
            <a:spLocks noGrp="1" noChangeArrowheads="1"/>
          </p:cNvSpPr>
          <p:nvPr>
            <p:ph type="sldNum" sz="quarter" idx="4"/>
          </p:nvPr>
        </p:nvSpPr>
        <p:spPr bwMode="auto">
          <a:xfrm>
            <a:off x="361950" y="7192963"/>
            <a:ext cx="4573588" cy="173037"/>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eaLnBrk="1" hangingPunct="1">
              <a:lnSpc>
                <a:spcPts val="600"/>
              </a:lnSpc>
              <a:defRPr sz="700" b="0"/>
            </a:lvl1pPr>
          </a:lstStyle>
          <a:p>
            <a:fld id="{A6936FA1-2F20-4F73-84F8-AF00A4BBB085}" type="slidenum">
              <a:rPr lang="de-DE"/>
              <a:pPr/>
              <a:t>‹#›</a:t>
            </a:fld>
            <a:r>
              <a:rPr lang="de-DE" dirty="0"/>
              <a:t> / </a:t>
            </a:r>
            <a:r>
              <a:rPr lang="de-DE" dirty="0" smtClean="0"/>
              <a:t>Gurudutt B R/  25.10.2013   </a:t>
            </a:r>
            <a:r>
              <a:rPr lang="de-DE" dirty="0"/>
              <a:t>© Continental AG</a:t>
            </a:r>
          </a:p>
        </p:txBody>
      </p:sp>
      <p:sp>
        <p:nvSpPr>
          <p:cNvPr id="367622" name="Text Box 6"/>
          <p:cNvSpPr txBox="1">
            <a:spLocks noChangeArrowheads="1"/>
          </p:cNvSpPr>
          <p:nvPr/>
        </p:nvSpPr>
        <p:spPr bwMode="auto">
          <a:xfrm>
            <a:off x="539750" y="6184900"/>
            <a:ext cx="3240088" cy="169863"/>
          </a:xfrm>
          <a:prstGeom prst="rect">
            <a:avLst/>
          </a:prstGeom>
          <a:noFill/>
          <a:ln w="9525">
            <a:noFill/>
            <a:miter lim="800000"/>
            <a:headEnd/>
            <a:tailEnd/>
          </a:ln>
          <a:effectLst/>
        </p:spPr>
        <p:txBody>
          <a:bodyPr lIns="0" tIns="0" rIns="0" bIns="0" anchor="b"/>
          <a:lstStyle/>
          <a:p>
            <a:pPr defTabSz="996950" eaLnBrk="1" hangingPunct="1">
              <a:lnSpc>
                <a:spcPts val="600"/>
              </a:lnSpc>
              <a:defRPr/>
            </a:pPr>
            <a:endParaRPr lang="en-GB" sz="700" b="0">
              <a:solidFill>
                <a:srgbClr val="FF9900"/>
              </a:solidFill>
            </a:endParaRPr>
          </a:p>
        </p:txBody>
      </p:sp>
      <p:pic>
        <p:nvPicPr>
          <p:cNvPr id="3078" name="Picture 7" descr="continental_255_153_0_RGB"/>
          <p:cNvPicPr>
            <a:picLocks noChangeAspect="1" noChangeArrowheads="1"/>
          </p:cNvPicPr>
          <p:nvPr/>
        </p:nvPicPr>
        <p:blipFill>
          <a:blip r:embed="rId16" cstate="print"/>
          <a:srcRect/>
          <a:stretch>
            <a:fillRect/>
          </a:stretch>
        </p:blipFill>
        <p:spPr bwMode="auto">
          <a:xfrm>
            <a:off x="8172450" y="6792913"/>
            <a:ext cx="2160588" cy="347662"/>
          </a:xfrm>
          <a:prstGeom prst="rect">
            <a:avLst/>
          </a:prstGeom>
          <a:noFill/>
          <a:ln w="9525">
            <a:noFill/>
            <a:miter lim="800000"/>
            <a:headEnd/>
            <a:tailEnd/>
          </a:ln>
        </p:spPr>
      </p:pic>
      <p:grpSp>
        <p:nvGrpSpPr>
          <p:cNvPr id="3079" name="Group 8"/>
          <p:cNvGrpSpPr>
            <a:grpSpLocks/>
          </p:cNvGrpSpPr>
          <p:nvPr/>
        </p:nvGrpSpPr>
        <p:grpSpPr bwMode="auto">
          <a:xfrm>
            <a:off x="361950" y="987425"/>
            <a:ext cx="9969500" cy="5726113"/>
            <a:chOff x="228" y="622"/>
            <a:chExt cx="6280" cy="3607"/>
          </a:xfrm>
        </p:grpSpPr>
        <p:pic>
          <p:nvPicPr>
            <p:cNvPr id="3081" name="Picture 9" descr="g_strich"/>
            <p:cNvPicPr>
              <a:picLocks noChangeArrowheads="1"/>
            </p:cNvPicPr>
            <p:nvPr userDrawn="1"/>
          </p:nvPicPr>
          <p:blipFill>
            <a:blip r:embed="rId17" cstate="print"/>
            <a:srcRect/>
            <a:stretch>
              <a:fillRect/>
            </a:stretch>
          </p:blipFill>
          <p:spPr bwMode="auto">
            <a:xfrm>
              <a:off x="228" y="622"/>
              <a:ext cx="6280" cy="25"/>
            </a:xfrm>
            <a:prstGeom prst="rect">
              <a:avLst/>
            </a:prstGeom>
            <a:noFill/>
            <a:ln w="9525">
              <a:noFill/>
              <a:miter lim="800000"/>
              <a:headEnd/>
              <a:tailEnd/>
            </a:ln>
          </p:spPr>
        </p:pic>
        <p:pic>
          <p:nvPicPr>
            <p:cNvPr id="3082" name="Picture 10" descr="sg_strich"/>
            <p:cNvPicPr>
              <a:picLocks noChangeArrowheads="1"/>
            </p:cNvPicPr>
            <p:nvPr userDrawn="1"/>
          </p:nvPicPr>
          <p:blipFill>
            <a:blip r:embed="rId18" cstate="print"/>
            <a:srcRect/>
            <a:stretch>
              <a:fillRect/>
            </a:stretch>
          </p:blipFill>
          <p:spPr bwMode="auto">
            <a:xfrm>
              <a:off x="228" y="4179"/>
              <a:ext cx="6280" cy="50"/>
            </a:xfrm>
            <a:prstGeom prst="rect">
              <a:avLst/>
            </a:prstGeom>
            <a:noFill/>
            <a:ln w="9525">
              <a:noFill/>
              <a:miter lim="800000"/>
              <a:headEnd/>
              <a:tailEnd/>
            </a:ln>
          </p:spPr>
        </p:pic>
      </p:grpSp>
      <p:sp>
        <p:nvSpPr>
          <p:cNvPr id="367627" name="Text Box 11"/>
          <p:cNvSpPr txBox="1">
            <a:spLocks noChangeArrowheads="1"/>
          </p:cNvSpPr>
          <p:nvPr userDrawn="1"/>
        </p:nvSpPr>
        <p:spPr bwMode="auto">
          <a:xfrm>
            <a:off x="384175" y="6869113"/>
            <a:ext cx="5395913" cy="241300"/>
          </a:xfrm>
          <a:prstGeom prst="rect">
            <a:avLst/>
          </a:prstGeom>
          <a:noFill/>
          <a:ln w="9525">
            <a:noFill/>
            <a:miter lim="800000"/>
            <a:headEnd/>
            <a:tailEnd/>
          </a:ln>
          <a:effectLst/>
        </p:spPr>
        <p:txBody>
          <a:bodyPr lIns="0" tIns="0" rIns="0" bIns="0" anchor="b"/>
          <a:lstStyle/>
          <a:p>
            <a:pPr defTabSz="1236663" eaLnBrk="1" hangingPunct="1">
              <a:defRPr/>
            </a:pPr>
            <a:r>
              <a:rPr lang="de-DE" sz="1100"/>
              <a:t>Continental </a:t>
            </a:r>
          </a:p>
          <a:p>
            <a:pPr defTabSz="1236663" eaLnBrk="1" hangingPunct="1">
              <a:defRPr/>
            </a:pPr>
            <a:r>
              <a:rPr lang="de-DE" sz="1100"/>
              <a:t>Division Chassis &amp; Safety</a:t>
            </a:r>
          </a:p>
        </p:txBody>
      </p:sp>
    </p:spTree>
  </p:cSld>
  <p:clrMap bg1="lt1" tx1="dk1" bg2="lt2" tx2="dk2" accent1="accent1" accent2="accent2" accent3="accent3" accent4="accent4" accent5="accent5" accent6="accent6" hlink="hlink" folHlink="folHlink"/>
  <p:sldLayoutIdLst>
    <p:sldLayoutId id="2147483700"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1" r:id="rId14"/>
  </p:sldLayoutIdLst>
  <p:hf hdr="0" ftr="0" dt="0"/>
  <p:txStyles>
    <p:titleStyle>
      <a:lvl1pPr algn="l" defTabSz="996950" rtl="0" eaLnBrk="0" fontAlgn="base" hangingPunct="0">
        <a:lnSpc>
          <a:spcPts val="2700"/>
        </a:lnSpc>
        <a:spcBef>
          <a:spcPct val="0"/>
        </a:spcBef>
        <a:spcAft>
          <a:spcPct val="0"/>
        </a:spcAft>
        <a:defRPr sz="2400" b="1">
          <a:solidFill>
            <a:schemeClr val="tx1"/>
          </a:solidFill>
          <a:latin typeface="+mj-lt"/>
          <a:ea typeface="+mj-ea"/>
          <a:cs typeface="+mj-cs"/>
        </a:defRPr>
      </a:lvl1pPr>
      <a:lvl2pPr algn="l" defTabSz="996950" rtl="0" eaLnBrk="0" fontAlgn="base" hangingPunct="0">
        <a:lnSpc>
          <a:spcPts val="2700"/>
        </a:lnSpc>
        <a:spcBef>
          <a:spcPct val="0"/>
        </a:spcBef>
        <a:spcAft>
          <a:spcPct val="0"/>
        </a:spcAft>
        <a:defRPr sz="2400" b="1">
          <a:solidFill>
            <a:schemeClr val="tx1"/>
          </a:solidFill>
          <a:latin typeface="Arial" charset="0"/>
        </a:defRPr>
      </a:lvl2pPr>
      <a:lvl3pPr algn="l" defTabSz="996950" rtl="0" eaLnBrk="0" fontAlgn="base" hangingPunct="0">
        <a:lnSpc>
          <a:spcPts val="2700"/>
        </a:lnSpc>
        <a:spcBef>
          <a:spcPct val="0"/>
        </a:spcBef>
        <a:spcAft>
          <a:spcPct val="0"/>
        </a:spcAft>
        <a:defRPr sz="2400" b="1">
          <a:solidFill>
            <a:schemeClr val="tx1"/>
          </a:solidFill>
          <a:latin typeface="Arial" charset="0"/>
        </a:defRPr>
      </a:lvl3pPr>
      <a:lvl4pPr algn="l" defTabSz="996950" rtl="0" eaLnBrk="0" fontAlgn="base" hangingPunct="0">
        <a:lnSpc>
          <a:spcPts val="2700"/>
        </a:lnSpc>
        <a:spcBef>
          <a:spcPct val="0"/>
        </a:spcBef>
        <a:spcAft>
          <a:spcPct val="0"/>
        </a:spcAft>
        <a:defRPr sz="2400" b="1">
          <a:solidFill>
            <a:schemeClr val="tx1"/>
          </a:solidFill>
          <a:latin typeface="Arial" charset="0"/>
        </a:defRPr>
      </a:lvl4pPr>
      <a:lvl5pPr algn="l" defTabSz="996950" rtl="0" eaLnBrk="0" fontAlgn="base" hangingPunct="0">
        <a:lnSpc>
          <a:spcPts val="2700"/>
        </a:lnSpc>
        <a:spcBef>
          <a:spcPct val="0"/>
        </a:spcBef>
        <a:spcAft>
          <a:spcPct val="0"/>
        </a:spcAft>
        <a:defRPr sz="2400" b="1">
          <a:solidFill>
            <a:schemeClr val="tx1"/>
          </a:solidFill>
          <a:latin typeface="Arial" charset="0"/>
        </a:defRPr>
      </a:lvl5pPr>
      <a:lvl6pPr marL="457200" algn="l" defTabSz="996950" rtl="0" fontAlgn="base">
        <a:lnSpc>
          <a:spcPts val="2700"/>
        </a:lnSpc>
        <a:spcBef>
          <a:spcPct val="0"/>
        </a:spcBef>
        <a:spcAft>
          <a:spcPct val="0"/>
        </a:spcAft>
        <a:defRPr sz="2400" b="1">
          <a:solidFill>
            <a:schemeClr val="tx1"/>
          </a:solidFill>
          <a:latin typeface="Arial" charset="0"/>
        </a:defRPr>
      </a:lvl6pPr>
      <a:lvl7pPr marL="914400" algn="l" defTabSz="996950" rtl="0" fontAlgn="base">
        <a:lnSpc>
          <a:spcPts val="2700"/>
        </a:lnSpc>
        <a:spcBef>
          <a:spcPct val="0"/>
        </a:spcBef>
        <a:spcAft>
          <a:spcPct val="0"/>
        </a:spcAft>
        <a:defRPr sz="2400" b="1">
          <a:solidFill>
            <a:schemeClr val="tx1"/>
          </a:solidFill>
          <a:latin typeface="Arial" charset="0"/>
        </a:defRPr>
      </a:lvl7pPr>
      <a:lvl8pPr marL="1371600" algn="l" defTabSz="996950" rtl="0" fontAlgn="base">
        <a:lnSpc>
          <a:spcPts val="2700"/>
        </a:lnSpc>
        <a:spcBef>
          <a:spcPct val="0"/>
        </a:spcBef>
        <a:spcAft>
          <a:spcPct val="0"/>
        </a:spcAft>
        <a:defRPr sz="2400" b="1">
          <a:solidFill>
            <a:schemeClr val="tx1"/>
          </a:solidFill>
          <a:latin typeface="Arial" charset="0"/>
        </a:defRPr>
      </a:lvl8pPr>
      <a:lvl9pPr marL="1828800" algn="l" defTabSz="996950" rtl="0" fontAlgn="base">
        <a:lnSpc>
          <a:spcPts val="2700"/>
        </a:lnSpc>
        <a:spcBef>
          <a:spcPct val="0"/>
        </a:spcBef>
        <a:spcAft>
          <a:spcPct val="0"/>
        </a:spcAft>
        <a:defRPr sz="2400" b="1">
          <a:solidFill>
            <a:schemeClr val="tx1"/>
          </a:solidFill>
          <a:latin typeface="Arial" charset="0"/>
        </a:defRPr>
      </a:lvl9pPr>
    </p:titleStyle>
    <p:bodyStyle>
      <a:lvl1pPr marL="177800" indent="-177800"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ea typeface="+mn-ea"/>
          <a:cs typeface="+mn-cs"/>
        </a:defRPr>
      </a:lvl1pPr>
      <a:lvl2pPr marL="544513" indent="-182563"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2pPr>
      <a:lvl3pPr marL="895350" indent="-171450"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3pPr>
      <a:lvl4pPr marL="1257300" indent="-179388"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4pPr>
      <a:lvl5pPr marL="1619250" indent="-180975" algn="l" defTabSz="996950" rtl="0" eaLnBrk="0" fontAlgn="base" hangingPunct="0">
        <a:lnSpc>
          <a:spcPts val="1800"/>
        </a:lnSpc>
        <a:spcBef>
          <a:spcPct val="0"/>
        </a:spcBef>
        <a:spcAft>
          <a:spcPct val="55000"/>
        </a:spcAft>
        <a:buClr>
          <a:srgbClr val="E19900"/>
        </a:buClr>
        <a:buFont typeface="Arial" charset="0"/>
        <a:buBlip>
          <a:blip r:embed="rId19"/>
        </a:buBlip>
        <a:defRPr sz="1600">
          <a:solidFill>
            <a:schemeClr val="tx1"/>
          </a:solidFill>
          <a:latin typeface="+mn-lt"/>
        </a:defRPr>
      </a:lvl5pPr>
      <a:lvl6pPr marL="20764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6pPr>
      <a:lvl7pPr marL="25336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7pPr>
      <a:lvl8pPr marL="29908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8pPr>
      <a:lvl9pPr marL="3448050" indent="-180975" algn="l" defTabSz="996950" rtl="0" fontAlgn="base">
        <a:lnSpc>
          <a:spcPts val="1800"/>
        </a:lnSpc>
        <a:spcBef>
          <a:spcPct val="0"/>
        </a:spcBef>
        <a:spcAft>
          <a:spcPct val="55000"/>
        </a:spcAft>
        <a:buClr>
          <a:srgbClr val="E19900"/>
        </a:buClr>
        <a:buFont typeface="Arial" charset="0"/>
        <a:buBlip>
          <a:blip r:embed="rId19"/>
        </a:buBlip>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9.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6.xml"/><Relationship Id="rId7" Type="http://schemas.openxmlformats.org/officeDocument/2006/relationships/slideLayout" Target="../slideLayouts/slideLayout13.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2.xml"/><Relationship Id="rId7" Type="http://schemas.openxmlformats.org/officeDocument/2006/relationships/image" Target="../media/image4.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9.png"/><Relationship Id="rId5" Type="http://schemas.openxmlformats.org/officeDocument/2006/relationships/notesSlide" Target="../notesSlides/notesSlide3.xml"/><Relationship Id="rId4"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5.xml"/><Relationship Id="rId7" Type="http://schemas.openxmlformats.org/officeDocument/2006/relationships/image" Target="../media/image4.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9.png"/><Relationship Id="rId5" Type="http://schemas.openxmlformats.org/officeDocument/2006/relationships/notesSlide" Target="../notesSlides/notesSlide4.xml"/><Relationship Id="rId4"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Grp="1" noChangeArrowheads="1"/>
          </p:cNvSpPr>
          <p:nvPr>
            <p:ph type="sldNum" sz="quarter" idx="10"/>
          </p:nvPr>
        </p:nvSpPr>
        <p:spPr>
          <a:noFill/>
        </p:spPr>
        <p:txBody>
          <a:bodyPr/>
          <a:lstStyle/>
          <a:p>
            <a:pPr defTabSz="996950"/>
            <a:fld id="{557BD556-113F-4EB8-BCD7-FACDADB7AC6F}" type="slidenum">
              <a:rPr lang="de-DE"/>
              <a:pPr defTabSz="996950"/>
              <a:t>1</a:t>
            </a:fld>
            <a:r>
              <a:rPr lang="de-DE" dirty="0"/>
              <a:t> / </a:t>
            </a:r>
            <a:r>
              <a:rPr lang="de-DE" dirty="0" smtClean="0"/>
              <a:t>Gurudutt B R/  25.10.2013   </a:t>
            </a:r>
            <a:r>
              <a:rPr lang="de-DE" dirty="0"/>
              <a:t>© Continental AG</a:t>
            </a:r>
          </a:p>
        </p:txBody>
      </p:sp>
      <p:pic>
        <p:nvPicPr>
          <p:cNvPr id="5123" name="Picture 3" descr="BeQik_FR" hidden="1"/>
          <p:cNvPicPr>
            <a:picLocks noChangeArrowheads="1"/>
          </p:cNvPicPr>
          <p:nvPr>
            <p:custDataLst>
              <p:tags r:id="rId2"/>
            </p:custDataLst>
          </p:nvPr>
        </p:nvPicPr>
        <p:blipFill>
          <a:blip r:embed="rId5" cstate="print"/>
          <a:srcRect/>
          <a:stretch>
            <a:fillRect/>
          </a:stretch>
        </p:blipFill>
        <p:spPr bwMode="auto">
          <a:xfrm>
            <a:off x="334963" y="6488113"/>
            <a:ext cx="906462" cy="419100"/>
          </a:xfrm>
          <a:prstGeom prst="rect">
            <a:avLst/>
          </a:prstGeom>
          <a:noFill/>
          <a:ln w="0">
            <a:noFill/>
            <a:miter lim="800000"/>
            <a:headEnd/>
            <a:tailEnd/>
          </a:ln>
        </p:spPr>
      </p:pic>
      <p:sp>
        <p:nvSpPr>
          <p:cNvPr id="5124" name="Rectangle 15"/>
          <p:cNvSpPr>
            <a:spLocks noGrp="1" noChangeArrowheads="1"/>
          </p:cNvSpPr>
          <p:nvPr>
            <p:ph type="ctrTitle"/>
          </p:nvPr>
        </p:nvSpPr>
        <p:spPr>
          <a:xfrm>
            <a:off x="954212" y="3996655"/>
            <a:ext cx="8705850" cy="1620838"/>
          </a:xfrm>
        </p:spPr>
        <p:txBody>
          <a:bodyPr/>
          <a:lstStyle/>
          <a:p>
            <a:pPr eaLnBrk="1" hangingPunct="1"/>
            <a:r>
              <a:rPr lang="en-US" sz="4800" dirty="0" smtClean="0"/>
              <a:t>Controller Area Network</a:t>
            </a: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p>
            <a:pPr defTabSz="996950"/>
            <a:r>
              <a:rPr lang="de-DE" dirty="0" smtClean="0"/>
              <a:t>Gurudutt B R </a:t>
            </a:r>
            <a:r>
              <a:rPr lang="de-DE" dirty="0"/>
              <a:t>/  </a:t>
            </a:r>
            <a:r>
              <a:rPr lang="de-DE" dirty="0" smtClean="0"/>
              <a:t>25.10.2013   </a:t>
            </a:r>
            <a:r>
              <a:rPr lang="de-DE" dirty="0"/>
              <a:t>© Continental AG</a:t>
            </a:r>
          </a:p>
        </p:txBody>
      </p:sp>
      <p:sp>
        <p:nvSpPr>
          <p:cNvPr id="6147" name="Rectangle 6"/>
          <p:cNvSpPr>
            <a:spLocks noGrp="1" noChangeArrowheads="1"/>
          </p:cNvSpPr>
          <p:nvPr>
            <p:ph type="body" idx="1"/>
            <p:custDataLst>
              <p:tags r:id="rId2"/>
            </p:custDataLst>
          </p:nvPr>
        </p:nvSpPr>
        <p:spPr>
          <a:xfrm>
            <a:off x="1169988" y="1133475"/>
            <a:ext cx="9072562" cy="5327650"/>
          </a:xfrm>
          <a:noFill/>
        </p:spPr>
        <p:txBody>
          <a:bodyPr lIns="178755" tIns="70935"/>
          <a:lstStyle/>
          <a:p>
            <a:pPr eaLnBrk="1" hangingPunct="1"/>
            <a:endParaRPr lang="en-US" sz="2400" dirty="0" smtClean="0"/>
          </a:p>
          <a:p>
            <a:pPr eaLnBrk="1" hangingPunct="1"/>
            <a:r>
              <a:rPr lang="en-US" sz="2400" dirty="0" smtClean="0"/>
              <a:t> Need for CAN</a:t>
            </a:r>
          </a:p>
          <a:p>
            <a:pPr eaLnBrk="1" hangingPunct="1"/>
            <a:r>
              <a:rPr lang="en-US" sz="2400" dirty="0" smtClean="0"/>
              <a:t> Standardization</a:t>
            </a:r>
          </a:p>
          <a:p>
            <a:pPr eaLnBrk="1" hangingPunct="1"/>
            <a:r>
              <a:rPr lang="en-US" sz="2400" dirty="0" smtClean="0"/>
              <a:t> CAN communication</a:t>
            </a:r>
          </a:p>
          <a:p>
            <a:pPr eaLnBrk="1" hangingPunct="1"/>
            <a:r>
              <a:rPr lang="en-US" sz="2400" dirty="0" smtClean="0"/>
              <a:t> CAN frames</a:t>
            </a:r>
          </a:p>
          <a:p>
            <a:pPr eaLnBrk="1" hangingPunct="1"/>
            <a:r>
              <a:rPr lang="en-US" sz="2400" dirty="0" smtClean="0"/>
              <a:t> CAN bus access</a:t>
            </a:r>
          </a:p>
          <a:p>
            <a:pPr eaLnBrk="1" hangingPunct="1"/>
            <a:r>
              <a:rPr lang="en-US" sz="2400" dirty="0" smtClean="0"/>
              <a:t> CAN data protection</a:t>
            </a:r>
          </a:p>
          <a:p>
            <a:pPr eaLnBrk="1" hangingPunct="1"/>
            <a:r>
              <a:rPr lang="en-US" sz="2400" dirty="0" smtClean="0"/>
              <a:t> CAN extended frame format</a:t>
            </a:r>
          </a:p>
        </p:txBody>
      </p:sp>
      <p:pic>
        <p:nvPicPr>
          <p:cNvPr id="6148" name="Picture 3" descr="BeQik_FR" hidden="1"/>
          <p:cNvPicPr>
            <a:picLocks noChangeArrowheads="1"/>
          </p:cNvPicPr>
          <p:nvPr>
            <p:custDataLst>
              <p:tags r:id="rId3"/>
            </p:custDataLst>
          </p:nvPr>
        </p:nvPicPr>
        <p:blipFill>
          <a:blip r:embed="rId9" cstate="print"/>
          <a:srcRect/>
          <a:stretch>
            <a:fillRect/>
          </a:stretch>
        </p:blipFill>
        <p:spPr bwMode="auto">
          <a:xfrm>
            <a:off x="334963" y="6488113"/>
            <a:ext cx="906462" cy="419100"/>
          </a:xfrm>
          <a:prstGeom prst="rect">
            <a:avLst/>
          </a:prstGeom>
          <a:noFill/>
          <a:ln w="0">
            <a:noFill/>
            <a:miter lim="800000"/>
            <a:headEnd/>
            <a:tailEnd/>
          </a:ln>
        </p:spPr>
      </p:pic>
      <p:sp>
        <p:nvSpPr>
          <p:cNvPr id="6149" name="Rectangle 5"/>
          <p:cNvSpPr>
            <a:spLocks noGrp="1" noChangeArrowheads="1"/>
          </p:cNvSpPr>
          <p:nvPr>
            <p:ph type="title"/>
            <p:custDataLst>
              <p:tags r:id="rId4"/>
            </p:custDataLst>
          </p:nvPr>
        </p:nvSpPr>
        <p:spPr>
          <a:noFill/>
        </p:spPr>
        <p:txBody>
          <a:bodyPr lIns="178755" tIns="119801" anchor="t"/>
          <a:lstStyle/>
          <a:p>
            <a:pPr eaLnBrk="1" hangingPunct="1"/>
            <a:r>
              <a:rPr lang="de-DE" dirty="0" smtClean="0"/>
              <a:t>Contents</a:t>
            </a:r>
            <a:br>
              <a:rPr lang="de-DE" dirty="0" smtClean="0"/>
            </a:br>
            <a:endParaRPr lang="de-DE" dirty="0" smtClean="0"/>
          </a:p>
        </p:txBody>
      </p:sp>
      <p:sp>
        <p:nvSpPr>
          <p:cNvPr id="6150" name="AutoShape 7">
            <a:hlinkClick r:id="" action="ppaction://noaction" highlightClick="1"/>
          </p:cNvPr>
          <p:cNvSpPr>
            <a:spLocks noChangeArrowheads="1"/>
          </p:cNvSpPr>
          <p:nvPr>
            <p:custDataLst>
              <p:tags r:id="rId5"/>
            </p:custDataLst>
          </p:nvPr>
        </p:nvSpPr>
        <p:spPr bwMode="auto">
          <a:xfrm>
            <a:off x="5888038" y="2281238"/>
            <a:ext cx="271462" cy="265112"/>
          </a:xfrm>
          <a:prstGeom prst="actionButtonForwardNext">
            <a:avLst/>
          </a:prstGeom>
          <a:noFill/>
          <a:ln w="9525">
            <a:noFill/>
            <a:miter lim="800000"/>
            <a:headEnd/>
            <a:tailEnd/>
          </a:ln>
        </p:spPr>
        <p:txBody>
          <a:bodyPr wrap="none" lIns="111708" tIns="58088" rIns="111708" bIns="58088" anchor="ctr"/>
          <a:lstStyle/>
          <a:p>
            <a:pPr algn="ctr" defTabSz="1135063"/>
            <a:endParaRPr lang="en-US" b="0"/>
          </a:p>
        </p:txBody>
      </p:sp>
      <p:sp>
        <p:nvSpPr>
          <p:cNvPr id="6151" name="AutoShape 8">
            <a:hlinkClick r:id="" action="ppaction://noaction" highlightClick="1"/>
          </p:cNvPr>
          <p:cNvSpPr>
            <a:spLocks noChangeArrowheads="1"/>
          </p:cNvSpPr>
          <p:nvPr>
            <p:custDataLst>
              <p:tags r:id="rId6"/>
            </p:custDataLst>
          </p:nvPr>
        </p:nvSpPr>
        <p:spPr bwMode="auto">
          <a:xfrm>
            <a:off x="5978525" y="2281238"/>
            <a:ext cx="360363" cy="265112"/>
          </a:xfrm>
          <a:prstGeom prst="actionButtonForwardNext">
            <a:avLst/>
          </a:prstGeom>
          <a:noFill/>
          <a:ln w="9525">
            <a:noFill/>
            <a:miter lim="800000"/>
            <a:headEnd/>
            <a:tailEnd/>
          </a:ln>
        </p:spPr>
        <p:txBody>
          <a:bodyPr wrap="none" lIns="111708" tIns="58088" rIns="111708" bIns="58088" anchor="ctr"/>
          <a:lstStyle/>
          <a:p>
            <a:pPr algn="ctr" defTabSz="1135063"/>
            <a:endParaRPr lang="en-US" b="0"/>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p:spPr>
        <p:txBody>
          <a:bodyPr/>
          <a:lstStyle/>
          <a:p>
            <a:pPr defTabSz="996950"/>
            <a:fld id="{11EE6702-7554-4AE6-AA93-F0BA2D7A3B2A}" type="slidenum">
              <a:rPr lang="de-DE"/>
              <a:pPr defTabSz="996950"/>
              <a:t>3</a:t>
            </a:fld>
            <a:r>
              <a:rPr lang="de-DE" dirty="0"/>
              <a:t> / </a:t>
            </a:r>
            <a:r>
              <a:rPr lang="de-DE" dirty="0" smtClean="0"/>
              <a:t>Gurudutt B R/  25.10.2013   </a:t>
            </a:r>
            <a:r>
              <a:rPr lang="de-DE" dirty="0"/>
              <a:t>© Continental AG</a:t>
            </a:r>
          </a:p>
        </p:txBody>
      </p:sp>
      <p:pic>
        <p:nvPicPr>
          <p:cNvPr id="7171" name="Picture 2" descr="BeQik_FR" hidden="1"/>
          <p:cNvPicPr>
            <a:picLocks noChangeArrowheads="1"/>
          </p:cNvPicPr>
          <p:nvPr>
            <p:custDataLst>
              <p:tags r:id="rId2"/>
            </p:custDataLst>
          </p:nvPr>
        </p:nvPicPr>
        <p:blipFill>
          <a:blip r:embed="rId6" cstate="print"/>
          <a:srcRect/>
          <a:stretch>
            <a:fillRect/>
          </a:stretch>
        </p:blipFill>
        <p:spPr bwMode="auto">
          <a:xfrm>
            <a:off x="334963" y="6488113"/>
            <a:ext cx="906462" cy="419100"/>
          </a:xfrm>
          <a:prstGeom prst="rect">
            <a:avLst/>
          </a:prstGeom>
          <a:noFill/>
          <a:ln w="0">
            <a:noFill/>
            <a:miter lim="800000"/>
            <a:headEnd/>
            <a:tailEnd/>
          </a:ln>
        </p:spPr>
      </p:pic>
      <p:sp>
        <p:nvSpPr>
          <p:cNvPr id="7172" name="Rectangle 3"/>
          <p:cNvSpPr>
            <a:spLocks noGrp="1" noChangeArrowheads="1"/>
          </p:cNvSpPr>
          <p:nvPr>
            <p:ph type="title"/>
            <p:custDataLst>
              <p:tags r:id="rId3"/>
            </p:custDataLst>
          </p:nvPr>
        </p:nvSpPr>
        <p:spPr>
          <a:noFill/>
        </p:spPr>
        <p:txBody>
          <a:bodyPr lIns="178755" tIns="119801" anchor="t"/>
          <a:lstStyle/>
          <a:p>
            <a:pPr eaLnBrk="1" hangingPunct="1"/>
            <a:r>
              <a:rPr lang="de-DE" dirty="0" smtClean="0"/>
              <a:t>Need </a:t>
            </a:r>
            <a:r>
              <a:rPr lang="de-DE" dirty="0" err="1" smtClean="0"/>
              <a:t>for</a:t>
            </a:r>
            <a:r>
              <a:rPr lang="de-DE" dirty="0" smtClean="0"/>
              <a:t> CAN</a:t>
            </a:r>
          </a:p>
        </p:txBody>
      </p:sp>
      <p:sp>
        <p:nvSpPr>
          <p:cNvPr id="5" name="TextBox 4"/>
          <p:cNvSpPr txBox="1"/>
          <p:nvPr/>
        </p:nvSpPr>
        <p:spPr>
          <a:xfrm>
            <a:off x="522164" y="1260351"/>
            <a:ext cx="9145016" cy="4810548"/>
          </a:xfrm>
          <a:prstGeom prst="rect">
            <a:avLst/>
          </a:prstGeom>
          <a:noFill/>
        </p:spPr>
        <p:txBody>
          <a:bodyPr wrap="square" rtlCol="0">
            <a:spAutoFit/>
          </a:bodyPr>
          <a:lstStyle/>
          <a:p>
            <a:pPr marL="177800" lvl="0" indent="-177800" defTabSz="996950" eaLnBrk="1" hangingPunct="1">
              <a:spcAft>
                <a:spcPct val="55000"/>
              </a:spcAft>
              <a:buClr>
                <a:srgbClr val="E19900"/>
              </a:buClr>
              <a:buBlip>
                <a:blip r:embed="rId7"/>
              </a:buBlip>
            </a:pPr>
            <a:r>
              <a:rPr lang="en-US" sz="1900" b="0" kern="0" dirty="0" smtClean="0">
                <a:solidFill>
                  <a:srgbClr val="000000"/>
                </a:solidFill>
                <a:latin typeface="Arial"/>
              </a:rPr>
              <a:t> Nowadays higher end automobiles have around 70 ECUs</a:t>
            </a:r>
          </a:p>
          <a:p>
            <a:pPr marL="177800" lvl="0" indent="-177800" defTabSz="996950" eaLnBrk="1" hangingPunct="1">
              <a:spcAft>
                <a:spcPct val="55000"/>
              </a:spcAft>
              <a:buClr>
                <a:srgbClr val="E19900"/>
              </a:buClr>
              <a:buBlip>
                <a:blip r:embed="rId7"/>
              </a:buBlip>
            </a:pPr>
            <a:r>
              <a:rPr lang="en-US" sz="1900" b="0" kern="0" dirty="0" smtClean="0">
                <a:solidFill>
                  <a:srgbClr val="000000"/>
                </a:solidFill>
                <a:latin typeface="Arial"/>
              </a:rPr>
              <a:t> There should be efficient communication between all these ECUs</a:t>
            </a:r>
          </a:p>
          <a:p>
            <a:pPr marL="177800" lvl="0" indent="-177800" defTabSz="996950" eaLnBrk="1" hangingPunct="1">
              <a:spcAft>
                <a:spcPct val="55000"/>
              </a:spcAft>
              <a:buClr>
                <a:srgbClr val="E19900"/>
              </a:buClr>
              <a:buBlip>
                <a:blip r:embed="rId7"/>
              </a:buBlip>
            </a:pPr>
            <a:r>
              <a:rPr lang="en-US" sz="1900" b="0" kern="0" dirty="0">
                <a:solidFill>
                  <a:srgbClr val="000000"/>
                </a:solidFill>
                <a:latin typeface="Arial"/>
              </a:rPr>
              <a:t> </a:t>
            </a:r>
            <a:r>
              <a:rPr lang="en-US" sz="1900" b="0" kern="0" dirty="0" smtClean="0">
                <a:solidFill>
                  <a:srgbClr val="000000"/>
                </a:solidFill>
                <a:latin typeface="Arial"/>
              </a:rPr>
              <a:t>Conventional method was to interconnect each ECU with another using wires</a:t>
            </a:r>
          </a:p>
          <a:p>
            <a:pPr marL="177800" indent="-177800" defTabSz="996950" eaLnBrk="1" hangingPunct="1">
              <a:spcAft>
                <a:spcPct val="55000"/>
              </a:spcAft>
              <a:buClr>
                <a:srgbClr val="E19900"/>
              </a:buClr>
              <a:buBlip>
                <a:blip r:embed="rId7"/>
              </a:buBlip>
            </a:pPr>
            <a:r>
              <a:rPr lang="en-US" sz="1900" b="0" kern="0" dirty="0">
                <a:solidFill>
                  <a:srgbClr val="000000"/>
                </a:solidFill>
                <a:latin typeface="Arial"/>
              </a:rPr>
              <a:t> </a:t>
            </a:r>
            <a:r>
              <a:rPr lang="en-US" sz="1900" b="0" kern="0" dirty="0" smtClean="0">
                <a:solidFill>
                  <a:srgbClr val="000000"/>
                </a:solidFill>
                <a:latin typeface="Arial"/>
              </a:rPr>
              <a:t>At the beginning of the 1980s, Bosch began to develop a serial communication system. It was given the name CAN (Controller Area Network). </a:t>
            </a:r>
          </a:p>
          <a:p>
            <a:pPr lvl="0" defTabSz="996950" eaLnBrk="1" hangingPunct="1">
              <a:lnSpc>
                <a:spcPts val="1800"/>
              </a:lnSpc>
              <a:spcAft>
                <a:spcPct val="55000"/>
              </a:spcAft>
              <a:buClr>
                <a:srgbClr val="E19900"/>
              </a:buClr>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smtClean="0">
              <a:solidFill>
                <a:srgbClr val="000000"/>
              </a:solidFill>
              <a:latin typeface="Arial"/>
            </a:endParaRPr>
          </a:p>
          <a:p>
            <a:pPr lvl="0" defTabSz="996950" eaLnBrk="1" hangingPunct="1">
              <a:lnSpc>
                <a:spcPts val="1800"/>
              </a:lnSpc>
              <a:spcAft>
                <a:spcPct val="55000"/>
              </a:spcAft>
              <a:buClr>
                <a:srgbClr val="E19900"/>
              </a:buClr>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a:solidFill>
                <a:srgbClr val="000000"/>
              </a:solidFill>
              <a:latin typeface="Arial"/>
            </a:endParaRPr>
          </a:p>
          <a:p>
            <a:pPr eaLnBrk="1" hangingPunct="1"/>
            <a:endParaRPr lang="en-US" sz="2400" dirty="0" smtClean="0"/>
          </a:p>
          <a:p>
            <a:endParaRPr lang="en-GB" dirty="0"/>
          </a:p>
          <a:p>
            <a:endParaRPr lang="en-GB" dirty="0" smtClean="0"/>
          </a:p>
        </p:txBody>
      </p:sp>
      <p:pic>
        <p:nvPicPr>
          <p:cNvPr id="1026" name="Picture 2"/>
          <p:cNvPicPr>
            <a:picLocks noChangeAspect="1" noChangeArrowheads="1"/>
          </p:cNvPicPr>
          <p:nvPr/>
        </p:nvPicPr>
        <p:blipFill>
          <a:blip r:embed="rId8" cstate="print"/>
          <a:srcRect/>
          <a:stretch>
            <a:fillRect/>
          </a:stretch>
        </p:blipFill>
        <p:spPr bwMode="auto">
          <a:xfrm>
            <a:off x="738188" y="3348583"/>
            <a:ext cx="8712968" cy="2808312"/>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p:spPr>
        <p:txBody>
          <a:bodyPr/>
          <a:lstStyle/>
          <a:p>
            <a:pPr defTabSz="996950"/>
            <a:fld id="{94D10DEF-F8C5-4A09-92BF-E550A93D9CA3}" type="slidenum">
              <a:rPr lang="de-DE"/>
              <a:pPr defTabSz="996950"/>
              <a:t>4</a:t>
            </a:fld>
            <a:r>
              <a:rPr lang="de-DE" dirty="0"/>
              <a:t> / </a:t>
            </a:r>
            <a:r>
              <a:rPr lang="de-DE" dirty="0" smtClean="0"/>
              <a:t>Gurudutt B R/  25.10.2013   </a:t>
            </a:r>
            <a:r>
              <a:rPr lang="de-DE" dirty="0"/>
              <a:t>© Continental AG</a:t>
            </a:r>
          </a:p>
        </p:txBody>
      </p:sp>
      <p:pic>
        <p:nvPicPr>
          <p:cNvPr id="8195" name="Picture 2" descr="BeQik_FR" hidden="1"/>
          <p:cNvPicPr>
            <a:picLocks noChangeArrowheads="1"/>
          </p:cNvPicPr>
          <p:nvPr>
            <p:custDataLst>
              <p:tags r:id="rId2"/>
            </p:custDataLst>
          </p:nvPr>
        </p:nvPicPr>
        <p:blipFill>
          <a:blip r:embed="rId6" cstate="print"/>
          <a:srcRect/>
          <a:stretch>
            <a:fillRect/>
          </a:stretch>
        </p:blipFill>
        <p:spPr bwMode="auto">
          <a:xfrm>
            <a:off x="334963" y="6488113"/>
            <a:ext cx="906462" cy="419100"/>
          </a:xfrm>
          <a:prstGeom prst="rect">
            <a:avLst/>
          </a:prstGeom>
          <a:noFill/>
          <a:ln w="0">
            <a:noFill/>
            <a:miter lim="800000"/>
            <a:headEnd/>
            <a:tailEnd/>
          </a:ln>
        </p:spPr>
      </p:pic>
      <p:sp>
        <p:nvSpPr>
          <p:cNvPr id="8196" name="Rectangle 3"/>
          <p:cNvSpPr>
            <a:spLocks noGrp="1" noChangeArrowheads="1"/>
          </p:cNvSpPr>
          <p:nvPr>
            <p:ph type="title"/>
            <p:custDataLst>
              <p:tags r:id="rId3"/>
            </p:custDataLst>
          </p:nvPr>
        </p:nvSpPr>
        <p:spPr>
          <a:noFill/>
        </p:spPr>
        <p:txBody>
          <a:bodyPr lIns="178755" tIns="119801" anchor="t"/>
          <a:lstStyle/>
          <a:p>
            <a:pPr eaLnBrk="1" hangingPunct="1"/>
            <a:r>
              <a:rPr lang="de-DE" dirty="0" err="1" smtClean="0"/>
              <a:t>Standardization</a:t>
            </a:r>
            <a:r>
              <a:rPr lang="de-DE" dirty="0" smtClean="0"/>
              <a:t> </a:t>
            </a:r>
            <a:r>
              <a:rPr lang="de-DE" dirty="0" err="1" smtClean="0"/>
              <a:t>of</a:t>
            </a:r>
            <a:r>
              <a:rPr lang="de-DE" dirty="0" smtClean="0"/>
              <a:t> CAN</a:t>
            </a:r>
          </a:p>
        </p:txBody>
      </p:sp>
      <p:sp>
        <p:nvSpPr>
          <p:cNvPr id="2" name="TextBox 1"/>
          <p:cNvSpPr txBox="1"/>
          <p:nvPr/>
        </p:nvSpPr>
        <p:spPr>
          <a:xfrm>
            <a:off x="589980" y="1260351"/>
            <a:ext cx="9653264" cy="3204723"/>
          </a:xfrm>
          <a:prstGeom prst="rect">
            <a:avLst/>
          </a:prstGeom>
          <a:noFill/>
        </p:spPr>
        <p:txBody>
          <a:bodyPr wrap="square" rtlCol="0">
            <a:spAutoFit/>
          </a:bodyPr>
          <a:lstStyle/>
          <a:p>
            <a:pPr marL="177800" indent="-177800" defTabSz="996950" eaLnBrk="1" hangingPunct="1">
              <a:spcAft>
                <a:spcPct val="55000"/>
              </a:spcAft>
              <a:buClr>
                <a:srgbClr val="E19900"/>
              </a:buClr>
              <a:buBlip>
                <a:blip r:embed="rId7"/>
              </a:buBlip>
            </a:pPr>
            <a:r>
              <a:rPr lang="en-US" sz="1900" b="0" kern="0" dirty="0">
                <a:solidFill>
                  <a:srgbClr val="000000"/>
                </a:solidFill>
                <a:latin typeface="Arial"/>
              </a:rPr>
              <a:t> </a:t>
            </a:r>
            <a:r>
              <a:rPr lang="en-US" sz="1900" b="0" kern="0" dirty="0" smtClean="0">
                <a:solidFill>
                  <a:srgbClr val="000000"/>
                </a:solidFill>
                <a:latin typeface="Arial"/>
              </a:rPr>
              <a:t>CAN technology has been standardized since 1994 and is described by four ISO documents. ISO 11898-1 describes the CAN protocol.</a:t>
            </a:r>
          </a:p>
          <a:p>
            <a:pPr marL="177800" indent="-177800" defTabSz="996950" eaLnBrk="1" hangingPunct="1">
              <a:spcAft>
                <a:spcPct val="55000"/>
              </a:spcAft>
              <a:buClr>
                <a:srgbClr val="E19900"/>
              </a:buClr>
              <a:buBlip>
                <a:blip r:embed="rId7"/>
              </a:buBlip>
            </a:pPr>
            <a:r>
              <a:rPr lang="en-US" sz="1900" b="0" kern="0" dirty="0" smtClean="0">
                <a:solidFill>
                  <a:srgbClr val="000000"/>
                </a:solidFill>
                <a:latin typeface="Arial"/>
              </a:rPr>
              <a:t> CAN protocol just covers the Data Link Layer and the Physical Layer.</a:t>
            </a:r>
          </a:p>
          <a:p>
            <a:pPr marL="177800" lvl="0" indent="-177800" defTabSz="996950" eaLnBrk="1" hangingPunct="1">
              <a:spcAft>
                <a:spcPct val="55000"/>
              </a:spcAft>
              <a:buClr>
                <a:srgbClr val="E19900"/>
              </a:buClr>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smtClean="0">
              <a:solidFill>
                <a:srgbClr val="000000"/>
              </a:solidFill>
              <a:latin typeface="Arial"/>
            </a:endParaRPr>
          </a:p>
          <a:p>
            <a:pPr marL="177800" lvl="0" indent="-177800" defTabSz="996950" eaLnBrk="1" hangingPunct="1">
              <a:lnSpc>
                <a:spcPts val="1800"/>
              </a:lnSpc>
              <a:spcAft>
                <a:spcPct val="55000"/>
              </a:spcAft>
              <a:buClr>
                <a:srgbClr val="E19900"/>
              </a:buClr>
              <a:buBlip>
                <a:blip r:embed="rId7"/>
              </a:buBlip>
            </a:pPr>
            <a:endParaRPr lang="en-US" sz="1900" b="0" kern="0" dirty="0">
              <a:solidFill>
                <a:srgbClr val="000000"/>
              </a:solidFill>
              <a:latin typeface="Arial"/>
            </a:endParaRPr>
          </a:p>
          <a:p>
            <a:endParaRPr lang="en-GB" dirty="0" smtClean="0"/>
          </a:p>
          <a:p>
            <a:endParaRPr lang="en-GB" dirty="0"/>
          </a:p>
        </p:txBody>
      </p:sp>
      <p:pic>
        <p:nvPicPr>
          <p:cNvPr id="7" name="Picture 2"/>
          <p:cNvPicPr>
            <a:picLocks noGrp="1" noChangeAspect="1" noChangeArrowheads="1"/>
          </p:cNvPicPr>
          <p:nvPr>
            <p:ph idx="1"/>
          </p:nvPr>
        </p:nvPicPr>
        <p:blipFill>
          <a:blip r:embed="rId8" cstate="print"/>
          <a:srcRect/>
          <a:stretch>
            <a:fillRect/>
          </a:stretch>
        </p:blipFill>
        <p:spPr bwMode="auto">
          <a:xfrm>
            <a:off x="666180" y="2412479"/>
            <a:ext cx="9217024" cy="4104456"/>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CAN</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5</a:t>
            </a:fld>
            <a:r>
              <a:rPr lang="de-DE" dirty="0" smtClean="0"/>
              <a:t> / </a:t>
            </a:r>
            <a:r>
              <a:rPr lang="de-DE" dirty="0" err="1" smtClean="0"/>
              <a:t>Gurudutt</a:t>
            </a:r>
            <a:r>
              <a:rPr lang="de-DE" dirty="0" smtClean="0"/>
              <a:t> B R/  25.10.2013   © Continental AG</a:t>
            </a:r>
            <a:endParaRPr lang="de-DE" dirty="0"/>
          </a:p>
        </p:txBody>
      </p:sp>
      <p:pic>
        <p:nvPicPr>
          <p:cNvPr id="6" name="Picture 2" descr="C:\Users\uidw8151\Desktop\can1.jpg"/>
          <p:cNvPicPr>
            <a:picLocks noChangeAspect="1" noChangeArrowheads="1"/>
          </p:cNvPicPr>
          <p:nvPr/>
        </p:nvPicPr>
        <p:blipFill>
          <a:blip r:embed="rId2" cstate="print"/>
          <a:srcRect/>
          <a:stretch>
            <a:fillRect/>
          </a:stretch>
        </p:blipFill>
        <p:spPr bwMode="auto">
          <a:xfrm>
            <a:off x="5490716" y="3780631"/>
            <a:ext cx="4464496" cy="2592288"/>
          </a:xfrm>
          <a:prstGeom prst="rect">
            <a:avLst/>
          </a:prstGeom>
          <a:noFill/>
        </p:spPr>
      </p:pic>
      <p:sp>
        <p:nvSpPr>
          <p:cNvPr id="7" name="Content Placeholder 6"/>
          <p:cNvSpPr>
            <a:spLocks noGrp="1"/>
          </p:cNvSpPr>
          <p:nvPr>
            <p:ph idx="1"/>
          </p:nvPr>
        </p:nvSpPr>
        <p:spPr>
          <a:xfrm>
            <a:off x="306140" y="1044327"/>
            <a:ext cx="9593262" cy="5326062"/>
          </a:xfrm>
        </p:spPr>
        <p:txBody>
          <a:bodyPr/>
          <a:lstStyle/>
          <a:p>
            <a:pPr algn="just">
              <a:lnSpc>
                <a:spcPct val="150000"/>
              </a:lnSpc>
            </a:pPr>
            <a:r>
              <a:rPr lang="en-US" sz="1800" dirty="0" smtClean="0"/>
              <a:t>The Controller Area Network (CAN) is a serial communications protocol which efficiently supports distributed real time control with a very high level of security.</a:t>
            </a:r>
          </a:p>
          <a:p>
            <a:pPr algn="just">
              <a:lnSpc>
                <a:spcPct val="150000"/>
              </a:lnSpc>
            </a:pPr>
            <a:r>
              <a:rPr lang="en-US" sz="1800" dirty="0" smtClean="0"/>
              <a:t>Basically CAN is an event driven communication protocol, however we also have TT CAN which is time triggered.</a:t>
            </a:r>
          </a:p>
          <a:p>
            <a:pPr algn="just">
              <a:lnSpc>
                <a:spcPct val="150000"/>
              </a:lnSpc>
            </a:pPr>
            <a:r>
              <a:rPr lang="en-US" sz="1800" dirty="0" smtClean="0"/>
              <a:t>The CAN network is usually based on a line topology with a linear bus to which a number of electronic control units are each connected via a CAN interface.</a:t>
            </a:r>
          </a:p>
          <a:p>
            <a:r>
              <a:rPr lang="en-US" sz="1800" dirty="0" smtClean="0"/>
              <a:t>CAN has the following properties</a:t>
            </a:r>
          </a:p>
          <a:p>
            <a:r>
              <a:rPr lang="en-US" sz="1800" dirty="0" smtClean="0"/>
              <a:t>• prioritization of messages</a:t>
            </a:r>
          </a:p>
          <a:p>
            <a:r>
              <a:rPr lang="en-US" sz="1800" dirty="0" smtClean="0"/>
              <a:t>• multicast reception with time synchronization</a:t>
            </a:r>
          </a:p>
          <a:p>
            <a:r>
              <a:rPr lang="en-US" sz="1800" dirty="0" smtClean="0"/>
              <a:t>• system wide data consistency</a:t>
            </a:r>
          </a:p>
          <a:p>
            <a:r>
              <a:rPr lang="en-US" sz="1800" dirty="0" smtClean="0"/>
              <a:t>• </a:t>
            </a:r>
            <a:r>
              <a:rPr lang="en-US" sz="1800" dirty="0" err="1" smtClean="0"/>
              <a:t>multimaster</a:t>
            </a:r>
            <a:endParaRPr lang="en-US" sz="1800" dirty="0" smtClean="0"/>
          </a:p>
          <a:p>
            <a:r>
              <a:rPr lang="en-US" sz="1800" dirty="0" smtClean="0"/>
              <a:t>• error detection and signaling</a:t>
            </a:r>
          </a:p>
          <a:p>
            <a:r>
              <a:rPr lang="en-US" sz="1800" dirty="0" smtClean="0"/>
              <a:t>autonomous switching off of defective nodes</a:t>
            </a:r>
          </a:p>
          <a:p>
            <a:pPr>
              <a:lnSpc>
                <a:spcPct val="150000"/>
              </a:lnSpc>
            </a:pPr>
            <a:endParaRPr lang="en-US" dirty="0" smtClean="0"/>
          </a:p>
          <a:p>
            <a:pPr>
              <a:lnSpc>
                <a:spcPct val="150000"/>
              </a:lnSpc>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156" y="468263"/>
            <a:ext cx="9969500" cy="692150"/>
          </a:xfrm>
        </p:spPr>
        <p:txBody>
          <a:bodyPr/>
          <a:lstStyle/>
          <a:p>
            <a:r>
              <a:rPr lang="en-US" sz="2800" dirty="0" smtClean="0"/>
              <a:t>CAN NETWORK</a:t>
            </a: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6</a:t>
            </a:fld>
            <a:r>
              <a:rPr lang="de-DE" dirty="0" smtClean="0"/>
              <a:t> / </a:t>
            </a:r>
            <a:r>
              <a:rPr lang="de-DE" dirty="0" err="1" smtClean="0"/>
              <a:t>Gurudutt</a:t>
            </a:r>
            <a:r>
              <a:rPr lang="de-DE" dirty="0" smtClean="0"/>
              <a:t> B R/  25.10.2013   © Continental AG</a:t>
            </a:r>
            <a:endParaRPr lang="de-DE" dirty="0"/>
          </a:p>
        </p:txBody>
      </p:sp>
      <p:pic>
        <p:nvPicPr>
          <p:cNvPr id="3077" name="Picture 5"/>
          <p:cNvPicPr>
            <a:picLocks noGrp="1" noChangeAspect="1" noChangeArrowheads="1"/>
          </p:cNvPicPr>
          <p:nvPr>
            <p:ph idx="1"/>
          </p:nvPr>
        </p:nvPicPr>
        <p:blipFill>
          <a:blip r:embed="rId2" cstate="print"/>
          <a:srcRect/>
          <a:stretch>
            <a:fillRect/>
          </a:stretch>
        </p:blipFill>
        <p:spPr bwMode="auto">
          <a:xfrm>
            <a:off x="5562724" y="2628503"/>
            <a:ext cx="4680520" cy="3744416"/>
          </a:xfrm>
          <a:prstGeom prst="rect">
            <a:avLst/>
          </a:prstGeom>
          <a:noFill/>
          <a:ln w="9525">
            <a:noFill/>
            <a:miter lim="800000"/>
            <a:headEnd/>
            <a:tailEnd/>
          </a:ln>
        </p:spPr>
      </p:pic>
      <p:sp>
        <p:nvSpPr>
          <p:cNvPr id="10" name="TextBox 9"/>
          <p:cNvSpPr txBox="1"/>
          <p:nvPr/>
        </p:nvSpPr>
        <p:spPr>
          <a:xfrm>
            <a:off x="378148" y="1116335"/>
            <a:ext cx="9289032" cy="6001643"/>
          </a:xfrm>
          <a:prstGeom prst="rect">
            <a:avLst/>
          </a:prstGeom>
          <a:noFill/>
        </p:spPr>
        <p:txBody>
          <a:bodyPr wrap="square" rtlCol="0">
            <a:spAutoFit/>
          </a:bodyPr>
          <a:lstStyle/>
          <a:p>
            <a:pPr lvl="1">
              <a:lnSpc>
                <a:spcPct val="150000"/>
              </a:lnSpc>
              <a:buFont typeface="Wingdings" pitchFamily="2" charset="2"/>
              <a:buChar char="Ø"/>
            </a:pPr>
            <a:r>
              <a:rPr lang="en-US" sz="1800" b="0" dirty="0" smtClean="0"/>
              <a:t>   A CAN network consists of a number of CAN nodes which are linked via a physical transmission medium (CAN bus).</a:t>
            </a:r>
          </a:p>
          <a:p>
            <a:pPr lvl="1">
              <a:lnSpc>
                <a:spcPct val="150000"/>
              </a:lnSpc>
              <a:buFont typeface="Wingdings" pitchFamily="2" charset="2"/>
              <a:buChar char="Ø"/>
            </a:pPr>
            <a:r>
              <a:rPr lang="en-US" sz="1800" b="0" dirty="0" smtClean="0"/>
              <a:t>An unshielded twisted two-wire line is the physical transmission medium used,  over which symmetrical signal transmission occurs.</a:t>
            </a:r>
          </a:p>
          <a:p>
            <a:pPr lvl="1">
              <a:lnSpc>
                <a:spcPct val="150000"/>
              </a:lnSpc>
              <a:buFont typeface="Wingdings" pitchFamily="2" charset="2"/>
              <a:buChar char="Ø"/>
            </a:pPr>
            <a:r>
              <a:rPr lang="en-US" sz="1800" b="0" dirty="0" smtClean="0"/>
              <a:t>The data rate of High speed CAN is 1 </a:t>
            </a:r>
            <a:r>
              <a:rPr lang="en-US" sz="1800" b="0" dirty="0" err="1" smtClean="0"/>
              <a:t>Mbit</a:t>
            </a:r>
            <a:r>
              <a:rPr lang="en-US" sz="1800" b="0" dirty="0" smtClean="0"/>
              <a:t>/s.</a:t>
            </a:r>
          </a:p>
          <a:p>
            <a:pPr lvl="1">
              <a:lnSpc>
                <a:spcPct val="150000"/>
              </a:lnSpc>
              <a:buFont typeface="Wingdings" pitchFamily="2" charset="2"/>
              <a:buChar char="Ø"/>
            </a:pPr>
            <a:r>
              <a:rPr lang="en-US" sz="1800" b="0" dirty="0" smtClean="0"/>
              <a:t>The data rate of Low speed CAN is 125Kbit/s.</a:t>
            </a:r>
          </a:p>
          <a:p>
            <a:pPr lvl="1">
              <a:lnSpc>
                <a:spcPct val="150000"/>
              </a:lnSpc>
              <a:buFont typeface="Wingdings" pitchFamily="2" charset="2"/>
              <a:buChar char="Ø"/>
            </a:pPr>
            <a:r>
              <a:rPr lang="en-US" sz="1800" b="0" dirty="0" smtClean="0"/>
              <a:t> A maximum network extension of about </a:t>
            </a:r>
          </a:p>
          <a:p>
            <a:pPr lvl="1">
              <a:lnSpc>
                <a:spcPct val="150000"/>
              </a:lnSpc>
            </a:pPr>
            <a:r>
              <a:rPr lang="en-US" sz="1800" b="0" dirty="0" smtClean="0"/>
              <a:t> 40 meters is allowed.</a:t>
            </a:r>
          </a:p>
          <a:p>
            <a:pPr lvl="1">
              <a:lnSpc>
                <a:spcPct val="150000"/>
              </a:lnSpc>
              <a:buFont typeface="Wingdings" pitchFamily="2" charset="2"/>
              <a:buChar char="Ø"/>
            </a:pPr>
            <a:r>
              <a:rPr lang="en-US" sz="1800" b="0" dirty="0" smtClean="0"/>
              <a:t> At the ends of the CAN network, bus</a:t>
            </a:r>
          </a:p>
          <a:p>
            <a:pPr lvl="1">
              <a:lnSpc>
                <a:spcPct val="150000"/>
              </a:lnSpc>
            </a:pPr>
            <a:r>
              <a:rPr lang="en-US" sz="1800" b="0" dirty="0" smtClean="0"/>
              <a:t> termination resistors contribute to </a:t>
            </a:r>
          </a:p>
          <a:p>
            <a:pPr lvl="1">
              <a:lnSpc>
                <a:spcPct val="150000"/>
              </a:lnSpc>
            </a:pPr>
            <a:r>
              <a:rPr lang="en-US" sz="1800" b="0" dirty="0" smtClean="0"/>
              <a:t> preventing transient phenomena (reflections).</a:t>
            </a:r>
          </a:p>
          <a:p>
            <a:pPr lvl="1">
              <a:lnSpc>
                <a:spcPct val="150000"/>
              </a:lnSpc>
              <a:buFont typeface="Wingdings" pitchFamily="2" charset="2"/>
              <a:buChar char="Ø"/>
            </a:pPr>
            <a:r>
              <a:rPr lang="en-US" sz="1800" b="0" dirty="0" smtClean="0"/>
              <a:t> ISO 11898 specifies the maximum number </a:t>
            </a:r>
          </a:p>
          <a:p>
            <a:pPr lvl="1">
              <a:lnSpc>
                <a:spcPct val="150000"/>
              </a:lnSpc>
            </a:pPr>
            <a:r>
              <a:rPr lang="en-US" sz="1800" b="0" dirty="0" smtClean="0"/>
              <a:t> of CAN nodes as 32.</a:t>
            </a:r>
          </a:p>
          <a:p>
            <a:pPr>
              <a:lnSpc>
                <a:spcPct val="150000"/>
              </a:lnSpc>
              <a:buFont typeface="Arial" pitchFamily="34" charset="0"/>
              <a:buChar char="•"/>
            </a:pPr>
            <a:endParaRPr lang="en-US" b="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Node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7</a:t>
            </a:fld>
            <a:r>
              <a:rPr lang="de-DE" dirty="0" smtClean="0"/>
              <a:t> / </a:t>
            </a:r>
            <a:r>
              <a:rPr lang="de-DE" dirty="0" err="1" smtClean="0"/>
              <a:t>Gurudutt</a:t>
            </a:r>
            <a:r>
              <a:rPr lang="de-DE" dirty="0" smtClean="0"/>
              <a:t> B R/  25.10.2013   © Continental AG</a:t>
            </a:r>
            <a:endParaRPr lang="de-DE"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5274692" y="2196455"/>
            <a:ext cx="5112568" cy="4248472"/>
          </a:xfrm>
          <a:prstGeom prst="rect">
            <a:avLst/>
          </a:prstGeom>
          <a:noFill/>
          <a:ln w="9525">
            <a:noFill/>
            <a:miter lim="800000"/>
            <a:headEnd/>
            <a:tailEnd/>
          </a:ln>
        </p:spPr>
      </p:pic>
      <p:sp>
        <p:nvSpPr>
          <p:cNvPr id="6" name="TextBox 5"/>
          <p:cNvSpPr txBox="1"/>
          <p:nvPr/>
        </p:nvSpPr>
        <p:spPr>
          <a:xfrm>
            <a:off x="378148" y="1044327"/>
            <a:ext cx="9865096" cy="4708981"/>
          </a:xfrm>
          <a:prstGeom prst="rect">
            <a:avLst/>
          </a:prstGeom>
          <a:noFill/>
        </p:spPr>
        <p:txBody>
          <a:bodyPr wrap="square" rtlCol="0">
            <a:spAutoFit/>
          </a:bodyPr>
          <a:lstStyle/>
          <a:p>
            <a:pPr>
              <a:lnSpc>
                <a:spcPct val="150000"/>
              </a:lnSpc>
              <a:buFont typeface="Wingdings" pitchFamily="2" charset="2"/>
              <a:buChar char="Ø"/>
            </a:pPr>
            <a:r>
              <a:rPr lang="en-US" sz="2000" b="0" dirty="0" smtClean="0"/>
              <a:t> An ECU that performs its tasks in a CAN network is referred to as a </a:t>
            </a:r>
            <a:r>
              <a:rPr lang="en-US" sz="2000" dirty="0" smtClean="0"/>
              <a:t>CAN node</a:t>
            </a:r>
            <a:r>
              <a:rPr lang="en-US" sz="2000" b="0" dirty="0" smtClean="0"/>
              <a:t>.</a:t>
            </a:r>
          </a:p>
          <a:p>
            <a:pPr>
              <a:lnSpc>
                <a:spcPct val="150000"/>
              </a:lnSpc>
              <a:buFont typeface="Wingdings" pitchFamily="2" charset="2"/>
              <a:buChar char="Ø"/>
            </a:pPr>
            <a:r>
              <a:rPr lang="en-US" sz="2000" b="0" dirty="0" smtClean="0"/>
              <a:t>Every node consists of a Host(Microcontroller) , CAN controller and a CAN transceiver. </a:t>
            </a:r>
          </a:p>
          <a:p>
            <a:pPr>
              <a:lnSpc>
                <a:spcPct val="150000"/>
              </a:lnSpc>
              <a:buFont typeface="Wingdings" pitchFamily="2" charset="2"/>
              <a:buChar char="Ø"/>
            </a:pPr>
            <a:r>
              <a:rPr lang="en-US" sz="2000" b="0" dirty="0" smtClean="0"/>
              <a:t>The </a:t>
            </a:r>
            <a:r>
              <a:rPr lang="en-US" sz="2000" dirty="0" smtClean="0"/>
              <a:t>CAN controller </a:t>
            </a:r>
            <a:r>
              <a:rPr lang="en-US" sz="2000" b="0" dirty="0" smtClean="0"/>
              <a:t>fulfills communication</a:t>
            </a:r>
          </a:p>
          <a:p>
            <a:pPr>
              <a:lnSpc>
                <a:spcPct val="150000"/>
              </a:lnSpc>
            </a:pPr>
            <a:r>
              <a:rPr lang="en-US" sz="2000" b="0" dirty="0" smtClean="0"/>
              <a:t>functions prescribed by the CAN protocol,</a:t>
            </a:r>
          </a:p>
          <a:p>
            <a:pPr>
              <a:lnSpc>
                <a:spcPct val="150000"/>
              </a:lnSpc>
            </a:pPr>
            <a:r>
              <a:rPr lang="en-US" sz="2000" b="0" dirty="0" smtClean="0"/>
              <a:t>which relieves the host considerably.</a:t>
            </a:r>
          </a:p>
          <a:p>
            <a:pPr>
              <a:lnSpc>
                <a:spcPct val="150000"/>
              </a:lnSpc>
              <a:buFont typeface="Wingdings" pitchFamily="2" charset="2"/>
              <a:buChar char="Ø"/>
            </a:pPr>
            <a:r>
              <a:rPr lang="en-US" sz="2000" b="0" dirty="0" smtClean="0"/>
              <a:t>The </a:t>
            </a:r>
            <a:r>
              <a:rPr lang="en-US" sz="2000" dirty="0" smtClean="0"/>
              <a:t>CAN transceiver </a:t>
            </a:r>
            <a:r>
              <a:rPr lang="en-US" sz="2000" b="0" dirty="0" smtClean="0"/>
              <a:t>connects the </a:t>
            </a:r>
          </a:p>
          <a:p>
            <a:pPr>
              <a:lnSpc>
                <a:spcPct val="150000"/>
              </a:lnSpc>
            </a:pPr>
            <a:r>
              <a:rPr lang="en-US" sz="2000" b="0" dirty="0" smtClean="0"/>
              <a:t>CAN controller to the physical</a:t>
            </a:r>
          </a:p>
          <a:p>
            <a:pPr>
              <a:lnSpc>
                <a:spcPct val="150000"/>
              </a:lnSpc>
            </a:pPr>
            <a:r>
              <a:rPr lang="en-US" sz="2000" b="0" dirty="0" smtClean="0"/>
              <a:t> transmission medium.</a:t>
            </a:r>
          </a:p>
          <a:p>
            <a:pPr>
              <a:lnSpc>
                <a:spcPct val="150000"/>
              </a:lnSpc>
            </a:pPr>
            <a:endParaRPr lang="en-US" sz="2000" b="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Bus</a:t>
            </a:r>
            <a:endParaRPr lang="en-US" dirty="0"/>
          </a:p>
        </p:txBody>
      </p:sp>
      <p:sp>
        <p:nvSpPr>
          <p:cNvPr id="3" name="Content Placeholder 2"/>
          <p:cNvSpPr>
            <a:spLocks noGrp="1"/>
          </p:cNvSpPr>
          <p:nvPr>
            <p:ph idx="1"/>
          </p:nvPr>
        </p:nvSpPr>
        <p:spPr/>
        <p:txBody>
          <a:bodyPr/>
          <a:lstStyle/>
          <a:p>
            <a:pPr>
              <a:lnSpc>
                <a:spcPct val="100000"/>
              </a:lnSpc>
            </a:pPr>
            <a:r>
              <a:rPr lang="en-US" dirty="0" smtClean="0"/>
              <a:t> </a:t>
            </a:r>
            <a:r>
              <a:rPr lang="en-US" sz="1800" dirty="0" smtClean="0"/>
              <a:t>Physical signal transmission in a CAN network is based on transmission of differential voltages (</a:t>
            </a:r>
            <a:r>
              <a:rPr lang="en-US" sz="1800" b="1" dirty="0" smtClean="0"/>
              <a:t>differential signal transmission</a:t>
            </a:r>
            <a:r>
              <a:rPr lang="en-US" sz="1800" dirty="0" smtClean="0"/>
              <a:t>).</a:t>
            </a:r>
          </a:p>
          <a:p>
            <a:pPr>
              <a:lnSpc>
                <a:spcPct val="100000"/>
              </a:lnSpc>
            </a:pPr>
            <a:r>
              <a:rPr lang="en-US" sz="1800" dirty="0" smtClean="0"/>
              <a:t> This effectively eliminates the negative effects of interference voltages induced by motors, ignition systems and switch contacts.</a:t>
            </a:r>
          </a:p>
          <a:p>
            <a:pPr>
              <a:lnSpc>
                <a:spcPct val="100000"/>
              </a:lnSpc>
            </a:pPr>
            <a:r>
              <a:rPr lang="en-US" sz="1800" dirty="0" smtClean="0"/>
              <a:t> Consequently, the transmission medium (CAN bus) consists of two lines: </a:t>
            </a:r>
            <a:r>
              <a:rPr lang="en-US" sz="1800" b="1" dirty="0" smtClean="0"/>
              <a:t>CAN high line (CANH)</a:t>
            </a:r>
            <a:r>
              <a:rPr lang="en-US" sz="1800" dirty="0" smtClean="0"/>
              <a:t> and </a:t>
            </a:r>
            <a:r>
              <a:rPr lang="en-US" sz="1800" b="1" dirty="0" smtClean="0"/>
              <a:t>CAN low line (CANL)</a:t>
            </a:r>
            <a:r>
              <a:rPr lang="en-US" sz="1800" dirty="0" smtClean="0"/>
              <a:t>.</a:t>
            </a:r>
          </a:p>
          <a:p>
            <a:pPr>
              <a:lnSpc>
                <a:spcPct val="100000"/>
              </a:lnSpc>
            </a:pPr>
            <a:r>
              <a:rPr lang="en-US" sz="1800" dirty="0" smtClean="0"/>
              <a:t> Twisting of the two lines reduces the magnetic field considerably.</a:t>
            </a:r>
          </a:p>
          <a:p>
            <a:pPr>
              <a:lnSpc>
                <a:spcPct val="100000"/>
              </a:lnSpc>
            </a:pPr>
            <a:r>
              <a:rPr lang="en-US" sz="1800" dirty="0" smtClean="0"/>
              <a:t> Due to finite signal propagation speed, the effects of transient</a:t>
            </a:r>
          </a:p>
          <a:p>
            <a:pPr>
              <a:lnSpc>
                <a:spcPct val="100000"/>
              </a:lnSpc>
              <a:buNone/>
            </a:pPr>
            <a:r>
              <a:rPr lang="en-US" sz="1800" dirty="0" smtClean="0"/>
              <a:t>    phenomena (</a:t>
            </a:r>
            <a:r>
              <a:rPr lang="en-US" sz="1800" b="1" dirty="0" smtClean="0"/>
              <a:t>reflections</a:t>
            </a:r>
            <a:r>
              <a:rPr lang="en-US" sz="1800" dirty="0" smtClean="0"/>
              <a:t>) grow with increasing data rate </a:t>
            </a:r>
          </a:p>
          <a:p>
            <a:pPr>
              <a:lnSpc>
                <a:spcPct val="100000"/>
              </a:lnSpc>
              <a:buNone/>
            </a:pPr>
            <a:r>
              <a:rPr lang="en-US" sz="1800" dirty="0" smtClean="0"/>
              <a:t>    and bus extension.</a:t>
            </a:r>
          </a:p>
          <a:p>
            <a:pPr>
              <a:lnSpc>
                <a:spcPct val="100000"/>
              </a:lnSpc>
            </a:pPr>
            <a:r>
              <a:rPr lang="en-US" sz="1800" dirty="0" smtClean="0"/>
              <a:t> Terminating the ends of the communication channel using</a:t>
            </a:r>
          </a:p>
          <a:p>
            <a:pPr>
              <a:lnSpc>
                <a:spcPct val="100000"/>
              </a:lnSpc>
              <a:buNone/>
            </a:pPr>
            <a:r>
              <a:rPr lang="en-US" sz="1800" dirty="0" smtClean="0"/>
              <a:t>    </a:t>
            </a:r>
            <a:r>
              <a:rPr lang="en-US" sz="1800" b="1" dirty="0" smtClean="0"/>
              <a:t>termination resistors</a:t>
            </a:r>
            <a:r>
              <a:rPr lang="en-US" sz="1800" dirty="0" smtClean="0"/>
              <a:t> prevents reflections in a high-speed</a:t>
            </a:r>
          </a:p>
          <a:p>
            <a:pPr>
              <a:lnSpc>
                <a:spcPct val="100000"/>
              </a:lnSpc>
              <a:buNone/>
            </a:pPr>
            <a:r>
              <a:rPr lang="en-US" sz="1800" dirty="0" smtClean="0"/>
              <a:t>    CAN network.</a:t>
            </a:r>
            <a:br>
              <a:rPr lang="en-US" sz="1800" dirty="0" smtClean="0"/>
            </a:br>
            <a:endParaRPr lang="en-US" sz="1800"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8</a:t>
            </a:fld>
            <a:r>
              <a:rPr lang="de-DE" dirty="0" smtClean="0"/>
              <a:t> / </a:t>
            </a:r>
            <a:r>
              <a:rPr lang="de-DE" dirty="0" err="1" smtClean="0"/>
              <a:t>Gurudutt</a:t>
            </a:r>
            <a:r>
              <a:rPr lang="de-DE" dirty="0" smtClean="0"/>
              <a:t> B R/  25.10.2013   © Continental AG</a:t>
            </a:r>
            <a:endParaRPr lang="de-DE" dirty="0"/>
          </a:p>
        </p:txBody>
      </p:sp>
      <p:pic>
        <p:nvPicPr>
          <p:cNvPr id="5123" name="Picture 3"/>
          <p:cNvPicPr>
            <a:picLocks noChangeAspect="1" noChangeArrowheads="1"/>
          </p:cNvPicPr>
          <p:nvPr/>
        </p:nvPicPr>
        <p:blipFill>
          <a:blip r:embed="rId2" cstate="print"/>
          <a:srcRect/>
          <a:stretch>
            <a:fillRect/>
          </a:stretch>
        </p:blipFill>
        <p:spPr bwMode="auto">
          <a:xfrm>
            <a:off x="7146900" y="2988543"/>
            <a:ext cx="3213001" cy="345638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BUS Logic</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t>dominant bus level</a:t>
            </a:r>
            <a:r>
              <a:rPr lang="en-US" dirty="0" smtClean="0"/>
              <a:t> corresponds to logical “0”.</a:t>
            </a:r>
          </a:p>
          <a:p>
            <a:r>
              <a:rPr lang="en-US" dirty="0" smtClean="0"/>
              <a:t> The </a:t>
            </a:r>
            <a:r>
              <a:rPr lang="en-US" b="1" dirty="0" smtClean="0"/>
              <a:t>recessive bus level</a:t>
            </a:r>
            <a:r>
              <a:rPr lang="en-US" dirty="0" smtClean="0"/>
              <a:t> corresponds to logical “1”.</a:t>
            </a:r>
          </a:p>
          <a:p>
            <a:r>
              <a:rPr lang="en-US" dirty="0" smtClean="0"/>
              <a:t>The dominant bus level overwrites the recessive bus level.</a:t>
            </a:r>
          </a:p>
          <a:p>
            <a:r>
              <a:rPr lang="en-US" dirty="0" smtClean="0"/>
              <a:t>In terms of logic, such behavior is </a:t>
            </a:r>
            <a:r>
              <a:rPr lang="en-US" b="1" dirty="0" smtClean="0"/>
              <a:t>AND-logic</a:t>
            </a: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9</a:t>
            </a:fld>
            <a:r>
              <a:rPr lang="de-DE" dirty="0" smtClean="0"/>
              <a:t> / </a:t>
            </a:r>
            <a:r>
              <a:rPr lang="de-DE" dirty="0" err="1" smtClean="0"/>
              <a:t>Gurudutt</a:t>
            </a:r>
            <a:r>
              <a:rPr lang="de-DE" dirty="0" smtClean="0"/>
              <a:t> B R/  25.10.2013   © Continental AG</a:t>
            </a:r>
            <a:endParaRPr lang="de-DE" dirty="0"/>
          </a:p>
        </p:txBody>
      </p:sp>
      <p:pic>
        <p:nvPicPr>
          <p:cNvPr id="6146" name="Picture 2"/>
          <p:cNvPicPr>
            <a:picLocks noChangeAspect="1" noChangeArrowheads="1"/>
          </p:cNvPicPr>
          <p:nvPr/>
        </p:nvPicPr>
        <p:blipFill>
          <a:blip r:embed="rId2" cstate="print"/>
          <a:srcRect/>
          <a:stretch>
            <a:fillRect/>
          </a:stretch>
        </p:blipFill>
        <p:spPr bwMode="auto">
          <a:xfrm>
            <a:off x="450156" y="2700511"/>
            <a:ext cx="9649072" cy="3380234"/>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10</a:t>
            </a:fld>
            <a:r>
              <a:rPr lang="de-DE" dirty="0" smtClean="0"/>
              <a:t> / </a:t>
            </a:r>
            <a:r>
              <a:rPr lang="de-DE" dirty="0" err="1" smtClean="0"/>
              <a:t>Gurudutt</a:t>
            </a:r>
            <a:r>
              <a:rPr lang="de-DE" dirty="0" smtClean="0"/>
              <a:t> B R/  25.10.2013   © Continental AG</a:t>
            </a:r>
            <a:endParaRPr lang="de-DE"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1386260" y="1044327"/>
            <a:ext cx="8064896" cy="1080120"/>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1026220" y="2124447"/>
            <a:ext cx="8712968" cy="439248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11</a:t>
            </a:fld>
            <a:r>
              <a:rPr lang="de-DE" dirty="0" smtClean="0"/>
              <a:t> / </a:t>
            </a:r>
            <a:r>
              <a:rPr lang="de-DE" dirty="0" err="1" smtClean="0"/>
              <a:t>Gurudutt</a:t>
            </a:r>
            <a:r>
              <a:rPr lang="de-DE" dirty="0" smtClean="0"/>
              <a:t> B R/  25.10.2013   © Continental AG</a:t>
            </a:r>
            <a:endParaRPr lang="de-DE" dirty="0"/>
          </a:p>
        </p:txBody>
      </p:sp>
      <p:pic>
        <p:nvPicPr>
          <p:cNvPr id="8194" name="Picture 2"/>
          <p:cNvPicPr>
            <a:picLocks noChangeAspect="1" noChangeArrowheads="1"/>
          </p:cNvPicPr>
          <p:nvPr/>
        </p:nvPicPr>
        <p:blipFill>
          <a:blip r:embed="rId2" cstate="print"/>
          <a:srcRect/>
          <a:stretch>
            <a:fillRect/>
          </a:stretch>
        </p:blipFill>
        <p:spPr bwMode="auto">
          <a:xfrm>
            <a:off x="378148" y="1188343"/>
            <a:ext cx="4968551" cy="5400600"/>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5490716" y="1404367"/>
            <a:ext cx="4680520" cy="5112568"/>
          </a:xfrm>
          <a:prstGeom prst="rect">
            <a:avLst/>
          </a:prstGeom>
          <a:noFill/>
          <a:ln w="9525">
            <a:noFill/>
            <a:miter lim="800000"/>
            <a:headEnd/>
            <a:tailEnd/>
          </a:ln>
        </p:spPr>
      </p:pic>
      <p:cxnSp>
        <p:nvCxnSpPr>
          <p:cNvPr id="8" name="Straight Connector 7"/>
          <p:cNvCxnSpPr/>
          <p:nvPr/>
        </p:nvCxnSpPr>
        <p:spPr bwMode="auto">
          <a:xfrm>
            <a:off x="5346700" y="1260351"/>
            <a:ext cx="0" cy="5328592"/>
          </a:xfrm>
          <a:prstGeom prst="line">
            <a:avLst/>
          </a:prstGeom>
          <a:no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12</a:t>
            </a:fld>
            <a:r>
              <a:rPr lang="de-DE" dirty="0" smtClean="0"/>
              <a:t> / </a:t>
            </a:r>
            <a:r>
              <a:rPr lang="de-DE" dirty="0" err="1" smtClean="0"/>
              <a:t>Gurudutt</a:t>
            </a:r>
            <a:r>
              <a:rPr lang="de-DE" dirty="0" smtClean="0"/>
              <a:t> B R/  25.10.2013   © Continental AG</a:t>
            </a:r>
            <a:endParaRPr lang="de-DE"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450156" y="1476375"/>
            <a:ext cx="5184576" cy="5328592"/>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5778748" y="1476375"/>
            <a:ext cx="4749552" cy="4896544"/>
          </a:xfrm>
          <a:prstGeom prst="rect">
            <a:avLst/>
          </a:prstGeom>
          <a:noFill/>
          <a:ln w="9525">
            <a:noFill/>
            <a:miter lim="800000"/>
            <a:headEnd/>
            <a:tailEnd/>
          </a:ln>
        </p:spPr>
      </p:pic>
      <p:cxnSp>
        <p:nvCxnSpPr>
          <p:cNvPr id="8" name="Straight Connector 7"/>
          <p:cNvCxnSpPr/>
          <p:nvPr/>
        </p:nvCxnSpPr>
        <p:spPr bwMode="auto">
          <a:xfrm>
            <a:off x="5706740" y="1260351"/>
            <a:ext cx="0" cy="5328592"/>
          </a:xfrm>
          <a:prstGeom prst="line">
            <a:avLst/>
          </a:prstGeom>
          <a:no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Communication Principle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13</a:t>
            </a:fld>
            <a:r>
              <a:rPr lang="de-DE" dirty="0" smtClean="0"/>
              <a:t> / </a:t>
            </a:r>
            <a:r>
              <a:rPr lang="de-DE" dirty="0" err="1" smtClean="0"/>
              <a:t>Gurudutt</a:t>
            </a:r>
            <a:r>
              <a:rPr lang="de-DE" dirty="0" smtClean="0"/>
              <a:t> B R/  25.10.2013   © Continental AG</a:t>
            </a:r>
            <a:endParaRPr lang="de-DE"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450156" y="1116335"/>
            <a:ext cx="4968552" cy="5400600"/>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a:stretch>
            <a:fillRect/>
          </a:stretch>
        </p:blipFill>
        <p:spPr bwMode="auto">
          <a:xfrm>
            <a:off x="5435600" y="1188343"/>
            <a:ext cx="5095676" cy="5256584"/>
          </a:xfrm>
          <a:prstGeom prst="rect">
            <a:avLst/>
          </a:prstGeom>
          <a:noFill/>
          <a:ln w="9525">
            <a:noFill/>
            <a:miter lim="800000"/>
            <a:headEnd/>
            <a:tailEnd/>
          </a:ln>
        </p:spPr>
      </p:pic>
      <p:cxnSp>
        <p:nvCxnSpPr>
          <p:cNvPr id="8" name="Straight Connector 7"/>
          <p:cNvCxnSpPr/>
          <p:nvPr/>
        </p:nvCxnSpPr>
        <p:spPr bwMode="auto">
          <a:xfrm>
            <a:off x="5418708" y="1044327"/>
            <a:ext cx="0" cy="5616624"/>
          </a:xfrm>
          <a:prstGeom prst="line">
            <a:avLst/>
          </a:prstGeom>
          <a:no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Framing</a:t>
            </a:r>
            <a:endParaRPr lang="en-US" dirty="0"/>
          </a:p>
        </p:txBody>
      </p:sp>
      <p:sp>
        <p:nvSpPr>
          <p:cNvPr id="3" name="Content Placeholder 2"/>
          <p:cNvSpPr>
            <a:spLocks noGrp="1"/>
          </p:cNvSpPr>
          <p:nvPr>
            <p:ph idx="1"/>
          </p:nvPr>
        </p:nvSpPr>
        <p:spPr/>
        <p:txBody>
          <a:bodyPr/>
          <a:lstStyle/>
          <a:p>
            <a:r>
              <a:rPr lang="en-US" dirty="0" smtClean="0"/>
              <a:t>Standard Data Frame:</a:t>
            </a:r>
          </a:p>
          <a:p>
            <a:endParaRPr lang="en-US" dirty="0" smtClean="0"/>
          </a:p>
          <a:p>
            <a:endParaRPr lang="en-US" dirty="0" smtClean="0"/>
          </a:p>
          <a:p>
            <a:endParaRPr lang="en-US" dirty="0" smtClean="0"/>
          </a:p>
          <a:p>
            <a:endParaRPr lang="en-US" dirty="0" smtClean="0"/>
          </a:p>
          <a:p>
            <a:r>
              <a:rPr lang="en-US" dirty="0" smtClean="0"/>
              <a:t>Standard Remote Frame:</a:t>
            </a:r>
          </a:p>
          <a:p>
            <a:endParaRPr lang="en-US" dirty="0" smtClean="0"/>
          </a:p>
          <a:p>
            <a:endParaRPr lang="en-US" dirty="0" smtClean="0"/>
          </a:p>
          <a:p>
            <a:endParaRPr lang="en-US" dirty="0" smtClean="0"/>
          </a:p>
          <a:p>
            <a:endParaRPr lang="en-US" dirty="0" smtClean="0"/>
          </a:p>
          <a:p>
            <a:r>
              <a:rPr lang="en-US" dirty="0" smtClean="0"/>
              <a:t>Error Frame:</a:t>
            </a:r>
          </a:p>
          <a:p>
            <a:endParaRPr lang="en-US" dirty="0" smtClean="0"/>
          </a:p>
          <a:p>
            <a:endParaRPr lang="en-US" dirty="0" smtClean="0"/>
          </a:p>
          <a:p>
            <a:endParaRPr lang="en-US" dirty="0" smtClean="0"/>
          </a:p>
          <a:p>
            <a:endParaRPr lang="en-US" dirty="0" smtClean="0"/>
          </a:p>
          <a:p>
            <a:endParaRPr lang="en-US" dirty="0" smtClean="0"/>
          </a:p>
          <a:p>
            <a:pPr>
              <a:buNone/>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14</a:t>
            </a:fld>
            <a:r>
              <a:rPr lang="de-DE" dirty="0" smtClean="0"/>
              <a:t> / </a:t>
            </a:r>
            <a:r>
              <a:rPr lang="de-DE" dirty="0" err="1" smtClean="0"/>
              <a:t>Gurudutt</a:t>
            </a:r>
            <a:r>
              <a:rPr lang="de-DE" dirty="0" smtClean="0"/>
              <a:t> B R/  25.10.2013   © Continental AG</a:t>
            </a:r>
            <a:endParaRPr lang="de-DE" dirty="0"/>
          </a:p>
        </p:txBody>
      </p:sp>
      <p:pic>
        <p:nvPicPr>
          <p:cNvPr id="11267" name="Picture 3"/>
          <p:cNvPicPr>
            <a:picLocks noChangeAspect="1" noChangeArrowheads="1"/>
          </p:cNvPicPr>
          <p:nvPr/>
        </p:nvPicPr>
        <p:blipFill>
          <a:blip r:embed="rId2" cstate="print"/>
          <a:srcRect/>
          <a:stretch>
            <a:fillRect/>
          </a:stretch>
        </p:blipFill>
        <p:spPr bwMode="auto">
          <a:xfrm>
            <a:off x="594172" y="1476376"/>
            <a:ext cx="9433048" cy="1584176"/>
          </a:xfrm>
          <a:prstGeom prst="rect">
            <a:avLst/>
          </a:prstGeom>
          <a:noFill/>
          <a:ln w="9525">
            <a:noFill/>
            <a:miter lim="800000"/>
            <a:headEnd/>
            <a:tailEnd/>
          </a:ln>
        </p:spPr>
      </p:pic>
      <p:pic>
        <p:nvPicPr>
          <p:cNvPr id="11268" name="Picture 4"/>
          <p:cNvPicPr>
            <a:picLocks noChangeAspect="1" noChangeArrowheads="1"/>
          </p:cNvPicPr>
          <p:nvPr/>
        </p:nvPicPr>
        <p:blipFill>
          <a:blip r:embed="rId3" cstate="print"/>
          <a:srcRect/>
          <a:stretch>
            <a:fillRect/>
          </a:stretch>
        </p:blipFill>
        <p:spPr bwMode="auto">
          <a:xfrm>
            <a:off x="594172" y="3348583"/>
            <a:ext cx="9217024" cy="1440160"/>
          </a:xfrm>
          <a:prstGeom prst="rect">
            <a:avLst/>
          </a:prstGeom>
          <a:noFill/>
          <a:ln w="9525">
            <a:noFill/>
            <a:miter lim="800000"/>
            <a:headEnd/>
            <a:tailEnd/>
          </a:ln>
        </p:spPr>
      </p:pic>
      <p:pic>
        <p:nvPicPr>
          <p:cNvPr id="11269" name="Picture 5"/>
          <p:cNvPicPr>
            <a:picLocks noChangeAspect="1" noChangeArrowheads="1"/>
          </p:cNvPicPr>
          <p:nvPr/>
        </p:nvPicPr>
        <p:blipFill>
          <a:blip r:embed="rId4" cstate="print"/>
          <a:srcRect/>
          <a:stretch>
            <a:fillRect/>
          </a:stretch>
        </p:blipFill>
        <p:spPr bwMode="auto">
          <a:xfrm>
            <a:off x="1818308" y="4788743"/>
            <a:ext cx="6120680" cy="1728192"/>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Frame </a:t>
            </a:r>
            <a:endParaRPr lang="en-US" dirty="0"/>
          </a:p>
        </p:txBody>
      </p:sp>
      <p:sp>
        <p:nvSpPr>
          <p:cNvPr id="3" name="Content Placeholder 2"/>
          <p:cNvSpPr>
            <a:spLocks noGrp="1"/>
          </p:cNvSpPr>
          <p:nvPr>
            <p:ph idx="1"/>
          </p:nvPr>
        </p:nvSpPr>
        <p:spPr/>
        <p:txBody>
          <a:bodyPr/>
          <a:lstStyle/>
          <a:p>
            <a:pPr>
              <a:buNone/>
            </a:pPr>
            <a:r>
              <a:rPr lang="en-US" sz="1800" dirty="0" smtClean="0"/>
              <a:t> </a:t>
            </a:r>
            <a:r>
              <a:rPr lang="en-US" sz="1800" b="1" dirty="0" smtClean="0"/>
              <a:t>"Hello everyone, here's some data labeled X, hope you like it!"</a:t>
            </a:r>
          </a:p>
          <a:p>
            <a:r>
              <a:rPr lang="en-US" dirty="0" smtClean="0"/>
              <a:t>Data frames serve to transmit the user data.</a:t>
            </a:r>
          </a:p>
          <a:p>
            <a:r>
              <a:rPr lang="en-US" dirty="0" smtClean="0"/>
              <a:t>Data frame starts with the Start of Frame(SOF) followed by the Arbitration field.</a:t>
            </a:r>
          </a:p>
          <a:p>
            <a:r>
              <a:rPr lang="en-US" dirty="0" smtClean="0"/>
              <a:t>Then comes the Control field and the Data field.</a:t>
            </a:r>
          </a:p>
          <a:p>
            <a:r>
              <a:rPr lang="en-US" dirty="0" smtClean="0"/>
              <a:t>CRC field is used for error detection.</a:t>
            </a:r>
          </a:p>
          <a:p>
            <a:r>
              <a:rPr lang="en-US" dirty="0" smtClean="0"/>
              <a:t>Acknowledgement field is used to check if the receiver received the data or not. </a:t>
            </a:r>
          </a:p>
          <a:p>
            <a:r>
              <a:rPr lang="en-US" dirty="0" smtClean="0"/>
              <a:t>End of Frame(EOF) signifies the end of Data Frame.</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15</a:t>
            </a:fld>
            <a:r>
              <a:rPr lang="de-DE" dirty="0" smtClean="0"/>
              <a:t> / </a:t>
            </a:r>
            <a:r>
              <a:rPr lang="de-DE" dirty="0" err="1" smtClean="0"/>
              <a:t>Gurudutt</a:t>
            </a:r>
            <a:r>
              <a:rPr lang="de-DE" dirty="0" smtClean="0"/>
              <a:t> B R/  25.10.2013   © Continental AG</a:t>
            </a:r>
            <a:endParaRPr lang="de-DE" dirty="0"/>
          </a:p>
        </p:txBody>
      </p:sp>
      <p:pic>
        <p:nvPicPr>
          <p:cNvPr id="12290" name="Picture 2"/>
          <p:cNvPicPr>
            <a:picLocks noChangeAspect="1" noChangeArrowheads="1"/>
          </p:cNvPicPr>
          <p:nvPr/>
        </p:nvPicPr>
        <p:blipFill>
          <a:blip r:embed="rId2" cstate="print"/>
          <a:srcRect/>
          <a:stretch>
            <a:fillRect/>
          </a:stretch>
        </p:blipFill>
        <p:spPr bwMode="auto">
          <a:xfrm>
            <a:off x="450156" y="3708623"/>
            <a:ext cx="9649072" cy="283579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frame</a:t>
            </a:r>
            <a:endParaRPr lang="en-US" dirty="0"/>
          </a:p>
        </p:txBody>
      </p:sp>
      <p:sp>
        <p:nvSpPr>
          <p:cNvPr id="3" name="Content Placeholder 2"/>
          <p:cNvSpPr>
            <a:spLocks noGrp="1"/>
          </p:cNvSpPr>
          <p:nvPr>
            <p:ph idx="1"/>
          </p:nvPr>
        </p:nvSpPr>
        <p:spPr>
          <a:xfrm>
            <a:off x="361950" y="1260351"/>
            <a:ext cx="9969500" cy="5343649"/>
          </a:xfrm>
        </p:spPr>
        <p:txBody>
          <a:bodyPr/>
          <a:lstStyle/>
          <a:p>
            <a:pPr>
              <a:buNone/>
            </a:pPr>
            <a:r>
              <a:rPr lang="en-US" sz="1800" b="1" dirty="0" smtClean="0"/>
              <a:t> "Hello everyone, can somebody please produce the data labeled X?" </a:t>
            </a:r>
          </a:p>
          <a:p>
            <a:r>
              <a:rPr lang="en-US" dirty="0" smtClean="0"/>
              <a:t>Remote frame is a frame type used to request data, i.e. data frames, from any CAN node. </a:t>
            </a:r>
          </a:p>
          <a:p>
            <a:r>
              <a:rPr lang="en-US" dirty="0" smtClean="0"/>
              <a:t>Difference between data and remote frame is </a:t>
            </a:r>
          </a:p>
          <a:p>
            <a:pPr lvl="1">
              <a:buFont typeface="Arial" pitchFamily="34" charset="0"/>
              <a:buChar char="•"/>
            </a:pPr>
            <a:r>
              <a:rPr lang="en-US" dirty="0" smtClean="0"/>
              <a:t>RTR bit in remote frame is set to 1 whereas in data frame, RTR bit is dominant.</a:t>
            </a:r>
          </a:p>
          <a:p>
            <a:pPr lvl="1">
              <a:buFont typeface="Arial" pitchFamily="34" charset="0"/>
              <a:buChar char="•"/>
            </a:pPr>
            <a:r>
              <a:rPr lang="en-US" dirty="0" smtClean="0"/>
              <a:t>Data field in a remote frame is absent.</a:t>
            </a:r>
          </a:p>
          <a:p>
            <a:pPr lvl="1">
              <a:buFont typeface="Arial" pitchFamily="34" charset="0"/>
              <a:buChar char="•"/>
            </a:pPr>
            <a:r>
              <a:rPr lang="en-US" dirty="0" smtClean="0"/>
              <a:t>Data frame has higher priority compared to remote frame.</a:t>
            </a:r>
          </a:p>
          <a:p>
            <a:pPr lvl="0"/>
            <a:r>
              <a:rPr lang="en-US" dirty="0" smtClean="0">
                <a:solidFill>
                  <a:srgbClr val="000000"/>
                </a:solidFill>
              </a:rPr>
              <a:t>A remote frame contains the message id of the data which it is requesting.</a:t>
            </a:r>
          </a:p>
          <a:p>
            <a:pPr lvl="1">
              <a:buFont typeface="Arial" pitchFamily="34" charset="0"/>
              <a:buChar char="•"/>
            </a:pPr>
            <a:endParaRPr lang="en-US" dirty="0" smtClean="0"/>
          </a:p>
          <a:p>
            <a:pPr lvl="1">
              <a:buNone/>
            </a:pPr>
            <a:endParaRPr lang="en-US" dirty="0" smtClean="0"/>
          </a:p>
        </p:txBody>
      </p:sp>
      <p:sp>
        <p:nvSpPr>
          <p:cNvPr id="4" name="Slide Number Placeholder 3"/>
          <p:cNvSpPr>
            <a:spLocks noGrp="1"/>
          </p:cNvSpPr>
          <p:nvPr>
            <p:ph type="sldNum" sz="quarter" idx="10"/>
          </p:nvPr>
        </p:nvSpPr>
        <p:spPr/>
        <p:txBody>
          <a:bodyPr/>
          <a:lstStyle/>
          <a:p>
            <a:fld id="{1B8FCC23-F9C6-4830-BB71-E1E9E8EA4E28}" type="slidenum">
              <a:rPr lang="de-DE" smtClean="0"/>
              <a:pPr/>
              <a:t>16</a:t>
            </a:fld>
            <a:r>
              <a:rPr lang="de-DE" dirty="0" smtClean="0"/>
              <a:t> / </a:t>
            </a:r>
            <a:r>
              <a:rPr lang="de-DE" dirty="0" err="1" smtClean="0"/>
              <a:t>Gurudutt</a:t>
            </a:r>
            <a:r>
              <a:rPr lang="de-DE" dirty="0" smtClean="0"/>
              <a:t> B R/  25.10.2013   © Continental AG</a:t>
            </a:r>
            <a:endParaRPr lang="de-DE" dirty="0"/>
          </a:p>
        </p:txBody>
      </p:sp>
      <p:pic>
        <p:nvPicPr>
          <p:cNvPr id="5" name="Picture 4"/>
          <p:cNvPicPr>
            <a:picLocks noChangeAspect="1" noChangeArrowheads="1"/>
          </p:cNvPicPr>
          <p:nvPr/>
        </p:nvPicPr>
        <p:blipFill>
          <a:blip r:embed="rId2" cstate="print"/>
          <a:srcRect/>
          <a:stretch>
            <a:fillRect/>
          </a:stretch>
        </p:blipFill>
        <p:spPr bwMode="auto">
          <a:xfrm>
            <a:off x="594172" y="3708623"/>
            <a:ext cx="9217024" cy="2664296"/>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fields of a Data frame</a:t>
            </a:r>
            <a:endParaRPr lang="en-US" dirty="0"/>
          </a:p>
        </p:txBody>
      </p:sp>
      <p:sp>
        <p:nvSpPr>
          <p:cNvPr id="3" name="Content Placeholder 2"/>
          <p:cNvSpPr>
            <a:spLocks noGrp="1"/>
          </p:cNvSpPr>
          <p:nvPr>
            <p:ph idx="1"/>
          </p:nvPr>
        </p:nvSpPr>
        <p:spPr>
          <a:xfrm>
            <a:off x="378148" y="1116335"/>
            <a:ext cx="9969500" cy="5326062"/>
          </a:xfrm>
        </p:spPr>
        <p:txBody>
          <a:bodyPr/>
          <a:lstStyle/>
          <a:p>
            <a:pPr>
              <a:lnSpc>
                <a:spcPct val="150000"/>
              </a:lnSpc>
            </a:pPr>
            <a:r>
              <a:rPr lang="en-US" b="1" dirty="0" smtClean="0"/>
              <a:t>Start of Frame(SOF):</a:t>
            </a:r>
            <a:r>
              <a:rPr lang="en-US" dirty="0" smtClean="0"/>
              <a:t>It is transmitted by the sender as a dominant level which produces a signal edge from the previous recessive (bus idle) level which is used to synchronize the entire network.</a:t>
            </a:r>
          </a:p>
          <a:p>
            <a:pPr>
              <a:lnSpc>
                <a:spcPct val="150000"/>
              </a:lnSpc>
            </a:pPr>
            <a:r>
              <a:rPr lang="en-US" b="1" dirty="0" err="1" smtClean="0"/>
              <a:t>Arbitrarion</a:t>
            </a:r>
            <a:r>
              <a:rPr lang="en-US" b="1" dirty="0" smtClean="0"/>
              <a:t> Field:  </a:t>
            </a:r>
            <a:r>
              <a:rPr lang="en-US" dirty="0" smtClean="0"/>
              <a:t>This field contains the identifier bits and the RTR bit</a:t>
            </a:r>
          </a:p>
          <a:p>
            <a:pPr lvl="1">
              <a:lnSpc>
                <a:spcPct val="150000"/>
              </a:lnSpc>
              <a:buFont typeface="Arial" pitchFamily="34" charset="0"/>
              <a:buChar char="•"/>
            </a:pPr>
            <a:r>
              <a:rPr lang="en-US" b="1" dirty="0" smtClean="0"/>
              <a:t>Identifier bits : </a:t>
            </a:r>
            <a:r>
              <a:rPr lang="en-US" dirty="0" smtClean="0"/>
              <a:t>The first 11 bits after SOF bit constitute the ID bits. These bits decide the priority of the message frame. Lower the ID value, higher the priority of the frame.</a:t>
            </a:r>
          </a:p>
          <a:p>
            <a:pPr lvl="1">
              <a:lnSpc>
                <a:spcPct val="150000"/>
              </a:lnSpc>
              <a:buFont typeface="Arial" pitchFamily="34" charset="0"/>
              <a:buChar char="•"/>
            </a:pPr>
            <a:r>
              <a:rPr lang="en-US" b="1" dirty="0" smtClean="0"/>
              <a:t>RTR bit : </a:t>
            </a:r>
            <a:r>
              <a:rPr lang="en-US" dirty="0" smtClean="0"/>
              <a:t>It is used by the sender to inform receivers of the frame type (data frame or remote frame). A dominant RTR bit indicates a data frame.</a:t>
            </a:r>
            <a:endParaRPr lang="en-US" b="1" dirty="0" smtClean="0"/>
          </a:p>
          <a:p>
            <a:pPr lvl="0">
              <a:lnSpc>
                <a:spcPct val="150000"/>
              </a:lnSpc>
            </a:pPr>
            <a:r>
              <a:rPr lang="en-US" b="1" dirty="0" smtClean="0">
                <a:solidFill>
                  <a:srgbClr val="000000"/>
                </a:solidFill>
              </a:rPr>
              <a:t>Control Field:  </a:t>
            </a:r>
            <a:r>
              <a:rPr lang="en-US" dirty="0" smtClean="0">
                <a:solidFill>
                  <a:srgbClr val="000000"/>
                </a:solidFill>
              </a:rPr>
              <a:t>This field contains an IDE( Identifier extension ) bit, a reserved bit and the data length code.</a:t>
            </a:r>
          </a:p>
          <a:p>
            <a:pPr lvl="1">
              <a:lnSpc>
                <a:spcPct val="150000"/>
              </a:lnSpc>
              <a:buFont typeface="Arial" pitchFamily="34" charset="0"/>
              <a:buChar char="•"/>
            </a:pPr>
            <a:r>
              <a:rPr lang="en-US" b="1" dirty="0" smtClean="0">
                <a:solidFill>
                  <a:srgbClr val="000000"/>
                </a:solidFill>
              </a:rPr>
              <a:t>IDE bit </a:t>
            </a:r>
            <a:r>
              <a:rPr lang="en-US" dirty="0" smtClean="0">
                <a:solidFill>
                  <a:srgbClr val="000000"/>
                </a:solidFill>
              </a:rPr>
              <a:t>: This bit differentiates between the Standard frame format and the extended frame format. A dominant value on IDE bit denotes a standard frame format.</a:t>
            </a:r>
          </a:p>
          <a:p>
            <a:pPr lvl="1">
              <a:lnSpc>
                <a:spcPct val="150000"/>
              </a:lnSpc>
              <a:buFont typeface="Arial" pitchFamily="34" charset="0"/>
              <a:buChar char="•"/>
            </a:pPr>
            <a:r>
              <a:rPr lang="en-US" b="1" dirty="0" smtClean="0">
                <a:solidFill>
                  <a:srgbClr val="000000"/>
                </a:solidFill>
              </a:rPr>
              <a:t>Data Length Code </a:t>
            </a:r>
            <a:r>
              <a:rPr lang="en-US" dirty="0" smtClean="0">
                <a:solidFill>
                  <a:srgbClr val="000000"/>
                </a:solidFill>
              </a:rPr>
              <a:t>: </a:t>
            </a:r>
            <a:r>
              <a:rPr lang="en-US" dirty="0" smtClean="0"/>
              <a:t>The DLC (Data Length Code) communicates the number of bytes in the data field to the receivers. DLC is of 4 bits and a combination of recessive and dominant bits.</a:t>
            </a:r>
            <a:endParaRPr lang="en-US" dirty="0" smtClean="0">
              <a:solidFill>
                <a:srgbClr val="000000"/>
              </a:solidFill>
            </a:endParaRPr>
          </a:p>
          <a:p>
            <a:pPr lvl="1">
              <a:lnSpc>
                <a:spcPct val="150000"/>
              </a:lnSpc>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1B8FCC23-F9C6-4830-BB71-E1E9E8EA4E28}" type="slidenum">
              <a:rPr lang="de-DE" smtClean="0"/>
              <a:pPr/>
              <a:t>17</a:t>
            </a:fld>
            <a:r>
              <a:rPr lang="de-DE" dirty="0" smtClean="0"/>
              <a:t> / </a:t>
            </a:r>
            <a:r>
              <a:rPr lang="de-DE" dirty="0" err="1" smtClean="0"/>
              <a:t>Gurudutt</a:t>
            </a:r>
            <a:r>
              <a:rPr lang="de-DE" dirty="0" smtClean="0"/>
              <a:t> B R/  25.10.2013   © Continental AG</a:t>
            </a:r>
            <a:endParaRPr lang="de-D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fields of a Data frame</a:t>
            </a:r>
            <a:endParaRPr lang="en-US" dirty="0"/>
          </a:p>
        </p:txBody>
      </p:sp>
      <p:sp>
        <p:nvSpPr>
          <p:cNvPr id="3" name="Content Placeholder 2"/>
          <p:cNvSpPr>
            <a:spLocks noGrp="1"/>
          </p:cNvSpPr>
          <p:nvPr>
            <p:ph idx="1"/>
          </p:nvPr>
        </p:nvSpPr>
        <p:spPr/>
        <p:txBody>
          <a:bodyPr/>
          <a:lstStyle/>
          <a:p>
            <a:pPr>
              <a:lnSpc>
                <a:spcPct val="150000"/>
              </a:lnSpc>
            </a:pPr>
            <a:r>
              <a:rPr lang="en-US" b="1" dirty="0" smtClean="0"/>
              <a:t>CRC( Cyclic Redundancy Check) Field : </a:t>
            </a:r>
            <a:r>
              <a:rPr lang="en-US" dirty="0" smtClean="0"/>
              <a:t>This is a field of 16 bits consisting of a 15 bit CRC sequence and a CRC delimiter.</a:t>
            </a:r>
          </a:p>
          <a:p>
            <a:pPr lvl="1">
              <a:lnSpc>
                <a:spcPct val="150000"/>
              </a:lnSpc>
              <a:buFont typeface="Arial" pitchFamily="34" charset="0"/>
              <a:buChar char="•"/>
            </a:pPr>
            <a:r>
              <a:rPr lang="en-US" b="1" dirty="0" smtClean="0"/>
              <a:t>CRC sequence </a:t>
            </a:r>
            <a:r>
              <a:rPr lang="en-US" dirty="0" smtClean="0"/>
              <a:t>:</a:t>
            </a:r>
          </a:p>
          <a:p>
            <a:pPr lvl="2">
              <a:lnSpc>
                <a:spcPct val="150000"/>
              </a:lnSpc>
              <a:buFont typeface="Wingdings" pitchFamily="2" charset="2"/>
              <a:buChar char="§"/>
            </a:pPr>
            <a:r>
              <a:rPr lang="en-US" dirty="0" smtClean="0"/>
              <a:t> CRC sequence is computed based on the bits to be transmitted (from SOF up to and including the  data field) and a generator polynomial G(x).</a:t>
            </a:r>
          </a:p>
          <a:p>
            <a:pPr lvl="2">
              <a:lnSpc>
                <a:spcPct val="150000"/>
              </a:lnSpc>
              <a:buFont typeface="Wingdings" pitchFamily="2" charset="2"/>
              <a:buChar char="§"/>
            </a:pPr>
            <a:r>
              <a:rPr lang="en-US" dirty="0" smtClean="0"/>
              <a:t> The overall polynomial is a multiple of the bits</a:t>
            </a:r>
          </a:p>
          <a:p>
            <a:pPr lvl="2">
              <a:lnSpc>
                <a:spcPct val="150000"/>
              </a:lnSpc>
              <a:buNone/>
            </a:pPr>
            <a:r>
              <a:rPr lang="en-US" dirty="0" smtClean="0"/>
              <a:t>    to be transmitted.</a:t>
            </a:r>
          </a:p>
          <a:p>
            <a:pPr lvl="2">
              <a:lnSpc>
                <a:spcPct val="150000"/>
              </a:lnSpc>
              <a:buFont typeface="Wingdings" pitchFamily="2" charset="2"/>
              <a:buChar char="§"/>
            </a:pPr>
            <a:r>
              <a:rPr lang="en-US" dirty="0" smtClean="0"/>
              <a:t>The receiver of the overall polynomial can </a:t>
            </a:r>
          </a:p>
          <a:p>
            <a:pPr lvl="2">
              <a:lnSpc>
                <a:spcPct val="150000"/>
              </a:lnSpc>
              <a:buNone/>
            </a:pPr>
            <a:r>
              <a:rPr lang="en-US" dirty="0" smtClean="0"/>
              <a:t>    then detect with very high reliability whether a </a:t>
            </a:r>
          </a:p>
          <a:p>
            <a:pPr lvl="2">
              <a:lnSpc>
                <a:spcPct val="150000"/>
              </a:lnSpc>
              <a:buNone/>
            </a:pPr>
            <a:r>
              <a:rPr lang="en-US" dirty="0" smtClean="0"/>
              <a:t>    transmission error occurred.</a:t>
            </a:r>
          </a:p>
          <a:p>
            <a:pPr lvl="1">
              <a:lnSpc>
                <a:spcPct val="150000"/>
              </a:lnSpc>
              <a:buFont typeface="Arial" pitchFamily="34" charset="0"/>
              <a:buChar char="•"/>
            </a:pPr>
            <a:r>
              <a:rPr lang="en-US" b="1" dirty="0" smtClean="0">
                <a:solidFill>
                  <a:srgbClr val="000000"/>
                </a:solidFill>
              </a:rPr>
              <a:t>CRC delimiter </a:t>
            </a:r>
            <a:r>
              <a:rPr lang="en-US" dirty="0" smtClean="0">
                <a:solidFill>
                  <a:srgbClr val="000000"/>
                </a:solidFill>
              </a:rPr>
              <a:t>: It is a bit to denote the end of a CRC field. It is a recessive bit.</a:t>
            </a:r>
          </a:p>
          <a:p>
            <a:pPr lvl="1">
              <a:lnSpc>
                <a:spcPct val="150000"/>
              </a:lnSpc>
              <a:buFont typeface="Arial" pitchFamily="34" charset="0"/>
              <a:buChar char="•"/>
            </a:pPr>
            <a:endParaRPr lang="en-US" dirty="0" smtClean="0">
              <a:solidFill>
                <a:srgbClr val="000000"/>
              </a:solidFill>
            </a:endParaRPr>
          </a:p>
          <a:p>
            <a:pPr lvl="2">
              <a:lnSpc>
                <a:spcPct val="150000"/>
              </a:lnSpc>
              <a:buFont typeface="Wingdings" pitchFamily="2" charset="2"/>
              <a:buChar char="§"/>
            </a:pPr>
            <a:endParaRPr lang="en-US" dirty="0" smtClean="0"/>
          </a:p>
          <a:p>
            <a:pPr lvl="2">
              <a:lnSpc>
                <a:spcPct val="150000"/>
              </a:lnSpc>
              <a:buNone/>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18</a:t>
            </a:fld>
            <a:r>
              <a:rPr lang="de-DE" smtClean="0"/>
              <a:t> / Gurudutt B R/  25.10.2013   © Continental AG</a:t>
            </a:r>
            <a:endParaRPr lang="de-DE" dirty="0"/>
          </a:p>
        </p:txBody>
      </p:sp>
      <p:pic>
        <p:nvPicPr>
          <p:cNvPr id="13315" name="Picture 3"/>
          <p:cNvPicPr>
            <a:picLocks noChangeAspect="1" noChangeArrowheads="1"/>
          </p:cNvPicPr>
          <p:nvPr/>
        </p:nvPicPr>
        <p:blipFill>
          <a:blip r:embed="rId2" cstate="print"/>
          <a:srcRect/>
          <a:stretch>
            <a:fillRect/>
          </a:stretch>
        </p:blipFill>
        <p:spPr bwMode="auto">
          <a:xfrm>
            <a:off x="5490716" y="3132559"/>
            <a:ext cx="4950444" cy="266429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fields of a Data frame</a:t>
            </a:r>
            <a:endParaRPr lang="en-US" dirty="0"/>
          </a:p>
        </p:txBody>
      </p:sp>
      <p:sp>
        <p:nvSpPr>
          <p:cNvPr id="3" name="Content Placeholder 2"/>
          <p:cNvSpPr>
            <a:spLocks noGrp="1"/>
          </p:cNvSpPr>
          <p:nvPr>
            <p:ph idx="1"/>
          </p:nvPr>
        </p:nvSpPr>
        <p:spPr/>
        <p:txBody>
          <a:bodyPr/>
          <a:lstStyle/>
          <a:p>
            <a:r>
              <a:rPr lang="en-US" sz="1800" b="1" dirty="0" smtClean="0"/>
              <a:t>ACK field </a:t>
            </a:r>
            <a:r>
              <a:rPr lang="en-US" dirty="0" smtClean="0"/>
              <a:t>: The Acknowledgement field has two bits. The ACK bit and the ACK delimiter.</a:t>
            </a:r>
          </a:p>
          <a:p>
            <a:pPr lvl="1">
              <a:buFont typeface="Arial" pitchFamily="34" charset="0"/>
              <a:buChar char="•"/>
            </a:pPr>
            <a:r>
              <a:rPr lang="en-US" b="1" dirty="0" smtClean="0"/>
              <a:t>ACK bit </a:t>
            </a:r>
            <a:r>
              <a:rPr lang="en-US" dirty="0" smtClean="0"/>
              <a:t>:</a:t>
            </a:r>
          </a:p>
          <a:p>
            <a:pPr lvl="2">
              <a:buFont typeface="Arial" pitchFamily="34" charset="0"/>
              <a:buChar char="•"/>
            </a:pPr>
            <a:r>
              <a:rPr lang="en-US" dirty="0" smtClean="0"/>
              <a:t> The sender sends this bit as a Recessive bit.</a:t>
            </a:r>
          </a:p>
          <a:p>
            <a:pPr lvl="2">
              <a:lnSpc>
                <a:spcPct val="150000"/>
              </a:lnSpc>
              <a:buFont typeface="Arial" pitchFamily="34" charset="0"/>
              <a:buChar char="•"/>
            </a:pPr>
            <a:r>
              <a:rPr lang="en-US" dirty="0" smtClean="0"/>
              <a:t>If the CRC check is successful, the receiver acknowledges the successful reception of the bits by pulling the recessive value down to a dominant bit.</a:t>
            </a:r>
          </a:p>
          <a:p>
            <a:pPr lvl="2">
              <a:lnSpc>
                <a:spcPct val="150000"/>
              </a:lnSpc>
              <a:buFont typeface="Arial" pitchFamily="34" charset="0"/>
              <a:buChar char="•"/>
            </a:pPr>
            <a:r>
              <a:rPr lang="en-US" dirty="0" smtClean="0"/>
              <a:t>The sender sees a mismatch in the value that it </a:t>
            </a:r>
          </a:p>
          <a:p>
            <a:pPr lvl="2">
              <a:lnSpc>
                <a:spcPct val="150000"/>
              </a:lnSpc>
              <a:buNone/>
            </a:pPr>
            <a:r>
              <a:rPr lang="en-US" dirty="0" smtClean="0"/>
              <a:t>    had sent and the value it sees on the bus. </a:t>
            </a:r>
          </a:p>
          <a:p>
            <a:pPr lvl="1">
              <a:buFont typeface="Arial" pitchFamily="34" charset="0"/>
              <a:buChar char="•"/>
            </a:pPr>
            <a:r>
              <a:rPr lang="en-US" b="1" dirty="0" smtClean="0">
                <a:solidFill>
                  <a:srgbClr val="000000"/>
                </a:solidFill>
              </a:rPr>
              <a:t>ACK delimiter </a:t>
            </a:r>
            <a:r>
              <a:rPr lang="en-US" dirty="0" smtClean="0">
                <a:solidFill>
                  <a:srgbClr val="000000"/>
                </a:solidFill>
              </a:rPr>
              <a:t>: </a:t>
            </a:r>
            <a:r>
              <a:rPr lang="en-US" dirty="0" smtClean="0"/>
              <a:t>After the ACK bit is pulled down to </a:t>
            </a:r>
          </a:p>
          <a:p>
            <a:pPr lvl="1">
              <a:buNone/>
            </a:pPr>
            <a:r>
              <a:rPr lang="en-US" dirty="0" smtClean="0"/>
              <a:t>    zero, the sender will send the ACK delimiter. It is a</a:t>
            </a:r>
          </a:p>
          <a:p>
            <a:pPr lvl="1">
              <a:buNone/>
            </a:pPr>
            <a:r>
              <a:rPr lang="en-US" dirty="0" smtClean="0"/>
              <a:t>    recessive bit.</a:t>
            </a:r>
          </a:p>
          <a:p>
            <a:pPr lvl="1">
              <a:buNone/>
            </a:pPr>
            <a:endParaRPr lang="en-US" dirty="0" smtClean="0"/>
          </a:p>
          <a:p>
            <a:pPr lvl="0">
              <a:lnSpc>
                <a:spcPct val="150000"/>
              </a:lnSpc>
            </a:pPr>
            <a:r>
              <a:rPr lang="en-US" sz="1800" b="1" dirty="0" smtClean="0">
                <a:solidFill>
                  <a:srgbClr val="000000"/>
                </a:solidFill>
              </a:rPr>
              <a:t>End of Frame(EOF) </a:t>
            </a:r>
            <a:r>
              <a:rPr lang="en-US" dirty="0" smtClean="0">
                <a:solidFill>
                  <a:srgbClr val="000000"/>
                </a:solidFill>
              </a:rPr>
              <a:t>: </a:t>
            </a:r>
            <a:r>
              <a:rPr lang="en-US" dirty="0" smtClean="0"/>
              <a:t>The transmission of a data frame is terminated by seven recessive bits which marks the End of Frame.</a:t>
            </a:r>
            <a:endParaRPr lang="en-US" dirty="0" smtClean="0">
              <a:solidFill>
                <a:srgbClr val="000000"/>
              </a:solidFill>
            </a:endParaRPr>
          </a:p>
          <a:p>
            <a:pPr lvl="1">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19</a:t>
            </a:fld>
            <a:r>
              <a:rPr lang="de-DE" smtClean="0"/>
              <a:t> / Gurudutt B R/  25.10.2013   © Continental AG</a:t>
            </a:r>
            <a:endParaRPr lang="de-DE" dirty="0"/>
          </a:p>
        </p:txBody>
      </p:sp>
      <p:pic>
        <p:nvPicPr>
          <p:cNvPr id="14338" name="Picture 2"/>
          <p:cNvPicPr>
            <a:picLocks noChangeAspect="1" noChangeArrowheads="1"/>
          </p:cNvPicPr>
          <p:nvPr/>
        </p:nvPicPr>
        <p:blipFill>
          <a:blip r:embed="rId2" cstate="print"/>
          <a:srcRect/>
          <a:stretch>
            <a:fillRect/>
          </a:stretch>
        </p:blipFill>
        <p:spPr bwMode="auto">
          <a:xfrm>
            <a:off x="5922764" y="2700511"/>
            <a:ext cx="4320480" cy="2952328"/>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stuffing</a:t>
            </a:r>
            <a:endParaRPr lang="en-US" dirty="0"/>
          </a:p>
        </p:txBody>
      </p:sp>
      <p:sp>
        <p:nvSpPr>
          <p:cNvPr id="3" name="Content Placeholder 2"/>
          <p:cNvSpPr>
            <a:spLocks noGrp="1"/>
          </p:cNvSpPr>
          <p:nvPr>
            <p:ph idx="1"/>
          </p:nvPr>
        </p:nvSpPr>
        <p:spPr/>
        <p:txBody>
          <a:bodyPr/>
          <a:lstStyle/>
          <a:p>
            <a:r>
              <a:rPr lang="en-US" dirty="0" smtClean="0"/>
              <a:t>The resynchronization mechanism is based on evaluation of recessive-to-dominant signal edges.</a:t>
            </a:r>
          </a:p>
          <a:p>
            <a:r>
              <a:rPr lang="en-US" dirty="0" smtClean="0"/>
              <a:t> Such signal edges are assured by the so-called </a:t>
            </a:r>
            <a:r>
              <a:rPr lang="en-US" b="1" dirty="0" smtClean="0"/>
              <a:t>bit stuffing mechanism</a:t>
            </a:r>
            <a:r>
              <a:rPr lang="en-US" dirty="0" smtClean="0"/>
              <a:t>. </a:t>
            </a:r>
          </a:p>
          <a:p>
            <a:r>
              <a:rPr lang="en-US" dirty="0" smtClean="0"/>
              <a:t>ISO 11898-1 prescribes that senders must transmit a complementary bit at the latest after transmitting five homogeneous bits;</a:t>
            </a:r>
          </a:p>
          <a:p>
            <a:r>
              <a:rPr lang="en-US" dirty="0" smtClean="0"/>
              <a:t> a stuff bit is added even if a complementary bit followed the five homogeneous bits anyway.</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20</a:t>
            </a:fld>
            <a:r>
              <a:rPr lang="de-DE" smtClean="0"/>
              <a:t> / Gurudutt B R/  25.10.2013   © Continental AG</a:t>
            </a:r>
            <a:endParaRPr lang="de-DE" dirty="0"/>
          </a:p>
        </p:txBody>
      </p:sp>
      <p:pic>
        <p:nvPicPr>
          <p:cNvPr id="15362" name="Picture 2"/>
          <p:cNvPicPr>
            <a:picLocks noChangeAspect="1" noChangeArrowheads="1"/>
          </p:cNvPicPr>
          <p:nvPr/>
        </p:nvPicPr>
        <p:blipFill>
          <a:blip r:embed="rId2" cstate="print"/>
          <a:srcRect/>
          <a:stretch>
            <a:fillRect/>
          </a:stretch>
        </p:blipFill>
        <p:spPr bwMode="auto">
          <a:xfrm>
            <a:off x="738188" y="2844527"/>
            <a:ext cx="8712968" cy="3679701"/>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Errors in CAN</a:t>
            </a:r>
            <a:endParaRPr lang="en-US" dirty="0"/>
          </a:p>
        </p:txBody>
      </p:sp>
      <p:sp>
        <p:nvSpPr>
          <p:cNvPr id="3" name="Content Placeholder 2"/>
          <p:cNvSpPr>
            <a:spLocks noGrp="1"/>
          </p:cNvSpPr>
          <p:nvPr>
            <p:ph idx="1"/>
          </p:nvPr>
        </p:nvSpPr>
        <p:spPr>
          <a:xfrm>
            <a:off x="361950" y="1277937"/>
            <a:ext cx="9969500" cy="5455021"/>
          </a:xfrm>
        </p:spPr>
        <p:txBody>
          <a:bodyPr/>
          <a:lstStyle/>
          <a:p>
            <a:pPr>
              <a:buNone/>
            </a:pPr>
            <a:r>
              <a:rPr lang="en-US" dirty="0" smtClean="0"/>
              <a:t>There are 5 different error types </a:t>
            </a:r>
          </a:p>
          <a:p>
            <a:pPr>
              <a:buFont typeface="Wingdings" pitchFamily="2" charset="2"/>
              <a:buChar char="q"/>
            </a:pPr>
            <a:r>
              <a:rPr lang="en-US" dirty="0" smtClean="0"/>
              <a:t> </a:t>
            </a:r>
            <a:r>
              <a:rPr lang="en-US" b="1" dirty="0" smtClean="0"/>
              <a:t>BIT ERROR:</a:t>
            </a:r>
          </a:p>
          <a:p>
            <a:pPr>
              <a:buNone/>
            </a:pPr>
            <a:r>
              <a:rPr lang="en-US" dirty="0" smtClean="0"/>
              <a:t>	A unit that is sending a bit on the bus also monitors the bus. A bit error has to be detected at that bit time, when the bit value that is monitored is different from the bit value that is sent. An exception is the sending of a ’recessive’ bit during the stuffed bit stream of the arbitration field or during the </a:t>
            </a:r>
            <a:r>
              <a:rPr lang="en-US" dirty="0" err="1" smtClean="0"/>
              <a:t>ack</a:t>
            </a:r>
            <a:r>
              <a:rPr lang="en-US" dirty="0" smtClean="0"/>
              <a:t> slot.</a:t>
            </a:r>
          </a:p>
          <a:p>
            <a:pPr>
              <a:buFont typeface="Wingdings" pitchFamily="2" charset="2"/>
              <a:buChar char="q"/>
            </a:pPr>
            <a:r>
              <a:rPr lang="en-US" dirty="0" smtClean="0"/>
              <a:t> </a:t>
            </a:r>
            <a:r>
              <a:rPr lang="en-US" b="1" dirty="0" smtClean="0"/>
              <a:t>STUFF ERROR:</a:t>
            </a:r>
          </a:p>
          <a:p>
            <a:pPr>
              <a:buNone/>
            </a:pPr>
            <a:r>
              <a:rPr lang="en-US" dirty="0" smtClean="0"/>
              <a:t>	A stuff error has to be detected at the bit time of the 6th consecutive equal bit level in a message field that should be coded by the method of bit stuffing.</a:t>
            </a:r>
          </a:p>
          <a:p>
            <a:pPr>
              <a:buFont typeface="Wingdings" pitchFamily="2" charset="2"/>
              <a:buChar char="q"/>
            </a:pPr>
            <a:r>
              <a:rPr lang="en-US" dirty="0" smtClean="0"/>
              <a:t> </a:t>
            </a:r>
            <a:r>
              <a:rPr lang="en-US" b="1" dirty="0" smtClean="0"/>
              <a:t>CRC ERROR:</a:t>
            </a:r>
          </a:p>
          <a:p>
            <a:pPr>
              <a:buNone/>
            </a:pPr>
            <a:r>
              <a:rPr lang="en-US" dirty="0" smtClean="0"/>
              <a:t>	The CRC sequence consists of the result of the CRC calculation by the transmitter. The receivers calculate the CRC in the same way as the transmitter. A CRC error has to be detected, if the calculated result  is not the same as that received in the CRC sequence.</a:t>
            </a:r>
          </a:p>
          <a:p>
            <a:pPr>
              <a:buFont typeface="Wingdings" pitchFamily="2" charset="2"/>
              <a:buChar char="q"/>
            </a:pPr>
            <a:r>
              <a:rPr lang="en-US" b="1" dirty="0" smtClean="0"/>
              <a:t> FORM ERROR:</a:t>
            </a:r>
          </a:p>
          <a:p>
            <a:pPr>
              <a:buNone/>
            </a:pPr>
            <a:r>
              <a:rPr lang="en-US" dirty="0" smtClean="0"/>
              <a:t>	A Form error has to be detected when a fixed-form bit field contains one or more illegal bits.</a:t>
            </a:r>
          </a:p>
          <a:p>
            <a:pPr>
              <a:buFont typeface="Wingdings" pitchFamily="2" charset="2"/>
              <a:buChar char="q"/>
            </a:pPr>
            <a:r>
              <a:rPr lang="en-US" b="1" dirty="0" smtClean="0"/>
              <a:t> ACKNOWLEDGMENT ERROR:</a:t>
            </a:r>
          </a:p>
          <a:p>
            <a:pPr>
              <a:buNone/>
            </a:pPr>
            <a:r>
              <a:rPr lang="en-US" dirty="0" smtClean="0"/>
              <a:t>	An acknowledgment error has to be detected by a transmitter whenever it does not monitor a ’dominant’ bit during the </a:t>
            </a:r>
            <a:r>
              <a:rPr lang="en-US" dirty="0" err="1" smtClean="0"/>
              <a:t>ack</a:t>
            </a:r>
            <a:r>
              <a:rPr lang="en-US" dirty="0" smtClean="0"/>
              <a:t> slot.</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21</a:t>
            </a:fld>
            <a:r>
              <a:rPr lang="de-DE" smtClean="0"/>
              <a:t> / Gurudutt B R/  25.10.2013   © Continental AG</a:t>
            </a:r>
            <a:endParaRPr lang="de-DE"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Error Frame</a:t>
            </a:r>
            <a:endParaRPr lang="en-US" dirty="0"/>
          </a:p>
        </p:txBody>
      </p:sp>
      <p:sp>
        <p:nvSpPr>
          <p:cNvPr id="3" name="Content Placeholder 2"/>
          <p:cNvSpPr>
            <a:spLocks noGrp="1"/>
          </p:cNvSpPr>
          <p:nvPr>
            <p:ph idx="1"/>
          </p:nvPr>
        </p:nvSpPr>
        <p:spPr/>
        <p:txBody>
          <a:bodyPr/>
          <a:lstStyle/>
          <a:p>
            <a:r>
              <a:rPr lang="en-US" dirty="0" smtClean="0"/>
              <a:t>The error frame consists of three parts. The primary error flag, secondary error flag and the error delimiters.</a:t>
            </a: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22</a:t>
            </a:fld>
            <a:r>
              <a:rPr lang="de-DE" smtClean="0"/>
              <a:t> / Gurudutt B R/  25.10.2013   © Continental AG</a:t>
            </a:r>
            <a:endParaRPr lang="de-DE" dirty="0"/>
          </a:p>
        </p:txBody>
      </p:sp>
      <p:pic>
        <p:nvPicPr>
          <p:cNvPr id="16386" name="Picture 2"/>
          <p:cNvPicPr>
            <a:picLocks noChangeAspect="1" noChangeArrowheads="1"/>
          </p:cNvPicPr>
          <p:nvPr/>
        </p:nvPicPr>
        <p:blipFill>
          <a:blip r:embed="rId2" cstate="print"/>
          <a:srcRect/>
          <a:stretch>
            <a:fillRect/>
          </a:stretch>
        </p:blipFill>
        <p:spPr bwMode="auto">
          <a:xfrm>
            <a:off x="1170236" y="1764407"/>
            <a:ext cx="6769596" cy="2188840"/>
          </a:xfrm>
          <a:prstGeom prst="rect">
            <a:avLst/>
          </a:prstGeom>
          <a:noFill/>
          <a:ln w="9525">
            <a:noFill/>
            <a:miter lim="800000"/>
            <a:headEnd/>
            <a:tailEnd/>
          </a:ln>
        </p:spPr>
      </p:pic>
      <p:pic>
        <p:nvPicPr>
          <p:cNvPr id="6" name="Picture 5"/>
          <p:cNvPicPr>
            <a:picLocks noChangeAspect="1" noChangeArrowheads="1"/>
          </p:cNvPicPr>
          <p:nvPr/>
        </p:nvPicPr>
        <p:blipFill>
          <a:blip r:embed="rId3" cstate="print"/>
          <a:srcRect/>
          <a:stretch>
            <a:fillRect/>
          </a:stretch>
        </p:blipFill>
        <p:spPr bwMode="auto">
          <a:xfrm>
            <a:off x="1458268" y="4140671"/>
            <a:ext cx="6120680" cy="172819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Overload frame </a:t>
            </a:r>
            <a:endParaRPr lang="en-US" dirty="0"/>
          </a:p>
        </p:txBody>
      </p:sp>
      <p:sp>
        <p:nvSpPr>
          <p:cNvPr id="3" name="Content Placeholder 2"/>
          <p:cNvSpPr>
            <a:spLocks noGrp="1"/>
          </p:cNvSpPr>
          <p:nvPr>
            <p:ph idx="1"/>
          </p:nvPr>
        </p:nvSpPr>
        <p:spPr/>
        <p:txBody>
          <a:bodyPr/>
          <a:lstStyle/>
          <a:p>
            <a:r>
              <a:rPr lang="en-US" dirty="0" smtClean="0"/>
              <a:t>The Overload frame contains the two bit fields. The overload flag and overload delimiter.</a:t>
            </a:r>
          </a:p>
          <a:p>
            <a:pPr>
              <a:lnSpc>
                <a:spcPct val="150000"/>
              </a:lnSpc>
            </a:pPr>
            <a:r>
              <a:rPr lang="en-US" dirty="0" smtClean="0"/>
              <a:t>Overload frame arises due to the internal conditions of a receiver, which requires a delay of the next data frame or remote frame.</a:t>
            </a:r>
          </a:p>
          <a:p>
            <a:r>
              <a:rPr lang="en-US" dirty="0" smtClean="0"/>
              <a:t>There are two other kinds of overload conditions, which both lead to the transmission of an overload flag:</a:t>
            </a:r>
          </a:p>
          <a:p>
            <a:pPr lvl="1"/>
            <a:r>
              <a:rPr lang="en-US" dirty="0" smtClean="0"/>
              <a:t>Detection of a ’dominant’ bit at the first and second bit of intermission.</a:t>
            </a:r>
          </a:p>
          <a:p>
            <a:pPr lvl="1">
              <a:lnSpc>
                <a:spcPct val="150000"/>
              </a:lnSpc>
            </a:pPr>
            <a:r>
              <a:rPr lang="en-US" dirty="0" smtClean="0"/>
              <a:t>If a can node samples a dominant bit at the eighth bit (the last bit) of an error delimiter or overload delimiter, it will start transmitting an overload frame (not an error frame). The error counters will not be incremented.</a:t>
            </a:r>
          </a:p>
          <a:p>
            <a:pPr lvl="1">
              <a:lnSpc>
                <a:spcPct val="150000"/>
              </a:lnSpc>
              <a:buFont typeface="Arial" pitchFamily="34" charset="0"/>
              <a:buChar char="•"/>
            </a:pPr>
            <a:r>
              <a:rPr lang="en-US" dirty="0" smtClean="0"/>
              <a:t>Overload flag = 6 dominant bits</a:t>
            </a:r>
          </a:p>
          <a:p>
            <a:pPr lvl="1">
              <a:lnSpc>
                <a:spcPct val="150000"/>
              </a:lnSpc>
              <a:buFont typeface="Arial" pitchFamily="34" charset="0"/>
              <a:buChar char="•"/>
            </a:pPr>
            <a:r>
              <a:rPr lang="en-US" dirty="0" smtClean="0"/>
              <a:t>Overload delimiter = 8 recessive bits</a:t>
            </a:r>
          </a:p>
          <a:p>
            <a:pPr lvl="1">
              <a:lnSpc>
                <a:spcPct val="150000"/>
              </a:lnSpc>
              <a:buNone/>
            </a:pPr>
            <a:r>
              <a:rPr lang="en-US" dirty="0" smtClean="0"/>
              <a:t> </a:t>
            </a:r>
          </a:p>
          <a:p>
            <a:pPr lvl="1">
              <a:lnSpc>
                <a:spcPct val="150000"/>
              </a:lnSpc>
              <a:buNone/>
            </a:pPr>
            <a:endParaRPr lang="en-US" dirty="0" smtClean="0"/>
          </a:p>
          <a:p>
            <a:pPr lvl="1">
              <a:lnSpc>
                <a:spcPct val="150000"/>
              </a:lnSpc>
            </a:pPr>
            <a:endParaRPr lang="en-US" dirty="0" smtClean="0"/>
          </a:p>
        </p:txBody>
      </p:sp>
      <p:sp>
        <p:nvSpPr>
          <p:cNvPr id="4" name="Slide Number Placeholder 3"/>
          <p:cNvSpPr>
            <a:spLocks noGrp="1"/>
          </p:cNvSpPr>
          <p:nvPr>
            <p:ph type="sldNum" sz="quarter" idx="10"/>
          </p:nvPr>
        </p:nvSpPr>
        <p:spPr/>
        <p:txBody>
          <a:bodyPr/>
          <a:lstStyle/>
          <a:p>
            <a:fld id="{1B8FCC23-F9C6-4830-BB71-E1E9E8EA4E28}" type="slidenum">
              <a:rPr lang="de-DE" smtClean="0"/>
              <a:pPr/>
              <a:t>23</a:t>
            </a:fld>
            <a:r>
              <a:rPr lang="de-DE" dirty="0" smtClean="0"/>
              <a:t> / </a:t>
            </a:r>
            <a:r>
              <a:rPr lang="de-DE" dirty="0" err="1" smtClean="0"/>
              <a:t>Gurudutt</a:t>
            </a:r>
            <a:r>
              <a:rPr lang="de-DE" dirty="0" smtClean="0"/>
              <a:t> B R/  25.10.2013   © Continental AG</a:t>
            </a:r>
            <a:endParaRPr lang="de-DE" dirty="0"/>
          </a:p>
        </p:txBody>
      </p:sp>
      <p:pic>
        <p:nvPicPr>
          <p:cNvPr id="17410" name="Picture 2"/>
          <p:cNvPicPr>
            <a:picLocks noChangeAspect="1" noChangeArrowheads="1"/>
          </p:cNvPicPr>
          <p:nvPr/>
        </p:nvPicPr>
        <p:blipFill>
          <a:blip r:embed="rId2" cstate="print"/>
          <a:srcRect/>
          <a:stretch>
            <a:fillRect/>
          </a:stretch>
        </p:blipFill>
        <p:spPr bwMode="auto">
          <a:xfrm>
            <a:off x="4266580" y="3996655"/>
            <a:ext cx="6120680" cy="2267322"/>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Interframe</a:t>
            </a:r>
            <a:r>
              <a:rPr lang="en-US" dirty="0" smtClean="0"/>
              <a:t> spacing</a:t>
            </a:r>
            <a:endParaRPr lang="en-US" dirty="0"/>
          </a:p>
        </p:txBody>
      </p:sp>
      <p:sp>
        <p:nvSpPr>
          <p:cNvPr id="3" name="Content Placeholder 2"/>
          <p:cNvSpPr>
            <a:spLocks noGrp="1"/>
          </p:cNvSpPr>
          <p:nvPr>
            <p:ph idx="1"/>
          </p:nvPr>
        </p:nvSpPr>
        <p:spPr/>
        <p:txBody>
          <a:bodyPr/>
          <a:lstStyle/>
          <a:p>
            <a:pPr>
              <a:lnSpc>
                <a:spcPct val="150000"/>
              </a:lnSpc>
            </a:pPr>
            <a:r>
              <a:rPr lang="en-US" dirty="0" smtClean="0"/>
              <a:t>Data frames and remote frames are separated from preceding frames whatever type they are (data frame, remote frame, error frame, overload frame) by a bit field called </a:t>
            </a:r>
            <a:r>
              <a:rPr lang="en-US" dirty="0" err="1" smtClean="0"/>
              <a:t>interframe</a:t>
            </a:r>
            <a:r>
              <a:rPr lang="en-US" dirty="0" smtClean="0"/>
              <a:t> space.</a:t>
            </a:r>
          </a:p>
          <a:p>
            <a:endParaRPr lang="en-US" dirty="0" smtClean="0"/>
          </a:p>
          <a:p>
            <a:endParaRPr lang="en-US" dirty="0" smtClean="0"/>
          </a:p>
          <a:p>
            <a:endParaRPr lang="en-US" dirty="0" smtClean="0"/>
          </a:p>
          <a:p>
            <a:endParaRPr lang="en-US" dirty="0" smtClean="0"/>
          </a:p>
          <a:p>
            <a:pPr>
              <a:buNone/>
            </a:pPr>
            <a:endParaRPr lang="en-US" dirty="0" smtClean="0"/>
          </a:p>
          <a:p>
            <a:r>
              <a:rPr lang="en-US" dirty="0" smtClean="0"/>
              <a:t> </a:t>
            </a:r>
            <a:r>
              <a:rPr lang="en-US" dirty="0" err="1" smtClean="0"/>
              <a:t>Interframe</a:t>
            </a:r>
            <a:r>
              <a:rPr lang="en-US" dirty="0" smtClean="0"/>
              <a:t> space consists of three intermission bits.</a:t>
            </a:r>
          </a:p>
          <a:p>
            <a:pPr>
              <a:lnSpc>
                <a:spcPct val="150000"/>
              </a:lnSpc>
            </a:pPr>
            <a:r>
              <a:rPr lang="en-US" dirty="0" smtClean="0"/>
              <a:t>During intermission the only action to be taken is signaling an overload condition and no station is allowed to actively start a transmission of a data frame or remote frame.</a:t>
            </a:r>
          </a:p>
          <a:p>
            <a:r>
              <a:rPr lang="en-US" dirty="0" smtClean="0"/>
              <a:t>Note : Overload frames and error frames are not preceded by an </a:t>
            </a:r>
            <a:r>
              <a:rPr lang="en-US" dirty="0" err="1" smtClean="0"/>
              <a:t>interframe</a:t>
            </a:r>
            <a:r>
              <a:rPr lang="en-US" dirty="0" smtClean="0"/>
              <a:t> space and multiple overload frames are not separated by an </a:t>
            </a:r>
            <a:r>
              <a:rPr lang="en-US" dirty="0" err="1" smtClean="0"/>
              <a:t>interframe</a:t>
            </a:r>
            <a:r>
              <a:rPr lang="en-US" dirty="0" smtClean="0"/>
              <a:t> space.</a:t>
            </a:r>
          </a:p>
          <a:p>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24</a:t>
            </a:fld>
            <a:r>
              <a:rPr lang="de-DE" smtClean="0"/>
              <a:t> / Gurudutt B R/  25.10.2013   © Continental AG</a:t>
            </a:r>
            <a:endParaRPr lang="de-DE" dirty="0"/>
          </a:p>
        </p:txBody>
      </p:sp>
      <p:pic>
        <p:nvPicPr>
          <p:cNvPr id="1027" name="Picture 3"/>
          <p:cNvPicPr>
            <a:picLocks noChangeAspect="1" noChangeArrowheads="1"/>
          </p:cNvPicPr>
          <p:nvPr/>
        </p:nvPicPr>
        <p:blipFill>
          <a:blip r:embed="rId2" cstate="print"/>
          <a:srcRect/>
          <a:stretch>
            <a:fillRect/>
          </a:stretch>
        </p:blipFill>
        <p:spPr bwMode="auto">
          <a:xfrm>
            <a:off x="1170236" y="2124448"/>
            <a:ext cx="8048625" cy="172819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Fault confinement in CAN </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 Every node has two error counters. Transmit Error Counter and Receive Error Counter.</a:t>
            </a:r>
          </a:p>
          <a:p>
            <a:pPr>
              <a:lnSpc>
                <a:spcPct val="150000"/>
              </a:lnSpc>
              <a:buFont typeface="Wingdings" pitchFamily="2" charset="2"/>
              <a:buChar char="v"/>
            </a:pPr>
            <a:r>
              <a:rPr lang="en-US" dirty="0" smtClean="0"/>
              <a:t>The counters are incremented or decremented based on the Errors or Successful communication respectively.  </a:t>
            </a:r>
          </a:p>
          <a:p>
            <a:pPr>
              <a:lnSpc>
                <a:spcPct val="150000"/>
              </a:lnSpc>
              <a:buFont typeface="Wingdings" pitchFamily="2" charset="2"/>
              <a:buChar char="v"/>
            </a:pPr>
            <a:r>
              <a:rPr lang="en-US" dirty="0" smtClean="0"/>
              <a:t>Based on the count value, they can be classified into</a:t>
            </a:r>
          </a:p>
          <a:p>
            <a:pPr lvl="1">
              <a:lnSpc>
                <a:spcPct val="150000"/>
              </a:lnSpc>
              <a:buFont typeface="Arial" pitchFamily="34" charset="0"/>
              <a:buChar char="•"/>
            </a:pPr>
            <a:r>
              <a:rPr lang="en-US" dirty="0" smtClean="0"/>
              <a:t>Active error state</a:t>
            </a:r>
          </a:p>
          <a:p>
            <a:pPr lvl="1">
              <a:lnSpc>
                <a:spcPct val="150000"/>
              </a:lnSpc>
              <a:buFont typeface="Arial" pitchFamily="34" charset="0"/>
              <a:buChar char="•"/>
            </a:pPr>
            <a:r>
              <a:rPr lang="en-US" dirty="0" smtClean="0"/>
              <a:t>Passive error state</a:t>
            </a:r>
          </a:p>
          <a:p>
            <a:pPr lvl="1">
              <a:lnSpc>
                <a:spcPct val="150000"/>
              </a:lnSpc>
              <a:buFont typeface="Arial" pitchFamily="34" charset="0"/>
              <a:buChar char="•"/>
            </a:pPr>
            <a:r>
              <a:rPr lang="en-US" dirty="0" smtClean="0"/>
              <a:t>Bus Off state</a:t>
            </a:r>
          </a:p>
        </p:txBody>
      </p:sp>
      <p:sp>
        <p:nvSpPr>
          <p:cNvPr id="4" name="Slide Number Placeholder 3"/>
          <p:cNvSpPr>
            <a:spLocks noGrp="1"/>
          </p:cNvSpPr>
          <p:nvPr>
            <p:ph type="sldNum" sz="quarter" idx="10"/>
          </p:nvPr>
        </p:nvSpPr>
        <p:spPr/>
        <p:txBody>
          <a:bodyPr/>
          <a:lstStyle/>
          <a:p>
            <a:fld id="{1B8FCC23-F9C6-4830-BB71-E1E9E8EA4E28}" type="slidenum">
              <a:rPr lang="de-DE" smtClean="0"/>
              <a:pPr/>
              <a:t>25</a:t>
            </a:fld>
            <a:r>
              <a:rPr lang="de-DE" smtClean="0"/>
              <a:t> / Gurudutt B R/  25.10.2013   © Continental AG</a:t>
            </a:r>
            <a:endParaRPr lang="de-DE" dirty="0"/>
          </a:p>
        </p:txBody>
      </p:sp>
      <p:pic>
        <p:nvPicPr>
          <p:cNvPr id="18434" name="Picture 2"/>
          <p:cNvPicPr>
            <a:picLocks noChangeAspect="1" noChangeArrowheads="1"/>
          </p:cNvPicPr>
          <p:nvPr/>
        </p:nvPicPr>
        <p:blipFill>
          <a:blip r:embed="rId2" cstate="print"/>
          <a:srcRect/>
          <a:stretch>
            <a:fillRect/>
          </a:stretch>
        </p:blipFill>
        <p:spPr bwMode="auto">
          <a:xfrm>
            <a:off x="2898428" y="2844527"/>
            <a:ext cx="6840760" cy="367240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Standard frame and an Extended frame</a:t>
            </a:r>
            <a:endParaRPr lang="en-US" dirty="0"/>
          </a:p>
        </p:txBody>
      </p:sp>
      <p:sp>
        <p:nvSpPr>
          <p:cNvPr id="3" name="Content Placeholder 2"/>
          <p:cNvSpPr>
            <a:spLocks noGrp="1"/>
          </p:cNvSpPr>
          <p:nvPr>
            <p:ph idx="1"/>
          </p:nvPr>
        </p:nvSpPr>
        <p:spPr/>
        <p:txBody>
          <a:bodyPr/>
          <a:lstStyle/>
          <a:p>
            <a:pPr>
              <a:buNone/>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26</a:t>
            </a:fld>
            <a:r>
              <a:rPr lang="de-DE" smtClean="0"/>
              <a:t> / Gurudutt B R/  25.10.2013   © Continental AG</a:t>
            </a:r>
            <a:endParaRPr lang="de-DE" dirty="0"/>
          </a:p>
        </p:txBody>
      </p:sp>
      <p:pic>
        <p:nvPicPr>
          <p:cNvPr id="5" name="Picture 2"/>
          <p:cNvPicPr>
            <a:picLocks noChangeAspect="1" noChangeArrowheads="1"/>
          </p:cNvPicPr>
          <p:nvPr/>
        </p:nvPicPr>
        <p:blipFill>
          <a:blip r:embed="rId2" cstate="print"/>
          <a:srcRect/>
          <a:stretch>
            <a:fillRect/>
          </a:stretch>
        </p:blipFill>
        <p:spPr bwMode="auto">
          <a:xfrm>
            <a:off x="306140" y="1188343"/>
            <a:ext cx="9793088" cy="5256584"/>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Standard frame and an Extended frame</a:t>
            </a:r>
            <a:endParaRPr lang="en-US" dirty="0"/>
          </a:p>
        </p:txBody>
      </p:sp>
      <p:sp>
        <p:nvSpPr>
          <p:cNvPr id="3" name="Content Placeholder 2"/>
          <p:cNvSpPr>
            <a:spLocks noGrp="1"/>
          </p:cNvSpPr>
          <p:nvPr>
            <p:ph idx="1"/>
          </p:nvPr>
        </p:nvSpPr>
        <p:spPr>
          <a:xfrm>
            <a:off x="361950" y="1334889"/>
            <a:ext cx="9969500" cy="5326062"/>
          </a:xfrm>
        </p:spPr>
        <p:txBody>
          <a:bodyPr/>
          <a:lstStyle/>
          <a:p>
            <a:pPr>
              <a:lnSpc>
                <a:spcPct val="150000"/>
              </a:lnSpc>
            </a:pPr>
            <a:r>
              <a:rPr lang="en-US" dirty="0" smtClean="0"/>
              <a:t>The number of bits in the identifier in an extended frame is 29, whereas in data frame it is 11.</a:t>
            </a:r>
          </a:p>
          <a:p>
            <a:pPr>
              <a:lnSpc>
                <a:spcPct val="150000"/>
              </a:lnSpc>
            </a:pPr>
            <a:r>
              <a:rPr lang="en-US" dirty="0" smtClean="0"/>
              <a:t>The 29 identifier bits are split into two parts of 11 bits and 18 bits, both separated by two bits namely the SRR bit and the IDE bit.</a:t>
            </a:r>
          </a:p>
          <a:p>
            <a:pPr lvl="1">
              <a:lnSpc>
                <a:spcPct val="150000"/>
              </a:lnSpc>
            </a:pPr>
            <a:r>
              <a:rPr lang="en-US" b="1" dirty="0" smtClean="0"/>
              <a:t>Substitute Remote Request BIT</a:t>
            </a:r>
          </a:p>
          <a:p>
            <a:pPr lvl="1">
              <a:lnSpc>
                <a:spcPct val="150000"/>
              </a:lnSpc>
              <a:buFont typeface="Arial" pitchFamily="34" charset="0"/>
              <a:buChar char="•"/>
            </a:pPr>
            <a:r>
              <a:rPr lang="en-US" dirty="0" smtClean="0"/>
              <a:t>   SRR is a dummy bit to let standard format RTR messages win arbitration</a:t>
            </a:r>
            <a:endParaRPr lang="en-US" b="1" dirty="0" smtClean="0"/>
          </a:p>
          <a:p>
            <a:pPr lvl="1">
              <a:lnSpc>
                <a:spcPct val="150000"/>
              </a:lnSpc>
              <a:buFont typeface="Arial" pitchFamily="34" charset="0"/>
              <a:buChar char="•"/>
            </a:pPr>
            <a:r>
              <a:rPr lang="en-US" dirty="0" smtClean="0"/>
              <a:t>   The SRR is a recessive bit. It is transmitted in Extended Frames at the position of the RTR bit in Standard Frames and so substitutes the RTR-Bit in the Standard Frame.</a:t>
            </a:r>
          </a:p>
          <a:p>
            <a:pPr lvl="1">
              <a:lnSpc>
                <a:spcPct val="150000"/>
              </a:lnSpc>
            </a:pPr>
            <a:r>
              <a:rPr lang="en-US" b="1" dirty="0" smtClean="0">
                <a:solidFill>
                  <a:srgbClr val="000000"/>
                </a:solidFill>
              </a:rPr>
              <a:t>IDE bit </a:t>
            </a:r>
          </a:p>
          <a:p>
            <a:pPr lvl="1">
              <a:lnSpc>
                <a:spcPct val="150000"/>
              </a:lnSpc>
              <a:buFont typeface="Arial" pitchFamily="34" charset="0"/>
              <a:buChar char="•"/>
            </a:pPr>
            <a:r>
              <a:rPr lang="en-US" dirty="0" smtClean="0"/>
              <a:t>The IDE Bit belongs to the</a:t>
            </a:r>
          </a:p>
          <a:p>
            <a:pPr lvl="2">
              <a:lnSpc>
                <a:spcPct val="150000"/>
              </a:lnSpc>
              <a:buFont typeface="Arial" pitchFamily="34" charset="0"/>
              <a:buChar char="•"/>
            </a:pPr>
            <a:r>
              <a:rPr lang="en-US" dirty="0" smtClean="0"/>
              <a:t> ARBITRATION FIELD for the </a:t>
            </a:r>
            <a:r>
              <a:rPr lang="en-US" b="1" dirty="0" smtClean="0"/>
              <a:t>Extended Format</a:t>
            </a:r>
          </a:p>
          <a:p>
            <a:pPr lvl="2">
              <a:lnSpc>
                <a:spcPct val="150000"/>
              </a:lnSpc>
              <a:buFont typeface="Arial" pitchFamily="34" charset="0"/>
              <a:buChar char="•"/>
            </a:pPr>
            <a:r>
              <a:rPr lang="en-US" b="1" dirty="0" smtClean="0"/>
              <a:t> </a:t>
            </a:r>
            <a:r>
              <a:rPr lang="en-US" dirty="0" smtClean="0"/>
              <a:t>Control Field for the </a:t>
            </a:r>
            <a:r>
              <a:rPr lang="en-US" b="1" dirty="0" smtClean="0"/>
              <a:t>Standard Format.</a:t>
            </a:r>
            <a:endParaRPr lang="en-US" b="1" dirty="0" smtClean="0">
              <a:solidFill>
                <a:srgbClr val="000000"/>
              </a:solidFill>
            </a:endParaRPr>
          </a:p>
          <a:p>
            <a:pPr lvl="1">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27</a:t>
            </a:fld>
            <a:r>
              <a:rPr lang="de-DE" smtClean="0"/>
              <a:t> / Gurudutt B R/  25.10.2013   © Continental AG</a:t>
            </a:r>
            <a:endParaRPr lang="de-DE"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Standard frame and an Extended frame</a:t>
            </a:r>
            <a:endParaRPr lang="en-US" dirty="0"/>
          </a:p>
        </p:txBody>
      </p:sp>
      <p:sp>
        <p:nvSpPr>
          <p:cNvPr id="3" name="Content Placeholder 2"/>
          <p:cNvSpPr>
            <a:spLocks noGrp="1"/>
          </p:cNvSpPr>
          <p:nvPr>
            <p:ph idx="1"/>
          </p:nvPr>
        </p:nvSpPr>
        <p:spPr/>
        <p:txBody>
          <a:bodyPr/>
          <a:lstStyle/>
          <a:p>
            <a:r>
              <a:rPr lang="en-US" dirty="0" smtClean="0"/>
              <a:t>The Control frame in Standard and Extended formats are almost the same except for the first bit.</a:t>
            </a:r>
          </a:p>
          <a:p>
            <a:pPr lvl="1"/>
            <a:r>
              <a:rPr lang="en-US" dirty="0" smtClean="0"/>
              <a:t>In Standard frame format the first bit of Control field id the IDE bit</a:t>
            </a:r>
          </a:p>
          <a:p>
            <a:pPr lvl="1"/>
            <a:r>
              <a:rPr lang="en-US" dirty="0" smtClean="0"/>
              <a:t>In Extended frame format the first bit of Control field id the R1(reserved) bit</a:t>
            </a:r>
          </a:p>
          <a:p>
            <a:pPr lvl="1"/>
            <a:endParaRPr lang="en-US" dirty="0"/>
          </a:p>
        </p:txBody>
      </p:sp>
      <p:sp>
        <p:nvSpPr>
          <p:cNvPr id="4" name="Slide Number Placeholder 3"/>
          <p:cNvSpPr>
            <a:spLocks noGrp="1"/>
          </p:cNvSpPr>
          <p:nvPr>
            <p:ph type="sldNum" sz="quarter" idx="10"/>
          </p:nvPr>
        </p:nvSpPr>
        <p:spPr/>
        <p:txBody>
          <a:bodyPr/>
          <a:lstStyle/>
          <a:p>
            <a:fld id="{1B8FCC23-F9C6-4830-BB71-E1E9E8EA4E28}" type="slidenum">
              <a:rPr lang="de-DE" smtClean="0"/>
              <a:pPr/>
              <a:t>28</a:t>
            </a:fld>
            <a:r>
              <a:rPr lang="de-DE" smtClean="0"/>
              <a:t> / Gurudutt B R/  25.10.2013   © Continental AG</a:t>
            </a:r>
            <a:endParaRPr lang="de-DE" dirty="0"/>
          </a:p>
        </p:txBody>
      </p:sp>
      <p:pic>
        <p:nvPicPr>
          <p:cNvPr id="19458" name="Picture 2"/>
          <p:cNvPicPr>
            <a:picLocks noChangeAspect="1" noChangeArrowheads="1"/>
          </p:cNvPicPr>
          <p:nvPr/>
        </p:nvPicPr>
        <p:blipFill>
          <a:blip r:embed="rId2" cstate="print"/>
          <a:srcRect/>
          <a:stretch>
            <a:fillRect/>
          </a:stretch>
        </p:blipFill>
        <p:spPr bwMode="auto">
          <a:xfrm>
            <a:off x="882204" y="2268463"/>
            <a:ext cx="5895578" cy="3384376"/>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6"/>
          <p:cNvSpPr>
            <a:spLocks noChangeArrowheads="1"/>
          </p:cNvSpPr>
          <p:nvPr/>
        </p:nvSpPr>
        <p:spPr bwMode="auto">
          <a:xfrm>
            <a:off x="10456912" y="0"/>
            <a:ext cx="236489" cy="553092"/>
          </a:xfrm>
          <a:prstGeom prst="rect">
            <a:avLst/>
          </a:prstGeom>
          <a:solidFill>
            <a:schemeClr val="bg1"/>
          </a:solidFill>
          <a:ln w="9525">
            <a:solidFill>
              <a:schemeClr val="bg1"/>
            </a:solidFill>
            <a:miter lim="800000"/>
            <a:headEnd/>
            <a:tailEnd/>
          </a:ln>
        </p:spPr>
        <p:txBody>
          <a:bodyPr wrap="none" lIns="91419" tIns="45709" rIns="91419" bIns="45709" anchor="ctr"/>
          <a:lstStyle/>
          <a:p>
            <a:endParaRPr lang="en-US"/>
          </a:p>
        </p:txBody>
      </p:sp>
      <p:sp>
        <p:nvSpPr>
          <p:cNvPr id="3078" name="Rectangle 7"/>
          <p:cNvSpPr>
            <a:spLocks noChangeArrowheads="1"/>
          </p:cNvSpPr>
          <p:nvPr/>
        </p:nvSpPr>
        <p:spPr bwMode="auto">
          <a:xfrm>
            <a:off x="10456911" y="554843"/>
            <a:ext cx="233061" cy="7006420"/>
          </a:xfrm>
          <a:prstGeom prst="rect">
            <a:avLst/>
          </a:prstGeom>
          <a:solidFill>
            <a:srgbClr val="FF9A01"/>
          </a:solidFill>
          <a:ln w="9525">
            <a:solidFill>
              <a:srgbClr val="FF9A01"/>
            </a:solidFill>
            <a:miter lim="800000"/>
            <a:headEnd/>
            <a:tailEnd/>
          </a:ln>
        </p:spPr>
        <p:txBody>
          <a:bodyPr wrap="none" lIns="91419" tIns="45709" rIns="91419" bIns="45709" anchor="ctr"/>
          <a:lstStyle/>
          <a:p>
            <a:endParaRPr lang="en-US"/>
          </a:p>
        </p:txBody>
      </p:sp>
      <p:sp>
        <p:nvSpPr>
          <p:cNvPr id="3080" name="Titel 16"/>
          <p:cNvSpPr>
            <a:spLocks noGrp="1"/>
          </p:cNvSpPr>
          <p:nvPr>
            <p:ph type="ctrTitle"/>
          </p:nvPr>
        </p:nvSpPr>
        <p:spPr>
          <a:xfrm>
            <a:off x="378726" y="4177948"/>
            <a:ext cx="9954801" cy="952159"/>
          </a:xfrm>
        </p:spPr>
        <p:txBody>
          <a:bodyPr/>
          <a:lstStyle/>
          <a:p>
            <a:pPr eaLnBrk="1" hangingPunct="1"/>
            <a:r>
              <a:rPr lang="en-US" dirty="0" smtClean="0">
                <a:solidFill>
                  <a:srgbClr val="000000"/>
                </a:solidFill>
                <a:cs typeface="Arial" charset="0"/>
              </a:rPr>
              <a:t>Thank you for your attention!</a:t>
            </a:r>
            <a:endParaRPr lang="de-DE" dirty="0" smtClean="0"/>
          </a:p>
        </p:txBody>
      </p:sp>
      <p:sp>
        <p:nvSpPr>
          <p:cNvPr id="3081" name="Untertitel 17"/>
          <p:cNvSpPr>
            <a:spLocks noGrp="1"/>
          </p:cNvSpPr>
          <p:nvPr>
            <p:ph type="subTitle" idx="1"/>
          </p:nvPr>
        </p:nvSpPr>
        <p:spPr>
          <a:xfrm>
            <a:off x="378726" y="5368147"/>
            <a:ext cx="9954801" cy="1111435"/>
          </a:xfrm>
        </p:spPr>
        <p:txBody>
          <a:bodyPr/>
          <a:lstStyle/>
          <a:p>
            <a:pPr eaLnBrk="1" hangingPunct="1"/>
            <a:r>
              <a:rPr lang="de-DE" dirty="0" smtClean="0"/>
              <a:t>Questions and Answers</a:t>
            </a:r>
          </a:p>
        </p:txBody>
      </p:sp>
      <p:pic>
        <p:nvPicPr>
          <p:cNvPr id="9" name="Picture 8" descr="6.JPG"/>
          <p:cNvPicPr>
            <a:picLocks noChangeAspect="1"/>
          </p:cNvPicPr>
          <p:nvPr/>
        </p:nvPicPr>
        <p:blipFill>
          <a:blip r:embed="rId3" cstate="print"/>
          <a:stretch>
            <a:fillRect/>
          </a:stretch>
        </p:blipFill>
        <p:spPr>
          <a:xfrm>
            <a:off x="5139" y="5192"/>
            <a:ext cx="10451773" cy="4179698"/>
          </a:xfrm>
          <a:prstGeom prst="rect">
            <a:avLst/>
          </a:prstGeom>
        </p:spPr>
      </p:pic>
    </p:spTree>
  </p:cSld>
  <p:clrMapOvr>
    <a:masterClrMapping/>
  </p:clrMapOvr>
  <p:transition>
    <p:wipe dir="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SLIDEMASTERMODIFIED" val="1"/>
  <p:tag name="SLIDEMASTERCOLORSETGROUPCLASSNAME" val="ColorSetGroup1"/>
  <p:tag name="SLIDEMASTERSHAPESETGROUPCLASSNAME" val="ShapeSetGroup1"/>
  <p:tag name="SLIDEMASTERMASTERNAME" val="Slide"/>
  <p:tag name="TITLEMASTERMODIFIED" val="1"/>
  <p:tag name="TITLEMASTERCOLORSETGROUPCLASSNAME" val="ColorSetGroup1"/>
  <p:tag name="TITLEMASTERSHAPESETGROUPCLASSNAME" val="ShapeSetGroup1"/>
  <p:tag name="TITLEMASTERMASTERNAME" val="TitleSlide"/>
  <p:tag name="FIELD.DPT.COMBOINDEX" val="-2"/>
  <p:tag name="FIELD.DPT.VALUE" val="SF/ESW31 Glaser"/>
  <p:tag name="FIELD.DPT.CONTENT" val="SF/ESW31 Glaser"/>
  <p:tag name="FIELD.CHAPTER.COMBOINDEX" val="-2"/>
  <p:tag name="FIELD.COPY.COMBOINDEX" val="1"/>
  <p:tag name="FIELD.REM_ABL.COMBOINDEX" val="-2"/>
  <p:tag name="FIELD.REM_ANL.COMBOINDEX" val="-2"/>
  <p:tag name="FIELD.DATE.COMBOINDEX" val="-2"/>
  <p:tag name="FIELDS.INITIALIZED" val="1"/>
  <p:tag name="FIELD.FIELD_9.PERSISTTYPE" val="0"/>
  <p:tag name="FIELD.FIELD_9.VALUE" val="  |  I"/>
  <p:tag name="FIELD.FIELD_9.COMBOINDEX" val="0"/>
  <p:tag name="FIELD.FIELD_9.PREFIX.CONTENT" val="  |  "/>
  <p:tag name="FIELD.FIELD_9.CONTENT" val="I"/>
  <p:tag name="FIELD.FIELD_8.PERSISTTYPE" val="0"/>
  <p:tag name="FIELD.FIELD_8.VALUE" val="  |  H"/>
  <p:tag name="FIELD.FIELD_8.COMBOINDEX" val="0"/>
  <p:tag name="FIELD.FIELD_8.PREFIX.CONTENT" val="  |  "/>
  <p:tag name="FIELD.FIELD_8.CONTENT" val="H"/>
  <p:tag name="FIELD.FIELD_7.PERSISTTYPE" val="0"/>
  <p:tag name="FIELD.FIELD_7.VALUE" val="  |  G"/>
  <p:tag name="FIELD.FIELD_7.COMBOINDEX" val="0"/>
  <p:tag name="FIELD.FIELD_7.PREFIX.CONTENT" val="  |  "/>
  <p:tag name="FIELD.FIELD_7.CONTENT" val="G"/>
  <p:tag name="FIELD.DPT.EDITABLE" val="1"/>
  <p:tag name="FIELD.DPT.PERSISTTYPE" val="4"/>
  <p:tag name="FIELD.CHAPTER.EDITABLE" val="1"/>
  <p:tag name="FIELD.CHAPTER.PERSISTTYPE" val="4"/>
  <p:tag name="FIELD.COPY.EDITABLE" val="1"/>
  <p:tag name="FIELD.COPY.PERSISTTYPE" val="1"/>
  <p:tag name="FIELD.COPY.VALUE" val="© Alle Rechte bei Bosch Engineering GmbH, auch für den Fall von Schutzrechtsanmeldungen. Jede Verfügungsbefugnis, wie Kopier- und Weitergaberecht, bei uns."/>
  <p:tag name="FIELD.COPY.CONTENT" val="© Alle Rechte bei Bosch Engineering GmbH, auch für den Fall von Schutzrechtsanmeldungen. Jede Verfügungsbefugnis, wie Kopier- und Weitergaberecht, bei uns."/>
  <p:tag name="FIELD.REM_ABL.EDITABLE" val="1"/>
  <p:tag name="FIELD.REM_ABL.PERSISTTYPE" val="1"/>
  <p:tag name="FIELD.REM_ABL.PREFIX.CONTENT" val="  |  "/>
  <p:tag name="FIELD.REM_ANL.EDITABLE" val="1"/>
  <p:tag name="FIELD.REM_ANL.PERSISTTYPE" val="1"/>
  <p:tag name="FIELD.REM_ANL.SUFFIX.CONTENT" val="f/"/>
  <p:tag name="FIELD.REM_ANL.PREFIX.CONTENT" val="  |  /f[b;c=0]"/>
  <p:tag name="FIELD.CONF.EDITABLE" val="1"/>
  <p:tag name="FIELD.CONF.PERSISTTYPE" val="1"/>
  <p:tag name="FIELD.CONF.SUFFIX.CONTENT" val="f/"/>
  <p:tag name="FIELD.CONF.PREFIX.CONTENT" val="  |  /f[b;c=0]"/>
  <p:tag name="FIELD.DATE.EDITABLE" val="1"/>
  <p:tag name="FIELD.DATE.PERSISTTYPE" val="0"/>
  <p:tag name="LAYOUTLANGUAGE" val="1031"/>
  <p:tag name="LICENSEKEY" val="46504b9e-b1c9-48ed-967f-a36de42ae84b"/>
  <p:tag name="MAPNAME" val="Map1"/>
  <p:tag name="CFG.VERSION" val="1"/>
  <p:tag name="CONFIG" val="config.xml"/>
  <p:tag name="CFG.CUSTOMERVERSION" val="0"/>
  <p:tag name="CFG.LAYOUT" val="config.xml"/>
  <p:tag name="MLI" val="1"/>
  <p:tag name="SLIDEMASTERFONTSETGROUPCLASSNAME" val="FontSetGroup1"/>
  <p:tag name="SLIDEMASTERSTYLESETGROUPCLASSNAME" val="StyleSetGroup1"/>
  <p:tag name="TITLEMASTERFONTSETGROUPCLASSNAME" val="FontSetGroup1"/>
  <p:tag name="TITLEMASTERSTYLESETGROUPCLASSNAME" val="StyleSetGroup1"/>
  <p:tag name="FIELD.CONF.COMBOINDEX" val="0"/>
  <p:tag name="FIELD.REM_ANL.CONTENT" val="Testspezifikationstechniken"/>
  <p:tag name="FIELD.REM_ANL.VALUE" val="  |  /f[b;c=0]Testspezifikationstechnikenf/"/>
  <p:tag name="FIELD.CHAPTER.CONTENT" val="Einleitung in das Thema -&#10;Motivation"/>
  <p:tag name="FIELD.CHAPTER.VALUE" val="Einleitung in das Thema -&#10;Motivation"/>
  <p:tag name="ML_UFSOK" val="de2e20171e21e22e81e25e26e34e33e58e36e37e38e39e59e60e61e63e62127128130e64e73e54e53e74e75e55e56e57126169e65e83170e82e66e67e68e76e77e78e79e80e84e85e86e87e88e89e90e92e96e93e94e95e97e98121131133135136134137139138140141142143144146147145156159160163164165161162157166167155148149150151152154125122123124e91100103101102104105106107108109111110112113114115116119117118e71e72"/>
  <p:tag name="FIELD.DATE.CONTENT" val="30.09.2004"/>
  <p:tag name="FIELD.DATE.VALUE" val="30.09.2004"/>
</p:tagLst>
</file>

<file path=ppt/tags/tag2.xml><?xml version="1.0" encoding="utf-8"?>
<p:tagLst xmlns:a="http://schemas.openxmlformats.org/drawingml/2006/main" xmlns:r="http://schemas.openxmlformats.org/officeDocument/2006/relationships" xmlns:p="http://schemas.openxmlformats.org/presentationml/2006/main">
  <p:tag name="FIELD.DPT.CONTENT" val="SF/ESW31 Glaser"/>
  <p:tag name="FIELD.DPT.VALUE" val="SF/ESW31 Glaser"/>
  <p:tag name="FIELDS.INITIALIZED" val="1"/>
  <p:tag name="RECTANGLE 2_SHAPECLASSPROTECTIONTYPE" val="0"/>
  <p:tag name="RECTANGLE 4_SHAPECLASSPROTECTIONTYPE" val="11"/>
  <p:tag name="PICTURE 5_SHAPECLASSPROTECTIONTYPE" val="15"/>
  <p:tag name="TEXT BOX 6_SHAPECLASSPROTECTIONTYPE" val="11"/>
  <p:tag name="SHAPESETGROUPCLASSNAME" val="ShapeSetGroup1"/>
  <p:tag name="SHAPESETCLASSNAME" val="Title"/>
  <p:tag name="COLORSETGROUPCLASSNAME" val="ColorSetGroup1"/>
  <p:tag name="COLORSETCLASSNAME" val="ColorSet1"/>
  <p:tag name="FONTSETGROUPCLASSNAME" val="FontSetGroup1"/>
  <p:tag name="STYLESETGROUPCLASSNAME" val="StyleSetGroup1"/>
  <p:tag name="MAPNAME" val="Map1"/>
  <p:tag name="CFG.LAYOUT" val="config.xml"/>
  <p:tag name="CONFIG" val="config.xml"/>
  <p:tag name="MLI" val="1"/>
  <p:tag name="FIELD.CHAPTER.COMBOINDEX" val="-2"/>
  <p:tag name="FIELD.DPT.COMBOINDEX" val="-2"/>
  <p:tag name="FIELD.CHAPTER.CONTENT" val="Testspezifikationstechniken"/>
  <p:tag name="FIELD.CHAPTER.VALUE" val="Testspezifikationstechniken"/>
</p:tagLst>
</file>

<file path=ppt/tags/tag3.xml><?xml version="1.0" encoding="utf-8"?>
<p:tagLst xmlns:a="http://schemas.openxmlformats.org/drawingml/2006/main" xmlns:r="http://schemas.openxmlformats.org/officeDocument/2006/relationships" xmlns:p="http://schemas.openxmlformats.org/presentationml/2006/main">
  <p:tag name="COLORS" val="-2;-2;-2;-2;-2"/>
  <p:tag name="COLORSETCLASSNAME" val="ColorSet1"/>
  <p:tag name="MLI" val="1"/>
  <p:tag name="SHAPESETGROUPCLASSNAME" val="ShapeSetGroup1"/>
  <p:tag name="SHAPESETCLASSNAME" val="Title"/>
  <p:tag name="COLORSETGROUPCLASSNAME" val="ColorSetGroup1"/>
  <p:tag name="FONTSETGROUPCLASSNAME" val="FontSetGroup1"/>
  <p:tag name="SHAPECLASSNAME" val="MASKBeQik"/>
  <p:tag name="SHAPECLASSFILE" val="BeQik_FR.png"/>
  <p:tag name="SHAPECLASSPROTECTIONTYPE" val="15"/>
</p:tagLst>
</file>

<file path=ppt/tags/tag4.xml><?xml version="1.0" encoding="utf-8"?>
<p:tagLst xmlns:a="http://schemas.openxmlformats.org/drawingml/2006/main" xmlns:r="http://schemas.openxmlformats.org/officeDocument/2006/relationships" xmlns:p="http://schemas.openxmlformats.org/presentationml/2006/main">
  <p:tag name="FIELD.DPT.COMBOINDEX" val="-2"/>
  <p:tag name="FIELD.CHAPTER.COMBOINDEX" val="-2"/>
  <p:tag name="MLI" val="1"/>
  <p:tag name="CONFIG" val="config.xml"/>
  <p:tag name="CFG.LAYOUT" val="config.xml"/>
  <p:tag name="MAPNAME" val="Map1"/>
  <p:tag name="STYLESETGROUPCLASSNAME" val="StyleSetGroup1"/>
  <p:tag name="FONTSETGROUPCLASSNAME" val="FontSetGroup1"/>
  <p:tag name="COLORSETCLASSNAME" val="ColorSet1"/>
  <p:tag name="COLORSETGROUPCLASSNAME" val="ColorSetGroup1"/>
  <p:tag name="SHAPESETCLASSNAME" val="TitleText"/>
  <p:tag name="SHAPESETGROUPCLASSNAME" val="ShapeSetGroup1"/>
  <p:tag name="TEXT BOX 6_SHAPECLASSPROTECTIONTYPE" val="11"/>
  <p:tag name="PICTURE 5_SHAPECLASSPROTECTIONTYPE" val="15"/>
  <p:tag name="RECTANGLE 4_SHAPECLASSPROTECTIONTYPE" val="11"/>
  <p:tag name="RECTANGLE 2_SHAPECLASSPROTECTIONTYPE" val="0"/>
  <p:tag name="RECTANGLE 3_SHAPECLASSPROTECTIONTYPE" val="0"/>
  <p:tag name="FIELDS.INITIALIZED" val="1"/>
  <p:tag name="FIELD.DPT.VALUE" val="SF/ESW31 Glaser"/>
  <p:tag name="FIELD.DPT.CONTENT" val="SF/ESW31 Glaser"/>
  <p:tag name="FIELD.CHAPTER.CONTENT" val="TSC - Testspezifikationstechniken"/>
  <p:tag name="FIELD.CHAPTER.VALUE" val="TSC - Testspezifikationstechniken"/>
</p:tagLst>
</file>

<file path=ppt/tags/tag5.xml><?xml version="1.0" encoding="utf-8"?>
<p:tagLst xmlns:a="http://schemas.openxmlformats.org/drawingml/2006/main" xmlns:r="http://schemas.openxmlformats.org/officeDocument/2006/relationships" xmlns:p="http://schemas.openxmlformats.org/presentationml/2006/main">
  <p:tag name="SHAPECLASSPROTECTIONTYPE" val="0"/>
  <p:tag name="SHAPECLASSNAME" val="Text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extBoxFont"/>
  <p:tag name="COLORS" val="-2;-2;-2;-2;-1"/>
</p:tagLst>
</file>

<file path=ppt/tags/tag6.xml><?xml version="1.0" encoding="utf-8"?>
<p:tagLst xmlns:a="http://schemas.openxmlformats.org/drawingml/2006/main" xmlns:r="http://schemas.openxmlformats.org/officeDocument/2006/relationships" xmlns:p="http://schemas.openxmlformats.org/presentationml/2006/main">
  <p:tag name="SHAPECLASSPROTECTIONTYPE" val="15"/>
  <p:tag name="SHAPECLASSFILE" val="BeQik_FR.png"/>
  <p:tag name="SHAPECLASSNAME" val="MASKBeQik"/>
  <p:tag name="FONTSETGROUPCLASSNAME" val="FontSetGroup1"/>
  <p:tag name="COLORSETGROUPCLASSNAME" val="ColorSetGroup1"/>
  <p:tag name="SHAPESETCLASSNAME" val="TitleText"/>
  <p:tag name="SHAPESETGROUPCLASSNAME" val="ShapeSetGroup1"/>
  <p:tag name="MLI" val="1"/>
  <p:tag name="COLORSETCLASSNAME" val="ColorSet1"/>
  <p:tag name="COLORS" val="-2;-2;-2;-2;-2"/>
</p:tagLst>
</file>

<file path=ppt/tags/tag7.xml><?xml version="1.0" encoding="utf-8"?>
<p:tagLst xmlns:a="http://schemas.openxmlformats.org/drawingml/2006/main" xmlns:r="http://schemas.openxmlformats.org/officeDocument/2006/relationships" xmlns:p="http://schemas.openxmlformats.org/presentationml/2006/main">
  <p:tag name="COLORS" val="-2;-2;-2;-2;-1"/>
  <p:tag name="SHAPECLASSPROTECTIONTYPE" val="0"/>
  <p:tag name="SHAPECLASSNAME" val="Title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itlefont"/>
</p:tagLst>
</file>

<file path=ppt/tags/tag8.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9.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0.xml><?xml version="1.0" encoding="utf-8"?>
<p:tagLst xmlns:a="http://schemas.openxmlformats.org/drawingml/2006/main" xmlns:r="http://schemas.openxmlformats.org/officeDocument/2006/relationships" xmlns:p="http://schemas.openxmlformats.org/presentationml/2006/main">
  <p:tag name="FIELD.DPT.COMBOINDEX" val="-2"/>
  <p:tag name="FIELD.CHAPTER.COMBOINDEX" val="-2"/>
  <p:tag name="MLI" val="1"/>
  <p:tag name="CONFIG" val="config.xml"/>
  <p:tag name="CFG.LAYOUT" val="config.xml"/>
  <p:tag name="MAPNAME" val="Map1"/>
  <p:tag name="STYLESETGROUPCLASSNAME" val="StyleSetGroup1"/>
  <p:tag name="FONTSETGROUPCLASSNAME" val="FontSetGroup1"/>
  <p:tag name="COLORSETCLASSNAME" val="ColorSet1"/>
  <p:tag name="COLORSETGROUPCLASSNAME" val="ColorSetGroup1"/>
  <p:tag name="SHAPESETCLASSNAME" val="TitleText"/>
  <p:tag name="SHAPESETGROUPCLASSNAME" val="ShapeSetGroup1"/>
  <p:tag name="TEXT BOX 6_SHAPECLASSPROTECTIONTYPE" val="11"/>
  <p:tag name="PICTURE 5_SHAPECLASSPROTECTIONTYPE" val="15"/>
  <p:tag name="RECTANGLE 4_SHAPECLASSPROTECTIONTYPE" val="11"/>
  <p:tag name="RECTANGLE 2_SHAPECLASSPROTECTIONTYPE" val="0"/>
  <p:tag name="RECTANGLE 3_SHAPECLASSPROTECTIONTYPE" val="0"/>
  <p:tag name="FIELDS.INITIALIZED" val="1"/>
  <p:tag name="FIELD.DPT.VALUE" val="SF/ESW31 Glaser"/>
  <p:tag name="FIELD.DPT.CONTENT" val="SF/ESW31 Glaser"/>
  <p:tag name="FIELD.CHAPTER.CONTENT" val="TSC - Testspezifikationstechniken"/>
  <p:tag name="FIELD.CHAPTER.VALUE" val="TSC - Testspezifikationstechniken"/>
  <p:tag name="RECTANGLE 7_SHAPECLASSPROTECTIONTYPE" val="0"/>
</p:tagLst>
</file>

<file path=ppt/tags/tag11.xml><?xml version="1.0" encoding="utf-8"?>
<p:tagLst xmlns:a="http://schemas.openxmlformats.org/drawingml/2006/main" xmlns:r="http://schemas.openxmlformats.org/officeDocument/2006/relationships" xmlns:p="http://schemas.openxmlformats.org/presentationml/2006/main">
  <p:tag name="SHAPECLASSPROTECTIONTYPE" val="15"/>
  <p:tag name="SHAPECLASSFILE" val="BeQik_FR.png"/>
  <p:tag name="SHAPECLASSNAME" val="MASKBeQik"/>
  <p:tag name="FONTSETGROUPCLASSNAME" val="FontSetGroup1"/>
  <p:tag name="COLORSETGROUPCLASSNAME" val="ColorSetGroup1"/>
  <p:tag name="SHAPESETCLASSNAME" val="TitleText"/>
  <p:tag name="SHAPESETGROUPCLASSNAME" val="ShapeSetGroup1"/>
  <p:tag name="MLI" val="1"/>
  <p:tag name="COLORSETCLASSNAME" val="ColorSet1"/>
  <p:tag name="COLORS" val="-2;-2;-2;-2;-2"/>
</p:tagLst>
</file>

<file path=ppt/tags/tag12.xml><?xml version="1.0" encoding="utf-8"?>
<p:tagLst xmlns:a="http://schemas.openxmlformats.org/drawingml/2006/main" xmlns:r="http://schemas.openxmlformats.org/officeDocument/2006/relationships" xmlns:p="http://schemas.openxmlformats.org/presentationml/2006/main">
  <p:tag name="COLORS" val="-2;-2;-2;-2;-1"/>
  <p:tag name="SHAPECLASSPROTECTIONTYPE" val="0"/>
  <p:tag name="SHAPECLASSNAME" val="Title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itlefont"/>
</p:tagLst>
</file>

<file path=ppt/tags/tag13.xml><?xml version="1.0" encoding="utf-8"?>
<p:tagLst xmlns:a="http://schemas.openxmlformats.org/drawingml/2006/main" xmlns:r="http://schemas.openxmlformats.org/officeDocument/2006/relationships" xmlns:p="http://schemas.openxmlformats.org/presentationml/2006/main">
  <p:tag name="FIELD.DPT.COMBOINDEX" val="-2"/>
  <p:tag name="FIELD.CHAPTER.COMBOINDEX" val="-2"/>
  <p:tag name="MLI" val="1"/>
  <p:tag name="CONFIG" val="config.xml"/>
  <p:tag name="CFG.LAYOUT" val="config.xml"/>
  <p:tag name="MAPNAME" val="Map1"/>
  <p:tag name="STYLESETGROUPCLASSNAME" val="StyleSetGroup1"/>
  <p:tag name="FONTSETGROUPCLASSNAME" val="FontSetGroup1"/>
  <p:tag name="COLORSETCLASSNAME" val="ColorSet1"/>
  <p:tag name="COLORSETGROUPCLASSNAME" val="ColorSetGroup1"/>
  <p:tag name="SHAPESETCLASSNAME" val="TitleText"/>
  <p:tag name="SHAPESETGROUPCLASSNAME" val="ShapeSetGroup1"/>
  <p:tag name="TEXT BOX 6_SHAPECLASSPROTECTIONTYPE" val="11"/>
  <p:tag name="PICTURE 5_SHAPECLASSPROTECTIONTYPE" val="15"/>
  <p:tag name="RECTANGLE 4_SHAPECLASSPROTECTIONTYPE" val="11"/>
  <p:tag name="RECTANGLE 2_SHAPECLASSPROTECTIONTYPE" val="0"/>
  <p:tag name="RECTANGLE 3_SHAPECLASSPROTECTIONTYPE" val="0"/>
  <p:tag name="FIELDS.INITIALIZED" val="1"/>
  <p:tag name="FIELD.DPT.VALUE" val="SF/ESW31 Glaser"/>
  <p:tag name="FIELD.DPT.CONTENT" val="SF/ESW31 Glaser"/>
  <p:tag name="FIELD.CHAPTER.CONTENT" val="TSC - Testspezifikationstechniken"/>
  <p:tag name="FIELD.CHAPTER.VALUE" val="TSC - Testspezifikationstechniken"/>
  <p:tag name="RECTANGLE 7_SHAPECLASSPROTECTIONTYPE" val="0"/>
</p:tagLst>
</file>

<file path=ppt/tags/tag14.xml><?xml version="1.0" encoding="utf-8"?>
<p:tagLst xmlns:a="http://schemas.openxmlformats.org/drawingml/2006/main" xmlns:r="http://schemas.openxmlformats.org/officeDocument/2006/relationships" xmlns:p="http://schemas.openxmlformats.org/presentationml/2006/main">
  <p:tag name="SHAPECLASSPROTECTIONTYPE" val="15"/>
  <p:tag name="SHAPECLASSFILE" val="BeQik_FR.png"/>
  <p:tag name="SHAPECLASSNAME" val="MASKBeQik"/>
  <p:tag name="FONTSETGROUPCLASSNAME" val="FontSetGroup1"/>
  <p:tag name="COLORSETGROUPCLASSNAME" val="ColorSetGroup1"/>
  <p:tag name="SHAPESETCLASSNAME" val="TitleText"/>
  <p:tag name="SHAPESETGROUPCLASSNAME" val="ShapeSetGroup1"/>
  <p:tag name="MLI" val="1"/>
  <p:tag name="COLORSETCLASSNAME" val="ColorSet1"/>
  <p:tag name="COLORS" val="-2;-2;-2;-2;-2"/>
</p:tagLst>
</file>

<file path=ppt/tags/tag15.xml><?xml version="1.0" encoding="utf-8"?>
<p:tagLst xmlns:a="http://schemas.openxmlformats.org/drawingml/2006/main" xmlns:r="http://schemas.openxmlformats.org/officeDocument/2006/relationships" xmlns:p="http://schemas.openxmlformats.org/presentationml/2006/main">
  <p:tag name="COLORS" val="-2;-2;-2;-2;-1"/>
  <p:tag name="SHAPECLASSPROTECTIONTYPE" val="0"/>
  <p:tag name="SHAPECLASSNAME" val="TitleBox"/>
  <p:tag name="FONTSETGROUPCLASSNAME" val="FontSetGroup1"/>
  <p:tag name="COLORSETGROUPCLASSNAME" val="ColorSetGroup1"/>
  <p:tag name="SHAPESETCLASSNAME" val="TitleText"/>
  <p:tag name="SHAPESETGROUPCLASSNAME" val="ShapeSetGroup1"/>
  <p:tag name="MLI" val="1"/>
  <p:tag name="COLORSETCLASSNAME" val="ColorSet1"/>
  <p:tag name="FONTSETCLASSNAME" val="FontSet1"/>
  <p:tag name="FONT" val="Titlefont"/>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tinental_farbig_a4_new_en">
  <a:themeElements>
    <a:clrScheme name="continental_farbig_a4_new_en 13">
      <a:dk1>
        <a:srgbClr val="000000"/>
      </a:dk1>
      <a:lt1>
        <a:srgbClr val="FFFFFF"/>
      </a:lt1>
      <a:dk2>
        <a:srgbClr val="B2B2B2"/>
      </a:dk2>
      <a:lt2>
        <a:srgbClr val="5F5F5F"/>
      </a:lt2>
      <a:accent1>
        <a:srgbClr val="DDDDDD"/>
      </a:accent1>
      <a:accent2>
        <a:srgbClr val="FF3737"/>
      </a:accent2>
      <a:accent3>
        <a:srgbClr val="FFFFFF"/>
      </a:accent3>
      <a:accent4>
        <a:srgbClr val="000000"/>
      </a:accent4>
      <a:accent5>
        <a:srgbClr val="EBEBEB"/>
      </a:accent5>
      <a:accent6>
        <a:srgbClr val="E73131"/>
      </a:accent6>
      <a:hlink>
        <a:srgbClr val="FF9900"/>
      </a:hlink>
      <a:folHlink>
        <a:srgbClr val="A7A4E0"/>
      </a:folHlink>
    </a:clrScheme>
    <a:fontScheme name="continental_farbig_a4_new_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1135063" rtl="0" eaLnBrk="0" fontAlgn="base" latinLnBrk="0" hangingPunct="0">
          <a:lnSpc>
            <a:spcPct val="100000"/>
          </a:lnSpc>
          <a:spcBef>
            <a:spcPct val="0"/>
          </a:spcBef>
          <a:spcAft>
            <a:spcPct val="0"/>
          </a:spcAft>
          <a:buClrTx/>
          <a:buSzTx/>
          <a:buFontTx/>
          <a:buNone/>
          <a:tabLst/>
          <a:defRPr kumimoji="0" lang="de-DE" sz="2200" b="1" i="0" u="none" strike="noStrike" cap="none" normalizeH="0" baseline="0" smtClean="0">
            <a:ln>
              <a:noFill/>
            </a:ln>
            <a:solidFill>
              <a:schemeClr val="tx1"/>
            </a:solidFill>
            <a:effectLst/>
            <a:latin typeface="Arial" charset="0"/>
          </a:defRPr>
        </a:defPPr>
      </a:lstStyle>
    </a:lnDef>
  </a:objectDefaults>
  <a:extraClrSchemeLst>
    <a:extraClrScheme>
      <a:clrScheme name="continental_farbig_a4_new_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ntinental_farbig_a4_new_e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ntinental_farbig_a4_new_e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ntinental_farbig_a4_new_e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ntinental_farbig_a4_new_e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ntinental_farbig_a4_new_e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ntinental_farbig_a4_new_e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ntinental_farbig_a4_new_e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ntinental_farbig_a4_new_e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ntinental_farbig_a4_new_e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ntinental_farbig_a4_new_e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ntinental_farbig_a4_new_e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ntinental_farbig_a4_new_en 13">
        <a:dk1>
          <a:srgbClr val="000000"/>
        </a:dk1>
        <a:lt1>
          <a:srgbClr val="FFFFFF"/>
        </a:lt1>
        <a:dk2>
          <a:srgbClr val="B2B2B2"/>
        </a:dk2>
        <a:lt2>
          <a:srgbClr val="5F5F5F"/>
        </a:lt2>
        <a:accent1>
          <a:srgbClr val="DDDDDD"/>
        </a:accent1>
        <a:accent2>
          <a:srgbClr val="FF3737"/>
        </a:accent2>
        <a:accent3>
          <a:srgbClr val="FFFFFF"/>
        </a:accent3>
        <a:accent4>
          <a:srgbClr val="000000"/>
        </a:accent4>
        <a:accent5>
          <a:srgbClr val="EBEBEB"/>
        </a:accent5>
        <a:accent6>
          <a:srgbClr val="E73131"/>
        </a:accent6>
        <a:hlink>
          <a:srgbClr val="FF9900"/>
        </a:hlink>
        <a:folHlink>
          <a:srgbClr val="A7A4E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863B797F1E2CE4EA488952CB2A8CCFA" ma:contentTypeVersion="6" ma:contentTypeDescription="Create a new document." ma:contentTypeScope="" ma:versionID="86be319cddc18909e6699bd189a641ec">
  <xsd:schema xmlns:xsd="http://www.w3.org/2001/XMLSchema" xmlns:p="http://schemas.microsoft.com/office/2006/metadata/properties" xmlns:ns2="974350c0-ff3f-4ea3-9f8a-d3ea0acee986" targetNamespace="http://schemas.microsoft.com/office/2006/metadata/properties" ma:root="true" ma:fieldsID="7fdaffa5cc971d3c863d40b3f41abc0f" ns2:_="">
    <xsd:import namespace="974350c0-ff3f-4ea3-9f8a-d3ea0acee986"/>
    <xsd:element name="properties">
      <xsd:complexType>
        <xsd:sequence>
          <xsd:element name="documentManagement">
            <xsd:complexType>
              <xsd:all>
                <xsd:element ref="ns2:Titl" minOccurs="0"/>
                <xsd:element ref="ns2:Category" minOccurs="0"/>
              </xsd:all>
            </xsd:complexType>
          </xsd:element>
        </xsd:sequence>
      </xsd:complexType>
    </xsd:element>
  </xsd:schema>
  <xsd:schema xmlns:xsd="http://www.w3.org/2001/XMLSchema" xmlns:dms="http://schemas.microsoft.com/office/2006/documentManagement/types" targetNamespace="974350c0-ff3f-4ea3-9f8a-d3ea0acee986" elementFormDefault="qualified">
    <xsd:import namespace="http://schemas.microsoft.com/office/2006/documentManagement/types"/>
    <xsd:element name="Titl" ma:index="1" nillable="true" ma:displayName="Title" ma:default="1_Basic Training" ma:format="Dropdown" ma:internalName="Titl">
      <xsd:simpleType>
        <xsd:union memberTypes="dms:Text">
          <xsd:simpleType>
            <xsd:restriction base="dms:Choice">
              <xsd:enumeration value="1_Basic Training"/>
              <xsd:enumeration value="2_Competency Based Training"/>
              <xsd:enumeration value="3_Department Specific Training"/>
              <xsd:enumeration value="4_Mks Integrity Training"/>
            </xsd:restriction>
          </xsd:simpleType>
        </xsd:union>
      </xsd:simpleType>
    </xsd:element>
    <xsd:element name="Category" ma:index="2" nillable="true" ma:displayName="Category" ma:default="(Select Basic Training Category)" ma:format="Dropdown" ma:internalName="Category">
      <xsd:simpleType>
        <xsd:restriction base="dms:Choice">
          <xsd:enumeration value="(Select Basic Training Category)"/>
          <xsd:enumeration value="1.1 Training Calender and Agenda (R: Manasa)"/>
          <xsd:enumeration value="1.2 Organization Introduction (R: Jaidev)"/>
          <xsd:enumeration value="1.3 Automotive Basics (R: Kumar)"/>
          <xsd:enumeration value="1.4 EBS Domain (R: Shreyas)"/>
          <xsd:enumeration value="1.5 EBS Tools (R: Banvari)"/>
          <xsd:enumeration value="1.6 EBS SW Development - Architecture (R: Banvari)"/>
          <xsd:enumeration value="1.7 EBS SW Development - Design &amp; Implementation (R: Gururaj)"/>
          <xsd:enumeration value="1.8 EBS SW Development - Verification &amp; Validation (R: Vijay, Prakash)"/>
          <xsd:enumeration value="1.9 Soft Skills"/>
          <xsd:enumeration value="1.10 General"/>
          <xsd:enumeration value="(Select Competency Based Training Category)"/>
          <xsd:enumeration value="2.1 Embedded C"/>
          <xsd:enumeration value="2.2 Microcontrollers"/>
          <xsd:enumeration value="2.3 CAN"/>
          <xsd:enumeration value="2.4 Software Component Test"/>
          <xsd:enumeration value="(Select Department Specific Training Category)"/>
          <xsd:enumeration value="3.1 Control Architecture (Owner: Banvari Lakhotia)"/>
          <xsd:enumeration value="3.2 Vehicle Integration Layer (Owner: Kumar Adimurthy)"/>
          <xsd:enumeration value="3.3 Hydraulic Actuator Control (Owner: Gururaj Srinivasaiah)"/>
          <xsd:enumeration value="3.4 Failsafe And Signals Control (Owner: shreyas raj)"/>
          <xsd:enumeration value="3.5 Hardware Abstraction Control (Owner: Jaidev Venkataraman)"/>
          <xsd:enumeration value="3.6 Control Test (Owner: vijay krishna)"/>
          <xsd:enumeration value="3.7 Intelligent Parking Brake (Owner: Kantirao Thippeswamy)"/>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ma:readOnly="true"/>
        <xsd:element ref="dc:title" minOccurs="0" maxOccurs="1" ma:index="3" ma:displayName="Description(Optiona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4.xml><?xml version="1.0" encoding="utf-8"?>
<p:properties xmlns:p="http://schemas.microsoft.com/office/2006/metadata/properties" xmlns:xsi="http://www.w3.org/2001/XMLSchema-instance">
  <documentManagement>
    <Category xmlns="974350c0-ff3f-4ea3-9f8a-d3ea0acee986">2.4 Software Component Test</Category>
    <Titl xmlns="974350c0-ff3f-4ea3-9f8a-d3ea0acee986">2_Competency Based Training</Titl>
  </documentManagement>
</p:properties>
</file>

<file path=customXml/itemProps1.xml><?xml version="1.0" encoding="utf-8"?>
<ds:datastoreItem xmlns:ds="http://schemas.openxmlformats.org/officeDocument/2006/customXml" ds:itemID="{13766359-C33D-4D20-BA58-852DB8B5C69B}">
  <ds:schemaRefs>
    <ds:schemaRef ds:uri="http://schemas.microsoft.com/sharepoint/v3/contenttype/forms"/>
  </ds:schemaRefs>
</ds:datastoreItem>
</file>

<file path=customXml/itemProps2.xml><?xml version="1.0" encoding="utf-8"?>
<ds:datastoreItem xmlns:ds="http://schemas.openxmlformats.org/officeDocument/2006/customXml" ds:itemID="{BEBB8D28-EFFC-4D7D-A05E-7255F20123C7}">
  <ds:schemaRefs>
    <ds:schemaRef ds:uri="http://schemas.microsoft.com/office/2006/metadata/longProperties"/>
  </ds:schemaRefs>
</ds:datastoreItem>
</file>

<file path=customXml/itemProps3.xml><?xml version="1.0" encoding="utf-8"?>
<ds:datastoreItem xmlns:ds="http://schemas.openxmlformats.org/officeDocument/2006/customXml" ds:itemID="{C702850C-9B36-4E7C-BEE4-245DE4DBC1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4350c0-ff3f-4ea3-9f8a-d3ea0acee986"/>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4.xml><?xml version="1.0" encoding="utf-8"?>
<ds:datastoreItem xmlns:ds="http://schemas.openxmlformats.org/officeDocument/2006/customXml" ds:itemID="{E4EAA756-08A6-419A-AD1B-03981E10F8DA}">
  <ds:schemaRefs>
    <ds:schemaRef ds:uri="http://schemas.microsoft.com/office/2006/documentManagement/types"/>
    <ds:schemaRef ds:uri="http://purl.org/dc/elements/1.1/"/>
    <ds:schemaRef ds:uri="http://schemas.microsoft.com/office/2006/metadata/properties"/>
    <ds:schemaRef ds:uri="974350c0-ff3f-4ea3-9f8a-d3ea0acee986"/>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2019</Words>
  <Application>Microsoft Office PowerPoint</Application>
  <PresentationFormat>Custom</PresentationFormat>
  <Paragraphs>237</Paragraphs>
  <Slides>29</Slides>
  <Notes>5</Notes>
  <HiddenSlides>0</HiddenSlides>
  <MMClips>0</MMClip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Custom Design</vt:lpstr>
      <vt:lpstr>continental_farbig_a4_new_en</vt:lpstr>
      <vt:lpstr>Controller Area Network</vt:lpstr>
      <vt:lpstr>Contents </vt:lpstr>
      <vt:lpstr>Need for CAN</vt:lpstr>
      <vt:lpstr>Standardization of CAN</vt:lpstr>
      <vt:lpstr>About CAN</vt:lpstr>
      <vt:lpstr>CAN NETWORK </vt:lpstr>
      <vt:lpstr>CAN Node</vt:lpstr>
      <vt:lpstr>CAN Bus</vt:lpstr>
      <vt:lpstr>CAN BUS Logic</vt:lpstr>
      <vt:lpstr>CAN Communication Principle</vt:lpstr>
      <vt:lpstr>CAN Communication Principle</vt:lpstr>
      <vt:lpstr>CAN Communication Principle</vt:lpstr>
      <vt:lpstr>CAN Communication Principle</vt:lpstr>
      <vt:lpstr>CAN Framing</vt:lpstr>
      <vt:lpstr>Data Frame </vt:lpstr>
      <vt:lpstr>Remote frame</vt:lpstr>
      <vt:lpstr>Different fields of a Data frame</vt:lpstr>
      <vt:lpstr>Different fields of a Data frame</vt:lpstr>
      <vt:lpstr>Different fields of a Data frame</vt:lpstr>
      <vt:lpstr>Bit stuffing</vt:lpstr>
      <vt:lpstr>Types of Errors in CAN</vt:lpstr>
      <vt:lpstr>CAN Error Frame</vt:lpstr>
      <vt:lpstr>Overload frame </vt:lpstr>
      <vt:lpstr>Interframe spacing</vt:lpstr>
      <vt:lpstr>Fault confinement in CAN </vt:lpstr>
      <vt:lpstr>Difference between Standard frame and an Extended frame</vt:lpstr>
      <vt:lpstr>Difference between Standard frame and an Extended frame</vt:lpstr>
      <vt:lpstr>Difference between Standard frame and an Extended frame</vt:lpstr>
      <vt:lpstr>Thank you for your attention!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Design Techniques Introduction</dc:title>
  <dc:creator>Jens Glaser</dc:creator>
  <cp:lastModifiedBy>uidw8151</cp:lastModifiedBy>
  <cp:revision>503</cp:revision>
  <dcterms:created xsi:type="dcterms:W3CDTF">2004-06-16T05:50:47Z</dcterms:created>
  <dcterms:modified xsi:type="dcterms:W3CDTF">2014-03-19T11:03:18Z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ies>
</file>