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tags/tag8.xml" ContentType="application/vnd.openxmlformats-officedocument.presentationml.tags+xml"/>
  <Override PartName="/ppt/theme/themeOverride12.xml" ContentType="application/vnd.openxmlformats-officedocument.themeOverride+xml"/>
  <Override PartName="/ppt/theme/themeOverride30.xml" ContentType="application/vnd.openxmlformats-officedocument.themeOverr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heme/themeOverride5.xml" ContentType="application/vnd.openxmlformats-officedocument.themeOverr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heme/themeOverride1.xml" ContentType="application/vnd.openxmlformats-officedocument.themeOverr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theme/themeOverride17.xml" ContentType="application/vnd.openxmlformats-officedocument.themeOverride+xml"/>
  <Override PartName="/ppt/theme/themeOverride28.xml" ContentType="application/vnd.openxmlformats-officedocument.themeOverride+xml"/>
  <Override PartName="/ppt/theme/themeOverride24.xml" ContentType="application/vnd.openxmlformats-officedocument.themeOverr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heme/themeOverride13.xml" ContentType="application/vnd.openxmlformats-officedocument.themeOverride+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theme/themeOverride20.xml" ContentType="application/vnd.openxmlformats-officedocument.themeOverr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theme/themeOverride6.xml" ContentType="application/vnd.openxmlformats-officedocument.themeOverr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tags/tag3.xml" ContentType="application/vnd.openxmlformats-officedocument.presentationml.tags+xml"/>
  <Default Extension="emf" ContentType="image/x-emf"/>
  <Default Extension="jpeg" ContentType="image/jpeg"/>
  <Override PartName="/ppt/theme/themeOverride4.xml" ContentType="application/vnd.openxmlformats-officedocument.themeOverr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Override2.xml" ContentType="application/vnd.openxmlformats-officedocument.themeOverr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theme/themeOverride29.xml" ContentType="application/vnd.openxmlformats-officedocument.themeOverride+xml"/>
  <Override PartName="/ppt/slideLayouts/slideLayout10.xml" ContentType="application/vnd.openxmlformats-officedocument.presentationml.slideLayout+xml"/>
  <Override PartName="/ppt/theme/themeOverride18.xml" ContentType="application/vnd.openxmlformats-officedocument.themeOverride+xml"/>
  <Override PartName="/ppt/theme/themeOverride27.xml" ContentType="application/vnd.openxmlformats-officedocument.themeOverride+xml"/>
  <Override PartName="/ppt/theme/themeOverride16.xml" ContentType="application/vnd.openxmlformats-officedocument.themeOverride+xml"/>
  <Override PartName="/ppt/theme/themeOverride25.xml" ContentType="application/vnd.openxmlformats-officedocument.themeOverr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tags/tag11.xml" ContentType="application/vnd.openxmlformats-officedocument.presentationml.tags+xml"/>
  <Override PartName="/ppt/theme/themeOverride9.xml" ContentType="application/vnd.openxmlformats-officedocument.themeOverride+xml"/>
  <Override PartName="/ppt/theme/themeOverride14.xml" ContentType="application/vnd.openxmlformats-officedocument.themeOverride+xml"/>
  <Override PartName="/ppt/theme/themeOverride23.xml" ContentType="application/vnd.openxmlformats-officedocument.themeOverr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theme/themeOverride7.xml" ContentType="application/vnd.openxmlformats-officedocument.themeOverride+xml"/>
  <Override PartName="/ppt/theme/themeOverride21.xml" ContentType="application/vnd.openxmlformats-officedocument.themeOverr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Override10.xml" ContentType="application/vnd.openxmlformats-officedocument.themeOverr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theme/themeOverride3.xml" ContentType="application/vnd.openxmlformats-officedocument.themeOverr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heme/themeOverride19.xml" ContentType="application/vnd.openxmlformats-officedocument.themeOverride+xml"/>
  <Override PartName="/ppt/theme/themeOverride15.xml" ContentType="application/vnd.openxmlformats-officedocument.themeOverride+xml"/>
  <Override PartName="/ppt/theme/themeOverride26.xml" ContentType="application/vnd.openxmlformats-officedocument.themeOverride+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heme/themeOverride22.xml" ContentType="application/vnd.openxmlformats-officedocument.themeOverride+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tags/tag7.xml" ContentType="application/vnd.openxmlformats-officedocument.presentationml.tags+xml"/>
  <Override PartName="/ppt/theme/themeOverride8.xml" ContentType="application/vnd.openxmlformats-officedocument.themeOverride+xml"/>
  <Override PartName="/ppt/theme/themeOverride11.xml" ContentType="application/vnd.openxmlformats-officedocument.themeOverrid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6"/>
  </p:notesMasterIdLst>
  <p:sldIdLst>
    <p:sldId id="324" r:id="rId2"/>
    <p:sldId id="325" r:id="rId3"/>
    <p:sldId id="326" r:id="rId4"/>
    <p:sldId id="256" r:id="rId5"/>
    <p:sldId id="257" r:id="rId6"/>
    <p:sldId id="327" r:id="rId7"/>
    <p:sldId id="264" r:id="rId8"/>
    <p:sldId id="259" r:id="rId9"/>
    <p:sldId id="261" r:id="rId10"/>
    <p:sldId id="262" r:id="rId11"/>
    <p:sldId id="308" r:id="rId12"/>
    <p:sldId id="265" r:id="rId13"/>
    <p:sldId id="266" r:id="rId14"/>
    <p:sldId id="267" r:id="rId15"/>
    <p:sldId id="268" r:id="rId16"/>
    <p:sldId id="270" r:id="rId17"/>
    <p:sldId id="269" r:id="rId18"/>
    <p:sldId id="272" r:id="rId19"/>
    <p:sldId id="273" r:id="rId20"/>
    <p:sldId id="274" r:id="rId21"/>
    <p:sldId id="275" r:id="rId22"/>
    <p:sldId id="276" r:id="rId23"/>
    <p:sldId id="277" r:id="rId24"/>
    <p:sldId id="281" r:id="rId25"/>
    <p:sldId id="278" r:id="rId26"/>
    <p:sldId id="283" r:id="rId27"/>
    <p:sldId id="293" r:id="rId28"/>
    <p:sldId id="294" r:id="rId29"/>
    <p:sldId id="292" r:id="rId30"/>
    <p:sldId id="284" r:id="rId31"/>
    <p:sldId id="279" r:id="rId32"/>
    <p:sldId id="282" r:id="rId33"/>
    <p:sldId id="280" r:id="rId34"/>
    <p:sldId id="285" r:id="rId35"/>
    <p:sldId id="286" r:id="rId36"/>
    <p:sldId id="290" r:id="rId37"/>
    <p:sldId id="287" r:id="rId38"/>
    <p:sldId id="295" r:id="rId39"/>
    <p:sldId id="291" r:id="rId40"/>
    <p:sldId id="288" r:id="rId41"/>
    <p:sldId id="312" r:id="rId42"/>
    <p:sldId id="313" r:id="rId43"/>
    <p:sldId id="314" r:id="rId44"/>
    <p:sldId id="296" r:id="rId45"/>
    <p:sldId id="297" r:id="rId46"/>
    <p:sldId id="315" r:id="rId47"/>
    <p:sldId id="316" r:id="rId48"/>
    <p:sldId id="317" r:id="rId49"/>
    <p:sldId id="298" r:id="rId50"/>
    <p:sldId id="307" r:id="rId51"/>
    <p:sldId id="304" r:id="rId52"/>
    <p:sldId id="305" r:id="rId53"/>
    <p:sldId id="306" r:id="rId54"/>
    <p:sldId id="309" r:id="rId55"/>
    <p:sldId id="310" r:id="rId56"/>
    <p:sldId id="300" r:id="rId57"/>
    <p:sldId id="301" r:id="rId58"/>
    <p:sldId id="303" r:id="rId59"/>
    <p:sldId id="311" r:id="rId60"/>
    <p:sldId id="302" r:id="rId61"/>
    <p:sldId id="319" r:id="rId62"/>
    <p:sldId id="318" r:id="rId63"/>
    <p:sldId id="320" r:id="rId64"/>
    <p:sldId id="299"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488"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9A19652-E3A5-4D16-8263-5734FD41BEF7}" type="datetimeFigureOut">
              <a:rPr lang="en-US" smtClean="0"/>
              <a:pPr/>
              <a:t>11/3/2015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D99CF4-249A-4A8C-AAAD-1A13E1B3FFD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E9886D-A778-4923-A3A2-08D9C76E0ADD}" type="slidenum">
              <a:rPr lang="de-DE"/>
              <a:pPr/>
              <a:t>41</a:t>
            </a:fld>
            <a:endParaRPr lang="de-DE"/>
          </a:p>
        </p:txBody>
      </p:sp>
      <p:sp>
        <p:nvSpPr>
          <p:cNvPr id="160770" name="Rectangle 2"/>
          <p:cNvSpPr>
            <a:spLocks noGrp="1" noRot="1" noChangeAspect="1" noChangeArrowheads="1" noTextEdit="1"/>
          </p:cNvSpPr>
          <p:nvPr>
            <p:ph type="sldImg"/>
          </p:nvPr>
        </p:nvSpPr>
        <p:spPr>
          <a:ln/>
        </p:spPr>
      </p:sp>
      <p:sp>
        <p:nvSpPr>
          <p:cNvPr id="160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40E494-7FF1-403E-8E1F-BB07E4684EC0}" type="slidenum">
              <a:rPr lang="de-DE"/>
              <a:pPr/>
              <a:t>42</a:t>
            </a:fld>
            <a:endParaRPr lang="de-DE"/>
          </a:p>
        </p:txBody>
      </p:sp>
      <p:sp>
        <p:nvSpPr>
          <p:cNvPr id="162818" name="Rectangle 2"/>
          <p:cNvSpPr>
            <a:spLocks noGrp="1" noRot="1" noChangeAspect="1" noChangeArrowheads="1" noTextEdit="1"/>
          </p:cNvSpPr>
          <p:nvPr>
            <p:ph type="sldImg"/>
          </p:nvPr>
        </p:nvSpPr>
        <p:spPr>
          <a:ln/>
        </p:spPr>
      </p:sp>
      <p:sp>
        <p:nvSpPr>
          <p:cNvPr id="162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2ED5D5-4E8B-4D08-97DE-9AAB7613635A}" type="slidenum">
              <a:rPr lang="de-DE"/>
              <a:pPr/>
              <a:t>43</a:t>
            </a:fld>
            <a:endParaRPr lang="de-DE"/>
          </a:p>
        </p:txBody>
      </p:sp>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C7FB12-65E4-4D42-9E3A-EE708BF740F6}" type="slidenum">
              <a:rPr lang="de-DE"/>
              <a:pPr/>
              <a:t>46</a:t>
            </a:fld>
            <a:endParaRPr lang="de-DE"/>
          </a:p>
        </p:txBody>
      </p:sp>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3E0824-709C-4EB1-9790-B165DD7ABEB3}" type="slidenum">
              <a:rPr lang="de-DE"/>
              <a:pPr/>
              <a:t>47</a:t>
            </a:fld>
            <a:endParaRPr lang="de-DE"/>
          </a:p>
        </p:txBody>
      </p:sp>
      <p:sp>
        <p:nvSpPr>
          <p:cNvPr id="264194" name="Rectangle 2"/>
          <p:cNvSpPr>
            <a:spLocks noGrp="1" noRot="1" noChangeAspect="1" noChangeArrowheads="1" noTextEdit="1"/>
          </p:cNvSpPr>
          <p:nvPr>
            <p:ph type="sldImg"/>
          </p:nvPr>
        </p:nvSpPr>
        <p:spPr>
          <a:ln/>
        </p:spPr>
      </p:sp>
      <p:sp>
        <p:nvSpPr>
          <p:cNvPr id="2641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BFFF09-1282-4E9A-A531-443B8BF4FCF5}" type="slidenum">
              <a:rPr lang="de-DE"/>
              <a:pPr/>
              <a:t>48</a:t>
            </a:fld>
            <a:endParaRPr lang="de-DE"/>
          </a:p>
        </p:txBody>
      </p:sp>
      <p:sp>
        <p:nvSpPr>
          <p:cNvPr id="272386" name="Rectangle 2"/>
          <p:cNvSpPr>
            <a:spLocks noGrp="1" noRot="1" noChangeAspect="1" noChangeArrowheads="1" noTextEdit="1"/>
          </p:cNvSpPr>
          <p:nvPr>
            <p:ph type="sldImg"/>
          </p:nvPr>
        </p:nvSpPr>
        <p:spPr>
          <a:ln/>
        </p:spPr>
      </p:sp>
      <p:sp>
        <p:nvSpPr>
          <p:cNvPr id="27238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 small Picture">
    <p:spTree>
      <p:nvGrpSpPr>
        <p:cNvPr id="1" name=""/>
        <p:cNvGrpSpPr/>
        <p:nvPr/>
      </p:nvGrpSpPr>
      <p:grpSpPr>
        <a:xfrm>
          <a:off x="0" y="0"/>
          <a:ext cx="0" cy="0"/>
          <a:chOff x="0" y="0"/>
          <a:chExt cx="0" cy="0"/>
        </a:xfrm>
      </p:grpSpPr>
      <p:pic>
        <p:nvPicPr>
          <p:cNvPr id="19" name="Grafik 18" descr="Bild5.jpg"/>
          <p:cNvPicPr>
            <a:picLocks noChangeAspect="1"/>
          </p:cNvPicPr>
          <p:nvPr/>
        </p:nvPicPr>
        <p:blipFill>
          <a:blip r:embed="rId2" cstate="print"/>
          <a:stretch>
            <a:fillRect/>
          </a:stretch>
        </p:blipFill>
        <p:spPr>
          <a:xfrm>
            <a:off x="179388" y="188913"/>
            <a:ext cx="8802624" cy="3974592"/>
          </a:xfrm>
          <a:prstGeom prst="rect">
            <a:avLst/>
          </a:prstGeom>
        </p:spPr>
      </p:pic>
      <p:sp>
        <p:nvSpPr>
          <p:cNvPr id="12" name="Rechteck 11"/>
          <p:cNvSpPr/>
          <p:nvPr/>
        </p:nvSpPr>
        <p:spPr>
          <a:xfrm>
            <a:off x="503548" y="-567404"/>
            <a:ext cx="8640452" cy="360000"/>
          </a:xfrm>
          <a:prstGeom prst="rect">
            <a:avLst/>
          </a:prstGeom>
          <a:solidFill>
            <a:schemeClr val="bg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0" tIns="46800" rIns="72000" bIns="46800" rtlCol="0" anchor="t" anchorCtr="0"/>
          <a:lstStyle/>
          <a:p>
            <a:r>
              <a:rPr lang="en-US" sz="900" noProof="0" smtClean="0">
                <a:solidFill>
                  <a:schemeClr val="tx1"/>
                </a:solidFill>
              </a:rPr>
              <a:t>Wenn Sie ein neues Bild einfügen: Klicken Sie mit der rechten Maustaste auf das Bild und wählen „In den Hintergrund“, um das Bild hinter das Quality Seal zu bringen.</a:t>
            </a:r>
          </a:p>
          <a:p>
            <a:r>
              <a:rPr lang="en-US" sz="900" noProof="0" smtClean="0">
                <a:solidFill>
                  <a:schemeClr val="tx1"/>
                </a:solidFill>
              </a:rPr>
              <a:t>If you insert a new picture: Right click on the picture and select “Send to the back” to position it behind the Quality Seal.</a:t>
            </a:r>
          </a:p>
        </p:txBody>
      </p:sp>
      <p:cxnSp>
        <p:nvCxnSpPr>
          <p:cNvPr id="14" name="Gerade Verbindung 13"/>
          <p:cNvCxnSpPr/>
          <p:nvPr/>
        </p:nvCxnSpPr>
        <p:spPr>
          <a:xfrm>
            <a:off x="503548" y="-171400"/>
            <a:ext cx="0" cy="13384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Gerade Verbindung 14"/>
          <p:cNvCxnSpPr/>
          <p:nvPr/>
        </p:nvCxnSpPr>
        <p:spPr>
          <a:xfrm>
            <a:off x="3059832" y="-171400"/>
            <a:ext cx="0" cy="13384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Gerade Verbindung 15"/>
          <p:cNvCxnSpPr/>
          <p:nvPr/>
        </p:nvCxnSpPr>
        <p:spPr>
          <a:xfrm rot="5400000">
            <a:off x="-103432" y="1237844"/>
            <a:ext cx="0" cy="13384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Gerade Verbindung 16"/>
          <p:cNvCxnSpPr/>
          <p:nvPr/>
        </p:nvCxnSpPr>
        <p:spPr>
          <a:xfrm rot="5400000">
            <a:off x="-113608" y="-66920"/>
            <a:ext cx="0" cy="13384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Untertitel 2"/>
          <p:cNvSpPr>
            <a:spLocks noGrp="1"/>
          </p:cNvSpPr>
          <p:nvPr>
            <p:ph type="subTitle" idx="1"/>
          </p:nvPr>
        </p:nvSpPr>
        <p:spPr>
          <a:xfrm>
            <a:off x="503548" y="4746878"/>
            <a:ext cx="8172140" cy="1138230"/>
          </a:xfrm>
        </p:spPr>
        <p:txBody>
          <a:bodyPr tIns="0" rIns="0" bIns="0" anchor="t" anchorCtr="0">
            <a:normAutofit/>
          </a:bodyPr>
          <a:lstStyle>
            <a:lvl1pPr marL="0" indent="0" algn="l">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noProof="0" smtClean="0"/>
              <a:t>Formatvorlage des Untertitelmasters durch Klicken bearbeiten</a:t>
            </a:r>
            <a:endParaRPr lang="en-US" noProof="0"/>
          </a:p>
        </p:txBody>
      </p:sp>
      <p:sp>
        <p:nvSpPr>
          <p:cNvPr id="10" name="Textplatzhalter 9"/>
          <p:cNvSpPr>
            <a:spLocks noGrp="1"/>
          </p:cNvSpPr>
          <p:nvPr>
            <p:ph type="body" sz="quarter" idx="10" hasCustomPrompt="1"/>
          </p:nvPr>
        </p:nvSpPr>
        <p:spPr>
          <a:xfrm>
            <a:off x="503548" y="6021288"/>
            <a:ext cx="2628590" cy="368813"/>
          </a:xfrm>
        </p:spPr>
        <p:txBody>
          <a:bodyPr tIns="0" bIns="0" anchor="b" anchorCtr="0">
            <a:normAutofit/>
          </a:bodyPr>
          <a:lstStyle>
            <a:lvl1pPr marL="0" indent="0">
              <a:spcAft>
                <a:spcPts val="0"/>
              </a:spcAft>
              <a:buNone/>
              <a:defRPr sz="900" b="0"/>
            </a:lvl1pPr>
          </a:lstStyle>
          <a:p>
            <a:pPr lvl="0"/>
            <a:r>
              <a:rPr lang="en-US" noProof="0" smtClean="0"/>
              <a:t>URL</a:t>
            </a:r>
          </a:p>
          <a:p>
            <a:pPr lvl="0"/>
            <a:endParaRPr lang="en-US" noProof="0" smtClean="0"/>
          </a:p>
        </p:txBody>
      </p:sp>
      <p:sp>
        <p:nvSpPr>
          <p:cNvPr id="11" name="Textplatzhalter 9"/>
          <p:cNvSpPr>
            <a:spLocks noGrp="1"/>
          </p:cNvSpPr>
          <p:nvPr>
            <p:ph type="body" sz="quarter" idx="11" hasCustomPrompt="1"/>
          </p:nvPr>
        </p:nvSpPr>
        <p:spPr>
          <a:xfrm>
            <a:off x="3599891" y="6021288"/>
            <a:ext cx="5075797" cy="368813"/>
          </a:xfrm>
        </p:spPr>
        <p:txBody>
          <a:bodyPr tIns="0" bIns="0" anchor="b" anchorCtr="0">
            <a:normAutofit/>
          </a:bodyPr>
          <a:lstStyle>
            <a:lvl1pPr marL="0" indent="0" algn="r">
              <a:spcAft>
                <a:spcPts val="0"/>
              </a:spcAft>
              <a:buNone/>
              <a:defRPr sz="900" b="0"/>
            </a:lvl1pPr>
          </a:lstStyle>
          <a:p>
            <a:pPr lvl="0"/>
            <a:r>
              <a:rPr lang="en-US" noProof="0" smtClean="0"/>
              <a:t>Division Naming</a:t>
            </a:r>
          </a:p>
          <a:p>
            <a:pPr lvl="0"/>
            <a:endParaRPr lang="en-US" noProof="0" smtClean="0"/>
          </a:p>
        </p:txBody>
      </p:sp>
      <p:sp>
        <p:nvSpPr>
          <p:cNvPr id="8" name="Textplatzhalter 7"/>
          <p:cNvSpPr>
            <a:spLocks noGrp="1"/>
          </p:cNvSpPr>
          <p:nvPr>
            <p:ph type="body" sz="quarter" idx="12" hasCustomPrompt="1"/>
          </p:nvPr>
        </p:nvSpPr>
        <p:spPr>
          <a:xfrm>
            <a:off x="503238" y="0"/>
            <a:ext cx="2555875" cy="1304925"/>
          </a:xfrm>
          <a:blipFill dpi="0" rotWithShape="1">
            <a:blip r:embed="rId3" cstate="print"/>
            <a:srcRect/>
            <a:stretch>
              <a:fillRect/>
            </a:stretch>
          </a:blipFill>
        </p:spPr>
        <p:txBody>
          <a:bodyPr>
            <a:noAutofit/>
          </a:bodyPr>
          <a:lstStyle>
            <a:lvl1pPr marL="0" indent="0" algn="ctr">
              <a:spcAft>
                <a:spcPts val="0"/>
              </a:spcAft>
              <a:buNone/>
              <a:defRPr sz="800"/>
            </a:lvl1pPr>
          </a:lstStyle>
          <a:p>
            <a:pPr lvl="0"/>
            <a:r>
              <a:rPr lang="en-US" noProof="0" dirty="0" smtClean="0"/>
              <a:t>Das Quality Seal hat </a:t>
            </a:r>
            <a:r>
              <a:rPr lang="en-US" noProof="0" dirty="0" err="1" smtClean="0"/>
              <a:t>im</a:t>
            </a:r>
            <a:r>
              <a:rPr lang="en-US" noProof="0" dirty="0" smtClean="0"/>
              <a:t> </a:t>
            </a:r>
            <a:r>
              <a:rPr lang="en-US" noProof="0" dirty="0" err="1" smtClean="0"/>
              <a:t>Vordergrund</a:t>
            </a:r>
            <a:r>
              <a:rPr lang="en-US" noProof="0" dirty="0" smtClean="0"/>
              <a:t> </a:t>
            </a:r>
            <a:r>
              <a:rPr lang="en-US" noProof="0" dirty="0" err="1" smtClean="0"/>
              <a:t>zu</a:t>
            </a:r>
            <a:r>
              <a:rPr lang="en-US" noProof="0" dirty="0" smtClean="0"/>
              <a:t> </a:t>
            </a:r>
            <a:r>
              <a:rPr lang="en-US" noProof="0" dirty="0" err="1" smtClean="0"/>
              <a:t>stehen</a:t>
            </a:r>
            <a:r>
              <a:rPr lang="en-US" noProof="0" dirty="0" smtClean="0"/>
              <a:t>.</a:t>
            </a:r>
            <a:br>
              <a:rPr lang="en-US" noProof="0" dirty="0" smtClean="0"/>
            </a:br>
            <a:r>
              <a:rPr lang="en-US" noProof="0" dirty="0" err="1" smtClean="0"/>
              <a:t>Bitte</a:t>
            </a:r>
            <a:r>
              <a:rPr lang="en-US" noProof="0" dirty="0" smtClean="0"/>
              <a:t> </a:t>
            </a:r>
            <a:r>
              <a:rPr lang="en-US" noProof="0" dirty="0" err="1" smtClean="0"/>
              <a:t>ändern</a:t>
            </a:r>
            <a:r>
              <a:rPr lang="en-US" noProof="0" dirty="0" smtClean="0"/>
              <a:t> </a:t>
            </a:r>
            <a:r>
              <a:rPr lang="en-US" noProof="0" dirty="0" err="1" smtClean="0"/>
              <a:t>Sie</a:t>
            </a:r>
            <a:r>
              <a:rPr lang="en-US" noProof="0" dirty="0" smtClean="0"/>
              <a:t> </a:t>
            </a:r>
            <a:r>
              <a:rPr lang="en-US" noProof="0" dirty="0" err="1" smtClean="0"/>
              <a:t>nicht</a:t>
            </a:r>
            <a:r>
              <a:rPr lang="en-US" noProof="0" dirty="0" smtClean="0"/>
              <a:t> die </a:t>
            </a:r>
            <a:r>
              <a:rPr lang="en-US" noProof="0" dirty="0" err="1" smtClean="0"/>
              <a:t>Größe</a:t>
            </a:r>
            <a:r>
              <a:rPr lang="en-US" noProof="0" dirty="0" smtClean="0"/>
              <a:t> </a:t>
            </a:r>
            <a:r>
              <a:rPr lang="en-US" noProof="0" dirty="0" err="1" smtClean="0"/>
              <a:t>oder</a:t>
            </a:r>
            <a:r>
              <a:rPr lang="en-US" noProof="0" dirty="0" smtClean="0"/>
              <a:t> Position.</a:t>
            </a:r>
            <a:br>
              <a:rPr lang="en-US" noProof="0" dirty="0" smtClean="0"/>
            </a:br>
            <a:r>
              <a:rPr lang="en-US" noProof="0" dirty="0" smtClean="0"/>
              <a:t>The Quality Seal has to stay on top.</a:t>
            </a:r>
            <a:br>
              <a:rPr lang="en-US" noProof="0" dirty="0" smtClean="0"/>
            </a:br>
            <a:r>
              <a:rPr lang="en-US" noProof="0" dirty="0" smtClean="0"/>
              <a:t>Please do not change size or position.</a:t>
            </a:r>
          </a:p>
          <a:p>
            <a:pPr lvl="0"/>
            <a:endParaRPr lang="en-US" noProof="0" dirty="0" smtClean="0"/>
          </a:p>
        </p:txBody>
      </p:sp>
      <p:sp>
        <p:nvSpPr>
          <p:cNvPr id="18" name="Titel 17"/>
          <p:cNvSpPr>
            <a:spLocks noGrp="1"/>
          </p:cNvSpPr>
          <p:nvPr>
            <p:ph type="title"/>
          </p:nvPr>
        </p:nvSpPr>
        <p:spPr/>
        <p:txBody>
          <a:bodyPr/>
          <a:lstStyle/>
          <a:p>
            <a:r>
              <a:rPr lang="de-DE" smtClean="0"/>
              <a:t>Titelmasterformat durch Klicken bearbeiten</a:t>
            </a:r>
            <a:endParaRPr lang="de-DE"/>
          </a:p>
        </p:txBody>
      </p:sp>
    </p:spTree>
    <p:extLst>
      <p:ext uri="{BB962C8B-B14F-4D97-AF65-F5344CB8AC3E}">
        <p14:creationId xmlns="" xmlns:p14="http://schemas.microsoft.com/office/powerpoint/2010/main" val="889063258"/>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
    <p:spTree>
      <p:nvGrpSpPr>
        <p:cNvPr id="1" name=""/>
        <p:cNvGrpSpPr/>
        <p:nvPr/>
      </p:nvGrpSpPr>
      <p:grpSpPr>
        <a:xfrm>
          <a:off x="0" y="0"/>
          <a:ext cx="0" cy="0"/>
          <a:chOff x="0" y="0"/>
          <a:chExt cx="0" cy="0"/>
        </a:xfrm>
      </p:grpSpPr>
      <p:sp>
        <p:nvSpPr>
          <p:cNvPr id="3" name="Inhaltsplatzhalter 2"/>
          <p:cNvSpPr>
            <a:spLocks noGrp="1"/>
          </p:cNvSpPr>
          <p:nvPr>
            <p:ph idx="1"/>
          </p:nvPr>
        </p:nvSpPr>
        <p:spPr>
          <a:xfrm>
            <a:off x="395288" y="1341437"/>
            <a:ext cx="8353425" cy="4535487"/>
          </a:xfrm>
        </p:spPr>
        <p:txBody>
          <a:bodyPr/>
          <a:lstStyle>
            <a:lvl1pPr marL="177800" indent="-177800">
              <a:buSzPct val="125000"/>
              <a:buFont typeface="Arial" pitchFamily="34" charset="0"/>
              <a:buChar char="›"/>
              <a:defRPr>
                <a:solidFill>
                  <a:schemeClr val="tx1"/>
                </a:solidFill>
              </a:defRPr>
            </a:lvl1pPr>
            <a:lvl2pPr marL="541338" indent="-184150">
              <a:buSzPct val="125000"/>
              <a:buFont typeface="Arial" pitchFamily="34" charset="0"/>
              <a:buChar char="›"/>
              <a:defRPr>
                <a:solidFill>
                  <a:schemeClr val="tx1"/>
                </a:solidFill>
              </a:defRPr>
            </a:lvl2pPr>
            <a:lvl3pPr marL="896938" indent="-177800">
              <a:buSzPct val="125000"/>
              <a:buFont typeface="Arial" pitchFamily="34" charset="0"/>
              <a:buChar char="›"/>
              <a:defRPr>
                <a:solidFill>
                  <a:schemeClr val="tx1"/>
                </a:solidFill>
              </a:defRPr>
            </a:lvl3pPr>
            <a:lvl4pPr marL="1254125" indent="-179388">
              <a:buSzPct val="125000"/>
              <a:buFont typeface="Arial" pitchFamily="34" charset="0"/>
              <a:buChar char="›"/>
              <a:defRPr>
                <a:solidFill>
                  <a:schemeClr val="tx1"/>
                </a:solidFill>
              </a:defRPr>
            </a:lvl4pPr>
            <a:lvl5pPr marL="1616075" indent="-177800">
              <a:buSzPct val="125000"/>
              <a:buFont typeface="Arial" pitchFamily="34" charset="0"/>
              <a:buChar char="›"/>
              <a:defRPr>
                <a:solidFill>
                  <a:schemeClr val="tx1"/>
                </a:solidFill>
              </a:defRPr>
            </a:lvl5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en-US" noProof="0"/>
          </a:p>
        </p:txBody>
      </p:sp>
      <p:sp>
        <p:nvSpPr>
          <p:cNvPr id="8" name="Titel 7"/>
          <p:cNvSpPr>
            <a:spLocks noGrp="1"/>
          </p:cNvSpPr>
          <p:nvPr>
            <p:ph type="title"/>
          </p:nvPr>
        </p:nvSpPr>
        <p:spPr>
          <a:xfrm>
            <a:off x="395288" y="296862"/>
            <a:ext cx="8353425" cy="719137"/>
          </a:xfrm>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9CB49F7B-B2B0-4BB0-949A-755881F29453}" type="datetimeFigureOut">
              <a:rPr lang="en-US" smtClean="0"/>
              <a:pPr/>
              <a:t>11/3/2015</a:t>
            </a:fld>
            <a:endParaRPr lang="en-US"/>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ED49832C-61C7-4B10-8018-1CA6224BDBA4}" type="slidenum">
              <a:rPr lang="en-US" smtClean="0"/>
              <a:pPr/>
              <a:t>‹#›</a:t>
            </a:fld>
            <a:endParaRPr lang="en-US"/>
          </a:p>
        </p:txBody>
      </p:sp>
      <p:sp>
        <p:nvSpPr>
          <p:cNvPr id="11" name="Fußzeilenplatzhalter 10"/>
          <p:cNvSpPr>
            <a:spLocks noGrp="1"/>
          </p:cNvSpPr>
          <p:nvPr>
            <p:ph type="ftr" sz="quarter" idx="12"/>
          </p:nvPr>
        </p:nvSpPr>
        <p:spPr/>
        <p:txBody>
          <a:bodyPr/>
          <a:lstStyle>
            <a:lvl1pPr>
              <a:defRPr>
                <a:solidFill>
                  <a:schemeClr val="tx1"/>
                </a:solidFill>
              </a:defRPr>
            </a:lvl1pPr>
          </a:lstStyle>
          <a:p>
            <a:endParaRPr lang="en-US"/>
          </a:p>
        </p:txBody>
      </p:sp>
    </p:spTree>
    <p:extLst>
      <p:ext uri="{BB962C8B-B14F-4D97-AF65-F5344CB8AC3E}">
        <p14:creationId xmlns="" xmlns:p14="http://schemas.microsoft.com/office/powerpoint/2010/main" val="2351567284"/>
      </p:ext>
    </p:extLst>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bg>
      <p:bgPr>
        <a:solidFill>
          <a:schemeClr val="bg1"/>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503548" y="3839314"/>
            <a:ext cx="8172140" cy="418502"/>
          </a:xfrm>
        </p:spPr>
        <p:txBody>
          <a:bodyPr tIns="0" rIns="0" bIns="0" anchor="t" anchorCtr="0">
            <a:normAutofit/>
          </a:bodyPr>
          <a:lstStyle>
            <a:lvl1pPr algn="l">
              <a:defRPr sz="2400">
                <a:solidFill>
                  <a:schemeClr val="accent1"/>
                </a:solidFill>
              </a:defRPr>
            </a:lvl1pPr>
          </a:lstStyle>
          <a:p>
            <a:r>
              <a:rPr lang="de-DE" noProof="0" smtClean="0"/>
              <a:t>Titelmasterformat durch Klicken bearbeiten</a:t>
            </a:r>
            <a:endParaRPr lang="en-US" noProof="0"/>
          </a:p>
        </p:txBody>
      </p:sp>
      <p:sp>
        <p:nvSpPr>
          <p:cNvPr id="3" name="Untertitel 2"/>
          <p:cNvSpPr>
            <a:spLocks noGrp="1"/>
          </p:cNvSpPr>
          <p:nvPr>
            <p:ph type="subTitle" idx="1"/>
          </p:nvPr>
        </p:nvSpPr>
        <p:spPr>
          <a:xfrm>
            <a:off x="503548" y="4185084"/>
            <a:ext cx="8172140" cy="1138230"/>
          </a:xfrm>
        </p:spPr>
        <p:txBody>
          <a:bodyPr tIns="0" rIns="0" bIns="0" anchor="t" anchorCtr="0">
            <a:normAutofit/>
          </a:bodyPr>
          <a:lstStyle>
            <a:lvl1pPr marL="0" indent="0" algn="l">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noProof="0" smtClean="0"/>
              <a:t>Formatvorlage des Untertitelmasters durch Klicken bearbeiten</a:t>
            </a:r>
            <a:endParaRPr lang="en-US" noProof="0"/>
          </a:p>
        </p:txBody>
      </p:sp>
      <p:sp>
        <p:nvSpPr>
          <p:cNvPr id="10" name="Textplatzhalter 9"/>
          <p:cNvSpPr>
            <a:spLocks noGrp="1"/>
          </p:cNvSpPr>
          <p:nvPr>
            <p:ph type="body" sz="quarter" idx="10" hasCustomPrompt="1"/>
          </p:nvPr>
        </p:nvSpPr>
        <p:spPr>
          <a:xfrm>
            <a:off x="503548" y="6021288"/>
            <a:ext cx="2628590" cy="368813"/>
          </a:xfrm>
        </p:spPr>
        <p:txBody>
          <a:bodyPr tIns="0" bIns="0" anchor="b" anchorCtr="0">
            <a:normAutofit/>
          </a:bodyPr>
          <a:lstStyle>
            <a:lvl1pPr marL="0" indent="0">
              <a:spcAft>
                <a:spcPts val="0"/>
              </a:spcAft>
              <a:buNone/>
              <a:defRPr sz="900" b="0"/>
            </a:lvl1pPr>
          </a:lstStyle>
          <a:p>
            <a:pPr lvl="0"/>
            <a:r>
              <a:rPr lang="en-US" noProof="0" smtClean="0"/>
              <a:t>URL</a:t>
            </a:r>
          </a:p>
          <a:p>
            <a:pPr lvl="0"/>
            <a:endParaRPr lang="en-US" noProof="0" smtClean="0"/>
          </a:p>
        </p:txBody>
      </p:sp>
      <p:sp>
        <p:nvSpPr>
          <p:cNvPr id="11" name="Textplatzhalter 9"/>
          <p:cNvSpPr>
            <a:spLocks noGrp="1"/>
          </p:cNvSpPr>
          <p:nvPr>
            <p:ph type="body" sz="quarter" idx="11" hasCustomPrompt="1"/>
          </p:nvPr>
        </p:nvSpPr>
        <p:spPr>
          <a:xfrm>
            <a:off x="3599891" y="6021288"/>
            <a:ext cx="5075797" cy="368813"/>
          </a:xfrm>
        </p:spPr>
        <p:txBody>
          <a:bodyPr tIns="0" bIns="0" anchor="b" anchorCtr="0">
            <a:normAutofit/>
          </a:bodyPr>
          <a:lstStyle>
            <a:lvl1pPr marL="0" indent="0" algn="r">
              <a:spcAft>
                <a:spcPts val="0"/>
              </a:spcAft>
              <a:buNone/>
              <a:defRPr sz="900" b="0"/>
            </a:lvl1pPr>
          </a:lstStyle>
          <a:p>
            <a:pPr lvl="0"/>
            <a:r>
              <a:rPr lang="en-US" noProof="0" smtClean="0"/>
              <a:t>Division Naming</a:t>
            </a:r>
          </a:p>
          <a:p>
            <a:pPr lvl="0"/>
            <a:endParaRPr lang="en-US" noProof="0" smtClean="0"/>
          </a:p>
        </p:txBody>
      </p:sp>
      <p:pic>
        <p:nvPicPr>
          <p:cNvPr id="14" name="Grafik 13"/>
          <p:cNvPicPr>
            <a:picLocks/>
          </p:cNvPicPr>
          <p:nvPr/>
        </p:nvPicPr>
        <p:blipFill>
          <a:blip r:embed="rId2" cstate="print">
            <a:extLst>
              <a:ext uri="{28A0092B-C50C-407E-A947-70E740481C1C}">
                <a14:useLocalDpi xmlns="" xmlns:a14="http://schemas.microsoft.com/office/drawing/2010/main" val="0"/>
              </a:ext>
            </a:extLst>
          </a:blip>
          <a:stretch>
            <a:fillRect/>
          </a:stretch>
        </p:blipFill>
        <p:spPr>
          <a:xfrm>
            <a:off x="503238" y="-1"/>
            <a:ext cx="2555876" cy="1304925"/>
          </a:xfrm>
          <a:prstGeom prst="rect">
            <a:avLst/>
          </a:prstGeom>
        </p:spPr>
      </p:pic>
    </p:spTree>
    <p:extLst>
      <p:ext uri="{BB962C8B-B14F-4D97-AF65-F5344CB8AC3E}">
        <p14:creationId xmlns="" xmlns:p14="http://schemas.microsoft.com/office/powerpoint/2010/main" val="229962605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big Picture">
    <p:spTree>
      <p:nvGrpSpPr>
        <p:cNvPr id="1" name=""/>
        <p:cNvGrpSpPr/>
        <p:nvPr/>
      </p:nvGrpSpPr>
      <p:grpSpPr>
        <a:xfrm>
          <a:off x="0" y="0"/>
          <a:ext cx="0" cy="0"/>
          <a:chOff x="0" y="0"/>
          <a:chExt cx="0" cy="0"/>
        </a:xfrm>
      </p:grpSpPr>
      <p:pic>
        <p:nvPicPr>
          <p:cNvPr id="18" name="Grafik 17" descr="Bild6.jpg"/>
          <p:cNvPicPr>
            <a:picLocks noChangeAspect="1"/>
          </p:cNvPicPr>
          <p:nvPr/>
        </p:nvPicPr>
        <p:blipFill>
          <a:blip r:embed="rId2" cstate="print"/>
          <a:stretch>
            <a:fillRect/>
          </a:stretch>
        </p:blipFill>
        <p:spPr>
          <a:xfrm>
            <a:off x="170688" y="182880"/>
            <a:ext cx="8802624" cy="6492240"/>
          </a:xfrm>
          <a:prstGeom prst="rect">
            <a:avLst/>
          </a:prstGeom>
        </p:spPr>
      </p:pic>
      <p:sp>
        <p:nvSpPr>
          <p:cNvPr id="12" name="Rechteck 11"/>
          <p:cNvSpPr/>
          <p:nvPr/>
        </p:nvSpPr>
        <p:spPr>
          <a:xfrm>
            <a:off x="503548" y="-567404"/>
            <a:ext cx="8640452" cy="360000"/>
          </a:xfrm>
          <a:prstGeom prst="rect">
            <a:avLst/>
          </a:prstGeom>
          <a:solidFill>
            <a:schemeClr val="bg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0" tIns="46800" rIns="72000" bIns="46800" rtlCol="0" anchor="t" anchorCtr="0"/>
          <a:lstStyle/>
          <a:p>
            <a:r>
              <a:rPr lang="en-US" sz="900" noProof="0" smtClean="0">
                <a:solidFill>
                  <a:schemeClr val="tx1"/>
                </a:solidFill>
              </a:rPr>
              <a:t>Wenn Sie ein neues Bild einfügen: Klicken Sie mit der rechten Maustaste auf das Bild und wählen „In den Hintergrund“, um das Bild hinter das Quality Seal zu bringen.</a:t>
            </a:r>
          </a:p>
          <a:p>
            <a:r>
              <a:rPr lang="en-US" sz="900" noProof="0" smtClean="0">
                <a:solidFill>
                  <a:schemeClr val="tx1"/>
                </a:solidFill>
              </a:rPr>
              <a:t>If you insert a new picture: Right click on the picture and select “Send to the back” to position it behind the Quality Seal.</a:t>
            </a:r>
          </a:p>
        </p:txBody>
      </p:sp>
      <p:cxnSp>
        <p:nvCxnSpPr>
          <p:cNvPr id="14" name="Gerade Verbindung 13"/>
          <p:cNvCxnSpPr/>
          <p:nvPr/>
        </p:nvCxnSpPr>
        <p:spPr>
          <a:xfrm>
            <a:off x="503548" y="-171400"/>
            <a:ext cx="0" cy="13384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Gerade Verbindung 14"/>
          <p:cNvCxnSpPr/>
          <p:nvPr/>
        </p:nvCxnSpPr>
        <p:spPr>
          <a:xfrm>
            <a:off x="3059832" y="-171400"/>
            <a:ext cx="0" cy="13384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Gerade Verbindung 15"/>
          <p:cNvCxnSpPr/>
          <p:nvPr/>
        </p:nvCxnSpPr>
        <p:spPr>
          <a:xfrm rot="5400000">
            <a:off x="-103432" y="1237844"/>
            <a:ext cx="0" cy="13384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Gerade Verbindung 16"/>
          <p:cNvCxnSpPr/>
          <p:nvPr/>
        </p:nvCxnSpPr>
        <p:spPr>
          <a:xfrm rot="5400000">
            <a:off x="-113608" y="-66920"/>
            <a:ext cx="0" cy="13384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p:nvPr>
        </p:nvSpPr>
        <p:spPr>
          <a:xfrm>
            <a:off x="503547" y="4401108"/>
            <a:ext cx="8172141" cy="418502"/>
          </a:xfrm>
        </p:spPr>
        <p:txBody>
          <a:bodyPr tIns="0" rIns="0" bIns="0" anchor="t" anchorCtr="0">
            <a:normAutofit/>
          </a:bodyPr>
          <a:lstStyle>
            <a:lvl1pPr algn="l">
              <a:defRPr sz="2400">
                <a:solidFill>
                  <a:schemeClr val="accent1"/>
                </a:solidFill>
              </a:defRPr>
            </a:lvl1pPr>
          </a:lstStyle>
          <a:p>
            <a:r>
              <a:rPr lang="de-DE" noProof="0" smtClean="0"/>
              <a:t>Titelmasterformat durch Klicken bearbeiten</a:t>
            </a:r>
            <a:endParaRPr lang="en-US" noProof="0"/>
          </a:p>
        </p:txBody>
      </p:sp>
      <p:sp>
        <p:nvSpPr>
          <p:cNvPr id="3" name="Untertitel 2"/>
          <p:cNvSpPr>
            <a:spLocks noGrp="1"/>
          </p:cNvSpPr>
          <p:nvPr>
            <p:ph type="subTitle" idx="1"/>
          </p:nvPr>
        </p:nvSpPr>
        <p:spPr>
          <a:xfrm>
            <a:off x="503548" y="4746878"/>
            <a:ext cx="8172140" cy="1138230"/>
          </a:xfrm>
        </p:spPr>
        <p:txBody>
          <a:bodyPr tIns="0" rIns="0" bIns="0" anchor="t" anchorCtr="0">
            <a:normAutofit/>
          </a:bodyPr>
          <a:lstStyle>
            <a:lvl1pPr marL="0" indent="0" algn="l">
              <a:buNone/>
              <a:defRPr sz="2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noProof="0" smtClean="0"/>
              <a:t>Formatvorlage des Untertitelmasters durch Klicken bearbeiten</a:t>
            </a:r>
            <a:endParaRPr lang="en-US" noProof="0"/>
          </a:p>
        </p:txBody>
      </p:sp>
      <p:sp>
        <p:nvSpPr>
          <p:cNvPr id="10" name="Textplatzhalter 9"/>
          <p:cNvSpPr>
            <a:spLocks noGrp="1"/>
          </p:cNvSpPr>
          <p:nvPr>
            <p:ph type="body" sz="quarter" idx="10" hasCustomPrompt="1"/>
          </p:nvPr>
        </p:nvSpPr>
        <p:spPr>
          <a:xfrm>
            <a:off x="503548" y="6021288"/>
            <a:ext cx="2628590" cy="368813"/>
          </a:xfrm>
        </p:spPr>
        <p:txBody>
          <a:bodyPr tIns="0" bIns="0" anchor="b" anchorCtr="0">
            <a:normAutofit/>
          </a:bodyPr>
          <a:lstStyle>
            <a:lvl1pPr marL="0" indent="0">
              <a:spcAft>
                <a:spcPts val="0"/>
              </a:spcAft>
              <a:buNone/>
              <a:defRPr sz="900" b="0">
                <a:solidFill>
                  <a:schemeClr val="bg1"/>
                </a:solidFill>
              </a:defRPr>
            </a:lvl1pPr>
          </a:lstStyle>
          <a:p>
            <a:pPr lvl="0"/>
            <a:r>
              <a:rPr lang="en-US" noProof="0" smtClean="0"/>
              <a:t>URL</a:t>
            </a:r>
          </a:p>
          <a:p>
            <a:pPr lvl="0"/>
            <a:endParaRPr lang="en-US" noProof="0" smtClean="0"/>
          </a:p>
        </p:txBody>
      </p:sp>
      <p:sp>
        <p:nvSpPr>
          <p:cNvPr id="11" name="Textplatzhalter 9"/>
          <p:cNvSpPr>
            <a:spLocks noGrp="1"/>
          </p:cNvSpPr>
          <p:nvPr>
            <p:ph type="body" sz="quarter" idx="11" hasCustomPrompt="1"/>
          </p:nvPr>
        </p:nvSpPr>
        <p:spPr>
          <a:xfrm>
            <a:off x="3599891" y="6021288"/>
            <a:ext cx="5075797" cy="368813"/>
          </a:xfrm>
        </p:spPr>
        <p:txBody>
          <a:bodyPr tIns="0" bIns="0" anchor="b" anchorCtr="0">
            <a:normAutofit/>
          </a:bodyPr>
          <a:lstStyle>
            <a:lvl1pPr marL="0" indent="0" algn="r">
              <a:spcAft>
                <a:spcPts val="0"/>
              </a:spcAft>
              <a:buNone/>
              <a:defRPr sz="900" b="0">
                <a:solidFill>
                  <a:schemeClr val="bg1"/>
                </a:solidFill>
              </a:defRPr>
            </a:lvl1pPr>
          </a:lstStyle>
          <a:p>
            <a:pPr lvl="0"/>
            <a:r>
              <a:rPr lang="en-US" noProof="0" smtClean="0"/>
              <a:t>Division Naming</a:t>
            </a:r>
          </a:p>
          <a:p>
            <a:pPr lvl="0"/>
            <a:endParaRPr lang="en-US" noProof="0" smtClean="0"/>
          </a:p>
        </p:txBody>
      </p:sp>
      <p:sp>
        <p:nvSpPr>
          <p:cNvPr id="8" name="Textplatzhalter 7"/>
          <p:cNvSpPr>
            <a:spLocks noGrp="1"/>
          </p:cNvSpPr>
          <p:nvPr>
            <p:ph type="body" sz="quarter" idx="12" hasCustomPrompt="1"/>
          </p:nvPr>
        </p:nvSpPr>
        <p:spPr>
          <a:xfrm>
            <a:off x="503238" y="0"/>
            <a:ext cx="2555875" cy="1304925"/>
          </a:xfrm>
          <a:blipFill>
            <a:blip r:embed="rId3" cstate="print"/>
            <a:stretch>
              <a:fillRect/>
            </a:stretch>
          </a:blipFill>
        </p:spPr>
        <p:txBody>
          <a:bodyPr>
            <a:noAutofit/>
          </a:bodyPr>
          <a:lstStyle>
            <a:lvl1pPr marL="0" indent="0" algn="ctr">
              <a:spcAft>
                <a:spcPts val="0"/>
              </a:spcAft>
              <a:buNone/>
              <a:defRPr sz="800"/>
            </a:lvl1pPr>
          </a:lstStyle>
          <a:p>
            <a:pPr lvl="0"/>
            <a:r>
              <a:rPr lang="en-US" noProof="0" smtClean="0"/>
              <a:t>Das Quality Seal hat im Vordergrund zu stehen.</a:t>
            </a:r>
            <a:br>
              <a:rPr lang="en-US" noProof="0" smtClean="0"/>
            </a:br>
            <a:r>
              <a:rPr lang="en-US" noProof="0" smtClean="0"/>
              <a:t>Bitte ändern Sie nicht die Größe oder Position.</a:t>
            </a:r>
            <a:br>
              <a:rPr lang="en-US" noProof="0" smtClean="0"/>
            </a:br>
            <a:r>
              <a:rPr lang="en-US" noProof="0" smtClean="0"/>
              <a:t>The Quality Seal has to stay on top.</a:t>
            </a:r>
            <a:br>
              <a:rPr lang="en-US" noProof="0" smtClean="0"/>
            </a:br>
            <a:r>
              <a:rPr lang="en-US" noProof="0" smtClean="0"/>
              <a:t>Please do not change size or position.</a:t>
            </a:r>
          </a:p>
          <a:p>
            <a:pPr lvl="0"/>
            <a:endParaRPr lang="en-US" noProof="0" smtClean="0"/>
          </a:p>
        </p:txBody>
      </p:sp>
    </p:spTree>
    <p:extLst>
      <p:ext uri="{BB962C8B-B14F-4D97-AF65-F5344CB8AC3E}">
        <p14:creationId xmlns="" xmlns:p14="http://schemas.microsoft.com/office/powerpoint/2010/main" val="889063258"/>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Chapter (orange)">
    <p:bg>
      <p:bgPr>
        <a:solidFill>
          <a:schemeClr val="accent1"/>
        </a:solidFill>
        <a:effectLst/>
      </p:bgPr>
    </p:bg>
    <p:spTree>
      <p:nvGrpSpPr>
        <p:cNvPr id="1" name=""/>
        <p:cNvGrpSpPr/>
        <p:nvPr/>
      </p:nvGrpSpPr>
      <p:grpSpPr>
        <a:xfrm>
          <a:off x="0" y="0"/>
          <a:ext cx="0" cy="0"/>
          <a:chOff x="0" y="0"/>
          <a:chExt cx="0" cy="0"/>
        </a:xfrm>
      </p:grpSpPr>
      <p:sp>
        <p:nvSpPr>
          <p:cNvPr id="3" name="Inhaltsplatzhalter 2"/>
          <p:cNvSpPr>
            <a:spLocks noGrp="1"/>
          </p:cNvSpPr>
          <p:nvPr>
            <p:ph idx="1"/>
          </p:nvPr>
        </p:nvSpPr>
        <p:spPr>
          <a:xfrm>
            <a:off x="395288" y="1341437"/>
            <a:ext cx="8353425" cy="4535487"/>
          </a:xfrm>
        </p:spPr>
        <p:txBody>
          <a:bodyPr/>
          <a:lstStyle>
            <a:lvl1pPr marL="0" indent="0">
              <a:lnSpc>
                <a:spcPct val="113000"/>
              </a:lnSpc>
              <a:buSzPct val="125000"/>
              <a:buFont typeface="Arial" pitchFamily="34" charset="0"/>
              <a:buNone/>
              <a:defRPr>
                <a:solidFill>
                  <a:schemeClr val="bg1"/>
                </a:solidFill>
              </a:defRPr>
            </a:lvl1pPr>
            <a:lvl2pPr marL="184150" indent="-184150">
              <a:lnSpc>
                <a:spcPct val="113000"/>
              </a:lnSpc>
              <a:buClr>
                <a:schemeClr val="bg1"/>
              </a:buClr>
              <a:buSzPct val="125000"/>
              <a:buFont typeface="Arial" pitchFamily="34" charset="0"/>
              <a:buChar char="›"/>
              <a:defRPr>
                <a:solidFill>
                  <a:schemeClr val="bg1"/>
                </a:solidFill>
              </a:defRPr>
            </a:lvl2pPr>
            <a:lvl3pPr marL="539750" indent="-177800">
              <a:lnSpc>
                <a:spcPct val="113000"/>
              </a:lnSpc>
              <a:buClr>
                <a:schemeClr val="bg1"/>
              </a:buClr>
              <a:buSzPct val="125000"/>
              <a:buFont typeface="Arial" pitchFamily="34" charset="0"/>
              <a:buChar char="›"/>
              <a:defRPr>
                <a:solidFill>
                  <a:schemeClr val="bg1"/>
                </a:solidFill>
              </a:defRPr>
            </a:lvl3pPr>
            <a:lvl4pPr marL="895350" indent="-179388">
              <a:lnSpc>
                <a:spcPct val="113000"/>
              </a:lnSpc>
              <a:buClr>
                <a:schemeClr val="bg1"/>
              </a:buClr>
              <a:buSzPct val="125000"/>
              <a:buFont typeface="Arial" pitchFamily="34" charset="0"/>
              <a:buChar char="›"/>
              <a:defRPr>
                <a:solidFill>
                  <a:schemeClr val="bg1"/>
                </a:solidFill>
              </a:defRPr>
            </a:lvl4pPr>
            <a:lvl5pPr marL="1257300" indent="-177800">
              <a:lnSpc>
                <a:spcPct val="113000"/>
              </a:lnSpc>
              <a:buClr>
                <a:schemeClr val="bg1"/>
              </a:buClr>
              <a:buSzPct val="125000"/>
              <a:buFont typeface="Arial" pitchFamily="34" charset="0"/>
              <a:buChar char="›"/>
              <a:defRPr>
                <a:solidFill>
                  <a:schemeClr val="bg1"/>
                </a:solidFill>
              </a:defRPr>
            </a:lvl5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en-US" noProof="0"/>
          </a:p>
        </p:txBody>
      </p:sp>
      <p:sp>
        <p:nvSpPr>
          <p:cNvPr id="8" name="Titel 7"/>
          <p:cNvSpPr>
            <a:spLocks noGrp="1"/>
          </p:cNvSpPr>
          <p:nvPr>
            <p:ph type="title"/>
          </p:nvPr>
        </p:nvSpPr>
        <p:spPr>
          <a:xfrm>
            <a:off x="395288" y="296862"/>
            <a:ext cx="8353425" cy="719137"/>
          </a:xfrm>
        </p:spPr>
        <p:txBody>
          <a:bodyPr/>
          <a:lstStyle>
            <a:lvl1pPr>
              <a:defRPr>
                <a:solidFill>
                  <a:schemeClr val="bg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9CB49F7B-B2B0-4BB0-949A-755881F29453}" type="datetimeFigureOut">
              <a:rPr lang="en-US" smtClean="0"/>
              <a:pPr/>
              <a:t>11/3/2015</a:t>
            </a:fld>
            <a:endParaRPr lang="en-US"/>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ED49832C-61C7-4B10-8018-1CA6224BDBA4}" type="slidenum">
              <a:rPr lang="en-US" smtClean="0"/>
              <a:pPr/>
              <a:t>‹#›</a:t>
            </a:fld>
            <a:endParaRPr lang="en-US"/>
          </a:p>
        </p:txBody>
      </p:sp>
      <p:sp>
        <p:nvSpPr>
          <p:cNvPr id="11" name="Fußzeilenplatzhalter 10"/>
          <p:cNvSpPr>
            <a:spLocks noGrp="1"/>
          </p:cNvSpPr>
          <p:nvPr>
            <p:ph type="ftr" sz="quarter" idx="12"/>
          </p:nvPr>
        </p:nvSpPr>
        <p:spPr/>
        <p:txBody>
          <a:bodyPr/>
          <a:lstStyle>
            <a:lvl1pPr>
              <a:defRPr>
                <a:solidFill>
                  <a:schemeClr val="tx1"/>
                </a:solidFill>
              </a:defRPr>
            </a:lvl1pPr>
          </a:lstStyle>
          <a:p>
            <a:endParaRPr lang="en-US"/>
          </a:p>
        </p:txBody>
      </p:sp>
      <p:pic>
        <p:nvPicPr>
          <p:cNvPr id="15" name="Bild 3"/>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252412" y="6094965"/>
            <a:ext cx="1857600" cy="570154"/>
          </a:xfrm>
          <a:prstGeom prst="rect">
            <a:avLst/>
          </a:prstGeom>
          <a:noFill/>
          <a:ln>
            <a:noFill/>
          </a:ln>
        </p:spPr>
      </p:pic>
      <p:cxnSp>
        <p:nvCxnSpPr>
          <p:cNvPr id="16" name="Gerade Verbindung 15"/>
          <p:cNvCxnSpPr/>
          <p:nvPr/>
        </p:nvCxnSpPr>
        <p:spPr>
          <a:xfrm>
            <a:off x="395288" y="6044592"/>
            <a:ext cx="8353425" cy="0"/>
          </a:xfrm>
          <a:prstGeom prst="line">
            <a:avLst/>
          </a:prstGeom>
          <a:ln w="444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 Box 23"/>
          <p:cNvSpPr txBox="1">
            <a:spLocks noChangeArrowheads="1"/>
          </p:cNvSpPr>
          <p:nvPr>
            <p:custDataLst>
              <p:tags r:id="rId1"/>
            </p:custDataLst>
          </p:nvPr>
        </p:nvSpPr>
        <p:spPr bwMode="auto">
          <a:xfrm>
            <a:off x="3501406" y="6375515"/>
            <a:ext cx="2726779" cy="128114"/>
          </a:xfrm>
          <a:prstGeom prst="rect">
            <a:avLst/>
          </a:prstGeom>
          <a:noFill/>
          <a:ln w="9525">
            <a:noFill/>
            <a:miter lim="800000"/>
            <a:headEnd/>
            <a:tailEnd/>
          </a:ln>
          <a:effectLst/>
        </p:spPr>
        <p:txBody>
          <a:bodyPr lIns="0" tIns="0" rIns="0" bIns="0" anchor="t" anchorCtr="0"/>
          <a:lstStyle/>
          <a:p>
            <a:pPr algn="l" defTabSz="895888"/>
            <a:r>
              <a:rPr lang="en-US" sz="700" noProof="0" smtClean="0">
                <a:solidFill>
                  <a:schemeClr val="tx1"/>
                </a:solidFill>
                <a:latin typeface="+mn-lt"/>
              </a:rPr>
              <a:t>Confidential</a:t>
            </a:r>
            <a:endParaRPr lang="en-US" sz="700" noProof="0">
              <a:solidFill>
                <a:schemeClr val="tx1"/>
              </a:solidFill>
              <a:latin typeface="+mn-lt"/>
            </a:endParaRPr>
          </a:p>
        </p:txBody>
      </p:sp>
      <p:sp>
        <p:nvSpPr>
          <p:cNvPr id="18" name="Text Box 23"/>
          <p:cNvSpPr txBox="1">
            <a:spLocks noChangeArrowheads="1"/>
          </p:cNvSpPr>
          <p:nvPr>
            <p:custDataLst>
              <p:tags r:id="rId2"/>
            </p:custDataLst>
          </p:nvPr>
        </p:nvSpPr>
        <p:spPr bwMode="auto">
          <a:xfrm>
            <a:off x="3501407" y="6237312"/>
            <a:ext cx="2726778" cy="137617"/>
          </a:xfrm>
          <a:prstGeom prst="rect">
            <a:avLst/>
          </a:prstGeom>
          <a:noFill/>
          <a:ln w="9525">
            <a:noFill/>
            <a:miter lim="800000"/>
            <a:headEnd/>
            <a:tailEnd/>
          </a:ln>
          <a:effectLst/>
        </p:spPr>
        <p:txBody>
          <a:bodyPr lIns="0" tIns="0" rIns="0" bIns="0" anchor="b"/>
          <a:lstStyle/>
          <a:p>
            <a:pPr algn="l" defTabSz="895888"/>
            <a:r>
              <a:rPr lang="en-US" sz="700" b="1" noProof="0" smtClean="0">
                <a:solidFill>
                  <a:schemeClr val="tx1"/>
                </a:solidFill>
                <a:latin typeface="+mn-lt"/>
              </a:rPr>
              <a:t>Space for Sender Information</a:t>
            </a:r>
            <a:endParaRPr lang="en-US" sz="700" b="1" noProof="0">
              <a:solidFill>
                <a:schemeClr val="tx1"/>
              </a:solidFill>
              <a:latin typeface="+mn-lt"/>
            </a:endParaRPr>
          </a:p>
        </p:txBody>
      </p:sp>
      <p:grpSp>
        <p:nvGrpSpPr>
          <p:cNvPr id="2" name="Gruppieren 12"/>
          <p:cNvGrpSpPr/>
          <p:nvPr/>
        </p:nvGrpSpPr>
        <p:grpSpPr>
          <a:xfrm>
            <a:off x="0" y="0"/>
            <a:ext cx="9144000" cy="6858000"/>
            <a:chOff x="0" y="0"/>
            <a:chExt cx="9144000" cy="6858000"/>
          </a:xfrm>
          <a:solidFill>
            <a:schemeClr val="bg1"/>
          </a:solidFill>
        </p:grpSpPr>
        <p:sp>
          <p:nvSpPr>
            <p:cNvPr id="14" name="Rechteck 13"/>
            <p:cNvSpPr/>
            <p:nvPr userDrawn="1"/>
          </p:nvSpPr>
          <p:spPr>
            <a:xfrm>
              <a:off x="0" y="0"/>
              <a:ext cx="179388"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9" name="Rechteck 18"/>
            <p:cNvSpPr/>
            <p:nvPr userDrawn="1"/>
          </p:nvSpPr>
          <p:spPr>
            <a:xfrm>
              <a:off x="0" y="0"/>
              <a:ext cx="9144000" cy="188913"/>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0" name="Rechteck 19"/>
            <p:cNvSpPr/>
            <p:nvPr userDrawn="1"/>
          </p:nvSpPr>
          <p:spPr>
            <a:xfrm>
              <a:off x="0" y="6669088"/>
              <a:ext cx="9107488" cy="188912"/>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1" name="Rechteck 20"/>
            <p:cNvSpPr/>
            <p:nvPr userDrawn="1"/>
          </p:nvSpPr>
          <p:spPr>
            <a:xfrm>
              <a:off x="8964612" y="0"/>
              <a:ext cx="179387"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grpSp>
    </p:spTree>
    <p:extLst>
      <p:ext uri="{BB962C8B-B14F-4D97-AF65-F5344CB8AC3E}">
        <p14:creationId xmlns="" xmlns:p14="http://schemas.microsoft.com/office/powerpoint/2010/main" val="883389295"/>
      </p:ext>
    </p:extLst>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pter (white)">
    <p:spTree>
      <p:nvGrpSpPr>
        <p:cNvPr id="1" name=""/>
        <p:cNvGrpSpPr/>
        <p:nvPr/>
      </p:nvGrpSpPr>
      <p:grpSpPr>
        <a:xfrm>
          <a:off x="0" y="0"/>
          <a:ext cx="0" cy="0"/>
          <a:chOff x="0" y="0"/>
          <a:chExt cx="0" cy="0"/>
        </a:xfrm>
      </p:grpSpPr>
      <p:sp>
        <p:nvSpPr>
          <p:cNvPr id="3" name="Inhaltsplatzhalter 2"/>
          <p:cNvSpPr>
            <a:spLocks noGrp="1"/>
          </p:cNvSpPr>
          <p:nvPr>
            <p:ph idx="1"/>
          </p:nvPr>
        </p:nvSpPr>
        <p:spPr>
          <a:xfrm>
            <a:off x="395288" y="1341437"/>
            <a:ext cx="8353425" cy="4535487"/>
          </a:xfrm>
        </p:spPr>
        <p:txBody>
          <a:bodyPr/>
          <a:lstStyle>
            <a:lvl1pPr marL="0" indent="0">
              <a:lnSpc>
                <a:spcPct val="113000"/>
              </a:lnSpc>
              <a:buSzPct val="125000"/>
              <a:buFont typeface="Arial" pitchFamily="34" charset="0"/>
              <a:buNone/>
              <a:defRPr>
                <a:solidFill>
                  <a:schemeClr val="tx1"/>
                </a:solidFill>
              </a:defRPr>
            </a:lvl1pPr>
            <a:lvl2pPr marL="184150" indent="-184150">
              <a:lnSpc>
                <a:spcPct val="113000"/>
              </a:lnSpc>
              <a:buSzPct val="125000"/>
              <a:buFont typeface="Arial" pitchFamily="34" charset="0"/>
              <a:buChar char="›"/>
              <a:defRPr>
                <a:solidFill>
                  <a:schemeClr val="tx1"/>
                </a:solidFill>
              </a:defRPr>
            </a:lvl2pPr>
            <a:lvl3pPr marL="539750" indent="-177800">
              <a:lnSpc>
                <a:spcPct val="113000"/>
              </a:lnSpc>
              <a:buSzPct val="125000"/>
              <a:buFont typeface="Arial" pitchFamily="34" charset="0"/>
              <a:buChar char="›"/>
              <a:defRPr>
                <a:solidFill>
                  <a:schemeClr val="tx1"/>
                </a:solidFill>
              </a:defRPr>
            </a:lvl3pPr>
            <a:lvl4pPr marL="895350" indent="-179388">
              <a:lnSpc>
                <a:spcPct val="113000"/>
              </a:lnSpc>
              <a:buSzPct val="125000"/>
              <a:buFont typeface="Arial" pitchFamily="34" charset="0"/>
              <a:buChar char="›"/>
              <a:defRPr>
                <a:solidFill>
                  <a:schemeClr val="tx1"/>
                </a:solidFill>
              </a:defRPr>
            </a:lvl4pPr>
            <a:lvl5pPr marL="1257300" indent="-177800">
              <a:lnSpc>
                <a:spcPct val="113000"/>
              </a:lnSpc>
              <a:buSzPct val="125000"/>
              <a:buFont typeface="Arial" pitchFamily="34" charset="0"/>
              <a:buChar char="›"/>
              <a:defRPr>
                <a:solidFill>
                  <a:schemeClr val="tx1"/>
                </a:solidFill>
              </a:defRPr>
            </a:lvl5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en-US" noProof="0"/>
          </a:p>
        </p:txBody>
      </p:sp>
      <p:sp>
        <p:nvSpPr>
          <p:cNvPr id="8" name="Titel 7"/>
          <p:cNvSpPr>
            <a:spLocks noGrp="1"/>
          </p:cNvSpPr>
          <p:nvPr>
            <p:ph type="title"/>
          </p:nvPr>
        </p:nvSpPr>
        <p:spPr>
          <a:xfrm>
            <a:off x="395288" y="296862"/>
            <a:ext cx="8353425" cy="719137"/>
          </a:xfrm>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9CB49F7B-B2B0-4BB0-949A-755881F29453}" type="datetimeFigureOut">
              <a:rPr lang="en-US" smtClean="0"/>
              <a:pPr/>
              <a:t>11/3/2015</a:t>
            </a:fld>
            <a:endParaRPr lang="en-US"/>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ED49832C-61C7-4B10-8018-1CA6224BDBA4}" type="slidenum">
              <a:rPr lang="en-US" smtClean="0"/>
              <a:pPr/>
              <a:t>‹#›</a:t>
            </a:fld>
            <a:endParaRPr lang="en-US"/>
          </a:p>
        </p:txBody>
      </p:sp>
      <p:sp>
        <p:nvSpPr>
          <p:cNvPr id="11" name="Fußzeilenplatzhalter 10"/>
          <p:cNvSpPr>
            <a:spLocks noGrp="1"/>
          </p:cNvSpPr>
          <p:nvPr>
            <p:ph type="ftr" sz="quarter" idx="12"/>
          </p:nvPr>
        </p:nvSpPr>
        <p:spPr/>
        <p:txBody>
          <a:bodyPr/>
          <a:lstStyle>
            <a:lvl1pPr>
              <a:defRPr>
                <a:solidFill>
                  <a:schemeClr val="tx1"/>
                </a:solidFill>
              </a:defRPr>
            </a:lvl1pPr>
          </a:lstStyle>
          <a:p>
            <a:endParaRPr lang="en-US"/>
          </a:p>
        </p:txBody>
      </p:sp>
    </p:spTree>
    <p:extLst>
      <p:ext uri="{BB962C8B-B14F-4D97-AF65-F5344CB8AC3E}">
        <p14:creationId xmlns="" xmlns:p14="http://schemas.microsoft.com/office/powerpoint/2010/main" val="1810824959"/>
      </p:ext>
    </p:extLst>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hapter (black)">
    <p:bg>
      <p:bgPr>
        <a:solidFill>
          <a:schemeClr val="tx1"/>
        </a:solidFill>
        <a:effectLst/>
      </p:bgPr>
    </p:bg>
    <p:spTree>
      <p:nvGrpSpPr>
        <p:cNvPr id="1" name=""/>
        <p:cNvGrpSpPr/>
        <p:nvPr/>
      </p:nvGrpSpPr>
      <p:grpSpPr>
        <a:xfrm>
          <a:off x="0" y="0"/>
          <a:ext cx="0" cy="0"/>
          <a:chOff x="0" y="0"/>
          <a:chExt cx="0" cy="0"/>
        </a:xfrm>
      </p:grpSpPr>
      <p:sp>
        <p:nvSpPr>
          <p:cNvPr id="3" name="Inhaltsplatzhalter 2"/>
          <p:cNvSpPr>
            <a:spLocks noGrp="1"/>
          </p:cNvSpPr>
          <p:nvPr>
            <p:ph idx="1"/>
          </p:nvPr>
        </p:nvSpPr>
        <p:spPr>
          <a:xfrm>
            <a:off x="395288" y="1341437"/>
            <a:ext cx="8353425" cy="4535487"/>
          </a:xfrm>
        </p:spPr>
        <p:txBody>
          <a:bodyPr/>
          <a:lstStyle>
            <a:lvl1pPr marL="0" indent="0">
              <a:lnSpc>
                <a:spcPct val="113000"/>
              </a:lnSpc>
              <a:buSzPct val="125000"/>
              <a:buFont typeface="Arial" pitchFamily="34" charset="0"/>
              <a:buNone/>
              <a:defRPr>
                <a:solidFill>
                  <a:schemeClr val="bg1"/>
                </a:solidFill>
              </a:defRPr>
            </a:lvl1pPr>
            <a:lvl2pPr marL="184150" indent="-184150">
              <a:lnSpc>
                <a:spcPct val="113000"/>
              </a:lnSpc>
              <a:buSzPct val="125000"/>
              <a:buFont typeface="Arial" pitchFamily="34" charset="0"/>
              <a:buChar char="›"/>
              <a:defRPr>
                <a:solidFill>
                  <a:schemeClr val="bg1"/>
                </a:solidFill>
              </a:defRPr>
            </a:lvl2pPr>
            <a:lvl3pPr marL="539750" indent="-177800">
              <a:lnSpc>
                <a:spcPct val="113000"/>
              </a:lnSpc>
              <a:buSzPct val="125000"/>
              <a:buFont typeface="Arial" pitchFamily="34" charset="0"/>
              <a:buChar char="›"/>
              <a:defRPr>
                <a:solidFill>
                  <a:schemeClr val="bg1"/>
                </a:solidFill>
              </a:defRPr>
            </a:lvl3pPr>
            <a:lvl4pPr marL="895350" indent="-179388">
              <a:lnSpc>
                <a:spcPct val="113000"/>
              </a:lnSpc>
              <a:buSzPct val="125000"/>
              <a:buFont typeface="Arial" pitchFamily="34" charset="0"/>
              <a:buChar char="›"/>
              <a:defRPr>
                <a:solidFill>
                  <a:schemeClr val="bg1"/>
                </a:solidFill>
              </a:defRPr>
            </a:lvl4pPr>
            <a:lvl5pPr marL="1257300" indent="-177800">
              <a:lnSpc>
                <a:spcPct val="113000"/>
              </a:lnSpc>
              <a:buSzPct val="125000"/>
              <a:buFont typeface="Arial" pitchFamily="34" charset="0"/>
              <a:buChar char="›"/>
              <a:defRPr>
                <a:solidFill>
                  <a:schemeClr val="bg1"/>
                </a:solidFill>
              </a:defRPr>
            </a:lvl5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en-US" noProof="0"/>
          </a:p>
        </p:txBody>
      </p:sp>
      <p:sp>
        <p:nvSpPr>
          <p:cNvPr id="8" name="Titel 7"/>
          <p:cNvSpPr>
            <a:spLocks noGrp="1"/>
          </p:cNvSpPr>
          <p:nvPr>
            <p:ph type="title"/>
          </p:nvPr>
        </p:nvSpPr>
        <p:spPr>
          <a:xfrm>
            <a:off x="395288" y="296862"/>
            <a:ext cx="8353425" cy="719137"/>
          </a:xfrm>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bg1"/>
                </a:solidFill>
              </a:defRPr>
            </a:lvl1pPr>
          </a:lstStyle>
          <a:p>
            <a:fld id="{9CB49F7B-B2B0-4BB0-949A-755881F29453}" type="datetimeFigureOut">
              <a:rPr lang="en-US" smtClean="0"/>
              <a:pPr/>
              <a:t>11/3/2015</a:t>
            </a:fld>
            <a:endParaRPr lang="en-US"/>
          </a:p>
        </p:txBody>
      </p:sp>
      <p:sp>
        <p:nvSpPr>
          <p:cNvPr id="10" name="Foliennummernplatzhalter 9"/>
          <p:cNvSpPr>
            <a:spLocks noGrp="1"/>
          </p:cNvSpPr>
          <p:nvPr>
            <p:ph type="sldNum" sz="quarter" idx="11"/>
          </p:nvPr>
        </p:nvSpPr>
        <p:spPr/>
        <p:txBody>
          <a:bodyPr/>
          <a:lstStyle>
            <a:lvl1pPr>
              <a:defRPr>
                <a:solidFill>
                  <a:schemeClr val="bg1"/>
                </a:solidFill>
              </a:defRPr>
            </a:lvl1pPr>
          </a:lstStyle>
          <a:p>
            <a:fld id="{ED49832C-61C7-4B10-8018-1CA6224BDBA4}" type="slidenum">
              <a:rPr lang="en-US" smtClean="0"/>
              <a:pPr/>
              <a:t>‹#›</a:t>
            </a:fld>
            <a:endParaRPr lang="en-US"/>
          </a:p>
        </p:txBody>
      </p:sp>
      <p:sp>
        <p:nvSpPr>
          <p:cNvPr id="11" name="Fußzeilenplatzhalter 10"/>
          <p:cNvSpPr>
            <a:spLocks noGrp="1"/>
          </p:cNvSpPr>
          <p:nvPr>
            <p:ph type="ftr" sz="quarter" idx="12"/>
          </p:nvPr>
        </p:nvSpPr>
        <p:spPr/>
        <p:txBody>
          <a:bodyPr/>
          <a:lstStyle>
            <a:lvl1pPr>
              <a:defRPr>
                <a:solidFill>
                  <a:schemeClr val="bg1"/>
                </a:solidFill>
              </a:defRPr>
            </a:lvl1pPr>
          </a:lstStyle>
          <a:p>
            <a:endParaRPr lang="en-US"/>
          </a:p>
        </p:txBody>
      </p:sp>
      <p:cxnSp>
        <p:nvCxnSpPr>
          <p:cNvPr id="7" name="Gerade Verbindung 6"/>
          <p:cNvCxnSpPr/>
          <p:nvPr/>
        </p:nvCxnSpPr>
        <p:spPr>
          <a:xfrm>
            <a:off x="395288" y="6044592"/>
            <a:ext cx="8353425" cy="0"/>
          </a:xfrm>
          <a:prstGeom prst="line">
            <a:avLst/>
          </a:prstGeom>
          <a:ln w="444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 Box 23"/>
          <p:cNvSpPr txBox="1">
            <a:spLocks noChangeArrowheads="1"/>
          </p:cNvSpPr>
          <p:nvPr>
            <p:custDataLst>
              <p:tags r:id="rId1"/>
            </p:custDataLst>
          </p:nvPr>
        </p:nvSpPr>
        <p:spPr bwMode="auto">
          <a:xfrm>
            <a:off x="3501406" y="6375515"/>
            <a:ext cx="2726779" cy="128114"/>
          </a:xfrm>
          <a:prstGeom prst="rect">
            <a:avLst/>
          </a:prstGeom>
          <a:noFill/>
          <a:ln w="9525">
            <a:noFill/>
            <a:miter lim="800000"/>
            <a:headEnd/>
            <a:tailEnd/>
          </a:ln>
          <a:effectLst/>
        </p:spPr>
        <p:txBody>
          <a:bodyPr lIns="0" tIns="0" rIns="0" bIns="0" anchor="t" anchorCtr="0"/>
          <a:lstStyle/>
          <a:p>
            <a:pPr algn="l" defTabSz="895888"/>
            <a:r>
              <a:rPr lang="en-US" sz="700" noProof="0" smtClean="0">
                <a:solidFill>
                  <a:schemeClr val="bg1"/>
                </a:solidFill>
                <a:latin typeface="+mn-lt"/>
              </a:rPr>
              <a:t>Confidential</a:t>
            </a:r>
            <a:endParaRPr lang="en-US" sz="700" noProof="0">
              <a:solidFill>
                <a:schemeClr val="bg1"/>
              </a:solidFill>
              <a:latin typeface="+mn-lt"/>
            </a:endParaRPr>
          </a:p>
        </p:txBody>
      </p:sp>
      <p:sp>
        <p:nvSpPr>
          <p:cNvPr id="14" name="Text Box 23"/>
          <p:cNvSpPr txBox="1">
            <a:spLocks noChangeArrowheads="1"/>
          </p:cNvSpPr>
          <p:nvPr>
            <p:custDataLst>
              <p:tags r:id="rId2"/>
            </p:custDataLst>
          </p:nvPr>
        </p:nvSpPr>
        <p:spPr bwMode="auto">
          <a:xfrm>
            <a:off x="3501407" y="6237312"/>
            <a:ext cx="2726778" cy="137617"/>
          </a:xfrm>
          <a:prstGeom prst="rect">
            <a:avLst/>
          </a:prstGeom>
          <a:noFill/>
          <a:ln w="9525">
            <a:noFill/>
            <a:miter lim="800000"/>
            <a:headEnd/>
            <a:tailEnd/>
          </a:ln>
          <a:effectLst/>
        </p:spPr>
        <p:txBody>
          <a:bodyPr lIns="0" tIns="0" rIns="0" bIns="0" anchor="b"/>
          <a:lstStyle/>
          <a:p>
            <a:pPr algn="l" defTabSz="895888"/>
            <a:r>
              <a:rPr lang="en-US" sz="700" b="1" noProof="0" smtClean="0">
                <a:solidFill>
                  <a:schemeClr val="bg1"/>
                </a:solidFill>
                <a:latin typeface="+mn-lt"/>
              </a:rPr>
              <a:t>Space for Sender Information</a:t>
            </a:r>
            <a:endParaRPr lang="en-US" sz="700" b="1" noProof="0">
              <a:solidFill>
                <a:schemeClr val="bg1"/>
              </a:solidFill>
              <a:latin typeface="+mn-lt"/>
            </a:endParaRPr>
          </a:p>
        </p:txBody>
      </p:sp>
      <p:pic>
        <p:nvPicPr>
          <p:cNvPr id="15" name="Bild 4"/>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bwMode="black">
          <a:xfrm>
            <a:off x="252637" y="6095032"/>
            <a:ext cx="1857375" cy="570087"/>
          </a:xfrm>
          <a:prstGeom prst="rect">
            <a:avLst/>
          </a:prstGeom>
          <a:noFill/>
          <a:ln>
            <a:noFill/>
          </a:ln>
        </p:spPr>
      </p:pic>
      <p:grpSp>
        <p:nvGrpSpPr>
          <p:cNvPr id="2" name="Gruppieren 15"/>
          <p:cNvGrpSpPr/>
          <p:nvPr/>
        </p:nvGrpSpPr>
        <p:grpSpPr>
          <a:xfrm>
            <a:off x="0" y="0"/>
            <a:ext cx="9144000" cy="6858000"/>
            <a:chOff x="0" y="0"/>
            <a:chExt cx="9144000" cy="6858000"/>
          </a:xfrm>
          <a:solidFill>
            <a:schemeClr val="bg1"/>
          </a:solidFill>
        </p:grpSpPr>
        <p:sp>
          <p:nvSpPr>
            <p:cNvPr id="17" name="Rechteck 16"/>
            <p:cNvSpPr/>
            <p:nvPr userDrawn="1"/>
          </p:nvSpPr>
          <p:spPr>
            <a:xfrm>
              <a:off x="0" y="0"/>
              <a:ext cx="179388"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8" name="Rechteck 17"/>
            <p:cNvSpPr/>
            <p:nvPr userDrawn="1"/>
          </p:nvSpPr>
          <p:spPr>
            <a:xfrm>
              <a:off x="0" y="0"/>
              <a:ext cx="9144000" cy="188913"/>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9" name="Rechteck 18"/>
            <p:cNvSpPr/>
            <p:nvPr userDrawn="1"/>
          </p:nvSpPr>
          <p:spPr>
            <a:xfrm>
              <a:off x="0" y="6669088"/>
              <a:ext cx="9107488" cy="188912"/>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0" name="Rechteck 19"/>
            <p:cNvSpPr/>
            <p:nvPr userDrawn="1"/>
          </p:nvSpPr>
          <p:spPr>
            <a:xfrm>
              <a:off x="8964612" y="0"/>
              <a:ext cx="179387"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grpSp>
    </p:spTree>
    <p:extLst>
      <p:ext uri="{BB962C8B-B14F-4D97-AF65-F5344CB8AC3E}">
        <p14:creationId xmlns="" xmlns:p14="http://schemas.microsoft.com/office/powerpoint/2010/main" val="319594708"/>
      </p:ext>
    </p:extLst>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Top Content Area">
    <p:spTree>
      <p:nvGrpSpPr>
        <p:cNvPr id="1" name=""/>
        <p:cNvGrpSpPr/>
        <p:nvPr/>
      </p:nvGrpSpPr>
      <p:grpSpPr>
        <a:xfrm>
          <a:off x="0" y="0"/>
          <a:ext cx="0" cy="0"/>
          <a:chOff x="0" y="0"/>
          <a:chExt cx="0" cy="0"/>
        </a:xfrm>
      </p:grpSpPr>
      <p:sp>
        <p:nvSpPr>
          <p:cNvPr id="3" name="Inhaltsplatzhalter 2"/>
          <p:cNvSpPr>
            <a:spLocks noGrp="1"/>
          </p:cNvSpPr>
          <p:nvPr>
            <p:ph idx="1"/>
          </p:nvPr>
        </p:nvSpPr>
        <p:spPr>
          <a:xfrm>
            <a:off x="395288" y="1341437"/>
            <a:ext cx="8353425" cy="2232025"/>
          </a:xfrm>
        </p:spPr>
        <p:txBody>
          <a:bodyPr/>
          <a:lstStyle>
            <a:lvl1pPr marL="177800" indent="-177800">
              <a:buClr>
                <a:schemeClr val="accent1"/>
              </a:buClr>
              <a:buSzPct val="125000"/>
              <a:buFont typeface="Arial" pitchFamily="34" charset="0"/>
              <a:buChar char="›"/>
              <a:defRPr>
                <a:solidFill>
                  <a:schemeClr val="tx1"/>
                </a:solidFill>
              </a:defRPr>
            </a:lvl1pPr>
            <a:lvl2pPr marL="541338" indent="-184150">
              <a:buClr>
                <a:schemeClr val="accent1"/>
              </a:buClr>
              <a:buSzPct val="125000"/>
              <a:buFont typeface="Arial" pitchFamily="34" charset="0"/>
              <a:buChar char="›"/>
              <a:defRPr>
                <a:solidFill>
                  <a:schemeClr val="tx1"/>
                </a:solidFill>
              </a:defRPr>
            </a:lvl2pPr>
            <a:lvl3pPr marL="896938" indent="-177800">
              <a:buClr>
                <a:schemeClr val="accent1"/>
              </a:buClr>
              <a:buSzPct val="125000"/>
              <a:buFont typeface="Arial" pitchFamily="34" charset="0"/>
              <a:buChar char="›"/>
              <a:defRPr>
                <a:solidFill>
                  <a:schemeClr val="tx1"/>
                </a:solidFill>
              </a:defRPr>
            </a:lvl3pPr>
            <a:lvl4pPr marL="1254125" indent="-179388">
              <a:buClr>
                <a:schemeClr val="accent1"/>
              </a:buClr>
              <a:buSzPct val="125000"/>
              <a:buFont typeface="Arial" pitchFamily="34" charset="0"/>
              <a:buChar char="›"/>
              <a:defRPr>
                <a:solidFill>
                  <a:schemeClr val="tx1"/>
                </a:solidFill>
              </a:defRPr>
            </a:lvl4pPr>
            <a:lvl5pPr marL="1616075" indent="-177800">
              <a:buClr>
                <a:schemeClr val="accent1"/>
              </a:buClr>
              <a:buSzPct val="125000"/>
              <a:buFont typeface="Arial" pitchFamily="34" charset="0"/>
              <a:buChar char="›"/>
              <a:defRPr>
                <a:solidFill>
                  <a:schemeClr val="tx1"/>
                </a:solidFill>
              </a:defRPr>
            </a:lvl5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en-US" noProof="0"/>
          </a:p>
        </p:txBody>
      </p:sp>
      <p:sp>
        <p:nvSpPr>
          <p:cNvPr id="8" name="Titel 7"/>
          <p:cNvSpPr>
            <a:spLocks noGrp="1"/>
          </p:cNvSpPr>
          <p:nvPr>
            <p:ph type="title"/>
          </p:nvPr>
        </p:nvSpPr>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9CB49F7B-B2B0-4BB0-949A-755881F29453}" type="datetimeFigureOut">
              <a:rPr lang="en-US" smtClean="0"/>
              <a:pPr/>
              <a:t>11/3/2015</a:t>
            </a:fld>
            <a:endParaRPr lang="en-US"/>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ED49832C-61C7-4B10-8018-1CA6224BDBA4}" type="slidenum">
              <a:rPr lang="en-US" smtClean="0"/>
              <a:pPr/>
              <a:t>‹#›</a:t>
            </a:fld>
            <a:endParaRPr lang="en-US"/>
          </a:p>
        </p:txBody>
      </p:sp>
      <p:sp>
        <p:nvSpPr>
          <p:cNvPr id="11" name="Fußzeilenplatzhalter 10"/>
          <p:cNvSpPr>
            <a:spLocks noGrp="1"/>
          </p:cNvSpPr>
          <p:nvPr>
            <p:ph type="ftr" sz="quarter" idx="12"/>
          </p:nvPr>
        </p:nvSpPr>
        <p:spPr/>
        <p:txBody>
          <a:bodyPr/>
          <a:lstStyle>
            <a:lvl1pPr>
              <a:defRPr>
                <a:solidFill>
                  <a:schemeClr val="tx1"/>
                </a:solidFill>
              </a:defRPr>
            </a:lvl1pPr>
          </a:lstStyle>
          <a:p>
            <a:endParaRPr lang="en-US"/>
          </a:p>
        </p:txBody>
      </p:sp>
    </p:spTree>
    <p:extLst>
      <p:ext uri="{BB962C8B-B14F-4D97-AF65-F5344CB8AC3E}">
        <p14:creationId xmlns="" xmlns:p14="http://schemas.microsoft.com/office/powerpoint/2010/main" val="3546124696"/>
      </p:ext>
    </p:extLst>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Bottom Content Area">
    <p:spTree>
      <p:nvGrpSpPr>
        <p:cNvPr id="1" name=""/>
        <p:cNvGrpSpPr/>
        <p:nvPr/>
      </p:nvGrpSpPr>
      <p:grpSpPr>
        <a:xfrm>
          <a:off x="0" y="0"/>
          <a:ext cx="0" cy="0"/>
          <a:chOff x="0" y="0"/>
          <a:chExt cx="0" cy="0"/>
        </a:xfrm>
      </p:grpSpPr>
      <p:sp>
        <p:nvSpPr>
          <p:cNvPr id="3" name="Inhaltsplatzhalter 2"/>
          <p:cNvSpPr>
            <a:spLocks noGrp="1"/>
          </p:cNvSpPr>
          <p:nvPr>
            <p:ph idx="1"/>
          </p:nvPr>
        </p:nvSpPr>
        <p:spPr>
          <a:xfrm>
            <a:off x="395288" y="3644900"/>
            <a:ext cx="8353425" cy="2232024"/>
          </a:xfrm>
        </p:spPr>
        <p:txBody>
          <a:bodyPr/>
          <a:lstStyle>
            <a:lvl1pPr marL="177800" indent="-177800">
              <a:buClr>
                <a:schemeClr val="accent1"/>
              </a:buClr>
              <a:buSzPct val="125000"/>
              <a:buFont typeface="Arial" pitchFamily="34" charset="0"/>
              <a:buChar char="›"/>
              <a:defRPr>
                <a:solidFill>
                  <a:schemeClr val="tx1"/>
                </a:solidFill>
              </a:defRPr>
            </a:lvl1pPr>
            <a:lvl2pPr marL="541338" indent="-184150">
              <a:buClr>
                <a:schemeClr val="accent1"/>
              </a:buClr>
              <a:buSzPct val="125000"/>
              <a:buFont typeface="Arial" pitchFamily="34" charset="0"/>
              <a:buChar char="›"/>
              <a:defRPr>
                <a:solidFill>
                  <a:schemeClr val="tx1"/>
                </a:solidFill>
              </a:defRPr>
            </a:lvl2pPr>
            <a:lvl3pPr marL="896938" indent="-177800">
              <a:buClr>
                <a:schemeClr val="accent1"/>
              </a:buClr>
              <a:buSzPct val="125000"/>
              <a:buFont typeface="Arial" pitchFamily="34" charset="0"/>
              <a:buChar char="›"/>
              <a:defRPr>
                <a:solidFill>
                  <a:schemeClr val="tx1"/>
                </a:solidFill>
              </a:defRPr>
            </a:lvl3pPr>
            <a:lvl4pPr marL="1254125" indent="-179388">
              <a:buClr>
                <a:schemeClr val="accent1"/>
              </a:buClr>
              <a:buSzPct val="125000"/>
              <a:buFont typeface="Arial" pitchFamily="34" charset="0"/>
              <a:buChar char="›"/>
              <a:defRPr>
                <a:solidFill>
                  <a:schemeClr val="tx1"/>
                </a:solidFill>
              </a:defRPr>
            </a:lvl4pPr>
            <a:lvl5pPr marL="1616075" indent="-177800">
              <a:buClr>
                <a:schemeClr val="accent1"/>
              </a:buClr>
              <a:buSzPct val="125000"/>
              <a:buFont typeface="Arial" pitchFamily="34" charset="0"/>
              <a:buChar char="›"/>
              <a:defRPr>
                <a:solidFill>
                  <a:schemeClr val="tx1"/>
                </a:solidFill>
              </a:defRPr>
            </a:lvl5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en-US" noProof="0"/>
          </a:p>
        </p:txBody>
      </p:sp>
      <p:sp>
        <p:nvSpPr>
          <p:cNvPr id="8" name="Titel 7"/>
          <p:cNvSpPr>
            <a:spLocks noGrp="1"/>
          </p:cNvSpPr>
          <p:nvPr>
            <p:ph type="title"/>
          </p:nvPr>
        </p:nvSpPr>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9CB49F7B-B2B0-4BB0-949A-755881F29453}" type="datetimeFigureOut">
              <a:rPr lang="en-US" smtClean="0"/>
              <a:pPr/>
              <a:t>11/3/2015</a:t>
            </a:fld>
            <a:endParaRPr lang="en-US"/>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ED49832C-61C7-4B10-8018-1CA6224BDBA4}" type="slidenum">
              <a:rPr lang="en-US" smtClean="0"/>
              <a:pPr/>
              <a:t>‹#›</a:t>
            </a:fld>
            <a:endParaRPr lang="en-US"/>
          </a:p>
        </p:txBody>
      </p:sp>
      <p:sp>
        <p:nvSpPr>
          <p:cNvPr id="11" name="Fußzeilenplatzhalter 10"/>
          <p:cNvSpPr>
            <a:spLocks noGrp="1"/>
          </p:cNvSpPr>
          <p:nvPr>
            <p:ph type="ftr" sz="quarter" idx="12"/>
          </p:nvPr>
        </p:nvSpPr>
        <p:spPr/>
        <p:txBody>
          <a:bodyPr/>
          <a:lstStyle>
            <a:lvl1pPr>
              <a:defRPr>
                <a:solidFill>
                  <a:schemeClr val="tx1"/>
                </a:solidFill>
              </a:defRPr>
            </a:lvl1pPr>
          </a:lstStyle>
          <a:p>
            <a:endParaRPr lang="en-US"/>
          </a:p>
        </p:txBody>
      </p:sp>
    </p:spTree>
    <p:extLst>
      <p:ext uri="{BB962C8B-B14F-4D97-AF65-F5344CB8AC3E}">
        <p14:creationId xmlns="" xmlns:p14="http://schemas.microsoft.com/office/powerpoint/2010/main" val="4069862711"/>
      </p:ext>
    </p:extLst>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Areas">
    <p:spTree>
      <p:nvGrpSpPr>
        <p:cNvPr id="1" name=""/>
        <p:cNvGrpSpPr/>
        <p:nvPr/>
      </p:nvGrpSpPr>
      <p:grpSpPr>
        <a:xfrm>
          <a:off x="0" y="0"/>
          <a:ext cx="0" cy="0"/>
          <a:chOff x="0" y="0"/>
          <a:chExt cx="0" cy="0"/>
        </a:xfrm>
      </p:grpSpPr>
      <p:sp>
        <p:nvSpPr>
          <p:cNvPr id="3" name="Inhaltsplatzhalter 2"/>
          <p:cNvSpPr>
            <a:spLocks noGrp="1"/>
          </p:cNvSpPr>
          <p:nvPr>
            <p:ph sz="half" idx="1"/>
          </p:nvPr>
        </p:nvSpPr>
        <p:spPr>
          <a:xfrm>
            <a:off x="395289" y="1341437"/>
            <a:ext cx="4140200" cy="4535487"/>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4" name="Inhaltsplatzhalter 3"/>
          <p:cNvSpPr>
            <a:spLocks noGrp="1"/>
          </p:cNvSpPr>
          <p:nvPr>
            <p:ph sz="half" idx="2"/>
          </p:nvPr>
        </p:nvSpPr>
        <p:spPr>
          <a:xfrm>
            <a:off x="4606926" y="1341437"/>
            <a:ext cx="4141788" cy="4535487"/>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12" name="Titel 11"/>
          <p:cNvSpPr>
            <a:spLocks noGrp="1"/>
          </p:cNvSpPr>
          <p:nvPr>
            <p:ph type="title"/>
          </p:nvPr>
        </p:nvSpPr>
        <p:spPr>
          <a:xfrm>
            <a:off x="395289" y="296862"/>
            <a:ext cx="8353424" cy="719137"/>
          </a:xfrm>
        </p:spPr>
        <p:txBody>
          <a:bodyPr/>
          <a:lstStyle>
            <a:lvl1pPr>
              <a:defRPr>
                <a:solidFill>
                  <a:schemeClr val="accent1"/>
                </a:solidFill>
                <a:latin typeface="+mj-lt"/>
              </a:defRPr>
            </a:lvl1pPr>
          </a:lstStyle>
          <a:p>
            <a:r>
              <a:rPr lang="de-DE" noProof="0" smtClean="0"/>
              <a:t>Titelmasterformat durch Klicken bearbeiten</a:t>
            </a:r>
            <a:endParaRPr lang="en-US" noProof="0"/>
          </a:p>
        </p:txBody>
      </p:sp>
      <p:sp>
        <p:nvSpPr>
          <p:cNvPr id="13" name="Datumsplatzhalter 12"/>
          <p:cNvSpPr>
            <a:spLocks noGrp="1"/>
          </p:cNvSpPr>
          <p:nvPr>
            <p:ph type="dt" sz="half" idx="10"/>
          </p:nvPr>
        </p:nvSpPr>
        <p:spPr/>
        <p:txBody>
          <a:bodyPr/>
          <a:lstStyle>
            <a:lvl1pPr>
              <a:defRPr>
                <a:solidFill>
                  <a:schemeClr val="tx1"/>
                </a:solidFill>
                <a:latin typeface="+mn-lt"/>
              </a:defRPr>
            </a:lvl1pPr>
          </a:lstStyle>
          <a:p>
            <a:fld id="{9CB49F7B-B2B0-4BB0-949A-755881F29453}" type="datetimeFigureOut">
              <a:rPr lang="en-US" smtClean="0"/>
              <a:pPr/>
              <a:t>11/3/2015</a:t>
            </a:fld>
            <a:endParaRPr lang="en-US"/>
          </a:p>
        </p:txBody>
      </p:sp>
      <p:sp>
        <p:nvSpPr>
          <p:cNvPr id="14" name="Foliennummernplatzhalter 13"/>
          <p:cNvSpPr>
            <a:spLocks noGrp="1"/>
          </p:cNvSpPr>
          <p:nvPr>
            <p:ph type="sldNum" sz="quarter" idx="11"/>
          </p:nvPr>
        </p:nvSpPr>
        <p:spPr/>
        <p:txBody>
          <a:bodyPr/>
          <a:lstStyle>
            <a:lvl1pPr>
              <a:defRPr>
                <a:solidFill>
                  <a:schemeClr val="tx1"/>
                </a:solidFill>
                <a:latin typeface="+mn-lt"/>
              </a:defRPr>
            </a:lvl1pPr>
          </a:lstStyle>
          <a:p>
            <a:fld id="{ED49832C-61C7-4B10-8018-1CA6224BDBA4}" type="slidenum">
              <a:rPr lang="en-US" smtClean="0"/>
              <a:pPr/>
              <a:t>‹#›</a:t>
            </a:fld>
            <a:endParaRPr lang="en-US"/>
          </a:p>
        </p:txBody>
      </p:sp>
      <p:sp>
        <p:nvSpPr>
          <p:cNvPr id="15" name="Fußzeilenplatzhalter 14"/>
          <p:cNvSpPr>
            <a:spLocks noGrp="1"/>
          </p:cNvSpPr>
          <p:nvPr>
            <p:ph type="ftr" sz="quarter" idx="12"/>
          </p:nvPr>
        </p:nvSpPr>
        <p:spPr/>
        <p:txBody>
          <a:bodyPr/>
          <a:lstStyle>
            <a:lvl1pPr>
              <a:defRPr>
                <a:solidFill>
                  <a:schemeClr val="tx1"/>
                </a:solidFill>
                <a:latin typeface="+mn-lt"/>
              </a:defRPr>
            </a:lvl1pPr>
          </a:lstStyle>
          <a:p>
            <a:endParaRPr lang="en-US"/>
          </a:p>
        </p:txBody>
      </p:sp>
    </p:spTree>
    <p:extLst>
      <p:ext uri="{BB962C8B-B14F-4D97-AF65-F5344CB8AC3E}">
        <p14:creationId xmlns="" xmlns:p14="http://schemas.microsoft.com/office/powerpoint/2010/main" val="617936291"/>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Left Content Area">
    <p:spTree>
      <p:nvGrpSpPr>
        <p:cNvPr id="1" name=""/>
        <p:cNvGrpSpPr/>
        <p:nvPr/>
      </p:nvGrpSpPr>
      <p:grpSpPr>
        <a:xfrm>
          <a:off x="0" y="0"/>
          <a:ext cx="0" cy="0"/>
          <a:chOff x="0" y="0"/>
          <a:chExt cx="0" cy="0"/>
        </a:xfrm>
      </p:grpSpPr>
      <p:sp>
        <p:nvSpPr>
          <p:cNvPr id="3" name="Inhaltsplatzhalter 2"/>
          <p:cNvSpPr>
            <a:spLocks noGrp="1"/>
          </p:cNvSpPr>
          <p:nvPr>
            <p:ph sz="half" idx="1"/>
          </p:nvPr>
        </p:nvSpPr>
        <p:spPr>
          <a:xfrm>
            <a:off x="395289" y="1341437"/>
            <a:ext cx="4140200" cy="4535488"/>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12" name="Titel 11"/>
          <p:cNvSpPr>
            <a:spLocks noGrp="1"/>
          </p:cNvSpPr>
          <p:nvPr>
            <p:ph type="title"/>
          </p:nvPr>
        </p:nvSpPr>
        <p:spPr/>
        <p:txBody>
          <a:bodyPr/>
          <a:lstStyle>
            <a:lvl1pPr>
              <a:defRPr>
                <a:solidFill>
                  <a:schemeClr val="accent1"/>
                </a:solidFill>
                <a:latin typeface="+mj-lt"/>
              </a:defRPr>
            </a:lvl1pPr>
          </a:lstStyle>
          <a:p>
            <a:r>
              <a:rPr lang="de-DE" noProof="0" smtClean="0"/>
              <a:t>Titelmasterformat durch Klicken bearbeiten</a:t>
            </a:r>
            <a:endParaRPr lang="en-US" noProof="0"/>
          </a:p>
        </p:txBody>
      </p:sp>
      <p:sp>
        <p:nvSpPr>
          <p:cNvPr id="13" name="Datumsplatzhalter 12"/>
          <p:cNvSpPr>
            <a:spLocks noGrp="1"/>
          </p:cNvSpPr>
          <p:nvPr>
            <p:ph type="dt" sz="half" idx="10"/>
          </p:nvPr>
        </p:nvSpPr>
        <p:spPr/>
        <p:txBody>
          <a:bodyPr/>
          <a:lstStyle>
            <a:lvl1pPr>
              <a:defRPr>
                <a:solidFill>
                  <a:schemeClr val="tx1"/>
                </a:solidFill>
                <a:latin typeface="+mn-lt"/>
              </a:defRPr>
            </a:lvl1pPr>
          </a:lstStyle>
          <a:p>
            <a:fld id="{9CB49F7B-B2B0-4BB0-949A-755881F29453}" type="datetimeFigureOut">
              <a:rPr lang="en-US" smtClean="0"/>
              <a:pPr/>
              <a:t>11/3/2015</a:t>
            </a:fld>
            <a:endParaRPr lang="en-US"/>
          </a:p>
        </p:txBody>
      </p:sp>
      <p:sp>
        <p:nvSpPr>
          <p:cNvPr id="14" name="Foliennummernplatzhalter 13"/>
          <p:cNvSpPr>
            <a:spLocks noGrp="1"/>
          </p:cNvSpPr>
          <p:nvPr>
            <p:ph type="sldNum" sz="quarter" idx="11"/>
          </p:nvPr>
        </p:nvSpPr>
        <p:spPr/>
        <p:txBody>
          <a:bodyPr/>
          <a:lstStyle>
            <a:lvl1pPr>
              <a:defRPr>
                <a:solidFill>
                  <a:schemeClr val="tx1"/>
                </a:solidFill>
                <a:latin typeface="+mn-lt"/>
              </a:defRPr>
            </a:lvl1pPr>
          </a:lstStyle>
          <a:p>
            <a:fld id="{ED49832C-61C7-4B10-8018-1CA6224BDBA4}" type="slidenum">
              <a:rPr lang="en-US" smtClean="0"/>
              <a:pPr/>
              <a:t>‹#›</a:t>
            </a:fld>
            <a:endParaRPr lang="en-US"/>
          </a:p>
        </p:txBody>
      </p:sp>
      <p:sp>
        <p:nvSpPr>
          <p:cNvPr id="15" name="Fußzeilenplatzhalter 14"/>
          <p:cNvSpPr>
            <a:spLocks noGrp="1"/>
          </p:cNvSpPr>
          <p:nvPr>
            <p:ph type="ftr" sz="quarter" idx="12"/>
          </p:nvPr>
        </p:nvSpPr>
        <p:spPr/>
        <p:txBody>
          <a:bodyPr/>
          <a:lstStyle>
            <a:lvl1pPr>
              <a:defRPr>
                <a:solidFill>
                  <a:schemeClr val="tx1"/>
                </a:solidFill>
                <a:latin typeface="+mn-lt"/>
              </a:defRPr>
            </a:lvl1pPr>
          </a:lstStyle>
          <a:p>
            <a:endParaRPr lang="en-US"/>
          </a:p>
        </p:txBody>
      </p:sp>
    </p:spTree>
    <p:extLst>
      <p:ext uri="{BB962C8B-B14F-4D97-AF65-F5344CB8AC3E}">
        <p14:creationId xmlns="" xmlns:p14="http://schemas.microsoft.com/office/powerpoint/2010/main" val="3833559880"/>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hree Content Areas">
    <p:spTree>
      <p:nvGrpSpPr>
        <p:cNvPr id="1" name=""/>
        <p:cNvGrpSpPr/>
        <p:nvPr/>
      </p:nvGrpSpPr>
      <p:grpSpPr>
        <a:xfrm>
          <a:off x="0" y="0"/>
          <a:ext cx="0" cy="0"/>
          <a:chOff x="0" y="0"/>
          <a:chExt cx="0" cy="0"/>
        </a:xfrm>
      </p:grpSpPr>
      <p:sp>
        <p:nvSpPr>
          <p:cNvPr id="3" name="Inhaltsplatzhalter 2"/>
          <p:cNvSpPr>
            <a:spLocks noGrp="1"/>
          </p:cNvSpPr>
          <p:nvPr>
            <p:ph sz="half" idx="1"/>
          </p:nvPr>
        </p:nvSpPr>
        <p:spPr>
          <a:xfrm>
            <a:off x="395288" y="1341437"/>
            <a:ext cx="2736850" cy="4535488"/>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4pPr>
            <a:lvl5pPr>
              <a:buNone/>
              <a:defRPr sz="1200"/>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4" name="Inhaltsplatzhalter 3"/>
          <p:cNvSpPr>
            <a:spLocks noGrp="1"/>
          </p:cNvSpPr>
          <p:nvPr>
            <p:ph sz="half" idx="2"/>
          </p:nvPr>
        </p:nvSpPr>
        <p:spPr>
          <a:xfrm>
            <a:off x="3203575" y="1341437"/>
            <a:ext cx="2736850" cy="4535487"/>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4pPr>
            <a:lvl5pPr>
              <a:buNone/>
              <a:defRPr sz="1200"/>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8" name="Inhaltsplatzhalter 3"/>
          <p:cNvSpPr>
            <a:spLocks noGrp="1"/>
          </p:cNvSpPr>
          <p:nvPr>
            <p:ph sz="half" idx="13"/>
          </p:nvPr>
        </p:nvSpPr>
        <p:spPr>
          <a:xfrm>
            <a:off x="6011863" y="1341437"/>
            <a:ext cx="2736850" cy="4535487"/>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4pPr>
            <a:lvl5pPr>
              <a:buNone/>
              <a:defRPr sz="1200"/>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9" name="Titel 8"/>
          <p:cNvSpPr>
            <a:spLocks noGrp="1"/>
          </p:cNvSpPr>
          <p:nvPr>
            <p:ph type="title"/>
          </p:nvPr>
        </p:nvSpPr>
        <p:spPr/>
        <p:txBody>
          <a:bodyPr/>
          <a:lstStyle>
            <a:lvl1pPr>
              <a:defRPr>
                <a:solidFill>
                  <a:schemeClr val="accent1"/>
                </a:solidFill>
                <a:latin typeface="+mj-lt"/>
              </a:defRPr>
            </a:lvl1pPr>
          </a:lstStyle>
          <a:p>
            <a:r>
              <a:rPr lang="de-DE" noProof="0" smtClean="0"/>
              <a:t>Titelmasterformat durch Klicken bearbeiten</a:t>
            </a:r>
            <a:endParaRPr lang="en-US" noProof="0"/>
          </a:p>
        </p:txBody>
      </p:sp>
      <p:sp>
        <p:nvSpPr>
          <p:cNvPr id="10" name="Datumsplatzhalter 9"/>
          <p:cNvSpPr>
            <a:spLocks noGrp="1"/>
          </p:cNvSpPr>
          <p:nvPr>
            <p:ph type="dt" sz="half" idx="14"/>
          </p:nvPr>
        </p:nvSpPr>
        <p:spPr/>
        <p:txBody>
          <a:bodyPr/>
          <a:lstStyle>
            <a:lvl1pPr>
              <a:defRPr>
                <a:solidFill>
                  <a:schemeClr val="tx1"/>
                </a:solidFill>
                <a:latin typeface="+mn-lt"/>
              </a:defRPr>
            </a:lvl1pPr>
          </a:lstStyle>
          <a:p>
            <a:fld id="{9CB49F7B-B2B0-4BB0-949A-755881F29453}" type="datetimeFigureOut">
              <a:rPr lang="en-US" smtClean="0"/>
              <a:pPr/>
              <a:t>11/3/2015</a:t>
            </a:fld>
            <a:endParaRPr lang="en-US"/>
          </a:p>
        </p:txBody>
      </p:sp>
      <p:sp>
        <p:nvSpPr>
          <p:cNvPr id="11" name="Foliennummernplatzhalter 10"/>
          <p:cNvSpPr>
            <a:spLocks noGrp="1"/>
          </p:cNvSpPr>
          <p:nvPr>
            <p:ph type="sldNum" sz="quarter" idx="15"/>
          </p:nvPr>
        </p:nvSpPr>
        <p:spPr/>
        <p:txBody>
          <a:bodyPr/>
          <a:lstStyle>
            <a:lvl1pPr>
              <a:defRPr>
                <a:solidFill>
                  <a:schemeClr val="tx1"/>
                </a:solidFill>
                <a:latin typeface="+mn-lt"/>
              </a:defRPr>
            </a:lvl1pPr>
          </a:lstStyle>
          <a:p>
            <a:fld id="{ED49832C-61C7-4B10-8018-1CA6224BDBA4}" type="slidenum">
              <a:rPr lang="en-US" smtClean="0"/>
              <a:pPr/>
              <a:t>‹#›</a:t>
            </a:fld>
            <a:endParaRPr lang="en-US"/>
          </a:p>
        </p:txBody>
      </p:sp>
      <p:sp>
        <p:nvSpPr>
          <p:cNvPr id="12" name="Fußzeilenplatzhalter 11"/>
          <p:cNvSpPr>
            <a:spLocks noGrp="1"/>
          </p:cNvSpPr>
          <p:nvPr>
            <p:ph type="ftr" sz="quarter" idx="16"/>
          </p:nvPr>
        </p:nvSpPr>
        <p:spPr/>
        <p:txBody>
          <a:bodyPr/>
          <a:lstStyle>
            <a:lvl1pPr>
              <a:defRPr>
                <a:solidFill>
                  <a:schemeClr val="tx1"/>
                </a:solidFill>
                <a:latin typeface="+mn-lt"/>
              </a:defRPr>
            </a:lvl1pPr>
          </a:lstStyle>
          <a:p>
            <a:endParaRPr lang="en-US"/>
          </a:p>
        </p:txBody>
      </p:sp>
    </p:spTree>
    <p:extLst>
      <p:ext uri="{BB962C8B-B14F-4D97-AF65-F5344CB8AC3E}">
        <p14:creationId xmlns="" xmlns:p14="http://schemas.microsoft.com/office/powerpoint/2010/main" val="2791453275"/>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Four Content Areas">
    <p:spTree>
      <p:nvGrpSpPr>
        <p:cNvPr id="1" name=""/>
        <p:cNvGrpSpPr/>
        <p:nvPr/>
      </p:nvGrpSpPr>
      <p:grpSpPr>
        <a:xfrm>
          <a:off x="0" y="0"/>
          <a:ext cx="0" cy="0"/>
          <a:chOff x="0" y="0"/>
          <a:chExt cx="0" cy="0"/>
        </a:xfrm>
      </p:grpSpPr>
      <p:sp>
        <p:nvSpPr>
          <p:cNvPr id="3" name="Inhaltsplatzhalter 2"/>
          <p:cNvSpPr>
            <a:spLocks noGrp="1"/>
          </p:cNvSpPr>
          <p:nvPr>
            <p:ph sz="half" idx="1"/>
          </p:nvPr>
        </p:nvSpPr>
        <p:spPr>
          <a:xfrm>
            <a:off x="395289" y="1341437"/>
            <a:ext cx="4140200" cy="2232025"/>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4" name="Inhaltsplatzhalter 3"/>
          <p:cNvSpPr>
            <a:spLocks noGrp="1"/>
          </p:cNvSpPr>
          <p:nvPr>
            <p:ph sz="half" idx="2"/>
          </p:nvPr>
        </p:nvSpPr>
        <p:spPr>
          <a:xfrm>
            <a:off x="4606926" y="1341437"/>
            <a:ext cx="4141787" cy="2232025"/>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12" name="Titel 11"/>
          <p:cNvSpPr>
            <a:spLocks noGrp="1"/>
          </p:cNvSpPr>
          <p:nvPr>
            <p:ph type="title"/>
          </p:nvPr>
        </p:nvSpPr>
        <p:spPr/>
        <p:txBody>
          <a:bodyPr/>
          <a:lstStyle>
            <a:lvl1pPr>
              <a:defRPr>
                <a:solidFill>
                  <a:schemeClr val="accent1"/>
                </a:solidFill>
                <a:latin typeface="+mj-lt"/>
              </a:defRPr>
            </a:lvl1pPr>
          </a:lstStyle>
          <a:p>
            <a:r>
              <a:rPr lang="de-DE" noProof="0" smtClean="0"/>
              <a:t>Titelmasterformat durch Klicken bearbeiten</a:t>
            </a:r>
            <a:endParaRPr lang="en-US" noProof="0"/>
          </a:p>
        </p:txBody>
      </p:sp>
      <p:sp>
        <p:nvSpPr>
          <p:cNvPr id="13" name="Datumsplatzhalter 12"/>
          <p:cNvSpPr>
            <a:spLocks noGrp="1"/>
          </p:cNvSpPr>
          <p:nvPr>
            <p:ph type="dt" sz="half" idx="10"/>
          </p:nvPr>
        </p:nvSpPr>
        <p:spPr/>
        <p:txBody>
          <a:bodyPr/>
          <a:lstStyle>
            <a:lvl1pPr>
              <a:defRPr>
                <a:solidFill>
                  <a:schemeClr val="tx1"/>
                </a:solidFill>
                <a:latin typeface="+mn-lt"/>
              </a:defRPr>
            </a:lvl1pPr>
          </a:lstStyle>
          <a:p>
            <a:fld id="{9CB49F7B-B2B0-4BB0-949A-755881F29453}" type="datetimeFigureOut">
              <a:rPr lang="en-US" smtClean="0"/>
              <a:pPr/>
              <a:t>11/3/2015</a:t>
            </a:fld>
            <a:endParaRPr lang="en-US"/>
          </a:p>
        </p:txBody>
      </p:sp>
      <p:sp>
        <p:nvSpPr>
          <p:cNvPr id="14" name="Foliennummernplatzhalter 13"/>
          <p:cNvSpPr>
            <a:spLocks noGrp="1"/>
          </p:cNvSpPr>
          <p:nvPr>
            <p:ph type="sldNum" sz="quarter" idx="11"/>
          </p:nvPr>
        </p:nvSpPr>
        <p:spPr/>
        <p:txBody>
          <a:bodyPr/>
          <a:lstStyle>
            <a:lvl1pPr>
              <a:defRPr>
                <a:solidFill>
                  <a:schemeClr val="tx1"/>
                </a:solidFill>
                <a:latin typeface="+mn-lt"/>
              </a:defRPr>
            </a:lvl1pPr>
          </a:lstStyle>
          <a:p>
            <a:fld id="{ED49832C-61C7-4B10-8018-1CA6224BDBA4}" type="slidenum">
              <a:rPr lang="en-US" smtClean="0"/>
              <a:pPr/>
              <a:t>‹#›</a:t>
            </a:fld>
            <a:endParaRPr lang="en-US"/>
          </a:p>
        </p:txBody>
      </p:sp>
      <p:sp>
        <p:nvSpPr>
          <p:cNvPr id="15" name="Fußzeilenplatzhalter 14"/>
          <p:cNvSpPr>
            <a:spLocks noGrp="1"/>
          </p:cNvSpPr>
          <p:nvPr>
            <p:ph type="ftr" sz="quarter" idx="12"/>
          </p:nvPr>
        </p:nvSpPr>
        <p:spPr/>
        <p:txBody>
          <a:bodyPr/>
          <a:lstStyle>
            <a:lvl1pPr>
              <a:defRPr>
                <a:solidFill>
                  <a:schemeClr val="tx1"/>
                </a:solidFill>
                <a:latin typeface="+mn-lt"/>
              </a:defRPr>
            </a:lvl1pPr>
          </a:lstStyle>
          <a:p>
            <a:endParaRPr lang="en-US"/>
          </a:p>
        </p:txBody>
      </p:sp>
      <p:sp>
        <p:nvSpPr>
          <p:cNvPr id="18" name="Inhaltsplatzhalter 2"/>
          <p:cNvSpPr>
            <a:spLocks noGrp="1"/>
          </p:cNvSpPr>
          <p:nvPr>
            <p:ph sz="half" idx="13"/>
          </p:nvPr>
        </p:nvSpPr>
        <p:spPr>
          <a:xfrm>
            <a:off x="395289" y="3644900"/>
            <a:ext cx="4140199" cy="2232025"/>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dirty="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
        <p:nvSpPr>
          <p:cNvPr id="19" name="Inhaltsplatzhalter 3"/>
          <p:cNvSpPr>
            <a:spLocks noGrp="1"/>
          </p:cNvSpPr>
          <p:nvPr>
            <p:ph sz="half" idx="14"/>
          </p:nvPr>
        </p:nvSpPr>
        <p:spPr>
          <a:xfrm>
            <a:off x="4606926" y="3644900"/>
            <a:ext cx="4141788" cy="2232025"/>
          </a:xfrm>
        </p:spPr>
        <p:txBody>
          <a:bodyPr vert="horz" lIns="0" tIns="18000" rIns="0" bIns="18000" rtlCol="0">
            <a:normAutofit/>
          </a:bodyPr>
          <a:lstStyle>
            <a:lvl1pPr marL="177800"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SzPct val="125000"/>
              <a:buFont typeface="Arial" pitchFamily="34" charset="0"/>
              <a:buChar char="›"/>
              <a:defRPr lang="de-DE" sz="1600" b="0" kern="1200" smtClean="0">
                <a:solidFill>
                  <a:schemeClr val="tx1"/>
                </a:solidFill>
                <a:latin typeface="+mn-lt"/>
                <a:ea typeface="+mn-ea"/>
                <a:cs typeface="Arial" pitchFamily="34" charset="0"/>
              </a:defRPr>
            </a:lvl4pPr>
            <a:lvl5pPr algn="l" defTabSz="914400" rtl="0" eaLnBrk="1" latinLnBrk="0" hangingPunct="1">
              <a:lnSpc>
                <a:spcPct val="100000"/>
              </a:lnSpc>
              <a:spcBef>
                <a:spcPts val="0"/>
              </a:spcBef>
              <a:spcAft>
                <a:spcPts val="1200"/>
              </a:spcAft>
              <a:buSzPct val="100000"/>
              <a:buFontTx/>
              <a:buNone/>
              <a:defRPr lang="de-DE" sz="16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de-DE" noProof="0" smtClean="0"/>
              <a:t>Textmasterformat bearbeiten</a:t>
            </a:r>
          </a:p>
          <a:p>
            <a:pPr lvl="1"/>
            <a:r>
              <a:rPr lang="de-DE" noProof="0" smtClean="0"/>
              <a:t>Zweite Ebene</a:t>
            </a:r>
          </a:p>
          <a:p>
            <a:pPr lvl="2"/>
            <a:r>
              <a:rPr lang="de-DE" noProof="0" smtClean="0"/>
              <a:t>Dritte Ebene</a:t>
            </a:r>
          </a:p>
          <a:p>
            <a:pPr lvl="3"/>
            <a:r>
              <a:rPr lang="de-DE" noProof="0" smtClean="0"/>
              <a:t>Vierte Ebene</a:t>
            </a:r>
          </a:p>
        </p:txBody>
      </p:sp>
    </p:spTree>
    <p:extLst>
      <p:ext uri="{BB962C8B-B14F-4D97-AF65-F5344CB8AC3E}">
        <p14:creationId xmlns="" xmlns:p14="http://schemas.microsoft.com/office/powerpoint/2010/main" val="632796906"/>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el 5"/>
          <p:cNvSpPr>
            <a:spLocks noGrp="1"/>
          </p:cNvSpPr>
          <p:nvPr>
            <p:ph type="title"/>
          </p:nvPr>
        </p:nvSpPr>
        <p:spPr/>
        <p:txBody>
          <a:bodyPr/>
          <a:lstStyle>
            <a:lvl1pPr>
              <a:defRPr>
                <a:solidFill>
                  <a:schemeClr val="accent1"/>
                </a:solidFill>
                <a:latin typeface="+mj-lt"/>
              </a:defRPr>
            </a:lvl1pPr>
          </a:lstStyle>
          <a:p>
            <a:r>
              <a:rPr lang="de-DE" noProof="0" smtClean="0"/>
              <a:t>Titelmasterformat durch Klicken bearbeiten</a:t>
            </a:r>
            <a:endParaRPr lang="en-US" noProof="0"/>
          </a:p>
        </p:txBody>
      </p:sp>
      <p:sp>
        <p:nvSpPr>
          <p:cNvPr id="7" name="Datumsplatzhalter 6"/>
          <p:cNvSpPr>
            <a:spLocks noGrp="1"/>
          </p:cNvSpPr>
          <p:nvPr>
            <p:ph type="dt" sz="half" idx="10"/>
          </p:nvPr>
        </p:nvSpPr>
        <p:spPr/>
        <p:txBody>
          <a:bodyPr/>
          <a:lstStyle>
            <a:lvl1pPr>
              <a:defRPr>
                <a:solidFill>
                  <a:schemeClr val="tx1"/>
                </a:solidFill>
              </a:defRPr>
            </a:lvl1pPr>
          </a:lstStyle>
          <a:p>
            <a:fld id="{9CB49F7B-B2B0-4BB0-949A-755881F29453}" type="datetimeFigureOut">
              <a:rPr lang="en-US" smtClean="0"/>
              <a:pPr/>
              <a:t>11/3/2015</a:t>
            </a:fld>
            <a:endParaRPr lang="en-US"/>
          </a:p>
        </p:txBody>
      </p:sp>
      <p:sp>
        <p:nvSpPr>
          <p:cNvPr id="8" name="Foliennummernplatzhalter 7"/>
          <p:cNvSpPr>
            <a:spLocks noGrp="1"/>
          </p:cNvSpPr>
          <p:nvPr>
            <p:ph type="sldNum" sz="quarter" idx="11"/>
          </p:nvPr>
        </p:nvSpPr>
        <p:spPr/>
        <p:txBody>
          <a:bodyPr/>
          <a:lstStyle>
            <a:lvl1pPr>
              <a:defRPr>
                <a:solidFill>
                  <a:schemeClr val="tx1"/>
                </a:solidFill>
              </a:defRPr>
            </a:lvl1pPr>
          </a:lstStyle>
          <a:p>
            <a:fld id="{ED49832C-61C7-4B10-8018-1CA6224BDBA4}" type="slidenum">
              <a:rPr lang="en-US" smtClean="0"/>
              <a:pPr/>
              <a:t>‹#›</a:t>
            </a:fld>
            <a:endParaRPr lang="en-US"/>
          </a:p>
        </p:txBody>
      </p:sp>
      <p:sp>
        <p:nvSpPr>
          <p:cNvPr id="9" name="Fußzeilenplatzhalter 8"/>
          <p:cNvSpPr>
            <a:spLocks noGrp="1"/>
          </p:cNvSpPr>
          <p:nvPr>
            <p:ph type="ftr" sz="quarter" idx="12"/>
          </p:nvPr>
        </p:nvSpPr>
        <p:spPr/>
        <p:txBody>
          <a:bodyPr/>
          <a:lstStyle>
            <a:lvl1pPr>
              <a:defRPr>
                <a:solidFill>
                  <a:schemeClr val="tx1"/>
                </a:solidFill>
              </a:defRPr>
            </a:lvl1pPr>
          </a:lstStyle>
          <a:p>
            <a:endParaRPr lang="en-US"/>
          </a:p>
        </p:txBody>
      </p:sp>
    </p:spTree>
    <p:extLst>
      <p:ext uri="{BB962C8B-B14F-4D97-AF65-F5344CB8AC3E}">
        <p14:creationId xmlns="" xmlns:p14="http://schemas.microsoft.com/office/powerpoint/2010/main" val="3648201249"/>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
    <p:spTree>
      <p:nvGrpSpPr>
        <p:cNvPr id="1" name=""/>
        <p:cNvGrpSpPr/>
        <p:nvPr/>
      </p:nvGrpSpPr>
      <p:grpSpPr>
        <a:xfrm>
          <a:off x="0" y="0"/>
          <a:ext cx="0" cy="0"/>
          <a:chOff x="0" y="0"/>
          <a:chExt cx="0" cy="0"/>
        </a:xfrm>
      </p:grpSpPr>
      <p:sp>
        <p:nvSpPr>
          <p:cNvPr id="5" name="Datumsplatzhalter 4"/>
          <p:cNvSpPr>
            <a:spLocks noGrp="1"/>
          </p:cNvSpPr>
          <p:nvPr>
            <p:ph type="dt" sz="half" idx="10"/>
          </p:nvPr>
        </p:nvSpPr>
        <p:spPr/>
        <p:txBody>
          <a:bodyPr/>
          <a:lstStyle>
            <a:lvl1pPr>
              <a:defRPr>
                <a:solidFill>
                  <a:schemeClr val="tx1"/>
                </a:solidFill>
              </a:defRPr>
            </a:lvl1pPr>
          </a:lstStyle>
          <a:p>
            <a:fld id="{9CB49F7B-B2B0-4BB0-949A-755881F29453}" type="datetimeFigureOut">
              <a:rPr lang="en-US" smtClean="0"/>
              <a:pPr/>
              <a:t>11/3/2015</a:t>
            </a:fld>
            <a:endParaRPr lang="en-US"/>
          </a:p>
        </p:txBody>
      </p:sp>
      <p:sp>
        <p:nvSpPr>
          <p:cNvPr id="6" name="Foliennummernplatzhalter 5"/>
          <p:cNvSpPr>
            <a:spLocks noGrp="1"/>
          </p:cNvSpPr>
          <p:nvPr>
            <p:ph type="sldNum" sz="quarter" idx="11"/>
          </p:nvPr>
        </p:nvSpPr>
        <p:spPr/>
        <p:txBody>
          <a:bodyPr/>
          <a:lstStyle>
            <a:lvl1pPr>
              <a:defRPr>
                <a:solidFill>
                  <a:schemeClr val="tx1"/>
                </a:solidFill>
              </a:defRPr>
            </a:lvl1pPr>
          </a:lstStyle>
          <a:p>
            <a:fld id="{ED49832C-61C7-4B10-8018-1CA6224BDBA4}" type="slidenum">
              <a:rPr lang="en-US" smtClean="0"/>
              <a:pPr/>
              <a:t>‹#›</a:t>
            </a:fld>
            <a:endParaRPr lang="en-US"/>
          </a:p>
        </p:txBody>
      </p:sp>
      <p:sp>
        <p:nvSpPr>
          <p:cNvPr id="7" name="Fußzeilenplatzhalter 6"/>
          <p:cNvSpPr>
            <a:spLocks noGrp="1"/>
          </p:cNvSpPr>
          <p:nvPr>
            <p:ph type="ftr" sz="quarter" idx="12"/>
          </p:nvPr>
        </p:nvSpPr>
        <p:spPr/>
        <p:txBody>
          <a:bodyPr/>
          <a:lstStyle>
            <a:lvl1pPr>
              <a:defRPr>
                <a:solidFill>
                  <a:schemeClr val="tx1"/>
                </a:solidFill>
              </a:defRPr>
            </a:lvl1pPr>
          </a:lstStyle>
          <a:p>
            <a:endParaRPr lang="en-US"/>
          </a:p>
        </p:txBody>
      </p:sp>
    </p:spTree>
    <p:extLst>
      <p:ext uri="{BB962C8B-B14F-4D97-AF65-F5344CB8AC3E}">
        <p14:creationId xmlns="" xmlns:p14="http://schemas.microsoft.com/office/powerpoint/2010/main" val="891307712"/>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nd (orange)">
    <p:bg>
      <p:bgPr>
        <a:solidFill>
          <a:schemeClr val="accent1"/>
        </a:solidFill>
        <a:effectLst/>
      </p:bgPr>
    </p:bg>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95288" y="3114488"/>
            <a:ext cx="8353425" cy="2762437"/>
          </a:xfrm>
        </p:spPr>
        <p:txBody>
          <a:bodyPr>
            <a:noAutofit/>
          </a:bodyPr>
          <a:lstStyle>
            <a:lvl1pPr marL="0" indent="0">
              <a:lnSpc>
                <a:spcPct val="113000"/>
              </a:lnSpc>
              <a:buSzPct val="125000"/>
              <a:buFont typeface="Arial" pitchFamily="34" charset="0"/>
              <a:buNone/>
              <a:defRPr sz="2400">
                <a:solidFill>
                  <a:schemeClr val="bg1"/>
                </a:solidFill>
              </a:defRPr>
            </a:lvl1pPr>
            <a:lvl2pPr marL="184150" indent="-184150">
              <a:lnSpc>
                <a:spcPct val="113000"/>
              </a:lnSpc>
              <a:buClr>
                <a:schemeClr val="accent1"/>
              </a:buClr>
              <a:buSzPct val="125000"/>
              <a:buFont typeface="Arial" pitchFamily="34" charset="0"/>
              <a:buChar char="›"/>
              <a:defRPr sz="2400">
                <a:solidFill>
                  <a:schemeClr val="tx1"/>
                </a:solidFill>
              </a:defRPr>
            </a:lvl2pPr>
            <a:lvl3pPr marL="539750" indent="-177800">
              <a:lnSpc>
                <a:spcPct val="113000"/>
              </a:lnSpc>
              <a:buClr>
                <a:schemeClr val="accent1"/>
              </a:buClr>
              <a:buSzPct val="125000"/>
              <a:buFont typeface="Arial" pitchFamily="34" charset="0"/>
              <a:buChar char="›"/>
              <a:defRPr sz="2400">
                <a:solidFill>
                  <a:schemeClr val="tx1"/>
                </a:solidFill>
              </a:defRPr>
            </a:lvl3pPr>
            <a:lvl4pPr marL="895350" indent="-179388">
              <a:lnSpc>
                <a:spcPct val="113000"/>
              </a:lnSpc>
              <a:buClr>
                <a:schemeClr val="accent1"/>
              </a:buClr>
              <a:buSzPct val="125000"/>
              <a:buFont typeface="Arial" pitchFamily="34" charset="0"/>
              <a:buChar char="›"/>
              <a:defRPr sz="2400">
                <a:solidFill>
                  <a:schemeClr val="tx1"/>
                </a:solidFill>
              </a:defRPr>
            </a:lvl4pPr>
            <a:lvl5pPr marL="1257300" indent="-177800">
              <a:lnSpc>
                <a:spcPct val="113000"/>
              </a:lnSpc>
              <a:buClr>
                <a:schemeClr val="accent1"/>
              </a:buClr>
              <a:buSzPct val="125000"/>
              <a:buFont typeface="Arial" pitchFamily="34" charset="0"/>
              <a:buChar char="›"/>
              <a:defRPr sz="2400">
                <a:solidFill>
                  <a:schemeClr val="tx1"/>
                </a:solidFill>
              </a:defRPr>
            </a:lvl5pPr>
          </a:lstStyle>
          <a:p>
            <a:pPr lvl="0"/>
            <a:r>
              <a:rPr lang="en-US" noProof="0" smtClean="0"/>
              <a:t>Textmasterformate durch Klicken bearbeiten</a:t>
            </a:r>
          </a:p>
        </p:txBody>
      </p:sp>
      <p:sp>
        <p:nvSpPr>
          <p:cNvPr id="8" name="Titel 7"/>
          <p:cNvSpPr>
            <a:spLocks noGrp="1"/>
          </p:cNvSpPr>
          <p:nvPr>
            <p:ph type="title"/>
          </p:nvPr>
        </p:nvSpPr>
        <p:spPr>
          <a:xfrm>
            <a:off x="395288" y="2456892"/>
            <a:ext cx="8353425" cy="719137"/>
          </a:xfrm>
        </p:spPr>
        <p:txBody>
          <a:bodyPr/>
          <a:lstStyle>
            <a:lvl1pPr>
              <a:defRPr>
                <a:solidFill>
                  <a:schemeClr val="bg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9CB49F7B-B2B0-4BB0-949A-755881F29453}" type="datetimeFigureOut">
              <a:rPr lang="en-US" smtClean="0"/>
              <a:pPr/>
              <a:t>11/3/2015</a:t>
            </a:fld>
            <a:endParaRPr lang="en-US"/>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ED49832C-61C7-4B10-8018-1CA6224BDBA4}" type="slidenum">
              <a:rPr lang="en-US" smtClean="0"/>
              <a:pPr/>
              <a:t>‹#›</a:t>
            </a:fld>
            <a:endParaRPr lang="en-US"/>
          </a:p>
        </p:txBody>
      </p:sp>
      <p:sp>
        <p:nvSpPr>
          <p:cNvPr id="11" name="Fußzeilenplatzhalter 10"/>
          <p:cNvSpPr>
            <a:spLocks noGrp="1"/>
          </p:cNvSpPr>
          <p:nvPr>
            <p:ph type="ftr" sz="quarter" idx="12"/>
          </p:nvPr>
        </p:nvSpPr>
        <p:spPr/>
        <p:txBody>
          <a:bodyPr/>
          <a:lstStyle>
            <a:lvl1pPr>
              <a:defRPr>
                <a:solidFill>
                  <a:schemeClr val="tx1"/>
                </a:solidFill>
              </a:defRPr>
            </a:lvl1pPr>
          </a:lstStyle>
          <a:p>
            <a:endParaRPr lang="en-US"/>
          </a:p>
        </p:txBody>
      </p:sp>
      <p:pic>
        <p:nvPicPr>
          <p:cNvPr id="15" name="Bild 3"/>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252412" y="6094965"/>
            <a:ext cx="1857600" cy="570154"/>
          </a:xfrm>
          <a:prstGeom prst="rect">
            <a:avLst/>
          </a:prstGeom>
          <a:noFill/>
          <a:ln>
            <a:noFill/>
          </a:ln>
        </p:spPr>
      </p:pic>
      <p:cxnSp>
        <p:nvCxnSpPr>
          <p:cNvPr id="13" name="Gerade Verbindung 12"/>
          <p:cNvCxnSpPr/>
          <p:nvPr/>
        </p:nvCxnSpPr>
        <p:spPr>
          <a:xfrm>
            <a:off x="395288" y="6044592"/>
            <a:ext cx="8353425" cy="0"/>
          </a:xfrm>
          <a:prstGeom prst="line">
            <a:avLst/>
          </a:prstGeom>
          <a:ln w="444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Box 23"/>
          <p:cNvSpPr txBox="1">
            <a:spLocks noChangeArrowheads="1"/>
          </p:cNvSpPr>
          <p:nvPr>
            <p:custDataLst>
              <p:tags r:id="rId1"/>
            </p:custDataLst>
          </p:nvPr>
        </p:nvSpPr>
        <p:spPr bwMode="auto">
          <a:xfrm>
            <a:off x="3501406" y="6375515"/>
            <a:ext cx="2726779" cy="128114"/>
          </a:xfrm>
          <a:prstGeom prst="rect">
            <a:avLst/>
          </a:prstGeom>
          <a:noFill/>
          <a:ln w="9525">
            <a:noFill/>
            <a:miter lim="800000"/>
            <a:headEnd/>
            <a:tailEnd/>
          </a:ln>
          <a:effectLst/>
        </p:spPr>
        <p:txBody>
          <a:bodyPr lIns="0" tIns="0" rIns="0" bIns="0" anchor="t" anchorCtr="0"/>
          <a:lstStyle/>
          <a:p>
            <a:pPr algn="l" defTabSz="895888"/>
            <a:r>
              <a:rPr lang="en-US" sz="700" noProof="0" smtClean="0">
                <a:solidFill>
                  <a:schemeClr val="tx1"/>
                </a:solidFill>
                <a:latin typeface="+mn-lt"/>
              </a:rPr>
              <a:t>Confidential</a:t>
            </a:r>
            <a:endParaRPr lang="en-US" sz="700" noProof="0">
              <a:solidFill>
                <a:schemeClr val="tx1"/>
              </a:solidFill>
              <a:latin typeface="+mn-lt"/>
            </a:endParaRPr>
          </a:p>
        </p:txBody>
      </p:sp>
      <p:sp>
        <p:nvSpPr>
          <p:cNvPr id="16" name="Text Box 23"/>
          <p:cNvSpPr txBox="1">
            <a:spLocks noChangeArrowheads="1"/>
          </p:cNvSpPr>
          <p:nvPr>
            <p:custDataLst>
              <p:tags r:id="rId2"/>
            </p:custDataLst>
          </p:nvPr>
        </p:nvSpPr>
        <p:spPr bwMode="auto">
          <a:xfrm>
            <a:off x="3501407" y="6237312"/>
            <a:ext cx="2726778" cy="137617"/>
          </a:xfrm>
          <a:prstGeom prst="rect">
            <a:avLst/>
          </a:prstGeom>
          <a:noFill/>
          <a:ln w="9525">
            <a:noFill/>
            <a:miter lim="800000"/>
            <a:headEnd/>
            <a:tailEnd/>
          </a:ln>
          <a:effectLst/>
        </p:spPr>
        <p:txBody>
          <a:bodyPr lIns="0" tIns="0" rIns="0" bIns="0" anchor="b"/>
          <a:lstStyle/>
          <a:p>
            <a:pPr algn="l" defTabSz="895888"/>
            <a:r>
              <a:rPr lang="en-US" sz="700" b="1" noProof="0" smtClean="0">
                <a:solidFill>
                  <a:schemeClr val="tx1"/>
                </a:solidFill>
                <a:latin typeface="+mn-lt"/>
              </a:rPr>
              <a:t>Space for Sender Information</a:t>
            </a:r>
            <a:endParaRPr lang="en-US" sz="700" b="1" noProof="0">
              <a:solidFill>
                <a:schemeClr val="tx1"/>
              </a:solidFill>
              <a:latin typeface="+mn-lt"/>
            </a:endParaRPr>
          </a:p>
        </p:txBody>
      </p:sp>
      <p:grpSp>
        <p:nvGrpSpPr>
          <p:cNvPr id="2" name="Gruppieren 16"/>
          <p:cNvGrpSpPr/>
          <p:nvPr/>
        </p:nvGrpSpPr>
        <p:grpSpPr>
          <a:xfrm>
            <a:off x="0" y="0"/>
            <a:ext cx="9144000" cy="6858000"/>
            <a:chOff x="0" y="0"/>
            <a:chExt cx="9144000" cy="6858000"/>
          </a:xfrm>
          <a:solidFill>
            <a:schemeClr val="bg1"/>
          </a:solidFill>
        </p:grpSpPr>
        <p:sp>
          <p:nvSpPr>
            <p:cNvPr id="18" name="Rechteck 17"/>
            <p:cNvSpPr/>
            <p:nvPr userDrawn="1"/>
          </p:nvSpPr>
          <p:spPr>
            <a:xfrm>
              <a:off x="0" y="0"/>
              <a:ext cx="179388"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9" name="Rechteck 18"/>
            <p:cNvSpPr/>
            <p:nvPr userDrawn="1"/>
          </p:nvSpPr>
          <p:spPr>
            <a:xfrm>
              <a:off x="0" y="0"/>
              <a:ext cx="9144000" cy="188913"/>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0" name="Rechteck 19"/>
            <p:cNvSpPr/>
            <p:nvPr userDrawn="1"/>
          </p:nvSpPr>
          <p:spPr>
            <a:xfrm>
              <a:off x="0" y="6669088"/>
              <a:ext cx="9107488" cy="188912"/>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1" name="Rechteck 20"/>
            <p:cNvSpPr/>
            <p:nvPr userDrawn="1"/>
          </p:nvSpPr>
          <p:spPr>
            <a:xfrm>
              <a:off x="8964612" y="0"/>
              <a:ext cx="179387"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grpSp>
    </p:spTree>
    <p:extLst>
      <p:ext uri="{BB962C8B-B14F-4D97-AF65-F5344CB8AC3E}">
        <p14:creationId xmlns="" xmlns:p14="http://schemas.microsoft.com/office/powerpoint/2010/main" val="2229844481"/>
      </p:ext>
    </p:extLst>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End (white)">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95288" y="3114488"/>
            <a:ext cx="8353425" cy="2762437"/>
          </a:xfrm>
        </p:spPr>
        <p:txBody>
          <a:bodyPr>
            <a:noAutofit/>
          </a:bodyPr>
          <a:lstStyle>
            <a:lvl1pPr marL="0" indent="0">
              <a:lnSpc>
                <a:spcPct val="113000"/>
              </a:lnSpc>
              <a:buSzPct val="125000"/>
              <a:buFont typeface="Arial" pitchFamily="34" charset="0"/>
              <a:buNone/>
              <a:defRPr sz="2400">
                <a:solidFill>
                  <a:schemeClr val="tx1"/>
                </a:solidFill>
              </a:defRPr>
            </a:lvl1pPr>
            <a:lvl2pPr marL="184150" indent="-184150">
              <a:lnSpc>
                <a:spcPct val="113000"/>
              </a:lnSpc>
              <a:buClr>
                <a:schemeClr val="accent1"/>
              </a:buClr>
              <a:buSzPct val="125000"/>
              <a:buFont typeface="Arial" pitchFamily="34" charset="0"/>
              <a:buChar char="›"/>
              <a:defRPr sz="2400">
                <a:solidFill>
                  <a:schemeClr val="tx1"/>
                </a:solidFill>
              </a:defRPr>
            </a:lvl2pPr>
            <a:lvl3pPr marL="539750" indent="-177800">
              <a:lnSpc>
                <a:spcPct val="113000"/>
              </a:lnSpc>
              <a:buClr>
                <a:schemeClr val="accent1"/>
              </a:buClr>
              <a:buSzPct val="125000"/>
              <a:buFont typeface="Arial" pitchFamily="34" charset="0"/>
              <a:buChar char="›"/>
              <a:defRPr sz="2400">
                <a:solidFill>
                  <a:schemeClr val="tx1"/>
                </a:solidFill>
              </a:defRPr>
            </a:lvl3pPr>
            <a:lvl4pPr marL="895350" indent="-179388">
              <a:lnSpc>
                <a:spcPct val="113000"/>
              </a:lnSpc>
              <a:buClr>
                <a:schemeClr val="accent1"/>
              </a:buClr>
              <a:buSzPct val="125000"/>
              <a:buFont typeface="Arial" pitchFamily="34" charset="0"/>
              <a:buChar char="›"/>
              <a:defRPr sz="2400">
                <a:solidFill>
                  <a:schemeClr val="tx1"/>
                </a:solidFill>
              </a:defRPr>
            </a:lvl4pPr>
            <a:lvl5pPr marL="1257300" indent="-177800">
              <a:lnSpc>
                <a:spcPct val="113000"/>
              </a:lnSpc>
              <a:buClr>
                <a:schemeClr val="accent1"/>
              </a:buClr>
              <a:buSzPct val="125000"/>
              <a:buFont typeface="Arial" pitchFamily="34" charset="0"/>
              <a:buChar char="›"/>
              <a:defRPr sz="2400">
                <a:solidFill>
                  <a:schemeClr val="tx1"/>
                </a:solidFill>
              </a:defRPr>
            </a:lvl5pPr>
          </a:lstStyle>
          <a:p>
            <a:pPr lvl="0"/>
            <a:r>
              <a:rPr lang="en-US" noProof="0" smtClean="0"/>
              <a:t>Textmasterformate durch Klicken bearbeiten</a:t>
            </a:r>
          </a:p>
        </p:txBody>
      </p:sp>
      <p:sp>
        <p:nvSpPr>
          <p:cNvPr id="8" name="Titel 7"/>
          <p:cNvSpPr>
            <a:spLocks noGrp="1"/>
          </p:cNvSpPr>
          <p:nvPr>
            <p:ph type="title"/>
          </p:nvPr>
        </p:nvSpPr>
        <p:spPr>
          <a:xfrm>
            <a:off x="395288" y="2456892"/>
            <a:ext cx="8353425" cy="719137"/>
          </a:xfrm>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tx1"/>
                </a:solidFill>
              </a:defRPr>
            </a:lvl1pPr>
          </a:lstStyle>
          <a:p>
            <a:fld id="{9CB49F7B-B2B0-4BB0-949A-755881F29453}" type="datetimeFigureOut">
              <a:rPr lang="en-US" smtClean="0"/>
              <a:pPr/>
              <a:t>11/3/2015</a:t>
            </a:fld>
            <a:endParaRPr lang="en-US"/>
          </a:p>
        </p:txBody>
      </p:sp>
      <p:sp>
        <p:nvSpPr>
          <p:cNvPr id="10" name="Foliennummernplatzhalter 9"/>
          <p:cNvSpPr>
            <a:spLocks noGrp="1"/>
          </p:cNvSpPr>
          <p:nvPr>
            <p:ph type="sldNum" sz="quarter" idx="11"/>
          </p:nvPr>
        </p:nvSpPr>
        <p:spPr/>
        <p:txBody>
          <a:bodyPr/>
          <a:lstStyle>
            <a:lvl1pPr>
              <a:defRPr>
                <a:solidFill>
                  <a:schemeClr val="tx1"/>
                </a:solidFill>
              </a:defRPr>
            </a:lvl1pPr>
          </a:lstStyle>
          <a:p>
            <a:fld id="{ED49832C-61C7-4B10-8018-1CA6224BDBA4}" type="slidenum">
              <a:rPr lang="en-US" smtClean="0"/>
              <a:pPr/>
              <a:t>‹#›</a:t>
            </a:fld>
            <a:endParaRPr lang="en-US"/>
          </a:p>
        </p:txBody>
      </p:sp>
      <p:sp>
        <p:nvSpPr>
          <p:cNvPr id="11" name="Fußzeilenplatzhalter 10"/>
          <p:cNvSpPr>
            <a:spLocks noGrp="1"/>
          </p:cNvSpPr>
          <p:nvPr>
            <p:ph type="ftr" sz="quarter" idx="12"/>
          </p:nvPr>
        </p:nvSpPr>
        <p:spPr/>
        <p:txBody>
          <a:bodyPr/>
          <a:lstStyle>
            <a:lvl1pPr>
              <a:defRPr>
                <a:solidFill>
                  <a:schemeClr val="tx1"/>
                </a:solidFill>
              </a:defRPr>
            </a:lvl1pPr>
          </a:lstStyle>
          <a:p>
            <a:endParaRPr lang="en-US"/>
          </a:p>
        </p:txBody>
      </p:sp>
      <p:grpSp>
        <p:nvGrpSpPr>
          <p:cNvPr id="2" name="Gruppieren 12"/>
          <p:cNvGrpSpPr/>
          <p:nvPr/>
        </p:nvGrpSpPr>
        <p:grpSpPr>
          <a:xfrm>
            <a:off x="0" y="0"/>
            <a:ext cx="9144000" cy="6858000"/>
            <a:chOff x="0" y="0"/>
            <a:chExt cx="9144000" cy="6858000"/>
          </a:xfrm>
          <a:solidFill>
            <a:schemeClr val="bg1"/>
          </a:solidFill>
        </p:grpSpPr>
        <p:sp>
          <p:nvSpPr>
            <p:cNvPr id="14" name="Rechteck 13"/>
            <p:cNvSpPr/>
            <p:nvPr userDrawn="1"/>
          </p:nvSpPr>
          <p:spPr>
            <a:xfrm>
              <a:off x="0" y="0"/>
              <a:ext cx="179388"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5" name="Rechteck 14"/>
            <p:cNvSpPr/>
            <p:nvPr userDrawn="1"/>
          </p:nvSpPr>
          <p:spPr>
            <a:xfrm>
              <a:off x="0" y="0"/>
              <a:ext cx="9144000" cy="188913"/>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6" name="Rechteck 15"/>
            <p:cNvSpPr/>
            <p:nvPr userDrawn="1"/>
          </p:nvSpPr>
          <p:spPr>
            <a:xfrm>
              <a:off x="0" y="6669088"/>
              <a:ext cx="9107488" cy="188912"/>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7" name="Rechteck 16"/>
            <p:cNvSpPr/>
            <p:nvPr userDrawn="1"/>
          </p:nvSpPr>
          <p:spPr>
            <a:xfrm>
              <a:off x="8964612" y="0"/>
              <a:ext cx="179387"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grpSp>
    </p:spTree>
    <p:extLst>
      <p:ext uri="{BB962C8B-B14F-4D97-AF65-F5344CB8AC3E}">
        <p14:creationId xmlns="" xmlns:p14="http://schemas.microsoft.com/office/powerpoint/2010/main" val="1416911951"/>
      </p:ext>
    </p:extLst>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End (black)">
    <p:bg>
      <p:bgPr>
        <a:solidFill>
          <a:schemeClr val="tx1"/>
        </a:solidFill>
        <a:effectLst/>
      </p:bgPr>
    </p:bg>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95288" y="3114488"/>
            <a:ext cx="8353425" cy="2762437"/>
          </a:xfrm>
        </p:spPr>
        <p:txBody>
          <a:bodyPr>
            <a:noAutofit/>
          </a:bodyPr>
          <a:lstStyle>
            <a:lvl1pPr marL="0" indent="0">
              <a:lnSpc>
                <a:spcPct val="113000"/>
              </a:lnSpc>
              <a:buSzPct val="125000"/>
              <a:buFont typeface="Arial" pitchFamily="34" charset="0"/>
              <a:buNone/>
              <a:defRPr sz="2400">
                <a:solidFill>
                  <a:schemeClr val="bg1"/>
                </a:solidFill>
              </a:defRPr>
            </a:lvl1pPr>
            <a:lvl2pPr marL="184150" indent="-184150">
              <a:lnSpc>
                <a:spcPct val="113000"/>
              </a:lnSpc>
              <a:buClr>
                <a:schemeClr val="accent1"/>
              </a:buClr>
              <a:buSzPct val="125000"/>
              <a:buFont typeface="Arial" pitchFamily="34" charset="0"/>
              <a:buChar char="›"/>
              <a:defRPr sz="2400">
                <a:solidFill>
                  <a:schemeClr val="tx1"/>
                </a:solidFill>
              </a:defRPr>
            </a:lvl2pPr>
            <a:lvl3pPr marL="539750" indent="-177800">
              <a:lnSpc>
                <a:spcPct val="113000"/>
              </a:lnSpc>
              <a:buClr>
                <a:schemeClr val="accent1"/>
              </a:buClr>
              <a:buSzPct val="125000"/>
              <a:buFont typeface="Arial" pitchFamily="34" charset="0"/>
              <a:buChar char="›"/>
              <a:defRPr sz="2400">
                <a:solidFill>
                  <a:schemeClr val="tx1"/>
                </a:solidFill>
              </a:defRPr>
            </a:lvl3pPr>
            <a:lvl4pPr marL="895350" indent="-179388">
              <a:lnSpc>
                <a:spcPct val="113000"/>
              </a:lnSpc>
              <a:buClr>
                <a:schemeClr val="accent1"/>
              </a:buClr>
              <a:buSzPct val="125000"/>
              <a:buFont typeface="Arial" pitchFamily="34" charset="0"/>
              <a:buChar char="›"/>
              <a:defRPr sz="2400">
                <a:solidFill>
                  <a:schemeClr val="tx1"/>
                </a:solidFill>
              </a:defRPr>
            </a:lvl4pPr>
            <a:lvl5pPr marL="1257300" indent="-177800">
              <a:lnSpc>
                <a:spcPct val="113000"/>
              </a:lnSpc>
              <a:buClr>
                <a:schemeClr val="accent1"/>
              </a:buClr>
              <a:buSzPct val="125000"/>
              <a:buFont typeface="Arial" pitchFamily="34" charset="0"/>
              <a:buChar char="›"/>
              <a:defRPr sz="2400">
                <a:solidFill>
                  <a:schemeClr val="tx1"/>
                </a:solidFill>
              </a:defRPr>
            </a:lvl5pPr>
          </a:lstStyle>
          <a:p>
            <a:pPr lvl="0"/>
            <a:r>
              <a:rPr lang="en-US" noProof="0" smtClean="0"/>
              <a:t>Textmasterformate durch Klicken bearbeiten</a:t>
            </a:r>
          </a:p>
        </p:txBody>
      </p:sp>
      <p:sp>
        <p:nvSpPr>
          <p:cNvPr id="8" name="Titel 7"/>
          <p:cNvSpPr>
            <a:spLocks noGrp="1"/>
          </p:cNvSpPr>
          <p:nvPr>
            <p:ph type="title"/>
          </p:nvPr>
        </p:nvSpPr>
        <p:spPr>
          <a:xfrm>
            <a:off x="395288" y="2456892"/>
            <a:ext cx="8353425" cy="719137"/>
          </a:xfrm>
        </p:spPr>
        <p:txBody>
          <a:bodyPr/>
          <a:lstStyle>
            <a:lvl1pPr>
              <a:defRPr>
                <a:solidFill>
                  <a:schemeClr val="accent1"/>
                </a:solidFill>
              </a:defRPr>
            </a:lvl1pPr>
          </a:lstStyle>
          <a:p>
            <a:r>
              <a:rPr lang="de-DE" noProof="0" smtClean="0"/>
              <a:t>Titelmasterformat durch Klicken bearbeiten</a:t>
            </a:r>
            <a:endParaRPr lang="en-US" noProof="0"/>
          </a:p>
        </p:txBody>
      </p:sp>
      <p:sp>
        <p:nvSpPr>
          <p:cNvPr id="9" name="Datumsplatzhalter 8"/>
          <p:cNvSpPr>
            <a:spLocks noGrp="1"/>
          </p:cNvSpPr>
          <p:nvPr>
            <p:ph type="dt" sz="half" idx="10"/>
          </p:nvPr>
        </p:nvSpPr>
        <p:spPr/>
        <p:txBody>
          <a:bodyPr/>
          <a:lstStyle>
            <a:lvl1pPr>
              <a:defRPr>
                <a:solidFill>
                  <a:schemeClr val="bg1"/>
                </a:solidFill>
              </a:defRPr>
            </a:lvl1pPr>
          </a:lstStyle>
          <a:p>
            <a:fld id="{9CB49F7B-B2B0-4BB0-949A-755881F29453}" type="datetimeFigureOut">
              <a:rPr lang="en-US" smtClean="0"/>
              <a:pPr/>
              <a:t>11/3/2015</a:t>
            </a:fld>
            <a:endParaRPr lang="en-US"/>
          </a:p>
        </p:txBody>
      </p:sp>
      <p:sp>
        <p:nvSpPr>
          <p:cNvPr id="10" name="Foliennummernplatzhalter 9"/>
          <p:cNvSpPr>
            <a:spLocks noGrp="1"/>
          </p:cNvSpPr>
          <p:nvPr>
            <p:ph type="sldNum" sz="quarter" idx="11"/>
          </p:nvPr>
        </p:nvSpPr>
        <p:spPr/>
        <p:txBody>
          <a:bodyPr/>
          <a:lstStyle>
            <a:lvl1pPr>
              <a:defRPr>
                <a:solidFill>
                  <a:schemeClr val="bg1"/>
                </a:solidFill>
              </a:defRPr>
            </a:lvl1pPr>
          </a:lstStyle>
          <a:p>
            <a:fld id="{ED49832C-61C7-4B10-8018-1CA6224BDBA4}" type="slidenum">
              <a:rPr lang="en-US" smtClean="0"/>
              <a:pPr/>
              <a:t>‹#›</a:t>
            </a:fld>
            <a:endParaRPr lang="en-US"/>
          </a:p>
        </p:txBody>
      </p:sp>
      <p:sp>
        <p:nvSpPr>
          <p:cNvPr id="11" name="Fußzeilenplatzhalter 10"/>
          <p:cNvSpPr>
            <a:spLocks noGrp="1"/>
          </p:cNvSpPr>
          <p:nvPr>
            <p:ph type="ftr" sz="quarter" idx="12"/>
          </p:nvPr>
        </p:nvSpPr>
        <p:spPr/>
        <p:txBody>
          <a:bodyPr/>
          <a:lstStyle>
            <a:lvl1pPr>
              <a:defRPr>
                <a:solidFill>
                  <a:schemeClr val="bg1"/>
                </a:solidFill>
              </a:defRPr>
            </a:lvl1pPr>
          </a:lstStyle>
          <a:p>
            <a:endParaRPr lang="en-US"/>
          </a:p>
        </p:txBody>
      </p:sp>
      <p:cxnSp>
        <p:nvCxnSpPr>
          <p:cNvPr id="13" name="Gerade Verbindung 12"/>
          <p:cNvCxnSpPr/>
          <p:nvPr/>
        </p:nvCxnSpPr>
        <p:spPr>
          <a:xfrm>
            <a:off x="395288" y="6044592"/>
            <a:ext cx="8353425" cy="0"/>
          </a:xfrm>
          <a:prstGeom prst="line">
            <a:avLst/>
          </a:prstGeom>
          <a:ln w="444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 Box 23"/>
          <p:cNvSpPr txBox="1">
            <a:spLocks noChangeArrowheads="1"/>
          </p:cNvSpPr>
          <p:nvPr>
            <p:custDataLst>
              <p:tags r:id="rId1"/>
            </p:custDataLst>
          </p:nvPr>
        </p:nvSpPr>
        <p:spPr bwMode="auto">
          <a:xfrm>
            <a:off x="3501406" y="6375515"/>
            <a:ext cx="2726779" cy="128114"/>
          </a:xfrm>
          <a:prstGeom prst="rect">
            <a:avLst/>
          </a:prstGeom>
          <a:noFill/>
          <a:ln w="9525">
            <a:noFill/>
            <a:miter lim="800000"/>
            <a:headEnd/>
            <a:tailEnd/>
          </a:ln>
          <a:effectLst/>
        </p:spPr>
        <p:txBody>
          <a:bodyPr lIns="0" tIns="0" rIns="0" bIns="0" anchor="t" anchorCtr="0"/>
          <a:lstStyle/>
          <a:p>
            <a:pPr algn="l" defTabSz="895888"/>
            <a:r>
              <a:rPr lang="en-US" sz="700" noProof="0" smtClean="0">
                <a:solidFill>
                  <a:schemeClr val="bg1"/>
                </a:solidFill>
                <a:latin typeface="+mn-lt"/>
              </a:rPr>
              <a:t>Confidential</a:t>
            </a:r>
            <a:endParaRPr lang="en-US" sz="700" noProof="0">
              <a:solidFill>
                <a:schemeClr val="bg1"/>
              </a:solidFill>
              <a:latin typeface="+mn-lt"/>
            </a:endParaRPr>
          </a:p>
        </p:txBody>
      </p:sp>
      <p:sp>
        <p:nvSpPr>
          <p:cNvPr id="16" name="Text Box 23"/>
          <p:cNvSpPr txBox="1">
            <a:spLocks noChangeArrowheads="1"/>
          </p:cNvSpPr>
          <p:nvPr>
            <p:custDataLst>
              <p:tags r:id="rId2"/>
            </p:custDataLst>
          </p:nvPr>
        </p:nvSpPr>
        <p:spPr bwMode="auto">
          <a:xfrm>
            <a:off x="3501407" y="6237312"/>
            <a:ext cx="2726778" cy="137617"/>
          </a:xfrm>
          <a:prstGeom prst="rect">
            <a:avLst/>
          </a:prstGeom>
          <a:noFill/>
          <a:ln w="9525">
            <a:noFill/>
            <a:miter lim="800000"/>
            <a:headEnd/>
            <a:tailEnd/>
          </a:ln>
          <a:effectLst/>
        </p:spPr>
        <p:txBody>
          <a:bodyPr lIns="0" tIns="0" rIns="0" bIns="0" anchor="b"/>
          <a:lstStyle/>
          <a:p>
            <a:pPr algn="l" defTabSz="895888"/>
            <a:r>
              <a:rPr lang="en-US" sz="700" b="1" noProof="0" smtClean="0">
                <a:solidFill>
                  <a:schemeClr val="bg1"/>
                </a:solidFill>
                <a:latin typeface="+mn-lt"/>
              </a:rPr>
              <a:t>Space for Sender Information</a:t>
            </a:r>
            <a:endParaRPr lang="en-US" sz="700" b="1" noProof="0">
              <a:solidFill>
                <a:schemeClr val="bg1"/>
              </a:solidFill>
              <a:latin typeface="+mn-lt"/>
            </a:endParaRPr>
          </a:p>
        </p:txBody>
      </p:sp>
      <p:pic>
        <p:nvPicPr>
          <p:cNvPr id="17" name="Bild 4"/>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bwMode="black">
          <a:xfrm>
            <a:off x="252637" y="6095032"/>
            <a:ext cx="1857375" cy="570087"/>
          </a:xfrm>
          <a:prstGeom prst="rect">
            <a:avLst/>
          </a:prstGeom>
          <a:noFill/>
          <a:ln>
            <a:noFill/>
          </a:ln>
        </p:spPr>
      </p:pic>
      <p:grpSp>
        <p:nvGrpSpPr>
          <p:cNvPr id="2" name="Gruppieren 14"/>
          <p:cNvGrpSpPr/>
          <p:nvPr/>
        </p:nvGrpSpPr>
        <p:grpSpPr>
          <a:xfrm>
            <a:off x="0" y="0"/>
            <a:ext cx="9144000" cy="6858000"/>
            <a:chOff x="0" y="0"/>
            <a:chExt cx="9144000" cy="6858000"/>
          </a:xfrm>
          <a:solidFill>
            <a:schemeClr val="bg1"/>
          </a:solidFill>
        </p:grpSpPr>
        <p:sp>
          <p:nvSpPr>
            <p:cNvPr id="18" name="Rechteck 17"/>
            <p:cNvSpPr/>
            <p:nvPr userDrawn="1"/>
          </p:nvSpPr>
          <p:spPr>
            <a:xfrm>
              <a:off x="0" y="0"/>
              <a:ext cx="179388"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19" name="Rechteck 18"/>
            <p:cNvSpPr/>
            <p:nvPr userDrawn="1"/>
          </p:nvSpPr>
          <p:spPr>
            <a:xfrm>
              <a:off x="0" y="0"/>
              <a:ext cx="9144000" cy="188913"/>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0" name="Rechteck 19"/>
            <p:cNvSpPr/>
            <p:nvPr userDrawn="1"/>
          </p:nvSpPr>
          <p:spPr>
            <a:xfrm>
              <a:off x="0" y="6669088"/>
              <a:ext cx="9107488" cy="188912"/>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sp>
          <p:nvSpPr>
            <p:cNvPr id="21" name="Rechteck 20"/>
            <p:cNvSpPr/>
            <p:nvPr userDrawn="1"/>
          </p:nvSpPr>
          <p:spPr>
            <a:xfrm>
              <a:off x="8964612" y="0"/>
              <a:ext cx="179387" cy="6858000"/>
            </a:xfrm>
            <a:prstGeom prst="rect">
              <a:avLst/>
            </a:prstGeom>
            <a:grpFill/>
            <a:ln w="952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noProof="0" smtClean="0">
                <a:solidFill>
                  <a:schemeClr val="bg2">
                    <a:lumMod val="10000"/>
                  </a:schemeClr>
                </a:solidFill>
              </a:endParaRPr>
            </a:p>
          </p:txBody>
        </p:sp>
      </p:grpSp>
    </p:spTree>
    <p:extLst>
      <p:ext uri="{BB962C8B-B14F-4D97-AF65-F5344CB8AC3E}">
        <p14:creationId xmlns="" xmlns:p14="http://schemas.microsoft.com/office/powerpoint/2010/main" val="3974988766"/>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B49F7B-B2B0-4BB0-949A-755881F29453}" type="datetimeFigureOut">
              <a:rPr lang="en-US" smtClean="0"/>
              <a:pPr/>
              <a:t>11/3/2015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49832C-61C7-4B10-8018-1CA6224BDBA4}"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CB49F7B-B2B0-4BB0-949A-755881F29453}" type="datetimeFigureOut">
              <a:rPr lang="en-US" smtClean="0"/>
              <a:pPr/>
              <a:t>11/3/2015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49832C-61C7-4B10-8018-1CA6224BDBA4}"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CB49F7B-B2B0-4BB0-949A-755881F29453}" type="datetimeFigureOut">
              <a:rPr lang="en-US" smtClean="0"/>
              <a:pPr/>
              <a:t>11/3/2015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49832C-61C7-4B10-8018-1CA6224BDBA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3" name="Gerade Verbindung 12"/>
          <p:cNvCxnSpPr/>
          <p:nvPr/>
        </p:nvCxnSpPr>
        <p:spPr>
          <a:xfrm>
            <a:off x="395288" y="6044592"/>
            <a:ext cx="8353425" cy="0"/>
          </a:xfrm>
          <a:prstGeom prst="line">
            <a:avLst/>
          </a:prstGeom>
          <a:ln w="4445">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Bild 4"/>
          <p:cNvPicPr>
            <a:picLocks noChangeAspect="1"/>
          </p:cNvPicPr>
          <p:nvPr/>
        </p:nvPicPr>
        <p:blipFill>
          <a:blip r:embed="rId26" cstate="print">
            <a:extLst>
              <a:ext uri="{28A0092B-C50C-407E-A947-70E740481C1C}">
                <a14:useLocalDpi xmlns="" xmlns:a14="http://schemas.microsoft.com/office/drawing/2010/main" val="0"/>
              </a:ext>
            </a:extLst>
          </a:blip>
          <a:stretch>
            <a:fillRect/>
          </a:stretch>
        </p:blipFill>
        <p:spPr bwMode="black">
          <a:xfrm>
            <a:off x="252637" y="6095032"/>
            <a:ext cx="1857375" cy="570087"/>
          </a:xfrm>
          <a:prstGeom prst="rect">
            <a:avLst/>
          </a:prstGeom>
          <a:noFill/>
          <a:ln>
            <a:noFill/>
          </a:ln>
        </p:spPr>
      </p:pic>
      <p:sp>
        <p:nvSpPr>
          <p:cNvPr id="2" name="Titelplatzhalter 1"/>
          <p:cNvSpPr>
            <a:spLocks noGrp="1"/>
          </p:cNvSpPr>
          <p:nvPr>
            <p:ph type="title"/>
          </p:nvPr>
        </p:nvSpPr>
        <p:spPr>
          <a:xfrm>
            <a:off x="395288" y="296862"/>
            <a:ext cx="8353425" cy="719137"/>
          </a:xfrm>
          <a:prstGeom prst="rect">
            <a:avLst/>
          </a:prstGeom>
        </p:spPr>
        <p:txBody>
          <a:bodyPr vert="horz" lIns="0" tIns="0" rIns="91440" bIns="0" rtlCol="0" anchor="b" anchorCtr="0">
            <a:normAutofit/>
          </a:bodyPr>
          <a:lstStyle/>
          <a:p>
            <a:r>
              <a:rPr lang="en-US" noProof="0" smtClean="0"/>
              <a:t>Titelmasterformat durch Klicken bearbeiten</a:t>
            </a:r>
            <a:endParaRPr lang="en-US" noProof="0"/>
          </a:p>
        </p:txBody>
      </p:sp>
      <p:sp>
        <p:nvSpPr>
          <p:cNvPr id="3" name="Textplatzhalter 2"/>
          <p:cNvSpPr>
            <a:spLocks noGrp="1"/>
          </p:cNvSpPr>
          <p:nvPr>
            <p:ph type="body" idx="1"/>
          </p:nvPr>
        </p:nvSpPr>
        <p:spPr>
          <a:xfrm>
            <a:off x="395288" y="1341438"/>
            <a:ext cx="8353425" cy="4535487"/>
          </a:xfrm>
          <a:prstGeom prst="rect">
            <a:avLst/>
          </a:prstGeom>
        </p:spPr>
        <p:txBody>
          <a:bodyPr vert="horz" lIns="0" tIns="18000" rIns="0" bIns="18000" rtlCol="0">
            <a:normAutofit/>
          </a:bodyPr>
          <a:lstStyle/>
          <a:p>
            <a:pPr lvl="0"/>
            <a:r>
              <a:rPr lang="en-US" noProof="0" smtClean="0"/>
              <a:t>Textmasterformate durch Klicken bearbeiten</a:t>
            </a:r>
          </a:p>
          <a:p>
            <a:pPr lvl="1"/>
            <a:r>
              <a:rPr lang="en-US" noProof="0" smtClean="0"/>
              <a:t>Zweite Ebene</a:t>
            </a:r>
          </a:p>
          <a:p>
            <a:pPr lvl="2"/>
            <a:r>
              <a:rPr lang="en-US" noProof="0" smtClean="0"/>
              <a:t>Dritte Ebene</a:t>
            </a:r>
          </a:p>
          <a:p>
            <a:pPr lvl="3"/>
            <a:r>
              <a:rPr lang="en-US" noProof="0" smtClean="0"/>
              <a:t>Vierte Ebene</a:t>
            </a:r>
          </a:p>
          <a:p>
            <a:pPr lvl="4"/>
            <a:r>
              <a:rPr lang="en-US" noProof="0" smtClean="0"/>
              <a:t>Fünfte Ebene</a:t>
            </a:r>
            <a:endParaRPr lang="en-US" noProof="0"/>
          </a:p>
        </p:txBody>
      </p:sp>
      <p:sp>
        <p:nvSpPr>
          <p:cNvPr id="24" name="Datumsplatzhalter 23"/>
          <p:cNvSpPr>
            <a:spLocks noGrp="1"/>
          </p:cNvSpPr>
          <p:nvPr>
            <p:ph type="dt" sz="half" idx="2"/>
          </p:nvPr>
        </p:nvSpPr>
        <p:spPr>
          <a:xfrm>
            <a:off x="6350484" y="6224489"/>
            <a:ext cx="2001935" cy="150440"/>
          </a:xfrm>
          <a:prstGeom prst="rect">
            <a:avLst/>
          </a:prstGeom>
        </p:spPr>
        <p:txBody>
          <a:bodyPr vert="horz" wrap="none" lIns="0" tIns="0" rIns="0" bIns="0" rtlCol="0" anchor="b" anchorCtr="0"/>
          <a:lstStyle>
            <a:lvl1pPr algn="l">
              <a:defRPr sz="700">
                <a:solidFill>
                  <a:schemeClr val="tx1"/>
                </a:solidFill>
                <a:latin typeface="+mn-lt"/>
              </a:defRPr>
            </a:lvl1pPr>
          </a:lstStyle>
          <a:p>
            <a:fld id="{9CB49F7B-B2B0-4BB0-949A-755881F29453}" type="datetimeFigureOut">
              <a:rPr lang="en-US" smtClean="0"/>
              <a:pPr/>
              <a:t>11/3/2015</a:t>
            </a:fld>
            <a:endParaRPr lang="en-US"/>
          </a:p>
        </p:txBody>
      </p:sp>
      <p:sp>
        <p:nvSpPr>
          <p:cNvPr id="25" name="Fußzeilenplatzhalter 24"/>
          <p:cNvSpPr>
            <a:spLocks noGrp="1"/>
          </p:cNvSpPr>
          <p:nvPr>
            <p:ph type="ftr" sz="quarter" idx="3"/>
          </p:nvPr>
        </p:nvSpPr>
        <p:spPr>
          <a:xfrm>
            <a:off x="6350485" y="6375515"/>
            <a:ext cx="2001935" cy="150440"/>
          </a:xfrm>
          <a:prstGeom prst="rect">
            <a:avLst/>
          </a:prstGeom>
        </p:spPr>
        <p:txBody>
          <a:bodyPr vert="horz" wrap="none" lIns="0" tIns="0" rIns="0" bIns="0" rtlCol="0" anchor="t" anchorCtr="0"/>
          <a:lstStyle>
            <a:lvl1pPr algn="l">
              <a:defRPr sz="700">
                <a:solidFill>
                  <a:schemeClr val="tx1"/>
                </a:solidFill>
                <a:latin typeface="+mn-lt"/>
              </a:defRPr>
            </a:lvl1pPr>
          </a:lstStyle>
          <a:p>
            <a:endParaRPr lang="en-US"/>
          </a:p>
        </p:txBody>
      </p:sp>
      <p:sp>
        <p:nvSpPr>
          <p:cNvPr id="26" name="Foliennummernplatzhalter 25"/>
          <p:cNvSpPr>
            <a:spLocks noGrp="1"/>
          </p:cNvSpPr>
          <p:nvPr>
            <p:ph type="sldNum" sz="quarter" idx="4"/>
          </p:nvPr>
        </p:nvSpPr>
        <p:spPr>
          <a:xfrm>
            <a:off x="8388424" y="6375515"/>
            <a:ext cx="360289" cy="150440"/>
          </a:xfrm>
          <a:prstGeom prst="rect">
            <a:avLst/>
          </a:prstGeom>
        </p:spPr>
        <p:txBody>
          <a:bodyPr vert="horz" wrap="none" lIns="0" tIns="0" rIns="0" bIns="0" rtlCol="0" anchor="t" anchorCtr="0"/>
          <a:lstStyle>
            <a:lvl1pPr algn="r">
              <a:defRPr sz="700" b="1">
                <a:solidFill>
                  <a:schemeClr val="tx1"/>
                </a:solidFill>
                <a:latin typeface="+mn-lt"/>
              </a:defRPr>
            </a:lvl1pPr>
          </a:lstStyle>
          <a:p>
            <a:fld id="{ED49832C-61C7-4B10-8018-1CA6224BDBA4}" type="slidenum">
              <a:rPr lang="en-US" smtClean="0"/>
              <a:pPr/>
              <a:t>‹#›</a:t>
            </a:fld>
            <a:endParaRPr lang="en-US"/>
          </a:p>
        </p:txBody>
      </p:sp>
      <p:sp>
        <p:nvSpPr>
          <p:cNvPr id="11" name="Text Box 23"/>
          <p:cNvSpPr txBox="1">
            <a:spLocks noChangeArrowheads="1"/>
          </p:cNvSpPr>
          <p:nvPr>
            <p:custDataLst>
              <p:tags r:id="rId23"/>
            </p:custDataLst>
          </p:nvPr>
        </p:nvSpPr>
        <p:spPr bwMode="auto">
          <a:xfrm>
            <a:off x="3501406" y="6375515"/>
            <a:ext cx="2726779" cy="128114"/>
          </a:xfrm>
          <a:prstGeom prst="rect">
            <a:avLst/>
          </a:prstGeom>
          <a:noFill/>
          <a:ln w="9525">
            <a:noFill/>
            <a:miter lim="800000"/>
            <a:headEnd/>
            <a:tailEnd/>
          </a:ln>
          <a:effectLst/>
        </p:spPr>
        <p:txBody>
          <a:bodyPr lIns="0" tIns="0" rIns="0" bIns="0" anchor="t" anchorCtr="0"/>
          <a:lstStyle/>
          <a:p>
            <a:pPr algn="l" defTabSz="895888"/>
            <a:r>
              <a:rPr lang="en-US" sz="700" noProof="0" smtClean="0">
                <a:solidFill>
                  <a:schemeClr val="tx1"/>
                </a:solidFill>
                <a:latin typeface="+mn-lt"/>
              </a:rPr>
              <a:t>Confidential</a:t>
            </a:r>
            <a:endParaRPr lang="en-US" sz="700" noProof="0">
              <a:solidFill>
                <a:schemeClr val="tx1"/>
              </a:solidFill>
              <a:latin typeface="+mn-lt"/>
            </a:endParaRPr>
          </a:p>
        </p:txBody>
      </p:sp>
      <p:sp>
        <p:nvSpPr>
          <p:cNvPr id="12" name="Text Box 23"/>
          <p:cNvSpPr txBox="1">
            <a:spLocks noChangeArrowheads="1"/>
          </p:cNvSpPr>
          <p:nvPr>
            <p:custDataLst>
              <p:tags r:id="rId24"/>
            </p:custDataLst>
          </p:nvPr>
        </p:nvSpPr>
        <p:spPr bwMode="auto">
          <a:xfrm>
            <a:off x="3501407" y="6237312"/>
            <a:ext cx="2726778" cy="137617"/>
          </a:xfrm>
          <a:prstGeom prst="rect">
            <a:avLst/>
          </a:prstGeom>
          <a:noFill/>
          <a:ln w="9525">
            <a:noFill/>
            <a:miter lim="800000"/>
            <a:headEnd/>
            <a:tailEnd/>
          </a:ln>
          <a:effectLst/>
        </p:spPr>
        <p:txBody>
          <a:bodyPr lIns="0" tIns="0" rIns="0" bIns="0" anchor="b"/>
          <a:lstStyle/>
          <a:p>
            <a:pPr algn="l" defTabSz="895888"/>
            <a:r>
              <a:rPr lang="en-US" sz="700" b="1" noProof="0" smtClean="0">
                <a:solidFill>
                  <a:schemeClr val="tx1"/>
                </a:solidFill>
                <a:latin typeface="+mn-lt"/>
              </a:rPr>
              <a:t>Space for Sender Information</a:t>
            </a:r>
            <a:endParaRPr lang="en-US" sz="700" b="1" noProof="0">
              <a:solidFill>
                <a:schemeClr val="tx1"/>
              </a:solidFill>
              <a:latin typeface="+mn-lt"/>
            </a:endParaRPr>
          </a:p>
        </p:txBody>
      </p:sp>
      <p:sp>
        <p:nvSpPr>
          <p:cNvPr id="4" name="Ellipse 3" hidden="1"/>
          <p:cNvSpPr/>
          <p:nvPr>
            <p:custDataLst>
              <p:tags r:id="rId25"/>
            </p:custDataLst>
          </p:nvPr>
        </p:nvSpPr>
        <p:spPr>
          <a:xfrm>
            <a:off x="-1270000" y="-1270000"/>
            <a:ext cx="0" cy="0"/>
          </a:xfrm>
          <a:prstGeom prst="ellipse">
            <a:avLst/>
          </a:prstGeom>
          <a:solidFill>
            <a:schemeClr val="accent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sz="1600" dirty="0" err="1" smtClean="0">
              <a:solidFill>
                <a:schemeClr val="bg2">
                  <a:lumMod val="10000"/>
                </a:schemeClr>
              </a:solidFill>
            </a:endParaRPr>
          </a:p>
        </p:txBody>
      </p:sp>
    </p:spTree>
    <p:extLst>
      <p:ext uri="{BB962C8B-B14F-4D97-AF65-F5344CB8AC3E}">
        <p14:creationId xmlns="" xmlns:p14="http://schemas.microsoft.com/office/powerpoint/2010/main" val="8391089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transition>
    <p:fade/>
  </p:transition>
  <p:timing>
    <p:tnLst>
      <p:par>
        <p:cTn id="1" dur="indefinite" restart="never" nodeType="tmRoot"/>
      </p:par>
    </p:tnLst>
  </p:timing>
  <p:txStyles>
    <p:titleStyle>
      <a:lvl1pPr algn="l" defTabSz="914400" rtl="0" eaLnBrk="1" latinLnBrk="0" hangingPunct="1">
        <a:lnSpc>
          <a:spcPct val="95000"/>
        </a:lnSpc>
        <a:spcBef>
          <a:spcPct val="0"/>
        </a:spcBef>
        <a:buNone/>
        <a:defRPr sz="2400" b="1" kern="1200">
          <a:solidFill>
            <a:schemeClr val="accent1"/>
          </a:solidFill>
          <a:latin typeface="+mj-lt"/>
          <a:ea typeface="+mj-ea"/>
          <a:cs typeface="Arial" pitchFamily="34" charset="0"/>
        </a:defRPr>
      </a:lvl1pPr>
    </p:titleStyle>
    <p:bodyStyle>
      <a:lvl1pPr marL="177800" indent="-177800" algn="l" defTabSz="914400" rtl="0" eaLnBrk="1" latinLnBrk="0" hangingPunct="1">
        <a:lnSpc>
          <a:spcPct val="100000"/>
        </a:lnSpc>
        <a:spcBef>
          <a:spcPts val="0"/>
        </a:spcBef>
        <a:spcAft>
          <a:spcPts val="1200"/>
        </a:spcAft>
        <a:buClr>
          <a:schemeClr val="accent1"/>
        </a:buClr>
        <a:buSzPct val="125000"/>
        <a:buFont typeface="Arial" pitchFamily="34" charset="0"/>
        <a:buChar char="›"/>
        <a:defRPr sz="1600" b="0" kern="1200">
          <a:solidFill>
            <a:schemeClr val="tx1"/>
          </a:solidFill>
          <a:latin typeface="+mn-lt"/>
          <a:ea typeface="+mn-ea"/>
          <a:cs typeface="Arial" pitchFamily="34" charset="0"/>
        </a:defRPr>
      </a:lvl1pPr>
      <a:lvl2pPr marL="541338" indent="-184150" algn="l" defTabSz="914400" rtl="0" eaLnBrk="1" latinLnBrk="0" hangingPunct="1">
        <a:lnSpc>
          <a:spcPct val="100000"/>
        </a:lnSpc>
        <a:spcBef>
          <a:spcPts val="0"/>
        </a:spcBef>
        <a:spcAft>
          <a:spcPts val="1200"/>
        </a:spcAft>
        <a:buClr>
          <a:schemeClr val="accent1"/>
        </a:buClr>
        <a:buSzPct val="125000"/>
        <a:buFont typeface="Arial" pitchFamily="34" charset="0"/>
        <a:buChar char="›"/>
        <a:defRPr sz="1600" b="0" kern="1200">
          <a:solidFill>
            <a:schemeClr val="tx1"/>
          </a:solidFill>
          <a:latin typeface="+mn-lt"/>
          <a:ea typeface="+mn-ea"/>
          <a:cs typeface="Arial" pitchFamily="34" charset="0"/>
        </a:defRPr>
      </a:lvl2pPr>
      <a:lvl3pPr marL="896938" indent="-177800" algn="l" defTabSz="914400" rtl="0" eaLnBrk="1" latinLnBrk="0" hangingPunct="1">
        <a:lnSpc>
          <a:spcPct val="100000"/>
        </a:lnSpc>
        <a:spcBef>
          <a:spcPts val="0"/>
        </a:spcBef>
        <a:spcAft>
          <a:spcPts val="1200"/>
        </a:spcAft>
        <a:buClr>
          <a:schemeClr val="accent1"/>
        </a:buClr>
        <a:buSzPct val="125000"/>
        <a:buFont typeface="Arial" pitchFamily="34" charset="0"/>
        <a:buChar char="›"/>
        <a:defRPr sz="1600" b="0" kern="1200">
          <a:solidFill>
            <a:schemeClr val="tx1"/>
          </a:solidFill>
          <a:latin typeface="+mn-lt"/>
          <a:ea typeface="+mn-ea"/>
          <a:cs typeface="Arial" pitchFamily="34" charset="0"/>
        </a:defRPr>
      </a:lvl3pPr>
      <a:lvl4pPr marL="1254125" indent="-179388" algn="l" defTabSz="914400" rtl="0" eaLnBrk="1" latinLnBrk="0" hangingPunct="1">
        <a:lnSpc>
          <a:spcPct val="100000"/>
        </a:lnSpc>
        <a:spcBef>
          <a:spcPts val="0"/>
        </a:spcBef>
        <a:spcAft>
          <a:spcPts val="1200"/>
        </a:spcAft>
        <a:buClr>
          <a:schemeClr val="accent1"/>
        </a:buClr>
        <a:buSzPct val="125000"/>
        <a:buFont typeface="Arial" pitchFamily="34" charset="0"/>
        <a:buChar char="›"/>
        <a:defRPr sz="1600" b="0" kern="1200">
          <a:solidFill>
            <a:schemeClr val="tx1"/>
          </a:solidFill>
          <a:latin typeface="+mn-lt"/>
          <a:ea typeface="+mn-ea"/>
          <a:cs typeface="Arial" pitchFamily="34" charset="0"/>
        </a:defRPr>
      </a:lvl4pPr>
      <a:lvl5pPr marL="1616075" indent="-177800" algn="l" defTabSz="914400" rtl="0" eaLnBrk="1" latinLnBrk="0" hangingPunct="1">
        <a:lnSpc>
          <a:spcPct val="100000"/>
        </a:lnSpc>
        <a:spcBef>
          <a:spcPts val="0"/>
        </a:spcBef>
        <a:spcAft>
          <a:spcPts val="1200"/>
        </a:spcAft>
        <a:buClr>
          <a:schemeClr val="accent1"/>
        </a:buClr>
        <a:buSzPct val="125000"/>
        <a:buFont typeface="Arial" pitchFamily="34" charset="0"/>
        <a:buChar char="›"/>
        <a:defRPr sz="1600" b="0" kern="1200">
          <a:solidFill>
            <a:schemeClr val="tx1"/>
          </a:solidFill>
          <a:latin typeface="+mn-lt"/>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6.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9.xml"/><Relationship Id="rId1" Type="http://schemas.openxmlformats.org/officeDocument/2006/relationships/themeOverride" Target="../theme/themeOverride7.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9.xml"/><Relationship Id="rId1" Type="http://schemas.openxmlformats.org/officeDocument/2006/relationships/themeOverride" Target="../theme/themeOverride8.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9.xml"/><Relationship Id="rId1" Type="http://schemas.openxmlformats.org/officeDocument/2006/relationships/themeOverride" Target="../theme/themeOverride9.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9.xml"/><Relationship Id="rId1" Type="http://schemas.openxmlformats.org/officeDocument/2006/relationships/themeOverride" Target="../theme/themeOverride10.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19.xml"/><Relationship Id="rId1" Type="http://schemas.openxmlformats.org/officeDocument/2006/relationships/themeOverride" Target="../theme/themeOverride11.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9.xml"/><Relationship Id="rId1" Type="http://schemas.openxmlformats.org/officeDocument/2006/relationships/themeOverride" Target="../theme/themeOverride1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9.xml"/><Relationship Id="rId1" Type="http://schemas.openxmlformats.org/officeDocument/2006/relationships/themeOverride" Target="../theme/themeOverride13.xml"/><Relationship Id="rId4" Type="http://schemas.openxmlformats.org/officeDocument/2006/relationships/image" Target="../media/image9.jpeg"/></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9.xml"/><Relationship Id="rId1" Type="http://schemas.openxmlformats.org/officeDocument/2006/relationships/themeOverride" Target="../theme/themeOverride14.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9.xml"/><Relationship Id="rId1" Type="http://schemas.openxmlformats.org/officeDocument/2006/relationships/themeOverride" Target="../theme/themeOverride1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16.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19.xml"/><Relationship Id="rId1" Type="http://schemas.openxmlformats.org/officeDocument/2006/relationships/themeOverride" Target="../theme/themeOverride17.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19.xml"/><Relationship Id="rId1" Type="http://schemas.openxmlformats.org/officeDocument/2006/relationships/themeOverride" Target="../theme/themeOverride18.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19.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20.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21.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19.xml"/><Relationship Id="rId1" Type="http://schemas.openxmlformats.org/officeDocument/2006/relationships/themeOverride" Target="../theme/themeOverride2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23.xml"/></Relationships>
</file>

<file path=ppt/slides/_rels/slide3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19.xml"/><Relationship Id="rId1" Type="http://schemas.openxmlformats.org/officeDocument/2006/relationships/themeOverride" Target="../theme/themeOverride24.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25.xml"/></Relationships>
</file>

<file path=ppt/slides/_rels/slide3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19.xml"/><Relationship Id="rId1" Type="http://schemas.openxmlformats.org/officeDocument/2006/relationships/themeOverride" Target="../theme/themeOverride26.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2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28.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hemeOverride" Target="../theme/themeOverride3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3" Type="http://schemas.openxmlformats.org/officeDocument/2006/relationships/hyperlink" Target="http://www.can-cia.org/can-knowledge/can/systemdesign-can-physicallayer/" TargetMode="External"/><Relationship Id="rId2" Type="http://schemas.openxmlformats.org/officeDocument/2006/relationships/hyperlink" Target="http://www.ieee802.org/1/files/public/docs2013/new-tsn-diarra-osi-layers-in-automotive-networks-0313-v01.pdf" TargetMode="External"/><Relationship Id="rId1" Type="http://schemas.openxmlformats.org/officeDocument/2006/relationships/slideLayout" Target="../slideLayouts/slideLayout19.xml"/><Relationship Id="rId5" Type="http://schemas.openxmlformats.org/officeDocument/2006/relationships/hyperlink" Target="http://www.computer-solutions.co.uk/info/Embedded_tutorials/can_tutorial.htm" TargetMode="External"/><Relationship Id="rId4" Type="http://schemas.openxmlformats.org/officeDocument/2006/relationships/hyperlink" Target="http://www.eeherald.com/section/design-guide/esmod9.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CAN Protocol-Overview</a:t>
            </a:r>
            <a:endParaRPr lang="en-US" dirty="0"/>
          </a:p>
        </p:txBody>
      </p:sp>
      <p:sp>
        <p:nvSpPr>
          <p:cNvPr id="3" name="Text Placeholder 2"/>
          <p:cNvSpPr>
            <a:spLocks noGrp="1"/>
          </p:cNvSpPr>
          <p:nvPr>
            <p:ph type="body" sz="quarter" idx="10"/>
          </p:nvPr>
        </p:nvSpPr>
        <p:spPr/>
        <p:txBody>
          <a:bodyPr/>
          <a:lstStyle/>
          <a:p>
            <a:r>
              <a:rPr lang="en-US" dirty="0" smtClean="0"/>
              <a:t> </a:t>
            </a:r>
            <a:endParaRPr lang="en-US" dirty="0"/>
          </a:p>
        </p:txBody>
      </p:sp>
      <p:sp>
        <p:nvSpPr>
          <p:cNvPr id="4" name="Text Placeholder 3"/>
          <p:cNvSpPr>
            <a:spLocks noGrp="1"/>
          </p:cNvSpPr>
          <p:nvPr>
            <p:ph type="body" sz="quarter" idx="11"/>
          </p:nvPr>
        </p:nvSpPr>
        <p:spPr/>
        <p:txBody>
          <a:bodyPr/>
          <a:lstStyle/>
          <a:p>
            <a:r>
              <a:rPr lang="en-US" dirty="0" smtClean="0"/>
              <a:t>ADAS-EEP-Boot Loader</a:t>
            </a:r>
            <a:endParaRPr lang="en-US" dirty="0"/>
          </a:p>
        </p:txBody>
      </p:sp>
      <p:sp>
        <p:nvSpPr>
          <p:cNvPr id="5" name="Text Placeholder 4"/>
          <p:cNvSpPr>
            <a:spLocks noGrp="1"/>
          </p:cNvSpPr>
          <p:nvPr>
            <p:ph type="body" sz="quarter" idx="12"/>
          </p:nvPr>
        </p:nvSpPr>
        <p:spPr/>
        <p:txBody>
          <a:bodyPr/>
          <a:lstStyle/>
          <a:p>
            <a:endParaRPr lang="en-US"/>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To understand the characteristics and working principles of CAN protocol</a:t>
            </a:r>
            <a:endParaRPr lang="en-US" dirty="0"/>
          </a:p>
        </p:txBody>
      </p:sp>
      <p:sp>
        <p:nvSpPr>
          <p:cNvPr id="3" name="Title 2"/>
          <p:cNvSpPr>
            <a:spLocks noGrp="1"/>
          </p:cNvSpPr>
          <p:nvPr>
            <p:ph type="title"/>
          </p:nvPr>
        </p:nvSpPr>
        <p:spPr/>
        <p:txBody>
          <a:bodyPr/>
          <a:lstStyle/>
          <a:p>
            <a:r>
              <a:rPr lang="en-US" dirty="0" smtClean="0"/>
              <a:t>Session Objectives</a:t>
            </a:r>
            <a:endParaRPr lang="en-US"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smtClean="0">
                <a:solidFill>
                  <a:srgbClr val="00B050"/>
                </a:solidFill>
              </a:rPr>
              <a:t>Introduction</a:t>
            </a:r>
          </a:p>
          <a:p>
            <a:r>
              <a:rPr lang="en-US" dirty="0" smtClean="0">
                <a:solidFill>
                  <a:srgbClr val="00B050"/>
                </a:solidFill>
              </a:rPr>
              <a:t>Classification</a:t>
            </a:r>
          </a:p>
          <a:p>
            <a:r>
              <a:rPr lang="en-US" dirty="0" smtClean="0">
                <a:solidFill>
                  <a:srgbClr val="00B050"/>
                </a:solidFill>
              </a:rPr>
              <a:t>Standards Covered</a:t>
            </a:r>
          </a:p>
          <a:p>
            <a:r>
              <a:rPr lang="en-US" dirty="0" smtClean="0">
                <a:solidFill>
                  <a:srgbClr val="00B050"/>
                </a:solidFill>
              </a:rPr>
              <a:t>Properties and CAN Frame Structure</a:t>
            </a:r>
          </a:p>
          <a:p>
            <a:r>
              <a:rPr lang="en-US" dirty="0" smtClean="0">
                <a:solidFill>
                  <a:srgbClr val="00B050"/>
                </a:solidFill>
              </a:rPr>
              <a:t>Types of Frames</a:t>
            </a:r>
          </a:p>
          <a:p>
            <a:r>
              <a:rPr lang="en-US" dirty="0" smtClean="0">
                <a:solidFill>
                  <a:srgbClr val="00B050"/>
                </a:solidFill>
              </a:rPr>
              <a:t>Fault Confinement</a:t>
            </a:r>
          </a:p>
          <a:p>
            <a:r>
              <a:rPr lang="en-US" dirty="0" smtClean="0">
                <a:solidFill>
                  <a:srgbClr val="00B050"/>
                </a:solidFill>
              </a:rPr>
              <a:t>Bit Timing Requirements</a:t>
            </a:r>
          </a:p>
          <a:p>
            <a:r>
              <a:rPr lang="en-US" dirty="0" smtClean="0">
                <a:solidFill>
                  <a:srgbClr val="00B050"/>
                </a:solidFill>
              </a:rPr>
              <a:t>Synchronization</a:t>
            </a:r>
          </a:p>
          <a:p>
            <a:r>
              <a:rPr lang="en-US" dirty="0" smtClean="0">
                <a:solidFill>
                  <a:srgbClr val="00B050"/>
                </a:solidFill>
              </a:rPr>
              <a:t>CAN-FD-char, frame structure</a:t>
            </a:r>
          </a:p>
          <a:p>
            <a:r>
              <a:rPr lang="en-US" dirty="0" smtClean="0">
                <a:solidFill>
                  <a:srgbClr val="00B050"/>
                </a:solidFill>
              </a:rPr>
              <a:t>Can- ISO OSI Reference Model</a:t>
            </a:r>
          </a:p>
          <a:p>
            <a:r>
              <a:rPr lang="en-US" dirty="0" smtClean="0">
                <a:solidFill>
                  <a:srgbClr val="00B050"/>
                </a:solidFill>
              </a:rPr>
              <a:t>PCS82C250</a:t>
            </a:r>
          </a:p>
          <a:p>
            <a:r>
              <a:rPr lang="en-US" dirty="0" smtClean="0">
                <a:solidFill>
                  <a:srgbClr val="00B050"/>
                </a:solidFill>
              </a:rPr>
              <a:t>References</a:t>
            </a:r>
          </a:p>
          <a:p>
            <a:endParaRPr lang="en-US" dirty="0"/>
          </a:p>
        </p:txBody>
      </p:sp>
      <p:sp>
        <p:nvSpPr>
          <p:cNvPr id="3" name="Title 2"/>
          <p:cNvSpPr>
            <a:spLocks noGrp="1"/>
          </p:cNvSpPr>
          <p:nvPr>
            <p:ph type="title"/>
          </p:nvPr>
        </p:nvSpPr>
        <p:spPr/>
        <p:txBody>
          <a:bodyPr/>
          <a:lstStyle/>
          <a:p>
            <a:r>
              <a:rPr lang="en-US" dirty="0" smtClean="0"/>
              <a:t>Session Topics</a:t>
            </a:r>
            <a:endParaRPr lang="en-US"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CAN Protocol</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The goal was to make automobiles more reliable, safe and fuel efficient while decreasing wiring harness weight and complexity </a:t>
            </a:r>
          </a:p>
          <a:p>
            <a:r>
              <a:rPr lang="en-US" dirty="0" smtClean="0"/>
              <a:t>What is Can?</a:t>
            </a:r>
          </a:p>
          <a:p>
            <a:r>
              <a:rPr lang="en-US" dirty="0" smtClean="0"/>
              <a:t>CAN is a serial communication protocol with a bit rate up to 1Mbps.</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 of Vehicle Buses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solidFill>
                  <a:schemeClr val="accent1"/>
                </a:solidFill>
              </a:rPr>
              <a:t>Class A </a:t>
            </a:r>
          </a:p>
          <a:p>
            <a:r>
              <a:rPr lang="en-US" dirty="0" smtClean="0"/>
              <a:t>Power windows, door locks, power seats, mirror control, wiper </a:t>
            </a:r>
          </a:p>
          <a:p>
            <a:r>
              <a:rPr lang="en-US" dirty="0" smtClean="0"/>
              <a:t> Required data rates up to 125 kbps </a:t>
            </a:r>
          </a:p>
          <a:p>
            <a:r>
              <a:rPr lang="en-US" dirty="0" err="1" smtClean="0"/>
              <a:t>Eg</a:t>
            </a:r>
            <a:r>
              <a:rPr lang="en-US" dirty="0" smtClean="0"/>
              <a:t>: Local Interconnect Network (LIN) </a:t>
            </a:r>
          </a:p>
          <a:p>
            <a:r>
              <a:rPr lang="en-US" dirty="0" smtClean="0">
                <a:solidFill>
                  <a:schemeClr val="accent1"/>
                </a:solidFill>
              </a:rPr>
              <a:t> Class B  </a:t>
            </a:r>
          </a:p>
          <a:p>
            <a:r>
              <a:rPr lang="en-US" dirty="0" smtClean="0"/>
              <a:t>Cruise control, HVAC, drive train, tire pressure  </a:t>
            </a:r>
          </a:p>
          <a:p>
            <a:r>
              <a:rPr lang="en-US" dirty="0" smtClean="0"/>
              <a:t>Required data rates up to 1 Mbps </a:t>
            </a:r>
          </a:p>
          <a:p>
            <a:r>
              <a:rPr lang="en-US" dirty="0" err="1" smtClean="0"/>
              <a:t>Eg</a:t>
            </a:r>
            <a:r>
              <a:rPr lang="en-US" dirty="0" smtClean="0"/>
              <a:t>: Controller Area Network (CAN) </a:t>
            </a:r>
          </a:p>
          <a:p>
            <a:r>
              <a:rPr lang="en-US" dirty="0" smtClean="0">
                <a:solidFill>
                  <a:schemeClr val="accent1"/>
                </a:solidFill>
              </a:rPr>
              <a:t> Class C </a:t>
            </a:r>
          </a:p>
          <a:p>
            <a:r>
              <a:rPr lang="en-US" dirty="0" smtClean="0"/>
              <a:t>Brake control, ABS, engine control, suspension control </a:t>
            </a:r>
          </a:p>
          <a:p>
            <a:r>
              <a:rPr lang="en-US" dirty="0" smtClean="0"/>
              <a:t> Real-time operation, required data rates of up to 10 Mbps – </a:t>
            </a:r>
            <a:r>
              <a:rPr lang="en-US" dirty="0" err="1" smtClean="0"/>
              <a:t>Flexray</a:t>
            </a:r>
            <a:endParaRPr lang="en-US" dirty="0" smtClean="0"/>
          </a:p>
          <a:p>
            <a:r>
              <a:rPr lang="en-US" dirty="0" smtClean="0">
                <a:solidFill>
                  <a:schemeClr val="accent1"/>
                </a:solidFill>
              </a:rPr>
              <a:t>Class D </a:t>
            </a:r>
          </a:p>
          <a:p>
            <a:r>
              <a:rPr lang="en-US" dirty="0" smtClean="0"/>
              <a:t>Multimedia applications, navigation systems, audio, video </a:t>
            </a:r>
          </a:p>
          <a:p>
            <a:r>
              <a:rPr lang="en-US" dirty="0" smtClean="0"/>
              <a:t> Required data rates of 10 Mbps or faster </a:t>
            </a:r>
          </a:p>
          <a:p>
            <a:r>
              <a:rPr lang="en-US" dirty="0" err="1" smtClean="0"/>
              <a:t>Eg</a:t>
            </a:r>
            <a:r>
              <a:rPr lang="en-US" dirty="0" smtClean="0"/>
              <a:t>: Media Oriented System Transport (MOST)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Standards Covered</a:t>
            </a:r>
            <a:endParaRPr lang="en-US" dirty="0"/>
          </a:p>
        </p:txBody>
      </p:sp>
      <p:sp>
        <p:nvSpPr>
          <p:cNvPr id="3" name="Content Placeholder 2"/>
          <p:cNvSpPr>
            <a:spLocks noGrp="1"/>
          </p:cNvSpPr>
          <p:nvPr>
            <p:ph idx="1"/>
          </p:nvPr>
        </p:nvSpPr>
        <p:spPr/>
        <p:txBody>
          <a:bodyPr>
            <a:normAutofit/>
          </a:bodyPr>
          <a:lstStyle/>
          <a:p>
            <a:r>
              <a:rPr lang="en-US" dirty="0"/>
              <a:t>2.0A sometimes known as </a:t>
            </a:r>
            <a:r>
              <a:rPr lang="en-US" dirty="0">
                <a:solidFill>
                  <a:srgbClr val="FF0000"/>
                </a:solidFill>
              </a:rPr>
              <a:t>Basic or Standard CAN</a:t>
            </a:r>
            <a:r>
              <a:rPr lang="en-US" b="1" dirty="0"/>
              <a:t> </a:t>
            </a:r>
            <a:r>
              <a:rPr lang="en-US" dirty="0"/>
              <a:t>with 11 bit message identifiers which was originally specified to  operated at a maximum frequency of </a:t>
            </a:r>
            <a:r>
              <a:rPr lang="en-US" dirty="0" smtClean="0"/>
              <a:t>250 kbps and </a:t>
            </a:r>
            <a:r>
              <a:rPr lang="en-US" dirty="0"/>
              <a:t>is  ISO11519.</a:t>
            </a:r>
          </a:p>
          <a:p>
            <a:r>
              <a:rPr lang="en-US" dirty="0"/>
              <a:t>2.0B known as </a:t>
            </a:r>
            <a:r>
              <a:rPr lang="en-US" dirty="0">
                <a:solidFill>
                  <a:srgbClr val="FF0000"/>
                </a:solidFill>
              </a:rPr>
              <a:t>Full CAN</a:t>
            </a:r>
            <a:r>
              <a:rPr lang="en-US" dirty="0"/>
              <a:t> or extended frame CAN with 29 bit message identifier which can be used at up to </a:t>
            </a:r>
            <a:r>
              <a:rPr lang="en-US" dirty="0" smtClean="0"/>
              <a:t>1 mbps and </a:t>
            </a:r>
            <a:r>
              <a:rPr lang="en-US" dirty="0"/>
              <a:t>is  ISO 11898.</a:t>
            </a:r>
          </a:p>
          <a:p>
            <a:r>
              <a:rPr lang="en-US" dirty="0">
                <a:solidFill>
                  <a:srgbClr val="FF0000"/>
                </a:solidFill>
              </a:rPr>
              <a:t>CAN FD</a:t>
            </a:r>
            <a:r>
              <a:rPr lang="en-US" dirty="0"/>
              <a:t>  increases the max data throughput to </a:t>
            </a:r>
            <a:r>
              <a:rPr lang="en-US" dirty="0" smtClean="0"/>
              <a:t> </a:t>
            </a:r>
            <a:r>
              <a:rPr lang="en-US" dirty="0"/>
              <a:t>3.7 </a:t>
            </a:r>
            <a:r>
              <a:rPr lang="en-US" dirty="0" smtClean="0"/>
              <a:t>mbps .</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
            </a:r>
            <a:r>
              <a:rPr lang="en-US" dirty="0" smtClean="0"/>
              <a:t>roperties</a:t>
            </a:r>
            <a:endParaRPr lang="en-US" dirty="0"/>
          </a:p>
        </p:txBody>
      </p:sp>
      <p:sp>
        <p:nvSpPr>
          <p:cNvPr id="3" name="Content Placeholder 2"/>
          <p:cNvSpPr>
            <a:spLocks noGrp="1"/>
          </p:cNvSpPr>
          <p:nvPr>
            <p:ph idx="1"/>
          </p:nvPr>
        </p:nvSpPr>
        <p:spPr/>
        <p:txBody>
          <a:bodyPr/>
          <a:lstStyle/>
          <a:p>
            <a:r>
              <a:rPr lang="en-US" dirty="0" smtClean="0">
                <a:solidFill>
                  <a:srgbClr val="FF0000"/>
                </a:solidFill>
              </a:rPr>
              <a:t>Multi master</a:t>
            </a:r>
            <a:endParaRPr lang="en-US" dirty="0">
              <a:solidFill>
                <a:srgbClr val="FF0000"/>
              </a:solidFill>
            </a:endParaRPr>
          </a:p>
          <a:p>
            <a:pPr marL="342900" indent="-342900">
              <a:buFont typeface="+mj-lt"/>
              <a:buAutoNum type="arabicPeriod"/>
            </a:pPr>
            <a:r>
              <a:rPr lang="en-US" dirty="0" smtClean="0"/>
              <a:t>The </a:t>
            </a:r>
            <a:r>
              <a:rPr lang="en-US" dirty="0"/>
              <a:t>whole point is that you don't need a single master or main controller to take care of everything. So there are </a:t>
            </a:r>
            <a:r>
              <a:rPr lang="en-US" dirty="0">
                <a:solidFill>
                  <a:srgbClr val="FF0000"/>
                </a:solidFill>
              </a:rPr>
              <a:t>no slaves</a:t>
            </a:r>
            <a:r>
              <a:rPr lang="en-US" dirty="0"/>
              <a:t>. </a:t>
            </a:r>
            <a:endParaRPr lang="en-US" dirty="0" smtClean="0"/>
          </a:p>
          <a:p>
            <a:pPr marL="342900" indent="-342900">
              <a:buFont typeface="+mj-lt"/>
              <a:buAutoNum type="arabicPeriod"/>
            </a:pPr>
            <a:r>
              <a:rPr lang="en-US" dirty="0" smtClean="0"/>
              <a:t>If there was a single main controller, and if it fails, then the entire network will fail. So the concept of multi master is to </a:t>
            </a:r>
            <a:r>
              <a:rPr lang="en-US" dirty="0" smtClean="0">
                <a:solidFill>
                  <a:srgbClr val="FF0000"/>
                </a:solidFill>
              </a:rPr>
              <a:t>reduce failure points</a:t>
            </a:r>
            <a:r>
              <a:rPr lang="en-US" dirty="0" smtClean="0"/>
              <a:t>.</a:t>
            </a:r>
          </a:p>
          <a:p>
            <a:r>
              <a:rPr lang="en-US" dirty="0" smtClean="0"/>
              <a:t>Maximum Signal frequency used is 1 mbps (CAN 2.0) , 15 mbps (CAN FD)</a:t>
            </a:r>
          </a:p>
          <a:p>
            <a:r>
              <a:rPr lang="en-US" dirty="0" smtClean="0"/>
              <a:t>Typical maximum data rate achievable is 320 kbps for CAN 2.0 and  3.7 mbps for CAN FD</a:t>
            </a:r>
          </a:p>
          <a:p>
            <a:r>
              <a:rPr lang="en-US" dirty="0" smtClean="0"/>
              <a:t>Message Oriented</a:t>
            </a:r>
          </a:p>
          <a:p>
            <a:pPr>
              <a:buNone/>
            </a:pPr>
            <a:r>
              <a:rPr lang="en-US" dirty="0" smtClean="0"/>
              <a:t>    When a bus is free any node can start to transmit the message. The content of the message is named by an identifier. The identifier describes the meaning of the data.    It does not contain the destination.</a:t>
            </a:r>
          </a:p>
          <a:p>
            <a:pPr marL="342900" indent="-342900"/>
            <a:endParaRPr lang="en-US" dirty="0">
              <a:solidFill>
                <a:srgbClr val="FF0000"/>
              </a:solidFill>
            </a:endParaRP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r>
              <a:rPr lang="en-US" dirty="0" smtClean="0"/>
              <a:t>In other words, every message is transmitted to all the nodes in the network, but whether the data is to be acted upon by them or not is determined by the nodes.</a:t>
            </a:r>
          </a:p>
          <a:p>
            <a:r>
              <a:rPr lang="en-US" dirty="0" smtClean="0"/>
              <a:t>This is done by </a:t>
            </a:r>
            <a:r>
              <a:rPr lang="en-US" dirty="0" smtClean="0">
                <a:solidFill>
                  <a:srgbClr val="FF0000"/>
                </a:solidFill>
              </a:rPr>
              <a:t>MESSAGE FILTERING</a:t>
            </a:r>
            <a:r>
              <a:rPr lang="en-US" dirty="0" smtClean="0"/>
              <a:t>.</a:t>
            </a:r>
          </a:p>
          <a:p>
            <a:r>
              <a:rPr lang="en-US" dirty="0" smtClean="0"/>
              <a:t>Messages can be accepted by all nodes or no node. So there is </a:t>
            </a:r>
            <a:r>
              <a:rPr lang="en-US" dirty="0" smtClean="0">
                <a:solidFill>
                  <a:srgbClr val="FF0000"/>
                </a:solidFill>
              </a:rPr>
              <a:t>data consistency</a:t>
            </a:r>
            <a:r>
              <a:rPr lang="en-US" dirty="0" smtClean="0"/>
              <a:t>.</a:t>
            </a:r>
          </a:p>
          <a:p>
            <a:r>
              <a:rPr lang="en-US" dirty="0" smtClean="0"/>
              <a:t>Any </a:t>
            </a:r>
            <a:r>
              <a:rPr lang="en-US" dirty="0" smtClean="0">
                <a:solidFill>
                  <a:srgbClr val="FF0000"/>
                </a:solidFill>
              </a:rPr>
              <a:t>number of nodes can be added or removed</a:t>
            </a:r>
            <a:r>
              <a:rPr lang="en-US" dirty="0" smtClean="0"/>
              <a:t>, because nodes do not make use of configuration details.</a:t>
            </a:r>
          </a:p>
          <a:p>
            <a:r>
              <a:rPr lang="en-US" dirty="0" smtClean="0">
                <a:solidFill>
                  <a:srgbClr val="FF0000"/>
                </a:solidFill>
              </a:rPr>
              <a:t>Arbitration</a:t>
            </a:r>
          </a:p>
          <a:p>
            <a:pPr marL="342900" indent="-342900">
              <a:buFont typeface="+mj-lt"/>
              <a:buAutoNum type="arabicPeriod"/>
            </a:pPr>
            <a:r>
              <a:rPr lang="en-US" dirty="0" smtClean="0"/>
              <a:t> If two or more units start transmitting messages at the same time, the bus access conflicts are resolved by bitwise arbitration using the IDENTIFIER. </a:t>
            </a:r>
          </a:p>
          <a:p>
            <a:pPr marL="342900" indent="-342900">
              <a:buFont typeface="+mj-lt"/>
              <a:buAutoNum type="arabicPeriod"/>
            </a:pPr>
            <a:r>
              <a:rPr lang="en-US" dirty="0" smtClean="0"/>
              <a:t>During arbitration every transmitter compares the level of the bit transmitted with the level that is monitored on the bus. </a:t>
            </a:r>
          </a:p>
          <a:p>
            <a:pPr marL="342900" indent="-342900">
              <a:buFont typeface="+mj-lt"/>
              <a:buAutoNum type="arabicPeriod"/>
            </a:pPr>
            <a:r>
              <a:rPr lang="en-US" dirty="0" smtClean="0"/>
              <a:t>If these levels are equal the unit may continue to send. </a:t>
            </a:r>
          </a:p>
          <a:p>
            <a:pPr marL="342900" indent="-342900">
              <a:buFont typeface="+mj-lt"/>
              <a:buAutoNum type="arabicPeriod"/>
            </a:pPr>
            <a:r>
              <a:rPr lang="en-US" dirty="0" smtClean="0"/>
              <a:t>Else, the unit has lost arbitration and must withdraw without sending one more bit</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US" dirty="0"/>
              <a:t>Length depends on the bit rate typical values encountered in the field for CAN 2.0 are</a:t>
            </a:r>
          </a:p>
          <a:p>
            <a:pPr>
              <a:buNone/>
            </a:pPr>
            <a:r>
              <a:rPr lang="en-US" dirty="0"/>
              <a:t>1 </a:t>
            </a:r>
            <a:r>
              <a:rPr lang="en-US" dirty="0" smtClean="0"/>
              <a:t>mbps</a:t>
            </a:r>
            <a:r>
              <a:rPr lang="en-US" dirty="0"/>
              <a:t>     </a:t>
            </a:r>
            <a:r>
              <a:rPr lang="en-US" dirty="0">
                <a:solidFill>
                  <a:srgbClr val="FF0000"/>
                </a:solidFill>
              </a:rPr>
              <a:t> 40 m</a:t>
            </a:r>
          </a:p>
          <a:p>
            <a:pPr>
              <a:buNone/>
            </a:pPr>
            <a:r>
              <a:rPr lang="en-US" dirty="0"/>
              <a:t>500 </a:t>
            </a:r>
            <a:r>
              <a:rPr lang="en-US" dirty="0" smtClean="0"/>
              <a:t>kbps</a:t>
            </a:r>
            <a:r>
              <a:rPr lang="en-US" dirty="0"/>
              <a:t>  </a:t>
            </a:r>
            <a:r>
              <a:rPr lang="en-US" dirty="0">
                <a:solidFill>
                  <a:srgbClr val="FF0000"/>
                </a:solidFill>
              </a:rPr>
              <a:t>110 m</a:t>
            </a:r>
          </a:p>
          <a:p>
            <a:pPr>
              <a:buNone/>
            </a:pPr>
            <a:r>
              <a:rPr lang="en-US" dirty="0"/>
              <a:t>250 </a:t>
            </a:r>
            <a:r>
              <a:rPr lang="en-US" dirty="0" smtClean="0"/>
              <a:t>kbps </a:t>
            </a:r>
            <a:r>
              <a:rPr lang="en-US" dirty="0"/>
              <a:t>  </a:t>
            </a:r>
            <a:r>
              <a:rPr lang="en-US" dirty="0">
                <a:solidFill>
                  <a:srgbClr val="FF0000"/>
                </a:solidFill>
              </a:rPr>
              <a:t>240 m</a:t>
            </a:r>
          </a:p>
          <a:p>
            <a:pPr>
              <a:buNone/>
            </a:pPr>
            <a:r>
              <a:rPr lang="en-US" dirty="0"/>
              <a:t>125 </a:t>
            </a:r>
            <a:r>
              <a:rPr lang="en-US" dirty="0" smtClean="0"/>
              <a:t>kbps </a:t>
            </a:r>
            <a:r>
              <a:rPr lang="en-US" dirty="0"/>
              <a:t>  </a:t>
            </a:r>
            <a:r>
              <a:rPr lang="en-US" dirty="0">
                <a:solidFill>
                  <a:srgbClr val="FF0000"/>
                </a:solidFill>
              </a:rPr>
              <a:t>500 m</a:t>
            </a:r>
          </a:p>
          <a:p>
            <a:pPr>
              <a:buNone/>
            </a:pPr>
            <a:r>
              <a:rPr lang="en-US" dirty="0"/>
              <a:t>50 </a:t>
            </a:r>
            <a:r>
              <a:rPr lang="en-US" dirty="0" smtClean="0"/>
              <a:t>kbps </a:t>
            </a:r>
            <a:r>
              <a:rPr lang="en-US" dirty="0"/>
              <a:t>    </a:t>
            </a:r>
            <a:r>
              <a:rPr lang="en-US" dirty="0">
                <a:solidFill>
                  <a:srgbClr val="FF0000"/>
                </a:solidFill>
              </a:rPr>
              <a:t>1.3 km</a:t>
            </a:r>
          </a:p>
          <a:p>
            <a:pPr>
              <a:buNone/>
            </a:pPr>
            <a:r>
              <a:rPr lang="en-US" dirty="0"/>
              <a:t>20 </a:t>
            </a:r>
            <a:r>
              <a:rPr lang="en-US" dirty="0" smtClean="0"/>
              <a:t>kbps </a:t>
            </a:r>
            <a:r>
              <a:rPr lang="en-US" dirty="0"/>
              <a:t>    </a:t>
            </a:r>
            <a:r>
              <a:rPr lang="en-US" dirty="0">
                <a:solidFill>
                  <a:srgbClr val="FF0000"/>
                </a:solidFill>
              </a:rPr>
              <a:t>3.3 km</a:t>
            </a:r>
          </a:p>
          <a:p>
            <a:pPr>
              <a:buNone/>
            </a:pPr>
            <a:r>
              <a:rPr lang="en-US" dirty="0"/>
              <a:t>10 </a:t>
            </a:r>
            <a:r>
              <a:rPr lang="en-US" dirty="0" smtClean="0"/>
              <a:t>kbps </a:t>
            </a:r>
            <a:r>
              <a:rPr lang="en-US" dirty="0"/>
              <a:t>    </a:t>
            </a:r>
            <a:r>
              <a:rPr lang="en-US" dirty="0">
                <a:solidFill>
                  <a:srgbClr val="FF0000"/>
                </a:solidFill>
              </a:rPr>
              <a:t>6.6 km</a:t>
            </a:r>
          </a:p>
          <a:p>
            <a:pPr>
              <a:buNone/>
            </a:pPr>
            <a:r>
              <a:rPr lang="en-US" dirty="0"/>
              <a:t>5 </a:t>
            </a:r>
            <a:r>
              <a:rPr lang="en-US" dirty="0" smtClean="0"/>
              <a:t>kbps </a:t>
            </a:r>
            <a:r>
              <a:rPr lang="en-US" dirty="0"/>
              <a:t>     </a:t>
            </a:r>
            <a:r>
              <a:rPr lang="en-US" dirty="0">
                <a:solidFill>
                  <a:srgbClr val="FF0000"/>
                </a:solidFill>
              </a:rPr>
              <a:t>130 </a:t>
            </a:r>
            <a:r>
              <a:rPr lang="en-US" dirty="0" smtClean="0">
                <a:solidFill>
                  <a:srgbClr val="FF0000"/>
                </a:solidFill>
              </a:rPr>
              <a:t>km</a:t>
            </a:r>
            <a:endParaRPr lang="en-US" dirty="0">
              <a:solidFill>
                <a:srgbClr val="FF0000"/>
              </a:solidFill>
            </a:endParaRPr>
          </a:p>
          <a:p>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FRAME STRUCTURE</a:t>
            </a:r>
            <a:endParaRPr lang="en-US" dirty="0"/>
          </a:p>
        </p:txBody>
      </p:sp>
      <p:pic>
        <p:nvPicPr>
          <p:cNvPr id="4" name="Content Placeholder 3" descr="CANFRAME.JPG"/>
          <p:cNvPicPr>
            <a:picLocks noGrp="1" noChangeAspect="1"/>
          </p:cNvPicPr>
          <p:nvPr>
            <p:ph idx="1"/>
          </p:nvPr>
        </p:nvPicPr>
        <p:blipFill>
          <a:blip r:embed="rId2" cstate="print"/>
          <a:stretch>
            <a:fillRect/>
          </a:stretch>
        </p:blipFill>
        <p:spPr>
          <a:xfrm>
            <a:off x="457200" y="1752600"/>
            <a:ext cx="8353425" cy="4263649"/>
          </a:xfrm>
        </p:spPr>
      </p:pic>
      <p:pic>
        <p:nvPicPr>
          <p:cNvPr id="5" name="Content Placeholder 3" descr="can frame fields.JPG"/>
          <p:cNvPicPr>
            <a:picLocks noChangeAspect="1"/>
          </p:cNvPicPr>
          <p:nvPr/>
        </p:nvPicPr>
        <p:blipFill>
          <a:blip r:embed="rId3" cstate="print"/>
          <a:stretch>
            <a:fillRect/>
          </a:stretch>
        </p:blipFill>
        <p:spPr>
          <a:xfrm>
            <a:off x="1143000" y="1371600"/>
            <a:ext cx="7010400" cy="4381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Frame</a:t>
            </a:r>
            <a:endParaRPr lang="en-US" dirty="0"/>
          </a:p>
        </p:txBody>
      </p:sp>
      <p:pic>
        <p:nvPicPr>
          <p:cNvPr id="4" name="Content Placeholder 3" descr="can frame fields.JPG"/>
          <p:cNvPicPr>
            <a:picLocks noGrp="1" noChangeAspect="1"/>
          </p:cNvPicPr>
          <p:nvPr>
            <p:ph idx="1"/>
          </p:nvPr>
        </p:nvPicPr>
        <p:blipFill>
          <a:blip r:embed="rId3" cstate="print"/>
          <a:stretch>
            <a:fillRect/>
          </a:stretch>
        </p:blipFill>
        <p:spPr>
          <a:xfrm>
            <a:off x="1066800" y="1752600"/>
            <a:ext cx="7010400" cy="438150"/>
          </a:xfrm>
        </p:spPr>
      </p:pic>
      <p:sp>
        <p:nvSpPr>
          <p:cNvPr id="5" name="AutoShape 336"/>
          <p:cNvSpPr>
            <a:spLocks noChangeArrowheads="1"/>
          </p:cNvSpPr>
          <p:nvPr/>
        </p:nvSpPr>
        <p:spPr bwMode="auto">
          <a:xfrm>
            <a:off x="762000" y="2362200"/>
            <a:ext cx="1930400" cy="879475"/>
          </a:xfrm>
          <a:prstGeom prst="cloudCallout">
            <a:avLst>
              <a:gd name="adj1" fmla="val 60032"/>
              <a:gd name="adj2" fmla="val 100000"/>
            </a:avLst>
          </a:prstGeom>
          <a:noFill/>
          <a:ln w="9525">
            <a:solidFill>
              <a:schemeClr val="tx1"/>
            </a:solidFill>
            <a:round/>
            <a:headEnd/>
            <a:tailEnd/>
          </a:ln>
          <a:effectLst/>
        </p:spPr>
        <p:txBody>
          <a:bodyPr wrap="none" anchor="ctr"/>
          <a:lstStyle/>
          <a:p>
            <a:pPr>
              <a:spcBef>
                <a:spcPct val="0"/>
              </a:spcBef>
              <a:spcAft>
                <a:spcPct val="0"/>
              </a:spcAft>
            </a:pPr>
            <a:r>
              <a:rPr lang="en-US" b="1" dirty="0">
                <a:solidFill>
                  <a:schemeClr val="accent2"/>
                </a:solidFill>
                <a:effectLst>
                  <a:outerShdw blurRad="38100" dist="38100" dir="2700000" algn="tl">
                    <a:srgbClr val="C0C0C0"/>
                  </a:outerShdw>
                </a:effectLst>
              </a:rPr>
              <a:t>SOF</a:t>
            </a:r>
          </a:p>
          <a:p>
            <a:pPr>
              <a:spcBef>
                <a:spcPct val="0"/>
              </a:spcBef>
              <a:spcAft>
                <a:spcPct val="0"/>
              </a:spcAft>
            </a:pPr>
            <a:r>
              <a:rPr lang="en-US" b="1" dirty="0">
                <a:solidFill>
                  <a:schemeClr val="accent2"/>
                </a:solidFill>
                <a:effectLst>
                  <a:outerShdw blurRad="38100" dist="38100" dir="2700000" algn="tl">
                    <a:srgbClr val="C0C0C0"/>
                  </a:outerShdw>
                </a:effectLst>
              </a:rPr>
              <a:t>Start of Frame</a:t>
            </a:r>
            <a:endParaRPr lang="en-US" dirty="0">
              <a:effectLst/>
            </a:endParaRPr>
          </a:p>
        </p:txBody>
      </p:sp>
      <p:sp>
        <p:nvSpPr>
          <p:cNvPr id="6" name="Text Box 299"/>
          <p:cNvSpPr txBox="1">
            <a:spLocks noChangeArrowheads="1"/>
          </p:cNvSpPr>
          <p:nvPr/>
        </p:nvSpPr>
        <p:spPr bwMode="auto">
          <a:xfrm>
            <a:off x="3284538" y="3730625"/>
            <a:ext cx="1827212" cy="646331"/>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gn="l">
              <a:spcBef>
                <a:spcPct val="0"/>
              </a:spcBef>
              <a:spcAft>
                <a:spcPct val="0"/>
              </a:spcAft>
            </a:pPr>
            <a:r>
              <a:rPr lang="en-US" b="1" dirty="0">
                <a:effectLst/>
              </a:rPr>
              <a:t>Arbitration Field	</a:t>
            </a:r>
            <a:endParaRPr lang="en-US" sz="2400" b="1" dirty="0">
              <a:effectLst/>
            </a:endParaRPr>
          </a:p>
        </p:txBody>
      </p:sp>
      <p:sp>
        <p:nvSpPr>
          <p:cNvPr id="7" name="Rectangle 257"/>
          <p:cNvSpPr>
            <a:spLocks noChangeArrowheads="1"/>
          </p:cNvSpPr>
          <p:nvPr/>
        </p:nvSpPr>
        <p:spPr bwMode="auto">
          <a:xfrm>
            <a:off x="2743200" y="3733800"/>
            <a:ext cx="539750" cy="648204"/>
          </a:xfrm>
          <a:prstGeom prst="rect">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endParaRPr lang="en-US"/>
          </a:p>
        </p:txBody>
      </p:sp>
      <p:sp>
        <p:nvSpPr>
          <p:cNvPr id="8" name="Line 259"/>
          <p:cNvSpPr>
            <a:spLocks noChangeAspect="1" noChangeShapeType="1"/>
          </p:cNvSpPr>
          <p:nvPr/>
        </p:nvSpPr>
        <p:spPr bwMode="auto">
          <a:xfrm>
            <a:off x="2730500" y="3757613"/>
            <a:ext cx="0" cy="650110"/>
          </a:xfrm>
          <a:prstGeom prst="line">
            <a:avLst/>
          </a:prstGeom>
          <a:noFill/>
          <a:ln w="28575">
            <a:solidFill>
              <a:schemeClr val="tx1"/>
            </a:solidFill>
            <a:round/>
            <a:headEnd/>
            <a:tailEnd/>
          </a:ln>
          <a:effectLst/>
        </p:spPr>
        <p:txBody>
          <a:bodyPr wrap="none" anchor="ctr"/>
          <a:lstStyle/>
          <a:p>
            <a:endParaRPr lang="en-US"/>
          </a:p>
        </p:txBody>
      </p:sp>
      <p:sp>
        <p:nvSpPr>
          <p:cNvPr id="9" name="Line 262"/>
          <p:cNvSpPr>
            <a:spLocks noChangeAspect="1" noChangeShapeType="1"/>
          </p:cNvSpPr>
          <p:nvPr/>
        </p:nvSpPr>
        <p:spPr bwMode="auto">
          <a:xfrm>
            <a:off x="3284538" y="3730624"/>
            <a:ext cx="0" cy="650111"/>
          </a:xfrm>
          <a:prstGeom prst="line">
            <a:avLst/>
          </a:prstGeom>
          <a:noFill/>
          <a:ln w="28575">
            <a:solidFill>
              <a:schemeClr val="tx1"/>
            </a:solidFill>
            <a:round/>
            <a:headEnd/>
            <a:tailEnd/>
          </a:ln>
          <a:effectLst/>
        </p:spPr>
        <p:txBody>
          <a:bodyPr wrap="none" anchor="ctr"/>
          <a:lstStyle/>
          <a:p>
            <a:endParaRPr lang="en-US"/>
          </a:p>
        </p:txBody>
      </p:sp>
      <p:sp>
        <p:nvSpPr>
          <p:cNvPr id="10" name="Text Box 263"/>
          <p:cNvSpPr txBox="1">
            <a:spLocks noChangeAspect="1" noChangeArrowheads="1"/>
          </p:cNvSpPr>
          <p:nvPr/>
        </p:nvSpPr>
        <p:spPr bwMode="auto">
          <a:xfrm>
            <a:off x="2776538" y="3814763"/>
            <a:ext cx="458787" cy="341632"/>
          </a:xfrm>
          <a:prstGeom prst="rect">
            <a:avLst/>
          </a:prstGeom>
          <a:noFill/>
          <a:ln w="12700">
            <a:noFill/>
            <a:miter lim="800000"/>
            <a:headEnd/>
            <a:tailEnd/>
          </a:ln>
          <a:effectLst/>
        </p:spPr>
        <p:txBody>
          <a:bodyPr wrap="square">
            <a:spAutoFit/>
          </a:bodyPr>
          <a:lstStyle/>
          <a:p>
            <a:pPr defTabSz="762000">
              <a:lnSpc>
                <a:spcPct val="90000"/>
              </a:lnSpc>
              <a:spcBef>
                <a:spcPct val="50000"/>
              </a:spcBef>
              <a:spcAft>
                <a:spcPct val="0"/>
              </a:spcAft>
            </a:pPr>
            <a:r>
              <a:rPr lang="en-US" sz="1800" b="1">
                <a:effectLst/>
                <a:latin typeface="Helvetica" pitchFamily="34" charset="0"/>
              </a:rPr>
              <a:t>0</a:t>
            </a:r>
            <a:endParaRPr lang="en-US" sz="1200" b="1">
              <a:effectLst/>
              <a:latin typeface="Helvetica" pitchFamily="34" charset="0"/>
            </a:endParaRPr>
          </a:p>
        </p:txBody>
      </p:sp>
      <p:sp>
        <p:nvSpPr>
          <p:cNvPr id="11" name="Text Box 298"/>
          <p:cNvSpPr txBox="1">
            <a:spLocks noChangeArrowheads="1"/>
          </p:cNvSpPr>
          <p:nvPr/>
        </p:nvSpPr>
        <p:spPr bwMode="auto">
          <a:xfrm>
            <a:off x="1755775" y="3730625"/>
            <a:ext cx="974725" cy="646331"/>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gn="l">
              <a:spcBef>
                <a:spcPct val="0"/>
              </a:spcBef>
              <a:spcAft>
                <a:spcPct val="0"/>
              </a:spcAft>
            </a:pPr>
            <a:r>
              <a:rPr lang="en-US" b="1">
                <a:effectLst/>
              </a:rPr>
              <a:t>Bus Idle    	</a:t>
            </a:r>
            <a:endParaRPr lang="en-US" sz="2400" b="1">
              <a:effectLst/>
            </a:endParaRPr>
          </a:p>
        </p:txBody>
      </p:sp>
      <p:sp>
        <p:nvSpPr>
          <p:cNvPr id="12" name="Line 333"/>
          <p:cNvSpPr>
            <a:spLocks noChangeShapeType="1"/>
          </p:cNvSpPr>
          <p:nvPr/>
        </p:nvSpPr>
        <p:spPr bwMode="auto">
          <a:xfrm flipH="1">
            <a:off x="1755774" y="3757613"/>
            <a:ext cx="974725" cy="0"/>
          </a:xfrm>
          <a:prstGeom prst="line">
            <a:avLst/>
          </a:prstGeom>
          <a:noFill/>
          <a:ln w="28575">
            <a:solidFill>
              <a:schemeClr val="tx1"/>
            </a:solidFill>
            <a:round/>
            <a:headEnd/>
            <a:tailEnd/>
          </a:ln>
          <a:effectLst/>
        </p:spPr>
        <p:txBody>
          <a:bodyPr wrap="none" anchor="ctr"/>
          <a:lstStyle/>
          <a:p>
            <a:endParaRPr lang="en-US"/>
          </a:p>
        </p:txBody>
      </p:sp>
      <p:sp>
        <p:nvSpPr>
          <p:cNvPr id="13" name="Line 334"/>
          <p:cNvSpPr>
            <a:spLocks noChangeShapeType="1"/>
          </p:cNvSpPr>
          <p:nvPr/>
        </p:nvSpPr>
        <p:spPr bwMode="auto">
          <a:xfrm>
            <a:off x="3284538" y="3744913"/>
            <a:ext cx="1827212" cy="0"/>
          </a:xfrm>
          <a:prstGeom prst="line">
            <a:avLst/>
          </a:prstGeom>
          <a:noFill/>
          <a:ln w="28575">
            <a:solidFill>
              <a:schemeClr val="tx1"/>
            </a:solidFill>
            <a:round/>
            <a:headEnd/>
            <a:tailEnd/>
          </a:ln>
          <a:effectLst/>
        </p:spPr>
        <p:txBody>
          <a:bodyPr wrap="none" anchor="ctr"/>
          <a:lstStyle/>
          <a:p>
            <a:endParaRPr lang="en-US"/>
          </a:p>
        </p:txBody>
      </p:sp>
      <p:sp>
        <p:nvSpPr>
          <p:cNvPr id="14" name="Line 335"/>
          <p:cNvSpPr>
            <a:spLocks noChangeShapeType="1"/>
          </p:cNvSpPr>
          <p:nvPr/>
        </p:nvSpPr>
        <p:spPr bwMode="auto">
          <a:xfrm flipV="1">
            <a:off x="2743200" y="4271962"/>
            <a:ext cx="539750" cy="1906"/>
          </a:xfrm>
          <a:prstGeom prst="line">
            <a:avLst/>
          </a:prstGeom>
          <a:noFill/>
          <a:ln w="28575">
            <a:solidFill>
              <a:schemeClr val="tx1"/>
            </a:solidFill>
            <a:round/>
            <a:headEnd/>
            <a:tailEnd/>
          </a:ln>
          <a:effectLst/>
        </p:spPr>
        <p:txBody>
          <a:bodyPr wrap="none" anchor="ctr"/>
          <a:lstStyle/>
          <a:p>
            <a:endParaRPr lang="en-US"/>
          </a:p>
        </p:txBody>
      </p:sp>
      <p:sp>
        <p:nvSpPr>
          <p:cNvPr id="24" name="Title 1"/>
          <p:cNvSpPr txBox="1">
            <a:spLocks/>
          </p:cNvSpPr>
          <p:nvPr/>
        </p:nvSpPr>
        <p:spPr>
          <a:xfrm>
            <a:off x="381000" y="4724400"/>
            <a:ext cx="8229600" cy="1371600"/>
          </a:xfrm>
          <a:prstGeom prst="rect">
            <a:avLst/>
          </a:prstGeom>
        </p:spPr>
        <p:txBody>
          <a:bodyPr vert="horz" lIns="91440" tIns="45720" rIns="91440" bIns="45720" rtlCol="0" anchor="ctr">
            <a:normAutofit fontScale="92500" lnSpcReduction="20000"/>
          </a:bodyPr>
          <a:lstStyle/>
          <a:p>
            <a:pPr marL="514350" marR="0" lvl="0" indent="-514350" defTabSz="914400" rtl="0" eaLnBrk="1" fontAlgn="auto" latinLnBrk="0" hangingPunct="1">
              <a:lnSpc>
                <a:spcPct val="100000"/>
              </a:lnSpc>
              <a:spcBef>
                <a:spcPct val="0"/>
              </a:spcBef>
              <a:spcAft>
                <a:spcPts val="0"/>
              </a:spcAft>
              <a:buClrTx/>
              <a:buSzTx/>
              <a:buFontTx/>
              <a:buAutoNum type="arabicPeriod"/>
              <a:tabLst/>
              <a:defRPr/>
            </a:pPr>
            <a:r>
              <a:rPr lang="en-US" sz="2800" dirty="0" smtClean="0">
                <a:latin typeface="+mj-lt"/>
                <a:ea typeface="+mj-ea"/>
                <a:cs typeface="+mj-cs"/>
              </a:rPr>
              <a:t>It indicates the beginning of data/remote frames.</a:t>
            </a:r>
          </a:p>
          <a:p>
            <a:pPr marL="514350" marR="0" lvl="0" indent="-514350" defTabSz="914400" rtl="0" eaLnBrk="1" fontAlgn="auto" latinLnBrk="0" hangingPunct="1">
              <a:lnSpc>
                <a:spcPct val="100000"/>
              </a:lnSpc>
              <a:spcBef>
                <a:spcPct val="0"/>
              </a:spcBef>
              <a:spcAft>
                <a:spcPts val="0"/>
              </a:spcAft>
              <a:buClrTx/>
              <a:buSzTx/>
              <a:buFontTx/>
              <a:buAutoNum type="arabicPeriod"/>
              <a:tabLst/>
              <a:defRPr/>
            </a:pPr>
            <a:r>
              <a:rPr kumimoji="0" lang="en-US" sz="2800" b="0" i="0" u="none" strike="noStrike" kern="1200" cap="none" spc="0" normalizeH="0" baseline="0" noProof="0" dirty="0" smtClean="0">
                <a:ln>
                  <a:noFill/>
                </a:ln>
                <a:solidFill>
                  <a:schemeClr val="tx1"/>
                </a:solidFill>
                <a:effectLst/>
                <a:uLnTx/>
                <a:uFillTx/>
                <a:latin typeface="+mj-lt"/>
                <a:ea typeface="+mj-ea"/>
                <a:cs typeface="+mj-cs"/>
              </a:rPr>
              <a:t>It is a single dominant bit.</a:t>
            </a:r>
          </a:p>
          <a:p>
            <a:pPr marL="514350" marR="0" lvl="0" indent="-514350" defTabSz="914400" rtl="0" eaLnBrk="1" fontAlgn="auto" latinLnBrk="0" hangingPunct="1">
              <a:lnSpc>
                <a:spcPct val="100000"/>
              </a:lnSpc>
              <a:spcBef>
                <a:spcPct val="0"/>
              </a:spcBef>
              <a:spcAft>
                <a:spcPts val="0"/>
              </a:spcAft>
              <a:buClrTx/>
              <a:buSzTx/>
              <a:buFontTx/>
              <a:buAutoNum type="arabicPeriod"/>
              <a:tabLst/>
              <a:defRPr/>
            </a:pPr>
            <a:r>
              <a:rPr lang="en-US" sz="2800" dirty="0" smtClean="0">
                <a:latin typeface="+mj-lt"/>
                <a:ea typeface="+mj-ea"/>
                <a:cs typeface="+mj-cs"/>
              </a:rPr>
              <a:t>All receiver nodes has to be synchronized to leading edge of SOF of the transmitter node.</a:t>
            </a:r>
            <a:endParaRPr kumimoji="0" lang="en-US" sz="2800" b="0" i="0" u="none" strike="noStrike" kern="1200" cap="none" spc="0" normalizeH="0" baseline="0" noProof="0" dirty="0" smtClean="0">
              <a:ln>
                <a:noFill/>
              </a:ln>
              <a:solidFill>
                <a:schemeClr val="tx1"/>
              </a:solidFill>
              <a:effectLst/>
              <a:uLnTx/>
              <a:uFillTx/>
              <a:latin typeface="+mj-lt"/>
              <a:ea typeface="+mj-ea"/>
              <a:cs typeface="+mj-cs"/>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Frame</a:t>
            </a:r>
            <a:endParaRPr lang="en-US" dirty="0"/>
          </a:p>
        </p:txBody>
      </p:sp>
      <p:pic>
        <p:nvPicPr>
          <p:cNvPr id="4" name="Content Placeholder 3" descr="can frame fields.JPG"/>
          <p:cNvPicPr>
            <a:picLocks noGrp="1" noChangeAspect="1"/>
          </p:cNvPicPr>
          <p:nvPr>
            <p:ph idx="1"/>
          </p:nvPr>
        </p:nvPicPr>
        <p:blipFill>
          <a:blip r:embed="rId3" cstate="print"/>
          <a:stretch>
            <a:fillRect/>
          </a:stretch>
        </p:blipFill>
        <p:spPr>
          <a:xfrm>
            <a:off x="1066800" y="1752600"/>
            <a:ext cx="7010400" cy="438150"/>
          </a:xfrm>
        </p:spPr>
      </p:pic>
      <p:sp>
        <p:nvSpPr>
          <p:cNvPr id="24" name="Title 1"/>
          <p:cNvSpPr txBox="1">
            <a:spLocks/>
          </p:cNvSpPr>
          <p:nvPr/>
        </p:nvSpPr>
        <p:spPr>
          <a:xfrm>
            <a:off x="381000" y="4572000"/>
            <a:ext cx="8229600" cy="1371600"/>
          </a:xfrm>
          <a:prstGeom prst="rect">
            <a:avLst/>
          </a:prstGeom>
        </p:spPr>
        <p:txBody>
          <a:bodyPr vert="horz" lIns="91440" tIns="45720" rIns="91440" bIns="45720" rtlCol="0" anchor="ctr">
            <a:normAutofit fontScale="62500" lnSpcReduction="20000"/>
          </a:bodyPr>
          <a:lstStyle/>
          <a:p>
            <a:pPr marL="514350" lvl="0" indent="-514350">
              <a:spcBef>
                <a:spcPct val="0"/>
              </a:spcBef>
              <a:buFontTx/>
              <a:buAutoNum type="arabicPeriod"/>
            </a:pPr>
            <a:r>
              <a:rPr lang="en-US" sz="2800" dirty="0" smtClean="0"/>
              <a:t>The </a:t>
            </a:r>
            <a:r>
              <a:rPr lang="en-US" sz="2900" dirty="0" smtClean="0"/>
              <a:t>ARBITRATION FIELD consists of the IDENTIFIER and the RTR-BIT.</a:t>
            </a:r>
          </a:p>
          <a:p>
            <a:pPr marL="514350" lvl="0" indent="-514350">
              <a:spcBef>
                <a:spcPct val="0"/>
              </a:spcBef>
              <a:buFontTx/>
              <a:buAutoNum type="arabicPeriod"/>
            </a:pPr>
            <a:r>
              <a:rPr lang="en-US" sz="2900" dirty="0" smtClean="0"/>
              <a:t>The IDENTIFIER’s length is 11 bits. The least significant bit is ID-0. The 7 most significant bits (ID-10 - ID-4) must not be all ’recessive’.</a:t>
            </a:r>
          </a:p>
          <a:p>
            <a:pPr marL="514350" lvl="0" indent="-514350">
              <a:spcBef>
                <a:spcPct val="0"/>
              </a:spcBef>
              <a:buFontTx/>
              <a:buAutoNum type="arabicPeriod"/>
            </a:pPr>
            <a:r>
              <a:rPr lang="en-US" sz="2900" dirty="0" smtClean="0"/>
              <a:t>In DATA FRAMEs </a:t>
            </a:r>
            <a:r>
              <a:rPr lang="en-US" sz="2800" dirty="0" smtClean="0"/>
              <a:t>the RTR(Remote Transmission Request) BIT has to be ’dominant’. Within a REMOTE FRAME the RTR BIT has to be ’recessive’.</a:t>
            </a:r>
            <a:endParaRPr kumimoji="0" lang="en-US" sz="28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15" name="Text Box 142"/>
          <p:cNvSpPr txBox="1">
            <a:spLocks noChangeArrowheads="1"/>
          </p:cNvSpPr>
          <p:nvPr/>
        </p:nvSpPr>
        <p:spPr bwMode="auto">
          <a:xfrm>
            <a:off x="1336675" y="3762375"/>
            <a:ext cx="974725" cy="5810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lgn="l">
              <a:spcBef>
                <a:spcPct val="0"/>
              </a:spcBef>
              <a:spcAft>
                <a:spcPct val="0"/>
              </a:spcAft>
            </a:pPr>
            <a:r>
              <a:rPr lang="en-US" b="1">
                <a:effectLst/>
              </a:rPr>
              <a:t>Bus Idle    	</a:t>
            </a:r>
            <a:endParaRPr lang="en-US" sz="2400" b="1">
              <a:effectLst/>
            </a:endParaRPr>
          </a:p>
        </p:txBody>
      </p:sp>
      <p:sp>
        <p:nvSpPr>
          <p:cNvPr id="16" name="Rectangle 108"/>
          <p:cNvSpPr>
            <a:spLocks noChangeArrowheads="1"/>
          </p:cNvSpPr>
          <p:nvPr/>
        </p:nvSpPr>
        <p:spPr bwMode="auto">
          <a:xfrm>
            <a:off x="2847975" y="3762375"/>
            <a:ext cx="3238500" cy="53975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en-US"/>
          </a:p>
        </p:txBody>
      </p:sp>
      <p:sp>
        <p:nvSpPr>
          <p:cNvPr id="17" name="Text Box 114"/>
          <p:cNvSpPr txBox="1">
            <a:spLocks noChangeAspect="1" noChangeArrowheads="1"/>
          </p:cNvSpPr>
          <p:nvPr/>
        </p:nvSpPr>
        <p:spPr bwMode="auto">
          <a:xfrm>
            <a:off x="2305050" y="3762375"/>
            <a:ext cx="542925" cy="53657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36000" tIns="36000" rIns="36000" bIns="36000">
            <a:spAutoFit/>
          </a:bodyPr>
          <a:lstStyle/>
          <a:p>
            <a:pPr defTabSz="762000">
              <a:lnSpc>
                <a:spcPct val="90000"/>
              </a:lnSpc>
              <a:spcBef>
                <a:spcPct val="50000"/>
              </a:spcBef>
              <a:spcAft>
                <a:spcPct val="0"/>
              </a:spcAft>
            </a:pPr>
            <a:endParaRPr lang="en-US" sz="1200" b="1" dirty="0">
              <a:solidFill>
                <a:srgbClr val="800000"/>
              </a:solidFill>
              <a:effectLst/>
              <a:latin typeface="Helvetica" pitchFamily="34" charset="0"/>
            </a:endParaRPr>
          </a:p>
          <a:p>
            <a:pPr defTabSz="762000">
              <a:lnSpc>
                <a:spcPct val="90000"/>
              </a:lnSpc>
              <a:spcBef>
                <a:spcPct val="50000"/>
              </a:spcBef>
              <a:spcAft>
                <a:spcPct val="0"/>
              </a:spcAft>
            </a:pPr>
            <a:r>
              <a:rPr lang="en-US" sz="1400" b="1" dirty="0">
                <a:solidFill>
                  <a:schemeClr val="tx2"/>
                </a:solidFill>
                <a:effectLst/>
                <a:latin typeface="Helvetica" pitchFamily="34" charset="0"/>
              </a:rPr>
              <a:t>SOF</a:t>
            </a:r>
            <a:endParaRPr lang="en-US" sz="1000" b="1" dirty="0">
              <a:solidFill>
                <a:srgbClr val="800000"/>
              </a:solidFill>
              <a:effectLst/>
              <a:latin typeface="Helvetica" pitchFamily="34" charset="0"/>
            </a:endParaRPr>
          </a:p>
        </p:txBody>
      </p:sp>
      <p:sp>
        <p:nvSpPr>
          <p:cNvPr id="18" name="Text Box 129"/>
          <p:cNvSpPr txBox="1">
            <a:spLocks noChangeAspect="1" noChangeArrowheads="1"/>
          </p:cNvSpPr>
          <p:nvPr/>
        </p:nvSpPr>
        <p:spPr bwMode="auto">
          <a:xfrm>
            <a:off x="3001963" y="3844925"/>
            <a:ext cx="2547937" cy="339725"/>
          </a:xfrm>
          <a:prstGeom prst="rect">
            <a:avLst/>
          </a:prstGeom>
          <a:noFill/>
          <a:ln w="12700">
            <a:noFill/>
            <a:miter lim="800000"/>
            <a:headEnd/>
            <a:tailEnd/>
          </a:ln>
          <a:effectLst/>
        </p:spPr>
        <p:txBody>
          <a:bodyPr>
            <a:spAutoFit/>
          </a:bodyPr>
          <a:lstStyle/>
          <a:p>
            <a:pPr defTabSz="762000">
              <a:lnSpc>
                <a:spcPct val="90000"/>
              </a:lnSpc>
              <a:spcBef>
                <a:spcPct val="50000"/>
              </a:spcBef>
              <a:spcAft>
                <a:spcPct val="0"/>
              </a:spcAft>
            </a:pPr>
            <a:r>
              <a:rPr lang="en-US" sz="1800" b="1">
                <a:effectLst/>
                <a:latin typeface="Helvetica" pitchFamily="34" charset="0"/>
              </a:rPr>
              <a:t>11-bit Identifier</a:t>
            </a:r>
            <a:endParaRPr lang="en-US" sz="1200" b="1">
              <a:effectLst/>
              <a:latin typeface="Helvetica" pitchFamily="34" charset="0"/>
            </a:endParaRPr>
          </a:p>
        </p:txBody>
      </p:sp>
      <p:sp>
        <p:nvSpPr>
          <p:cNvPr id="19" name="Text Box 132"/>
          <p:cNvSpPr txBox="1">
            <a:spLocks noChangeAspect="1" noChangeArrowheads="1"/>
          </p:cNvSpPr>
          <p:nvPr/>
        </p:nvSpPr>
        <p:spPr bwMode="auto">
          <a:xfrm>
            <a:off x="5583238" y="3844925"/>
            <a:ext cx="457200" cy="239713"/>
          </a:xfrm>
          <a:prstGeom prst="rect">
            <a:avLst/>
          </a:prstGeom>
          <a:noFill/>
          <a:ln w="12700">
            <a:noFill/>
            <a:miter lim="800000"/>
            <a:headEnd/>
            <a:tailEnd/>
          </a:ln>
          <a:effectLst/>
        </p:spPr>
        <p:txBody>
          <a:bodyPr lIns="18000" tIns="10800" rIns="18000" bIns="36000">
            <a:spAutoFit/>
          </a:bodyPr>
          <a:lstStyle/>
          <a:p>
            <a:pPr defTabSz="762000">
              <a:lnSpc>
                <a:spcPct val="90000"/>
              </a:lnSpc>
              <a:spcBef>
                <a:spcPct val="50000"/>
              </a:spcBef>
              <a:spcAft>
                <a:spcPct val="0"/>
              </a:spcAft>
            </a:pPr>
            <a:r>
              <a:rPr lang="en-US" sz="1400" b="1">
                <a:solidFill>
                  <a:schemeClr val="tx2"/>
                </a:solidFill>
                <a:effectLst/>
                <a:latin typeface="Helvetica" pitchFamily="34" charset="0"/>
              </a:rPr>
              <a:t>RTR</a:t>
            </a:r>
            <a:endParaRPr lang="en-US" sz="1000" b="1">
              <a:solidFill>
                <a:srgbClr val="008000"/>
              </a:solidFill>
              <a:effectLst/>
              <a:latin typeface="Helvetica" pitchFamily="34" charset="0"/>
            </a:endParaRPr>
          </a:p>
        </p:txBody>
      </p:sp>
      <p:sp>
        <p:nvSpPr>
          <p:cNvPr id="20" name="Line 141"/>
          <p:cNvSpPr>
            <a:spLocks noChangeShapeType="1"/>
          </p:cNvSpPr>
          <p:nvPr/>
        </p:nvSpPr>
        <p:spPr bwMode="auto">
          <a:xfrm flipH="1">
            <a:off x="1336675" y="3762375"/>
            <a:ext cx="974725" cy="0"/>
          </a:xfrm>
          <a:prstGeom prst="line">
            <a:avLst/>
          </a:prstGeom>
          <a:noFill/>
          <a:ln w="28575">
            <a:solidFill>
              <a:schemeClr val="tx1"/>
            </a:solidFill>
            <a:round/>
            <a:headEnd/>
            <a:tailEnd/>
          </a:ln>
          <a:effectLst/>
        </p:spPr>
        <p:txBody>
          <a:bodyPr wrap="none" anchor="ctr"/>
          <a:lstStyle/>
          <a:p>
            <a:endParaRPr lang="en-US"/>
          </a:p>
        </p:txBody>
      </p:sp>
      <p:sp>
        <p:nvSpPr>
          <p:cNvPr id="21" name="Text Box 146"/>
          <p:cNvSpPr txBox="1">
            <a:spLocks noChangeAspect="1" noChangeArrowheads="1"/>
          </p:cNvSpPr>
          <p:nvPr/>
        </p:nvSpPr>
        <p:spPr bwMode="auto">
          <a:xfrm>
            <a:off x="6086475" y="3762375"/>
            <a:ext cx="1381125" cy="536575"/>
          </a:xfrm>
          <a:prstGeom prst="rect">
            <a:avLst/>
          </a:prstGeom>
          <a:gradFill rotWithShape="0">
            <a:gsLst>
              <a:gs pos="0">
                <a:schemeClr val="accent1"/>
              </a:gs>
              <a:gs pos="50000">
                <a:schemeClr val="accent1">
                  <a:gamma/>
                  <a:tint val="25490"/>
                  <a:invGamma/>
                </a:schemeClr>
              </a:gs>
              <a:gs pos="100000">
                <a:schemeClr val="accent1"/>
              </a:gs>
            </a:gsLst>
            <a:lin ang="5400000" scaled="1"/>
          </a:gradFill>
          <a:ln w="12700">
            <a:noFill/>
            <a:miter lim="800000"/>
            <a:headEnd/>
            <a:tailEnd/>
          </a:ln>
          <a:effectLst/>
        </p:spPr>
        <p:txBody>
          <a:bodyPr lIns="36000" tIns="36000" rIns="36000" bIns="36000">
            <a:spAutoFit/>
          </a:bodyPr>
          <a:lstStyle/>
          <a:p>
            <a:pPr defTabSz="762000">
              <a:lnSpc>
                <a:spcPct val="90000"/>
              </a:lnSpc>
              <a:spcBef>
                <a:spcPct val="50000"/>
              </a:spcBef>
              <a:spcAft>
                <a:spcPct val="0"/>
              </a:spcAft>
            </a:pPr>
            <a:endParaRPr lang="en-US" sz="1200" b="1">
              <a:solidFill>
                <a:srgbClr val="800000"/>
              </a:solidFill>
              <a:effectLst/>
              <a:latin typeface="Helvetica" pitchFamily="34" charset="0"/>
            </a:endParaRPr>
          </a:p>
          <a:p>
            <a:pPr defTabSz="762000">
              <a:lnSpc>
                <a:spcPct val="90000"/>
              </a:lnSpc>
              <a:spcBef>
                <a:spcPct val="50000"/>
              </a:spcBef>
              <a:spcAft>
                <a:spcPct val="0"/>
              </a:spcAft>
            </a:pPr>
            <a:r>
              <a:rPr lang="en-US" sz="1400" b="1">
                <a:solidFill>
                  <a:schemeClr val="tx2"/>
                </a:solidFill>
                <a:effectLst/>
                <a:latin typeface="Helvetica" pitchFamily="34" charset="0"/>
              </a:rPr>
              <a:t>Control Field</a:t>
            </a:r>
            <a:endParaRPr lang="en-US" sz="1000" b="1">
              <a:solidFill>
                <a:srgbClr val="800000"/>
              </a:solidFill>
              <a:effectLst/>
              <a:latin typeface="Helvetica" pitchFamily="34" charset="0"/>
            </a:endParaRPr>
          </a:p>
        </p:txBody>
      </p:sp>
      <p:sp>
        <p:nvSpPr>
          <p:cNvPr id="22" name="AutoShape 148"/>
          <p:cNvSpPr>
            <a:spLocks noChangeArrowheads="1"/>
          </p:cNvSpPr>
          <p:nvPr/>
        </p:nvSpPr>
        <p:spPr bwMode="auto">
          <a:xfrm>
            <a:off x="3810000" y="2362200"/>
            <a:ext cx="2517775" cy="1050925"/>
          </a:xfrm>
          <a:prstGeom prst="cloudCallout">
            <a:avLst>
              <a:gd name="adj1" fmla="val -40481"/>
              <a:gd name="adj2" fmla="val 66769"/>
            </a:avLst>
          </a:prstGeom>
          <a:noFill/>
          <a:ln w="9525">
            <a:solidFill>
              <a:schemeClr val="tx1"/>
            </a:solidFill>
            <a:round/>
            <a:headEnd/>
            <a:tailEnd/>
          </a:ln>
          <a:effectLst/>
        </p:spPr>
        <p:txBody>
          <a:bodyPr wrap="none" anchor="ctr"/>
          <a:lstStyle/>
          <a:p>
            <a:pPr>
              <a:spcBef>
                <a:spcPct val="0"/>
              </a:spcBef>
              <a:spcAft>
                <a:spcPct val="0"/>
              </a:spcAft>
            </a:pPr>
            <a:r>
              <a:rPr lang="en-US" b="1" dirty="0">
                <a:solidFill>
                  <a:schemeClr val="accent2"/>
                </a:solidFill>
                <a:effectLst>
                  <a:outerShdw blurRad="38100" dist="38100" dir="2700000" algn="tl">
                    <a:srgbClr val="C0C0C0"/>
                  </a:outerShdw>
                </a:effectLst>
              </a:rPr>
              <a:t>Arbitration</a:t>
            </a:r>
          </a:p>
          <a:p>
            <a:pPr>
              <a:spcBef>
                <a:spcPct val="0"/>
              </a:spcBef>
              <a:spcAft>
                <a:spcPct val="0"/>
              </a:spcAft>
            </a:pPr>
            <a:r>
              <a:rPr lang="en-US" b="1" dirty="0">
                <a:solidFill>
                  <a:schemeClr val="accent2"/>
                </a:solidFill>
                <a:effectLst>
                  <a:outerShdw blurRad="38100" dist="38100" dir="2700000" algn="tl">
                    <a:srgbClr val="C0C0C0"/>
                  </a:outerShdw>
                </a:effectLst>
              </a:rPr>
              <a:t>Field</a:t>
            </a:r>
          </a:p>
          <a:p>
            <a:pPr>
              <a:spcBef>
                <a:spcPct val="0"/>
              </a:spcBef>
              <a:spcAft>
                <a:spcPct val="0"/>
              </a:spcAft>
            </a:pPr>
            <a:r>
              <a:rPr lang="en-US" b="1" dirty="0" smtClean="0">
                <a:solidFill>
                  <a:srgbClr val="FF3300"/>
                </a:solidFill>
                <a:effectLst>
                  <a:outerShdw blurRad="38100" dist="38100" dir="2700000" algn="tl">
                    <a:srgbClr val="C0C0C0"/>
                  </a:outerShdw>
                </a:effectLst>
              </a:rPr>
              <a:t>Standard Frame</a:t>
            </a:r>
            <a:endParaRPr lang="en-US" dirty="0">
              <a:effectLst/>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Frame</a:t>
            </a:r>
            <a:endParaRPr lang="en-US" dirty="0"/>
          </a:p>
        </p:txBody>
      </p:sp>
      <p:pic>
        <p:nvPicPr>
          <p:cNvPr id="4" name="Content Placeholder 3" descr="can frame fields.JPG"/>
          <p:cNvPicPr>
            <a:picLocks noGrp="1" noChangeAspect="1"/>
          </p:cNvPicPr>
          <p:nvPr>
            <p:ph idx="1"/>
          </p:nvPr>
        </p:nvPicPr>
        <p:blipFill>
          <a:blip r:embed="rId3" cstate="print"/>
          <a:stretch>
            <a:fillRect/>
          </a:stretch>
        </p:blipFill>
        <p:spPr>
          <a:xfrm>
            <a:off x="1066800" y="1752600"/>
            <a:ext cx="7010400" cy="438150"/>
          </a:xfrm>
        </p:spPr>
      </p:pic>
      <p:sp>
        <p:nvSpPr>
          <p:cNvPr id="24" name="Title 1"/>
          <p:cNvSpPr txBox="1">
            <a:spLocks/>
          </p:cNvSpPr>
          <p:nvPr/>
        </p:nvSpPr>
        <p:spPr>
          <a:xfrm>
            <a:off x="381000" y="4572000"/>
            <a:ext cx="8229600" cy="1524000"/>
          </a:xfrm>
          <a:prstGeom prst="rect">
            <a:avLst/>
          </a:prstGeom>
        </p:spPr>
        <p:txBody>
          <a:bodyPr vert="horz" lIns="91440" tIns="45720" rIns="91440" bIns="45720" rtlCol="0" anchor="ctr">
            <a:normAutofit fontScale="62500" lnSpcReduction="20000"/>
          </a:bodyPr>
          <a:lstStyle/>
          <a:p>
            <a:pPr marL="514350" lvl="0" indent="-514350">
              <a:spcBef>
                <a:spcPct val="0"/>
              </a:spcBef>
              <a:buFontTx/>
              <a:buAutoNum type="arabicPeriod"/>
            </a:pPr>
            <a:r>
              <a:rPr lang="en-US" sz="2800" dirty="0" smtClean="0"/>
              <a:t>The </a:t>
            </a:r>
            <a:r>
              <a:rPr lang="en-US" sz="2900" dirty="0" smtClean="0"/>
              <a:t>ARBITRATION FIELD consists of the IDENTIFIER and the RTR-BIT.</a:t>
            </a:r>
          </a:p>
          <a:p>
            <a:pPr marL="514350" lvl="0" indent="-514350">
              <a:spcBef>
                <a:spcPct val="0"/>
              </a:spcBef>
              <a:buFontTx/>
              <a:buAutoNum type="arabicPeriod"/>
            </a:pPr>
            <a:r>
              <a:rPr lang="en-US" sz="2900" dirty="0" smtClean="0"/>
              <a:t>The IDENTIFIER’s length is 29 bits. The least significant bit is ID-0. The 7 most significant bits (ID-10 - ID-4) must not be all ’recessive’.</a:t>
            </a:r>
          </a:p>
          <a:p>
            <a:pPr marL="514350" lvl="0" indent="-514350">
              <a:spcBef>
                <a:spcPct val="0"/>
              </a:spcBef>
              <a:buFontTx/>
              <a:buAutoNum type="arabicPeriod"/>
            </a:pPr>
            <a:r>
              <a:rPr lang="en-US" sz="2900" dirty="0" smtClean="0"/>
              <a:t>In DATA FRAMEs </a:t>
            </a:r>
            <a:r>
              <a:rPr lang="en-US" sz="2800" dirty="0" smtClean="0"/>
              <a:t>the RTR(Remote Transmission Request) BIT has to be ’dominant’. Within a REMOTE FRAME the SRR(Substitute Remote Request) BIT has to be ’recessive’.</a:t>
            </a:r>
            <a:endParaRPr kumimoji="0" lang="en-US" sz="28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15" name="Text Box 142"/>
          <p:cNvSpPr txBox="1">
            <a:spLocks noChangeArrowheads="1"/>
          </p:cNvSpPr>
          <p:nvPr/>
        </p:nvSpPr>
        <p:spPr bwMode="auto">
          <a:xfrm>
            <a:off x="1336675" y="3762375"/>
            <a:ext cx="974725" cy="5810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lgn="l">
              <a:spcBef>
                <a:spcPct val="0"/>
              </a:spcBef>
              <a:spcAft>
                <a:spcPct val="0"/>
              </a:spcAft>
            </a:pPr>
            <a:r>
              <a:rPr lang="en-US" b="1">
                <a:effectLst/>
              </a:rPr>
              <a:t>Bus Idle    	</a:t>
            </a:r>
            <a:endParaRPr lang="en-US" sz="2400" b="1">
              <a:effectLst/>
            </a:endParaRPr>
          </a:p>
        </p:txBody>
      </p:sp>
      <p:sp>
        <p:nvSpPr>
          <p:cNvPr id="16" name="Rectangle 108"/>
          <p:cNvSpPr>
            <a:spLocks noChangeArrowheads="1"/>
          </p:cNvSpPr>
          <p:nvPr/>
        </p:nvSpPr>
        <p:spPr bwMode="auto">
          <a:xfrm>
            <a:off x="2847975" y="3762375"/>
            <a:ext cx="3238500" cy="53975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en-US"/>
          </a:p>
        </p:txBody>
      </p:sp>
      <p:sp>
        <p:nvSpPr>
          <p:cNvPr id="17" name="Text Box 114"/>
          <p:cNvSpPr txBox="1">
            <a:spLocks noChangeAspect="1" noChangeArrowheads="1"/>
          </p:cNvSpPr>
          <p:nvPr/>
        </p:nvSpPr>
        <p:spPr bwMode="auto">
          <a:xfrm>
            <a:off x="2305050" y="3762375"/>
            <a:ext cx="542925" cy="53657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36000" tIns="36000" rIns="36000" bIns="36000">
            <a:spAutoFit/>
          </a:bodyPr>
          <a:lstStyle/>
          <a:p>
            <a:pPr defTabSz="762000">
              <a:lnSpc>
                <a:spcPct val="90000"/>
              </a:lnSpc>
              <a:spcBef>
                <a:spcPct val="50000"/>
              </a:spcBef>
              <a:spcAft>
                <a:spcPct val="0"/>
              </a:spcAft>
            </a:pPr>
            <a:endParaRPr lang="en-US" sz="1200" b="1" dirty="0">
              <a:solidFill>
                <a:srgbClr val="800000"/>
              </a:solidFill>
              <a:effectLst/>
              <a:latin typeface="Helvetica" pitchFamily="34" charset="0"/>
            </a:endParaRPr>
          </a:p>
          <a:p>
            <a:pPr defTabSz="762000">
              <a:lnSpc>
                <a:spcPct val="90000"/>
              </a:lnSpc>
              <a:spcBef>
                <a:spcPct val="50000"/>
              </a:spcBef>
              <a:spcAft>
                <a:spcPct val="0"/>
              </a:spcAft>
            </a:pPr>
            <a:r>
              <a:rPr lang="en-US" sz="1400" b="1" dirty="0">
                <a:solidFill>
                  <a:schemeClr val="tx2"/>
                </a:solidFill>
                <a:effectLst/>
                <a:latin typeface="Helvetica" pitchFamily="34" charset="0"/>
              </a:rPr>
              <a:t>SOF</a:t>
            </a:r>
            <a:endParaRPr lang="en-US" sz="1000" b="1" dirty="0">
              <a:solidFill>
                <a:srgbClr val="800000"/>
              </a:solidFill>
              <a:effectLst/>
              <a:latin typeface="Helvetica" pitchFamily="34" charset="0"/>
            </a:endParaRPr>
          </a:p>
        </p:txBody>
      </p:sp>
      <p:sp>
        <p:nvSpPr>
          <p:cNvPr id="18" name="Text Box 129"/>
          <p:cNvSpPr txBox="1">
            <a:spLocks noChangeAspect="1" noChangeArrowheads="1"/>
          </p:cNvSpPr>
          <p:nvPr/>
        </p:nvSpPr>
        <p:spPr bwMode="auto">
          <a:xfrm>
            <a:off x="3001963" y="3844925"/>
            <a:ext cx="2547937" cy="339725"/>
          </a:xfrm>
          <a:prstGeom prst="rect">
            <a:avLst/>
          </a:prstGeom>
          <a:noFill/>
          <a:ln w="12700">
            <a:noFill/>
            <a:miter lim="800000"/>
            <a:headEnd/>
            <a:tailEnd/>
          </a:ln>
          <a:effectLst/>
        </p:spPr>
        <p:txBody>
          <a:bodyPr>
            <a:spAutoFit/>
          </a:bodyPr>
          <a:lstStyle/>
          <a:p>
            <a:pPr defTabSz="762000">
              <a:lnSpc>
                <a:spcPct val="90000"/>
              </a:lnSpc>
              <a:spcBef>
                <a:spcPct val="50000"/>
              </a:spcBef>
              <a:spcAft>
                <a:spcPct val="0"/>
              </a:spcAft>
            </a:pPr>
            <a:r>
              <a:rPr lang="en-US" sz="1800" b="1">
                <a:effectLst/>
                <a:latin typeface="Helvetica" pitchFamily="34" charset="0"/>
              </a:rPr>
              <a:t>11-bit Identifier</a:t>
            </a:r>
            <a:endParaRPr lang="en-US" sz="1200" b="1">
              <a:effectLst/>
              <a:latin typeface="Helvetica" pitchFamily="34" charset="0"/>
            </a:endParaRPr>
          </a:p>
        </p:txBody>
      </p:sp>
      <p:sp>
        <p:nvSpPr>
          <p:cNvPr id="19" name="Text Box 132"/>
          <p:cNvSpPr txBox="1">
            <a:spLocks noChangeAspect="1" noChangeArrowheads="1"/>
          </p:cNvSpPr>
          <p:nvPr/>
        </p:nvSpPr>
        <p:spPr bwMode="auto">
          <a:xfrm>
            <a:off x="5583238" y="3844925"/>
            <a:ext cx="457200" cy="239713"/>
          </a:xfrm>
          <a:prstGeom prst="rect">
            <a:avLst/>
          </a:prstGeom>
          <a:noFill/>
          <a:ln w="12700">
            <a:noFill/>
            <a:miter lim="800000"/>
            <a:headEnd/>
            <a:tailEnd/>
          </a:ln>
          <a:effectLst/>
        </p:spPr>
        <p:txBody>
          <a:bodyPr lIns="18000" tIns="10800" rIns="18000" bIns="36000">
            <a:spAutoFit/>
          </a:bodyPr>
          <a:lstStyle/>
          <a:p>
            <a:pPr defTabSz="762000">
              <a:lnSpc>
                <a:spcPct val="90000"/>
              </a:lnSpc>
              <a:spcBef>
                <a:spcPct val="50000"/>
              </a:spcBef>
              <a:spcAft>
                <a:spcPct val="0"/>
              </a:spcAft>
            </a:pPr>
            <a:r>
              <a:rPr lang="en-US" sz="1400" b="1">
                <a:solidFill>
                  <a:schemeClr val="tx2"/>
                </a:solidFill>
                <a:effectLst/>
                <a:latin typeface="Helvetica" pitchFamily="34" charset="0"/>
              </a:rPr>
              <a:t>RTR</a:t>
            </a:r>
            <a:endParaRPr lang="en-US" sz="1000" b="1">
              <a:solidFill>
                <a:srgbClr val="008000"/>
              </a:solidFill>
              <a:effectLst/>
              <a:latin typeface="Helvetica" pitchFamily="34" charset="0"/>
            </a:endParaRPr>
          </a:p>
        </p:txBody>
      </p:sp>
      <p:sp>
        <p:nvSpPr>
          <p:cNvPr id="20" name="Line 141"/>
          <p:cNvSpPr>
            <a:spLocks noChangeShapeType="1"/>
          </p:cNvSpPr>
          <p:nvPr/>
        </p:nvSpPr>
        <p:spPr bwMode="auto">
          <a:xfrm flipH="1">
            <a:off x="1336675" y="3762375"/>
            <a:ext cx="974725" cy="0"/>
          </a:xfrm>
          <a:prstGeom prst="line">
            <a:avLst/>
          </a:prstGeom>
          <a:noFill/>
          <a:ln w="28575">
            <a:solidFill>
              <a:schemeClr val="tx1"/>
            </a:solidFill>
            <a:round/>
            <a:headEnd/>
            <a:tailEnd/>
          </a:ln>
          <a:effectLst/>
        </p:spPr>
        <p:txBody>
          <a:bodyPr wrap="none" anchor="ctr"/>
          <a:lstStyle/>
          <a:p>
            <a:endParaRPr lang="en-US"/>
          </a:p>
        </p:txBody>
      </p:sp>
      <p:sp>
        <p:nvSpPr>
          <p:cNvPr id="21" name="Text Box 146"/>
          <p:cNvSpPr txBox="1">
            <a:spLocks noChangeAspect="1" noChangeArrowheads="1"/>
          </p:cNvSpPr>
          <p:nvPr/>
        </p:nvSpPr>
        <p:spPr bwMode="auto">
          <a:xfrm>
            <a:off x="6086475" y="3762375"/>
            <a:ext cx="1381125" cy="536575"/>
          </a:xfrm>
          <a:prstGeom prst="rect">
            <a:avLst/>
          </a:prstGeom>
          <a:gradFill rotWithShape="0">
            <a:gsLst>
              <a:gs pos="0">
                <a:schemeClr val="accent1"/>
              </a:gs>
              <a:gs pos="50000">
                <a:schemeClr val="accent1">
                  <a:gamma/>
                  <a:tint val="25490"/>
                  <a:invGamma/>
                </a:schemeClr>
              </a:gs>
              <a:gs pos="100000">
                <a:schemeClr val="accent1"/>
              </a:gs>
            </a:gsLst>
            <a:lin ang="5400000" scaled="1"/>
          </a:gradFill>
          <a:ln w="12700">
            <a:noFill/>
            <a:miter lim="800000"/>
            <a:headEnd/>
            <a:tailEnd/>
          </a:ln>
          <a:effectLst/>
        </p:spPr>
        <p:txBody>
          <a:bodyPr lIns="36000" tIns="36000" rIns="36000" bIns="36000">
            <a:spAutoFit/>
          </a:bodyPr>
          <a:lstStyle/>
          <a:p>
            <a:pPr defTabSz="762000">
              <a:lnSpc>
                <a:spcPct val="90000"/>
              </a:lnSpc>
              <a:spcBef>
                <a:spcPct val="50000"/>
              </a:spcBef>
              <a:spcAft>
                <a:spcPct val="0"/>
              </a:spcAft>
            </a:pPr>
            <a:endParaRPr lang="en-US" sz="1200" b="1">
              <a:solidFill>
                <a:srgbClr val="800000"/>
              </a:solidFill>
              <a:effectLst/>
              <a:latin typeface="Helvetica" pitchFamily="34" charset="0"/>
            </a:endParaRPr>
          </a:p>
          <a:p>
            <a:pPr defTabSz="762000">
              <a:lnSpc>
                <a:spcPct val="90000"/>
              </a:lnSpc>
              <a:spcBef>
                <a:spcPct val="50000"/>
              </a:spcBef>
              <a:spcAft>
                <a:spcPct val="0"/>
              </a:spcAft>
            </a:pPr>
            <a:r>
              <a:rPr lang="en-US" sz="1400" b="1">
                <a:solidFill>
                  <a:schemeClr val="tx2"/>
                </a:solidFill>
                <a:effectLst/>
                <a:latin typeface="Helvetica" pitchFamily="34" charset="0"/>
              </a:rPr>
              <a:t>Control Field</a:t>
            </a:r>
            <a:endParaRPr lang="en-US" sz="1000" b="1">
              <a:solidFill>
                <a:srgbClr val="800000"/>
              </a:solidFill>
              <a:effectLst/>
              <a:latin typeface="Helvetica" pitchFamily="34" charset="0"/>
            </a:endParaRPr>
          </a:p>
        </p:txBody>
      </p:sp>
      <p:sp>
        <p:nvSpPr>
          <p:cNvPr id="13" name="AutoShape 36"/>
          <p:cNvSpPr>
            <a:spLocks noChangeArrowheads="1"/>
          </p:cNvSpPr>
          <p:nvPr/>
        </p:nvSpPr>
        <p:spPr bwMode="auto">
          <a:xfrm>
            <a:off x="3581400" y="2286000"/>
            <a:ext cx="2517775" cy="1050925"/>
          </a:xfrm>
          <a:prstGeom prst="cloudCallout">
            <a:avLst>
              <a:gd name="adj1" fmla="val -40481"/>
              <a:gd name="adj2" fmla="val 66769"/>
            </a:avLst>
          </a:prstGeom>
          <a:noFill/>
          <a:ln w="9525">
            <a:solidFill>
              <a:schemeClr val="tx1"/>
            </a:solidFill>
            <a:round/>
            <a:headEnd/>
            <a:tailEnd/>
          </a:ln>
          <a:effectLst/>
        </p:spPr>
        <p:txBody>
          <a:bodyPr wrap="none" anchor="ctr"/>
          <a:lstStyle/>
          <a:p>
            <a:pPr>
              <a:spcBef>
                <a:spcPct val="0"/>
              </a:spcBef>
              <a:spcAft>
                <a:spcPct val="0"/>
              </a:spcAft>
            </a:pPr>
            <a:r>
              <a:rPr lang="en-US" b="1" dirty="0">
                <a:solidFill>
                  <a:schemeClr val="accent2"/>
                </a:solidFill>
                <a:effectLst>
                  <a:outerShdw blurRad="38100" dist="38100" dir="2700000" algn="tl">
                    <a:srgbClr val="C0C0C0"/>
                  </a:outerShdw>
                </a:effectLst>
              </a:rPr>
              <a:t>Arbitration</a:t>
            </a:r>
          </a:p>
          <a:p>
            <a:pPr>
              <a:spcBef>
                <a:spcPct val="0"/>
              </a:spcBef>
              <a:spcAft>
                <a:spcPct val="0"/>
              </a:spcAft>
            </a:pPr>
            <a:r>
              <a:rPr lang="en-US" b="1" dirty="0">
                <a:solidFill>
                  <a:schemeClr val="accent2"/>
                </a:solidFill>
                <a:effectLst>
                  <a:outerShdw blurRad="38100" dist="38100" dir="2700000" algn="tl">
                    <a:srgbClr val="C0C0C0"/>
                  </a:outerShdw>
                </a:effectLst>
              </a:rPr>
              <a:t>Field</a:t>
            </a:r>
          </a:p>
          <a:p>
            <a:pPr>
              <a:spcBef>
                <a:spcPct val="0"/>
              </a:spcBef>
              <a:spcAft>
                <a:spcPct val="0"/>
              </a:spcAft>
            </a:pPr>
            <a:r>
              <a:rPr lang="ro-RO" b="1" dirty="0">
                <a:solidFill>
                  <a:srgbClr val="FF3300"/>
                </a:solidFill>
                <a:effectLst>
                  <a:outerShdw blurRad="38100" dist="38100" dir="2700000" algn="tl">
                    <a:srgbClr val="C0C0C0"/>
                  </a:outerShdw>
                </a:effectLst>
              </a:rPr>
              <a:t>Extended</a:t>
            </a:r>
            <a:r>
              <a:rPr lang="en-US" b="1" dirty="0">
                <a:solidFill>
                  <a:srgbClr val="FF3300"/>
                </a:solidFill>
                <a:effectLst>
                  <a:outerShdw blurRad="38100" dist="38100" dir="2700000" algn="tl">
                    <a:srgbClr val="C0C0C0"/>
                  </a:outerShdw>
                </a:effectLst>
              </a:rPr>
              <a:t> Frame</a:t>
            </a:r>
            <a:endParaRPr lang="en-US" dirty="0">
              <a:effectLst/>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Frame</a:t>
            </a:r>
            <a:endParaRPr lang="en-US" dirty="0"/>
          </a:p>
        </p:txBody>
      </p:sp>
      <p:pic>
        <p:nvPicPr>
          <p:cNvPr id="4" name="Content Placeholder 3" descr="can frame fields.JPG"/>
          <p:cNvPicPr>
            <a:picLocks noGrp="1" noChangeAspect="1"/>
          </p:cNvPicPr>
          <p:nvPr>
            <p:ph idx="1"/>
          </p:nvPr>
        </p:nvPicPr>
        <p:blipFill>
          <a:blip r:embed="rId3" cstate="print"/>
          <a:stretch>
            <a:fillRect/>
          </a:stretch>
        </p:blipFill>
        <p:spPr>
          <a:xfrm>
            <a:off x="1066800" y="1371600"/>
            <a:ext cx="7010400" cy="438150"/>
          </a:xfrm>
        </p:spPr>
      </p:pic>
      <p:sp>
        <p:nvSpPr>
          <p:cNvPr id="24" name="Title 1"/>
          <p:cNvSpPr txBox="1">
            <a:spLocks/>
          </p:cNvSpPr>
          <p:nvPr/>
        </p:nvSpPr>
        <p:spPr>
          <a:xfrm>
            <a:off x="381000" y="4191000"/>
            <a:ext cx="8229600" cy="1752600"/>
          </a:xfrm>
          <a:prstGeom prst="rect">
            <a:avLst/>
          </a:prstGeom>
        </p:spPr>
        <p:txBody>
          <a:bodyPr vert="horz" lIns="91440" tIns="45720" rIns="91440" bIns="45720" rtlCol="0" anchor="ctr">
            <a:noAutofit/>
          </a:bodyPr>
          <a:lstStyle/>
          <a:p>
            <a:pPr marL="514350" lvl="0" indent="-514350">
              <a:spcBef>
                <a:spcPct val="0"/>
              </a:spcBef>
              <a:buFontTx/>
              <a:buAutoNum type="arabicPeriod"/>
            </a:pPr>
            <a:r>
              <a:rPr lang="en-US" sz="1600" dirty="0" smtClean="0"/>
              <a:t>The CONTROL FIELD consists of six bits. It includes the DATA LENGTH CODE (4 bits) and two bits reserved for future expansion(Basic CAN)</a:t>
            </a:r>
            <a:r>
              <a:rPr lang="en-US" sz="1600" dirty="0" smtClean="0">
                <a:ea typeface="+mj-ea"/>
                <a:cs typeface="+mj-cs"/>
              </a:rPr>
              <a:t>.</a:t>
            </a:r>
          </a:p>
          <a:p>
            <a:pPr marL="514350" lvl="0" indent="-514350">
              <a:spcBef>
                <a:spcPct val="0"/>
              </a:spcBef>
              <a:buFontTx/>
              <a:buAutoNum type="arabicPeriod"/>
            </a:pPr>
            <a:r>
              <a:rPr lang="en-US" sz="1600" dirty="0" smtClean="0"/>
              <a:t>The number of bytes in the DATA FIELD is indicated by the DATA LENGTH CODE</a:t>
            </a:r>
            <a:r>
              <a:rPr kumimoji="0" lang="en-US" sz="1600" b="0" i="0" u="none" strike="noStrike" kern="1200" cap="none" spc="0" normalizeH="0" baseline="0" noProof="0" dirty="0" smtClean="0">
                <a:ln>
                  <a:noFill/>
                </a:ln>
                <a:solidFill>
                  <a:schemeClr val="tx1"/>
                </a:solidFill>
                <a:effectLst/>
                <a:uLnTx/>
                <a:uFillTx/>
                <a:ea typeface="+mj-ea"/>
                <a:cs typeface="+mj-cs"/>
              </a:rPr>
              <a:t>.</a:t>
            </a:r>
          </a:p>
          <a:p>
            <a:pPr marL="514350" marR="0" lvl="0" indent="-514350" defTabSz="914400" rtl="0" eaLnBrk="1" fontAlgn="auto" latinLnBrk="0" hangingPunct="1">
              <a:lnSpc>
                <a:spcPct val="100000"/>
              </a:lnSpc>
              <a:spcBef>
                <a:spcPct val="0"/>
              </a:spcBef>
              <a:spcAft>
                <a:spcPts val="0"/>
              </a:spcAft>
              <a:buClrTx/>
              <a:buSzTx/>
              <a:buFontTx/>
              <a:buAutoNum type="arabicPeriod"/>
              <a:tabLst/>
              <a:defRPr/>
            </a:pPr>
            <a:r>
              <a:rPr lang="en-US" sz="1600" dirty="0" smtClean="0">
                <a:ea typeface="+mj-ea"/>
                <a:cs typeface="+mj-cs"/>
              </a:rPr>
              <a:t>All receiver nodes has to be synchronized to leading edge of SOF of the transmitter node.</a:t>
            </a:r>
          </a:p>
          <a:p>
            <a:pPr marL="514350" lvl="0" indent="-514350">
              <a:spcBef>
                <a:spcPct val="0"/>
              </a:spcBef>
              <a:buFontTx/>
              <a:buAutoNum type="arabicPeriod"/>
            </a:pPr>
            <a:r>
              <a:rPr lang="en-US" sz="1600" dirty="0" smtClean="0"/>
              <a:t>Identifier Extension (IDE) bit is dominant for Standard Frames</a:t>
            </a:r>
            <a:r>
              <a:rPr lang="en-US" sz="1600" dirty="0"/>
              <a:t> </a:t>
            </a:r>
            <a:r>
              <a:rPr lang="en-US" sz="1600" dirty="0" smtClean="0"/>
              <a:t>and recessive for Extended Frames</a:t>
            </a:r>
            <a:endParaRPr kumimoji="0" lang="en-US" sz="1600" i="0" u="none" strike="noStrike" kern="1200" cap="none" spc="0" normalizeH="0" baseline="0" noProof="0" dirty="0" smtClean="0">
              <a:ln>
                <a:noFill/>
              </a:ln>
              <a:uLnTx/>
              <a:uFillTx/>
              <a:ea typeface="+mj-ea"/>
              <a:cs typeface="+mj-cs"/>
            </a:endParaRPr>
          </a:p>
        </p:txBody>
      </p:sp>
      <p:sp>
        <p:nvSpPr>
          <p:cNvPr id="15" name="Rectangle 105"/>
          <p:cNvSpPr>
            <a:spLocks noChangeArrowheads="1"/>
          </p:cNvSpPr>
          <p:nvPr/>
        </p:nvSpPr>
        <p:spPr bwMode="auto">
          <a:xfrm>
            <a:off x="3003550" y="3365500"/>
            <a:ext cx="593725" cy="53975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en-US"/>
          </a:p>
        </p:txBody>
      </p:sp>
      <p:sp>
        <p:nvSpPr>
          <p:cNvPr id="16" name="Rectangle 90"/>
          <p:cNvSpPr>
            <a:spLocks noChangeArrowheads="1"/>
          </p:cNvSpPr>
          <p:nvPr/>
        </p:nvSpPr>
        <p:spPr bwMode="auto">
          <a:xfrm>
            <a:off x="561975" y="3362325"/>
            <a:ext cx="2441575" cy="539750"/>
          </a:xfrm>
          <a:prstGeom prst="rect">
            <a:avLst/>
          </a:prstGeom>
          <a:gradFill rotWithShape="0">
            <a:gsLst>
              <a:gs pos="0">
                <a:schemeClr val="accent1"/>
              </a:gs>
              <a:gs pos="50000">
                <a:schemeClr val="accent1">
                  <a:gamma/>
                  <a:tint val="25490"/>
                  <a:invGamma/>
                </a:schemeClr>
              </a:gs>
              <a:gs pos="100000">
                <a:schemeClr val="accent1"/>
              </a:gs>
            </a:gsLst>
            <a:lin ang="5400000" scaled="1"/>
          </a:gradFill>
          <a:ln w="12700">
            <a:noFill/>
            <a:miter lim="800000"/>
            <a:headEnd/>
            <a:tailEnd/>
          </a:ln>
          <a:effectLst/>
        </p:spPr>
        <p:txBody>
          <a:bodyPr wrap="none" anchor="ctr"/>
          <a:lstStyle/>
          <a:p>
            <a:endParaRPr lang="en-US"/>
          </a:p>
        </p:txBody>
      </p:sp>
      <p:sp>
        <p:nvSpPr>
          <p:cNvPr id="17" name="Line 93"/>
          <p:cNvSpPr>
            <a:spLocks noChangeShapeType="1"/>
          </p:cNvSpPr>
          <p:nvPr/>
        </p:nvSpPr>
        <p:spPr bwMode="auto">
          <a:xfrm flipV="1">
            <a:off x="561975" y="3362325"/>
            <a:ext cx="1901825" cy="3175"/>
          </a:xfrm>
          <a:prstGeom prst="line">
            <a:avLst/>
          </a:prstGeom>
          <a:noFill/>
          <a:ln w="28575">
            <a:solidFill>
              <a:schemeClr val="tx1"/>
            </a:solidFill>
            <a:round/>
            <a:headEnd/>
            <a:tailEnd/>
          </a:ln>
          <a:effectLst/>
        </p:spPr>
        <p:txBody>
          <a:bodyPr wrap="none" anchor="ctr"/>
          <a:lstStyle/>
          <a:p>
            <a:endParaRPr lang="en-US"/>
          </a:p>
        </p:txBody>
      </p:sp>
      <p:sp>
        <p:nvSpPr>
          <p:cNvPr id="18" name="Line 96"/>
          <p:cNvSpPr>
            <a:spLocks noChangeShapeType="1"/>
          </p:cNvSpPr>
          <p:nvPr/>
        </p:nvSpPr>
        <p:spPr bwMode="auto">
          <a:xfrm flipV="1">
            <a:off x="561975" y="3903663"/>
            <a:ext cx="2443163" cy="1587"/>
          </a:xfrm>
          <a:prstGeom prst="line">
            <a:avLst/>
          </a:prstGeom>
          <a:noFill/>
          <a:ln w="28575">
            <a:solidFill>
              <a:schemeClr val="tx1"/>
            </a:solidFill>
            <a:round/>
            <a:headEnd/>
            <a:tailEnd/>
          </a:ln>
          <a:effectLst/>
        </p:spPr>
        <p:txBody>
          <a:bodyPr wrap="none" anchor="ctr"/>
          <a:lstStyle/>
          <a:p>
            <a:endParaRPr lang="en-US"/>
          </a:p>
        </p:txBody>
      </p:sp>
      <p:sp>
        <p:nvSpPr>
          <p:cNvPr id="19" name="Line 97"/>
          <p:cNvSpPr>
            <a:spLocks noChangeAspect="1" noChangeShapeType="1"/>
          </p:cNvSpPr>
          <p:nvPr/>
        </p:nvSpPr>
        <p:spPr bwMode="auto">
          <a:xfrm>
            <a:off x="2460625" y="3362325"/>
            <a:ext cx="0" cy="541338"/>
          </a:xfrm>
          <a:prstGeom prst="line">
            <a:avLst/>
          </a:prstGeom>
          <a:noFill/>
          <a:ln w="28575">
            <a:solidFill>
              <a:schemeClr val="tx1"/>
            </a:solidFill>
            <a:round/>
            <a:headEnd/>
            <a:tailEnd/>
          </a:ln>
          <a:effectLst/>
        </p:spPr>
        <p:txBody>
          <a:bodyPr wrap="none" anchor="ctr"/>
          <a:lstStyle/>
          <a:p>
            <a:endParaRPr lang="en-US"/>
          </a:p>
        </p:txBody>
      </p:sp>
      <p:sp>
        <p:nvSpPr>
          <p:cNvPr id="20" name="Text Box 98"/>
          <p:cNvSpPr txBox="1">
            <a:spLocks noChangeAspect="1" noChangeArrowheads="1"/>
          </p:cNvSpPr>
          <p:nvPr/>
        </p:nvSpPr>
        <p:spPr bwMode="auto">
          <a:xfrm>
            <a:off x="601663" y="3470275"/>
            <a:ext cx="1898650" cy="312738"/>
          </a:xfrm>
          <a:prstGeom prst="rect">
            <a:avLst/>
          </a:prstGeom>
          <a:noFill/>
          <a:ln w="12700">
            <a:noFill/>
            <a:miter lim="800000"/>
            <a:headEnd/>
            <a:tailEnd/>
          </a:ln>
          <a:effectLst/>
        </p:spPr>
        <p:txBody>
          <a:bodyPr>
            <a:spAutoFit/>
          </a:bodyPr>
          <a:lstStyle/>
          <a:p>
            <a:pPr defTabSz="762000">
              <a:lnSpc>
                <a:spcPct val="90000"/>
              </a:lnSpc>
              <a:spcBef>
                <a:spcPct val="50000"/>
              </a:spcBef>
              <a:spcAft>
                <a:spcPct val="0"/>
              </a:spcAft>
            </a:pPr>
            <a:r>
              <a:rPr lang="en-US" b="1">
                <a:effectLst/>
                <a:latin typeface="Helvetica" pitchFamily="34" charset="0"/>
              </a:rPr>
              <a:t>11-bit Identifier</a:t>
            </a:r>
          </a:p>
        </p:txBody>
      </p:sp>
      <p:sp>
        <p:nvSpPr>
          <p:cNvPr id="21" name="Text Box 99"/>
          <p:cNvSpPr txBox="1">
            <a:spLocks noChangeAspect="1" noChangeArrowheads="1"/>
          </p:cNvSpPr>
          <p:nvPr/>
        </p:nvSpPr>
        <p:spPr bwMode="auto">
          <a:xfrm>
            <a:off x="2500313" y="3511550"/>
            <a:ext cx="457200" cy="268288"/>
          </a:xfrm>
          <a:prstGeom prst="rect">
            <a:avLst/>
          </a:prstGeom>
          <a:noFill/>
          <a:ln w="12700">
            <a:noFill/>
            <a:miter lim="800000"/>
            <a:headEnd/>
            <a:tailEnd/>
          </a:ln>
          <a:effectLst/>
        </p:spPr>
        <p:txBody>
          <a:bodyPr lIns="18000" tIns="10800" rIns="18000" bIns="36000">
            <a:spAutoFit/>
          </a:bodyPr>
          <a:lstStyle/>
          <a:p>
            <a:pPr defTabSz="762000">
              <a:lnSpc>
                <a:spcPct val="90000"/>
              </a:lnSpc>
              <a:spcBef>
                <a:spcPct val="50000"/>
              </a:spcBef>
              <a:spcAft>
                <a:spcPct val="0"/>
              </a:spcAft>
            </a:pPr>
            <a:r>
              <a:rPr lang="en-US" sz="1600" b="1" dirty="0">
                <a:solidFill>
                  <a:schemeClr val="tx2"/>
                </a:solidFill>
                <a:effectLst/>
                <a:latin typeface="Helvetica" pitchFamily="34" charset="0"/>
              </a:rPr>
              <a:t>RTR</a:t>
            </a:r>
            <a:endParaRPr lang="en-US" sz="1600" b="1" dirty="0">
              <a:solidFill>
                <a:srgbClr val="008000"/>
              </a:solidFill>
              <a:effectLst/>
              <a:latin typeface="Helvetica" pitchFamily="34" charset="0"/>
            </a:endParaRPr>
          </a:p>
        </p:txBody>
      </p:sp>
      <p:sp>
        <p:nvSpPr>
          <p:cNvPr id="22" name="Line 101"/>
          <p:cNvSpPr>
            <a:spLocks noChangeShapeType="1"/>
          </p:cNvSpPr>
          <p:nvPr/>
        </p:nvSpPr>
        <p:spPr bwMode="auto">
          <a:xfrm>
            <a:off x="3003550" y="3902075"/>
            <a:ext cx="593725" cy="0"/>
          </a:xfrm>
          <a:prstGeom prst="line">
            <a:avLst/>
          </a:prstGeom>
          <a:noFill/>
          <a:ln w="28575">
            <a:solidFill>
              <a:schemeClr val="tx1"/>
            </a:solidFill>
            <a:round/>
            <a:headEnd/>
            <a:tailEnd/>
          </a:ln>
          <a:effectLst/>
        </p:spPr>
        <p:txBody>
          <a:bodyPr wrap="none" anchor="ctr"/>
          <a:lstStyle/>
          <a:p>
            <a:endParaRPr lang="en-US"/>
          </a:p>
        </p:txBody>
      </p:sp>
      <p:sp>
        <p:nvSpPr>
          <p:cNvPr id="23" name="Line 102"/>
          <p:cNvSpPr>
            <a:spLocks noChangeShapeType="1"/>
          </p:cNvSpPr>
          <p:nvPr/>
        </p:nvSpPr>
        <p:spPr bwMode="auto">
          <a:xfrm flipV="1">
            <a:off x="3597275" y="3362325"/>
            <a:ext cx="0" cy="542925"/>
          </a:xfrm>
          <a:prstGeom prst="line">
            <a:avLst/>
          </a:prstGeom>
          <a:noFill/>
          <a:ln w="28575">
            <a:solidFill>
              <a:schemeClr val="tx1"/>
            </a:solidFill>
            <a:round/>
            <a:headEnd/>
            <a:tailEnd/>
          </a:ln>
          <a:effectLst/>
        </p:spPr>
        <p:txBody>
          <a:bodyPr wrap="none" anchor="ctr"/>
          <a:lstStyle/>
          <a:p>
            <a:endParaRPr lang="en-US"/>
          </a:p>
        </p:txBody>
      </p:sp>
      <p:sp>
        <p:nvSpPr>
          <p:cNvPr id="25" name="Text Box 106"/>
          <p:cNvSpPr txBox="1">
            <a:spLocks noChangeArrowheads="1"/>
          </p:cNvSpPr>
          <p:nvPr/>
        </p:nvSpPr>
        <p:spPr bwMode="auto">
          <a:xfrm>
            <a:off x="3005138" y="3484563"/>
            <a:ext cx="481012" cy="304800"/>
          </a:xfrm>
          <a:prstGeom prst="rect">
            <a:avLst/>
          </a:prstGeom>
          <a:noFill/>
          <a:ln w="9525">
            <a:noFill/>
            <a:miter lim="800000"/>
            <a:headEnd/>
            <a:tailEnd/>
          </a:ln>
          <a:effectLst/>
        </p:spPr>
        <p:txBody>
          <a:bodyPr>
            <a:spAutoFit/>
          </a:bodyPr>
          <a:lstStyle/>
          <a:p>
            <a:pPr algn="l">
              <a:spcBef>
                <a:spcPct val="0"/>
              </a:spcBef>
              <a:spcAft>
                <a:spcPct val="0"/>
              </a:spcAft>
            </a:pPr>
            <a:r>
              <a:rPr lang="en-US" sz="1400" b="1">
                <a:effectLst/>
                <a:latin typeface="Helvetica" pitchFamily="34" charset="0"/>
              </a:rPr>
              <a:t>IDE</a:t>
            </a:r>
            <a:endParaRPr lang="en-US" sz="2400" b="1">
              <a:effectLst/>
              <a:latin typeface="Helvetica" pitchFamily="34" charset="0"/>
            </a:endParaRPr>
          </a:p>
        </p:txBody>
      </p:sp>
      <p:sp>
        <p:nvSpPr>
          <p:cNvPr id="26" name="Rectangle 107"/>
          <p:cNvSpPr>
            <a:spLocks noChangeArrowheads="1"/>
          </p:cNvSpPr>
          <p:nvPr/>
        </p:nvSpPr>
        <p:spPr bwMode="auto">
          <a:xfrm>
            <a:off x="3616325" y="3365500"/>
            <a:ext cx="679450" cy="53975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en-US"/>
          </a:p>
        </p:txBody>
      </p:sp>
      <p:sp>
        <p:nvSpPr>
          <p:cNvPr id="27" name="Text Box 113"/>
          <p:cNvSpPr txBox="1">
            <a:spLocks noChangeArrowheads="1"/>
          </p:cNvSpPr>
          <p:nvPr/>
        </p:nvSpPr>
        <p:spPr bwMode="auto">
          <a:xfrm>
            <a:off x="3702050" y="3554413"/>
            <a:ext cx="574675" cy="234950"/>
          </a:xfrm>
          <a:prstGeom prst="rect">
            <a:avLst/>
          </a:prstGeom>
          <a:noFill/>
          <a:ln w="9525">
            <a:noFill/>
            <a:miter lim="800000"/>
            <a:headEnd/>
            <a:tailEnd/>
          </a:ln>
          <a:effectLst/>
        </p:spPr>
        <p:txBody>
          <a:bodyPr lIns="18000" tIns="10800" rIns="18000" bIns="10800">
            <a:spAutoFit/>
          </a:bodyPr>
          <a:lstStyle/>
          <a:p>
            <a:pPr algn="l">
              <a:spcBef>
                <a:spcPct val="0"/>
              </a:spcBef>
              <a:spcAft>
                <a:spcPct val="0"/>
              </a:spcAft>
            </a:pPr>
            <a:r>
              <a:rPr lang="en-US" sz="1400" b="1" dirty="0">
                <a:effectLst/>
                <a:latin typeface="Helvetica" pitchFamily="34" charset="0"/>
              </a:rPr>
              <a:t>DLC 0</a:t>
            </a:r>
            <a:endParaRPr lang="en-US" sz="2400" b="1" dirty="0">
              <a:effectLst/>
              <a:latin typeface="Helvetica" pitchFamily="34" charset="0"/>
            </a:endParaRPr>
          </a:p>
        </p:txBody>
      </p:sp>
      <p:sp>
        <p:nvSpPr>
          <p:cNvPr id="28" name="Line 126"/>
          <p:cNvSpPr>
            <a:spLocks noChangeShapeType="1"/>
          </p:cNvSpPr>
          <p:nvPr/>
        </p:nvSpPr>
        <p:spPr bwMode="auto">
          <a:xfrm flipV="1">
            <a:off x="4276725" y="3359150"/>
            <a:ext cx="0" cy="542925"/>
          </a:xfrm>
          <a:prstGeom prst="line">
            <a:avLst/>
          </a:prstGeom>
          <a:noFill/>
          <a:ln w="28575">
            <a:solidFill>
              <a:schemeClr val="tx1"/>
            </a:solidFill>
            <a:round/>
            <a:headEnd/>
            <a:tailEnd/>
          </a:ln>
          <a:effectLst/>
        </p:spPr>
        <p:txBody>
          <a:bodyPr wrap="none" anchor="ctr"/>
          <a:lstStyle/>
          <a:p>
            <a:endParaRPr lang="en-US"/>
          </a:p>
        </p:txBody>
      </p:sp>
      <p:sp>
        <p:nvSpPr>
          <p:cNvPr id="29" name="Rectangle 127"/>
          <p:cNvSpPr>
            <a:spLocks noChangeArrowheads="1"/>
          </p:cNvSpPr>
          <p:nvPr/>
        </p:nvSpPr>
        <p:spPr bwMode="auto">
          <a:xfrm>
            <a:off x="4295775" y="3362325"/>
            <a:ext cx="679450" cy="53975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en-US"/>
          </a:p>
        </p:txBody>
      </p:sp>
      <p:sp>
        <p:nvSpPr>
          <p:cNvPr id="30" name="Text Box 128"/>
          <p:cNvSpPr txBox="1">
            <a:spLocks noChangeArrowheads="1"/>
          </p:cNvSpPr>
          <p:nvPr/>
        </p:nvSpPr>
        <p:spPr bwMode="auto">
          <a:xfrm>
            <a:off x="4381500" y="3551238"/>
            <a:ext cx="574675" cy="234950"/>
          </a:xfrm>
          <a:prstGeom prst="rect">
            <a:avLst/>
          </a:prstGeom>
          <a:noFill/>
          <a:ln w="9525">
            <a:noFill/>
            <a:miter lim="800000"/>
            <a:headEnd/>
            <a:tailEnd/>
          </a:ln>
          <a:effectLst/>
        </p:spPr>
        <p:txBody>
          <a:bodyPr lIns="18000" tIns="10800" rIns="18000" bIns="10800">
            <a:spAutoFit/>
          </a:bodyPr>
          <a:lstStyle/>
          <a:p>
            <a:pPr algn="l">
              <a:spcBef>
                <a:spcPct val="0"/>
              </a:spcBef>
              <a:spcAft>
                <a:spcPct val="0"/>
              </a:spcAft>
            </a:pPr>
            <a:r>
              <a:rPr lang="en-US" sz="1400" b="1">
                <a:effectLst/>
                <a:latin typeface="Helvetica" pitchFamily="34" charset="0"/>
              </a:rPr>
              <a:t>DLC 1</a:t>
            </a:r>
            <a:endParaRPr lang="en-US" sz="2400" b="1">
              <a:effectLst/>
              <a:latin typeface="Helvetica" pitchFamily="34" charset="0"/>
            </a:endParaRPr>
          </a:p>
        </p:txBody>
      </p:sp>
      <p:sp>
        <p:nvSpPr>
          <p:cNvPr id="31" name="Line 129"/>
          <p:cNvSpPr>
            <a:spLocks noChangeShapeType="1"/>
          </p:cNvSpPr>
          <p:nvPr/>
        </p:nvSpPr>
        <p:spPr bwMode="auto">
          <a:xfrm flipV="1">
            <a:off x="4956175" y="3355975"/>
            <a:ext cx="0" cy="542925"/>
          </a:xfrm>
          <a:prstGeom prst="line">
            <a:avLst/>
          </a:prstGeom>
          <a:noFill/>
          <a:ln w="28575">
            <a:solidFill>
              <a:schemeClr val="tx1"/>
            </a:solidFill>
            <a:round/>
            <a:headEnd/>
            <a:tailEnd/>
          </a:ln>
          <a:effectLst/>
        </p:spPr>
        <p:txBody>
          <a:bodyPr wrap="none" anchor="ctr"/>
          <a:lstStyle/>
          <a:p>
            <a:endParaRPr lang="en-US"/>
          </a:p>
        </p:txBody>
      </p:sp>
      <p:sp>
        <p:nvSpPr>
          <p:cNvPr id="32" name="Rectangle 130"/>
          <p:cNvSpPr>
            <a:spLocks noChangeArrowheads="1"/>
          </p:cNvSpPr>
          <p:nvPr/>
        </p:nvSpPr>
        <p:spPr bwMode="auto">
          <a:xfrm>
            <a:off x="4975225" y="3359150"/>
            <a:ext cx="679450" cy="53975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en-US"/>
          </a:p>
        </p:txBody>
      </p:sp>
      <p:sp>
        <p:nvSpPr>
          <p:cNvPr id="33" name="Text Box 131"/>
          <p:cNvSpPr txBox="1">
            <a:spLocks noChangeArrowheads="1"/>
          </p:cNvSpPr>
          <p:nvPr/>
        </p:nvSpPr>
        <p:spPr bwMode="auto">
          <a:xfrm>
            <a:off x="5041900" y="3544888"/>
            <a:ext cx="574675" cy="234950"/>
          </a:xfrm>
          <a:prstGeom prst="rect">
            <a:avLst/>
          </a:prstGeom>
          <a:noFill/>
          <a:ln w="9525">
            <a:noFill/>
            <a:miter lim="800000"/>
            <a:headEnd/>
            <a:tailEnd/>
          </a:ln>
          <a:effectLst/>
        </p:spPr>
        <p:txBody>
          <a:bodyPr lIns="18000" tIns="10800" rIns="18000" bIns="10800">
            <a:spAutoFit/>
          </a:bodyPr>
          <a:lstStyle/>
          <a:p>
            <a:pPr algn="l">
              <a:spcBef>
                <a:spcPct val="0"/>
              </a:spcBef>
              <a:spcAft>
                <a:spcPct val="0"/>
              </a:spcAft>
            </a:pPr>
            <a:r>
              <a:rPr lang="en-US" sz="1400" b="1">
                <a:effectLst/>
                <a:latin typeface="Helvetica" pitchFamily="34" charset="0"/>
              </a:rPr>
              <a:t>DLC 2</a:t>
            </a:r>
            <a:endParaRPr lang="en-US" sz="2400" b="1">
              <a:effectLst/>
              <a:latin typeface="Helvetica" pitchFamily="34" charset="0"/>
            </a:endParaRPr>
          </a:p>
        </p:txBody>
      </p:sp>
      <p:sp>
        <p:nvSpPr>
          <p:cNvPr id="34" name="Line 132"/>
          <p:cNvSpPr>
            <a:spLocks noChangeShapeType="1"/>
          </p:cNvSpPr>
          <p:nvPr/>
        </p:nvSpPr>
        <p:spPr bwMode="auto">
          <a:xfrm flipV="1">
            <a:off x="5616575" y="3352800"/>
            <a:ext cx="0" cy="542925"/>
          </a:xfrm>
          <a:prstGeom prst="line">
            <a:avLst/>
          </a:prstGeom>
          <a:noFill/>
          <a:ln w="28575">
            <a:solidFill>
              <a:schemeClr val="tx1"/>
            </a:solidFill>
            <a:round/>
            <a:headEnd/>
            <a:tailEnd/>
          </a:ln>
          <a:effectLst/>
        </p:spPr>
        <p:txBody>
          <a:bodyPr wrap="none" anchor="ctr"/>
          <a:lstStyle/>
          <a:p>
            <a:endParaRPr lang="en-US"/>
          </a:p>
        </p:txBody>
      </p:sp>
      <p:sp>
        <p:nvSpPr>
          <p:cNvPr id="35" name="Rectangle 133"/>
          <p:cNvSpPr>
            <a:spLocks noChangeArrowheads="1"/>
          </p:cNvSpPr>
          <p:nvPr/>
        </p:nvSpPr>
        <p:spPr bwMode="auto">
          <a:xfrm>
            <a:off x="5635625" y="3355975"/>
            <a:ext cx="679450" cy="53975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en-US"/>
          </a:p>
        </p:txBody>
      </p:sp>
      <p:sp>
        <p:nvSpPr>
          <p:cNvPr id="36" name="Text Box 134"/>
          <p:cNvSpPr txBox="1">
            <a:spLocks noChangeArrowheads="1"/>
          </p:cNvSpPr>
          <p:nvPr/>
        </p:nvSpPr>
        <p:spPr bwMode="auto">
          <a:xfrm>
            <a:off x="5721350" y="3544888"/>
            <a:ext cx="574675" cy="234950"/>
          </a:xfrm>
          <a:prstGeom prst="rect">
            <a:avLst/>
          </a:prstGeom>
          <a:noFill/>
          <a:ln w="9525">
            <a:noFill/>
            <a:miter lim="800000"/>
            <a:headEnd/>
            <a:tailEnd/>
          </a:ln>
          <a:effectLst/>
        </p:spPr>
        <p:txBody>
          <a:bodyPr lIns="18000" tIns="10800" rIns="18000" bIns="10800">
            <a:spAutoFit/>
          </a:bodyPr>
          <a:lstStyle/>
          <a:p>
            <a:pPr algn="l">
              <a:spcBef>
                <a:spcPct val="0"/>
              </a:spcBef>
              <a:spcAft>
                <a:spcPct val="0"/>
              </a:spcAft>
            </a:pPr>
            <a:r>
              <a:rPr lang="en-US" sz="1400" b="1">
                <a:effectLst/>
                <a:latin typeface="Helvetica" pitchFamily="34" charset="0"/>
              </a:rPr>
              <a:t>DLC 3</a:t>
            </a:r>
            <a:endParaRPr lang="en-US" sz="2400" b="1">
              <a:effectLst/>
              <a:latin typeface="Helvetica" pitchFamily="34" charset="0"/>
            </a:endParaRPr>
          </a:p>
        </p:txBody>
      </p:sp>
      <p:sp>
        <p:nvSpPr>
          <p:cNvPr id="37" name="Rectangle 135"/>
          <p:cNvSpPr>
            <a:spLocks noChangeArrowheads="1"/>
          </p:cNvSpPr>
          <p:nvPr/>
        </p:nvSpPr>
        <p:spPr bwMode="auto">
          <a:xfrm>
            <a:off x="6315075" y="3365500"/>
            <a:ext cx="1841500" cy="530225"/>
          </a:xfrm>
          <a:prstGeom prst="rect">
            <a:avLst/>
          </a:prstGeom>
          <a:gradFill rotWithShape="0">
            <a:gsLst>
              <a:gs pos="0">
                <a:schemeClr val="accent1"/>
              </a:gs>
              <a:gs pos="50000">
                <a:schemeClr val="accent1">
                  <a:gamma/>
                  <a:tint val="22353"/>
                  <a:invGamma/>
                </a:schemeClr>
              </a:gs>
              <a:gs pos="100000">
                <a:schemeClr val="accent1"/>
              </a:gs>
            </a:gsLst>
            <a:lin ang="5400000" scaled="1"/>
          </a:gradFill>
          <a:ln w="28575">
            <a:solidFill>
              <a:schemeClr val="tx1"/>
            </a:solidFill>
            <a:miter lim="800000"/>
            <a:headEnd/>
            <a:tailEnd/>
          </a:ln>
          <a:effectLst/>
        </p:spPr>
        <p:txBody>
          <a:bodyPr wrap="none" anchor="ctr"/>
          <a:lstStyle/>
          <a:p>
            <a:endParaRPr lang="en-US"/>
          </a:p>
        </p:txBody>
      </p:sp>
      <p:sp>
        <p:nvSpPr>
          <p:cNvPr id="38" name="Text Box 136"/>
          <p:cNvSpPr txBox="1">
            <a:spLocks noChangeArrowheads="1"/>
          </p:cNvSpPr>
          <p:nvPr/>
        </p:nvSpPr>
        <p:spPr bwMode="auto">
          <a:xfrm>
            <a:off x="6632575" y="3475038"/>
            <a:ext cx="1030288" cy="304800"/>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Helvetica" pitchFamily="34" charset="0"/>
              </a:rPr>
              <a:t>Data Field</a:t>
            </a:r>
            <a:endParaRPr lang="en-US" sz="2400" b="1">
              <a:effectLst/>
            </a:endParaRPr>
          </a:p>
        </p:txBody>
      </p:sp>
      <p:sp>
        <p:nvSpPr>
          <p:cNvPr id="39" name="AutoShape 145"/>
          <p:cNvSpPr>
            <a:spLocks noChangeArrowheads="1"/>
          </p:cNvSpPr>
          <p:nvPr/>
        </p:nvSpPr>
        <p:spPr bwMode="auto">
          <a:xfrm>
            <a:off x="4267200" y="1981200"/>
            <a:ext cx="2517775" cy="1050925"/>
          </a:xfrm>
          <a:prstGeom prst="cloudCallout">
            <a:avLst>
              <a:gd name="adj1" fmla="val -40481"/>
              <a:gd name="adj2" fmla="val 66769"/>
            </a:avLst>
          </a:prstGeom>
          <a:noFill/>
          <a:ln w="9525">
            <a:solidFill>
              <a:schemeClr val="tx1"/>
            </a:solidFill>
            <a:round/>
            <a:headEnd/>
            <a:tailEnd/>
          </a:ln>
          <a:effectLst/>
        </p:spPr>
        <p:txBody>
          <a:bodyPr wrap="none" anchor="ctr"/>
          <a:lstStyle/>
          <a:p>
            <a:pPr>
              <a:spcBef>
                <a:spcPct val="0"/>
              </a:spcBef>
              <a:spcAft>
                <a:spcPct val="0"/>
              </a:spcAft>
            </a:pPr>
            <a:r>
              <a:rPr lang="ro-RO" b="1">
                <a:solidFill>
                  <a:schemeClr val="accent2"/>
                </a:solidFill>
                <a:effectLst>
                  <a:outerShdw blurRad="38100" dist="38100" dir="2700000" algn="tl">
                    <a:srgbClr val="C0C0C0"/>
                  </a:outerShdw>
                </a:effectLst>
              </a:rPr>
              <a:t>Control Field</a:t>
            </a:r>
            <a:endParaRPr lang="en-US">
              <a:effectLst/>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DLC for Standard CAN</a:t>
            </a:r>
            <a:endParaRPr lang="en-US" dirty="0"/>
          </a:p>
        </p:txBody>
      </p:sp>
      <p:pic>
        <p:nvPicPr>
          <p:cNvPr id="4" name="Content Placeholder 3" descr="dlc.JPG"/>
          <p:cNvPicPr>
            <a:picLocks noGrp="1" noChangeAspect="1"/>
          </p:cNvPicPr>
          <p:nvPr>
            <p:ph idx="1"/>
          </p:nvPr>
        </p:nvPicPr>
        <p:blipFill>
          <a:blip r:embed="rId3" cstate="print"/>
          <a:stretch>
            <a:fillRect/>
          </a:stretch>
        </p:blipFill>
        <p:spPr>
          <a:xfrm>
            <a:off x="2020789" y="1341438"/>
            <a:ext cx="5102423" cy="4535487"/>
          </a:xfrm>
        </p:spPr>
      </p:pic>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Frame</a:t>
            </a:r>
            <a:endParaRPr lang="en-US" dirty="0"/>
          </a:p>
        </p:txBody>
      </p:sp>
      <p:pic>
        <p:nvPicPr>
          <p:cNvPr id="4" name="Content Placeholder 3" descr="can frame fields.JPG"/>
          <p:cNvPicPr>
            <a:picLocks noGrp="1" noChangeAspect="1"/>
          </p:cNvPicPr>
          <p:nvPr>
            <p:ph idx="1"/>
          </p:nvPr>
        </p:nvPicPr>
        <p:blipFill>
          <a:blip r:embed="rId3" cstate="print"/>
          <a:stretch>
            <a:fillRect/>
          </a:stretch>
        </p:blipFill>
        <p:spPr>
          <a:xfrm>
            <a:off x="1066800" y="1752600"/>
            <a:ext cx="7010400" cy="438150"/>
          </a:xfrm>
        </p:spPr>
      </p:pic>
      <p:sp>
        <p:nvSpPr>
          <p:cNvPr id="24" name="Title 1"/>
          <p:cNvSpPr txBox="1">
            <a:spLocks/>
          </p:cNvSpPr>
          <p:nvPr/>
        </p:nvSpPr>
        <p:spPr>
          <a:xfrm>
            <a:off x="381000" y="4191000"/>
            <a:ext cx="8229600" cy="1905000"/>
          </a:xfrm>
          <a:prstGeom prst="rect">
            <a:avLst/>
          </a:prstGeom>
        </p:spPr>
        <p:txBody>
          <a:bodyPr vert="horz" lIns="91440" tIns="45720" rIns="91440" bIns="45720" rtlCol="0" anchor="ctr">
            <a:normAutofit fontScale="92500" lnSpcReduction="20000"/>
          </a:bodyPr>
          <a:lstStyle/>
          <a:p>
            <a:pPr marL="514350" lvl="0" indent="-514350">
              <a:spcBef>
                <a:spcPct val="0"/>
              </a:spcBef>
              <a:buFontTx/>
              <a:buAutoNum type="arabicPeriod"/>
            </a:pPr>
            <a:endParaRPr lang="en-US" sz="2900" dirty="0" smtClean="0"/>
          </a:p>
          <a:p>
            <a:pPr marL="514350" lvl="0" indent="-514350">
              <a:spcBef>
                <a:spcPct val="0"/>
              </a:spcBef>
              <a:buFontTx/>
              <a:buAutoNum type="arabicPeriod"/>
            </a:pPr>
            <a:r>
              <a:rPr lang="en-US" sz="2900" dirty="0" smtClean="0"/>
              <a:t>The DATA FIELD consists of the data to be transferred within a DATA FRAME .</a:t>
            </a:r>
          </a:p>
          <a:p>
            <a:pPr marL="514350" lvl="0" indent="-514350">
              <a:spcBef>
                <a:spcPct val="0"/>
              </a:spcBef>
              <a:buFontTx/>
              <a:buAutoNum type="arabicPeriod"/>
            </a:pPr>
            <a:r>
              <a:rPr lang="en-US" sz="2900" dirty="0" smtClean="0"/>
              <a:t>It contains 8 bytes(64 bits) transferred MSB first.</a:t>
            </a:r>
          </a:p>
          <a:p>
            <a:pPr marL="514350" lvl="0" indent="-514350">
              <a:spcBef>
                <a:spcPct val="0"/>
              </a:spcBef>
              <a:buFontTx/>
              <a:buAutoNum type="arabicPeriod"/>
            </a:pPr>
            <a:r>
              <a:rPr lang="en-US" sz="2900" dirty="0" smtClean="0"/>
              <a:t>0 bytes will be transferred to indicate an event.</a:t>
            </a:r>
          </a:p>
          <a:p>
            <a:pPr marL="514350" lvl="0" indent="-514350">
              <a:spcBef>
                <a:spcPct val="0"/>
              </a:spcBef>
              <a:buFontTx/>
              <a:buAutoNum type="arabicPeriod"/>
            </a:pPr>
            <a:endParaRPr lang="en-US" sz="2900" dirty="0" smtClean="0"/>
          </a:p>
          <a:p>
            <a:pPr marL="514350" lvl="0" indent="-514350">
              <a:spcBef>
                <a:spcPct val="0"/>
              </a:spcBef>
              <a:buFontTx/>
              <a:buAutoNum type="arabicPeriod"/>
            </a:pPr>
            <a:endParaRPr kumimoji="0" lang="en-US" sz="28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29" name="Rectangle 19"/>
          <p:cNvSpPr>
            <a:spLocks noChangeArrowheads="1"/>
          </p:cNvSpPr>
          <p:nvPr/>
        </p:nvSpPr>
        <p:spPr bwMode="auto">
          <a:xfrm>
            <a:off x="1727200" y="3429000"/>
            <a:ext cx="1841500" cy="530225"/>
          </a:xfrm>
          <a:prstGeom prst="rect">
            <a:avLst/>
          </a:prstGeom>
          <a:gradFill rotWithShape="0">
            <a:gsLst>
              <a:gs pos="0">
                <a:schemeClr val="accent1"/>
              </a:gs>
              <a:gs pos="50000">
                <a:schemeClr val="accent1">
                  <a:gamma/>
                  <a:tint val="41176"/>
                  <a:invGamma/>
                </a:schemeClr>
              </a:gs>
              <a:gs pos="100000">
                <a:schemeClr val="accent1"/>
              </a:gs>
            </a:gsLst>
            <a:lin ang="5400000" scaled="1"/>
          </a:gradFill>
          <a:ln w="9525">
            <a:solidFill>
              <a:schemeClr val="tx1"/>
            </a:solidFill>
            <a:miter lim="800000"/>
            <a:headEnd/>
            <a:tailEnd/>
          </a:ln>
          <a:effectLst/>
        </p:spPr>
        <p:txBody>
          <a:bodyPr wrap="none" anchor="ctr"/>
          <a:lstStyle/>
          <a:p>
            <a:endParaRPr lang="en-US"/>
          </a:p>
        </p:txBody>
      </p:sp>
      <p:sp>
        <p:nvSpPr>
          <p:cNvPr id="30" name="Text Box 20"/>
          <p:cNvSpPr txBox="1">
            <a:spLocks noChangeArrowheads="1"/>
          </p:cNvSpPr>
          <p:nvPr/>
        </p:nvSpPr>
        <p:spPr bwMode="auto">
          <a:xfrm>
            <a:off x="2044700" y="3538538"/>
            <a:ext cx="1276350" cy="304800"/>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Helvetica" pitchFamily="34" charset="0"/>
              </a:rPr>
              <a:t>Control Field</a:t>
            </a:r>
            <a:endParaRPr lang="en-US" sz="2400" b="1">
              <a:effectLst/>
            </a:endParaRPr>
          </a:p>
        </p:txBody>
      </p:sp>
      <p:sp>
        <p:nvSpPr>
          <p:cNvPr id="31" name="Rectangle 21"/>
          <p:cNvSpPr>
            <a:spLocks noChangeArrowheads="1"/>
          </p:cNvSpPr>
          <p:nvPr/>
        </p:nvSpPr>
        <p:spPr bwMode="auto">
          <a:xfrm>
            <a:off x="3568700" y="3429000"/>
            <a:ext cx="1841500" cy="530225"/>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en-US"/>
          </a:p>
        </p:txBody>
      </p:sp>
      <p:sp>
        <p:nvSpPr>
          <p:cNvPr id="32" name="Text Box 22"/>
          <p:cNvSpPr txBox="1">
            <a:spLocks noChangeArrowheads="1"/>
          </p:cNvSpPr>
          <p:nvPr/>
        </p:nvSpPr>
        <p:spPr bwMode="auto">
          <a:xfrm>
            <a:off x="3886200" y="3538538"/>
            <a:ext cx="1030288" cy="304800"/>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Helvetica" pitchFamily="34" charset="0"/>
              </a:rPr>
              <a:t>Data Field</a:t>
            </a:r>
            <a:endParaRPr lang="en-US" sz="2400" b="1">
              <a:effectLst/>
            </a:endParaRPr>
          </a:p>
        </p:txBody>
      </p:sp>
      <p:sp>
        <p:nvSpPr>
          <p:cNvPr id="33" name="Rectangle 23"/>
          <p:cNvSpPr>
            <a:spLocks noChangeArrowheads="1"/>
          </p:cNvSpPr>
          <p:nvPr/>
        </p:nvSpPr>
        <p:spPr bwMode="auto">
          <a:xfrm>
            <a:off x="5410200" y="3429000"/>
            <a:ext cx="1841500" cy="530225"/>
          </a:xfrm>
          <a:prstGeom prst="rect">
            <a:avLst/>
          </a:prstGeom>
          <a:gradFill rotWithShape="0">
            <a:gsLst>
              <a:gs pos="0">
                <a:schemeClr val="accent1"/>
              </a:gs>
              <a:gs pos="50000">
                <a:schemeClr val="accent1">
                  <a:gamma/>
                  <a:tint val="44314"/>
                  <a:invGamma/>
                </a:schemeClr>
              </a:gs>
              <a:gs pos="100000">
                <a:schemeClr val="accent1"/>
              </a:gs>
            </a:gsLst>
            <a:lin ang="5400000" scaled="1"/>
          </a:gradFill>
          <a:ln w="9525">
            <a:solidFill>
              <a:schemeClr val="tx1"/>
            </a:solidFill>
            <a:miter lim="800000"/>
            <a:headEnd/>
            <a:tailEnd/>
          </a:ln>
          <a:effectLst/>
        </p:spPr>
        <p:txBody>
          <a:bodyPr wrap="none" anchor="ctr"/>
          <a:lstStyle/>
          <a:p>
            <a:endParaRPr lang="en-US"/>
          </a:p>
        </p:txBody>
      </p:sp>
      <p:sp>
        <p:nvSpPr>
          <p:cNvPr id="34" name="Text Box 24"/>
          <p:cNvSpPr txBox="1">
            <a:spLocks noChangeArrowheads="1"/>
          </p:cNvSpPr>
          <p:nvPr/>
        </p:nvSpPr>
        <p:spPr bwMode="auto">
          <a:xfrm>
            <a:off x="5727700" y="3538538"/>
            <a:ext cx="1031875" cy="304800"/>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Helvetica" pitchFamily="34" charset="0"/>
              </a:rPr>
              <a:t>CRC Field</a:t>
            </a:r>
            <a:endParaRPr lang="en-US" sz="2400" b="1">
              <a:effectLst/>
            </a:endParaRPr>
          </a:p>
        </p:txBody>
      </p:sp>
      <p:sp>
        <p:nvSpPr>
          <p:cNvPr id="35" name="AutoShape 25"/>
          <p:cNvSpPr>
            <a:spLocks noChangeArrowheads="1"/>
          </p:cNvSpPr>
          <p:nvPr/>
        </p:nvSpPr>
        <p:spPr bwMode="auto">
          <a:xfrm>
            <a:off x="4483100" y="2232025"/>
            <a:ext cx="1930400" cy="879475"/>
          </a:xfrm>
          <a:prstGeom prst="cloudCallout">
            <a:avLst>
              <a:gd name="adj1" fmla="val -37583"/>
              <a:gd name="adj2" fmla="val 70037"/>
            </a:avLst>
          </a:prstGeom>
          <a:noFill/>
          <a:ln w="9525">
            <a:solidFill>
              <a:schemeClr val="tx1"/>
            </a:solidFill>
            <a:round/>
            <a:headEnd/>
            <a:tailEnd/>
          </a:ln>
          <a:effectLst/>
        </p:spPr>
        <p:txBody>
          <a:bodyPr wrap="none" anchor="ctr"/>
          <a:lstStyle/>
          <a:p>
            <a:pPr>
              <a:spcBef>
                <a:spcPct val="0"/>
              </a:spcBef>
              <a:spcAft>
                <a:spcPct val="0"/>
              </a:spcAft>
            </a:pPr>
            <a:r>
              <a:rPr lang="en-US" b="1">
                <a:solidFill>
                  <a:schemeClr val="accent2"/>
                </a:solidFill>
                <a:effectLst>
                  <a:outerShdw blurRad="38100" dist="38100" dir="2700000" algn="tl">
                    <a:srgbClr val="C0C0C0"/>
                  </a:outerShdw>
                </a:effectLst>
              </a:rPr>
              <a:t>Data</a:t>
            </a:r>
          </a:p>
          <a:p>
            <a:pPr>
              <a:spcBef>
                <a:spcPct val="0"/>
              </a:spcBef>
              <a:spcAft>
                <a:spcPct val="0"/>
              </a:spcAft>
            </a:pPr>
            <a:r>
              <a:rPr lang="en-US" b="1">
                <a:solidFill>
                  <a:schemeClr val="accent2"/>
                </a:solidFill>
                <a:effectLst>
                  <a:outerShdw blurRad="38100" dist="38100" dir="2700000" algn="tl">
                    <a:srgbClr val="C0C0C0"/>
                  </a:outerShdw>
                </a:effectLst>
              </a:rPr>
              <a:t>Field</a:t>
            </a:r>
            <a:endParaRPr lang="en-US">
              <a:effectLst/>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Frame</a:t>
            </a:r>
            <a:endParaRPr lang="en-US" dirty="0"/>
          </a:p>
        </p:txBody>
      </p:sp>
      <p:pic>
        <p:nvPicPr>
          <p:cNvPr id="4" name="Content Placeholder 3" descr="can frame fields.JPG"/>
          <p:cNvPicPr>
            <a:picLocks noGrp="1" noChangeAspect="1"/>
          </p:cNvPicPr>
          <p:nvPr>
            <p:ph idx="1"/>
          </p:nvPr>
        </p:nvPicPr>
        <p:blipFill>
          <a:blip r:embed="rId3" cstate="print"/>
          <a:stretch>
            <a:fillRect/>
          </a:stretch>
        </p:blipFill>
        <p:spPr>
          <a:xfrm>
            <a:off x="1066800" y="1752600"/>
            <a:ext cx="7010400" cy="438150"/>
          </a:xfrm>
        </p:spPr>
      </p:pic>
      <p:sp>
        <p:nvSpPr>
          <p:cNvPr id="24" name="Title 1"/>
          <p:cNvSpPr txBox="1">
            <a:spLocks/>
          </p:cNvSpPr>
          <p:nvPr/>
        </p:nvSpPr>
        <p:spPr>
          <a:xfrm>
            <a:off x="381000" y="4191000"/>
            <a:ext cx="8229600" cy="1905000"/>
          </a:xfrm>
          <a:prstGeom prst="rect">
            <a:avLst/>
          </a:prstGeom>
        </p:spPr>
        <p:txBody>
          <a:bodyPr vert="horz" lIns="91440" tIns="45720" rIns="91440" bIns="45720" rtlCol="0" anchor="ctr">
            <a:normAutofit fontScale="92500" lnSpcReduction="20000"/>
          </a:bodyPr>
          <a:lstStyle/>
          <a:p>
            <a:pPr marL="514350" lvl="0" indent="-514350">
              <a:spcBef>
                <a:spcPct val="0"/>
              </a:spcBef>
              <a:buFontTx/>
              <a:buAutoNum type="arabicPeriod"/>
            </a:pPr>
            <a:endParaRPr lang="en-US" sz="2900" dirty="0" smtClean="0"/>
          </a:p>
          <a:p>
            <a:pPr marL="514350" lvl="0" indent="-514350">
              <a:spcBef>
                <a:spcPct val="0"/>
              </a:spcBef>
              <a:buFontTx/>
              <a:buAutoNum type="arabicPeriod"/>
            </a:pPr>
            <a:r>
              <a:rPr lang="en-US" sz="2100" dirty="0" smtClean="0"/>
              <a:t>The message string is treated as a single word M.</a:t>
            </a:r>
          </a:p>
          <a:p>
            <a:pPr marL="514350" lvl="0" indent="-514350">
              <a:spcBef>
                <a:spcPct val="0"/>
              </a:spcBef>
              <a:buFontTx/>
              <a:buAutoNum type="arabicPeriod"/>
            </a:pPr>
            <a:r>
              <a:rPr lang="en-US" sz="2100" dirty="0" smtClean="0"/>
              <a:t>It is divided by a keyword K. In Standard CAN it is</a:t>
            </a:r>
          </a:p>
          <a:p>
            <a:pPr marL="514350" lvl="0" indent="-514350">
              <a:spcBef>
                <a:spcPct val="0"/>
              </a:spcBef>
              <a:buFontTx/>
              <a:buAutoNum type="arabicPeriod"/>
            </a:pPr>
            <a:r>
              <a:rPr lang="en-US" sz="2100" dirty="0" smtClean="0"/>
              <a:t>Let the remainder be R. Now R and M are sent to the receiver.</a:t>
            </a:r>
          </a:p>
          <a:p>
            <a:pPr marL="514350" lvl="0" indent="-514350">
              <a:spcBef>
                <a:spcPct val="0"/>
              </a:spcBef>
              <a:buFontTx/>
              <a:buAutoNum type="arabicPeriod"/>
            </a:pPr>
            <a:r>
              <a:rPr lang="en-US" sz="2100" dirty="0" smtClean="0"/>
              <a:t>The receiver can repeat the process, get a remainder and check with R.</a:t>
            </a:r>
          </a:p>
          <a:p>
            <a:pPr marL="514350" lvl="0" indent="-514350">
              <a:spcBef>
                <a:spcPct val="0"/>
              </a:spcBef>
              <a:buFontTx/>
              <a:buAutoNum type="arabicPeriod"/>
            </a:pPr>
            <a:r>
              <a:rPr lang="en-US" sz="2100" dirty="0" smtClean="0"/>
              <a:t>The CRC delimiter is always recessive and indicates end of CRC field.</a:t>
            </a:r>
          </a:p>
          <a:p>
            <a:pPr marL="514350" lvl="0" indent="-514350">
              <a:spcBef>
                <a:spcPct val="0"/>
              </a:spcBef>
              <a:buFontTx/>
              <a:buAutoNum type="arabicPeriod"/>
            </a:pPr>
            <a:endParaRPr lang="en-US" sz="2900" dirty="0" smtClean="0"/>
          </a:p>
          <a:p>
            <a:pPr marL="514350" lvl="0" indent="-514350">
              <a:spcBef>
                <a:spcPct val="0"/>
              </a:spcBef>
              <a:buFontTx/>
              <a:buAutoNum type="arabicPeriod"/>
            </a:pPr>
            <a:endParaRPr kumimoji="0" lang="en-US" sz="28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25" name="AutoShape 22"/>
          <p:cNvSpPr>
            <a:spLocks noChangeArrowheads="1"/>
          </p:cNvSpPr>
          <p:nvPr/>
        </p:nvSpPr>
        <p:spPr bwMode="auto">
          <a:xfrm>
            <a:off x="3733800" y="2274887"/>
            <a:ext cx="1930400" cy="879475"/>
          </a:xfrm>
          <a:prstGeom prst="cloudCallout">
            <a:avLst>
              <a:gd name="adj1" fmla="val -37583"/>
              <a:gd name="adj2" fmla="val 70037"/>
            </a:avLst>
          </a:prstGeom>
          <a:noFill/>
          <a:ln w="9525">
            <a:solidFill>
              <a:schemeClr val="tx1"/>
            </a:solidFill>
            <a:round/>
            <a:headEnd/>
            <a:tailEnd/>
          </a:ln>
          <a:effectLst/>
        </p:spPr>
        <p:txBody>
          <a:bodyPr wrap="none" anchor="ctr"/>
          <a:lstStyle/>
          <a:p>
            <a:pPr>
              <a:spcBef>
                <a:spcPct val="0"/>
              </a:spcBef>
              <a:spcAft>
                <a:spcPct val="0"/>
              </a:spcAft>
            </a:pPr>
            <a:r>
              <a:rPr lang="en-US" b="1">
                <a:solidFill>
                  <a:schemeClr val="accent2"/>
                </a:solidFill>
                <a:effectLst>
                  <a:outerShdw blurRad="38100" dist="38100" dir="2700000" algn="tl">
                    <a:srgbClr val="C0C0C0"/>
                  </a:outerShdw>
                </a:effectLst>
              </a:rPr>
              <a:t>CRC</a:t>
            </a:r>
          </a:p>
          <a:p>
            <a:pPr>
              <a:spcBef>
                <a:spcPct val="0"/>
              </a:spcBef>
              <a:spcAft>
                <a:spcPct val="0"/>
              </a:spcAft>
            </a:pPr>
            <a:r>
              <a:rPr lang="en-US" b="1">
                <a:solidFill>
                  <a:schemeClr val="accent2"/>
                </a:solidFill>
                <a:effectLst>
                  <a:outerShdw blurRad="38100" dist="38100" dir="2700000" algn="tl">
                    <a:srgbClr val="C0C0C0"/>
                  </a:outerShdw>
                </a:effectLst>
              </a:rPr>
              <a:t>Field</a:t>
            </a:r>
            <a:endParaRPr lang="en-US">
              <a:effectLst/>
            </a:endParaRPr>
          </a:p>
        </p:txBody>
      </p:sp>
      <p:sp>
        <p:nvSpPr>
          <p:cNvPr id="26" name="Rectangle 34"/>
          <p:cNvSpPr>
            <a:spLocks noChangeArrowheads="1"/>
          </p:cNvSpPr>
          <p:nvPr/>
        </p:nvSpPr>
        <p:spPr bwMode="auto">
          <a:xfrm>
            <a:off x="5340350" y="3471862"/>
            <a:ext cx="2105025" cy="530225"/>
          </a:xfrm>
          <a:prstGeom prst="rect">
            <a:avLst/>
          </a:prstGeom>
          <a:gradFill rotWithShape="0">
            <a:gsLst>
              <a:gs pos="0">
                <a:schemeClr val="accent1"/>
              </a:gs>
              <a:gs pos="50000">
                <a:schemeClr val="accent1">
                  <a:gamma/>
                  <a:tint val="25490"/>
                  <a:invGamma/>
                </a:schemeClr>
              </a:gs>
              <a:gs pos="100000">
                <a:schemeClr val="accent1"/>
              </a:gs>
            </a:gsLst>
            <a:lin ang="5400000" scaled="1"/>
          </a:gradFill>
          <a:ln w="9525">
            <a:solidFill>
              <a:schemeClr val="tx1"/>
            </a:solidFill>
            <a:miter lim="800000"/>
            <a:headEnd/>
            <a:tailEnd/>
          </a:ln>
          <a:effectLst/>
        </p:spPr>
        <p:txBody>
          <a:bodyPr wrap="none" anchor="ctr"/>
          <a:lstStyle/>
          <a:p>
            <a:endParaRPr lang="en-US"/>
          </a:p>
        </p:txBody>
      </p:sp>
      <p:sp>
        <p:nvSpPr>
          <p:cNvPr id="27" name="Rectangle 23"/>
          <p:cNvSpPr>
            <a:spLocks noChangeArrowheads="1"/>
          </p:cNvSpPr>
          <p:nvPr/>
        </p:nvSpPr>
        <p:spPr bwMode="auto">
          <a:xfrm>
            <a:off x="4800600" y="3471862"/>
            <a:ext cx="539750" cy="530225"/>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endParaRPr lang="en-US"/>
          </a:p>
        </p:txBody>
      </p:sp>
      <p:sp>
        <p:nvSpPr>
          <p:cNvPr id="28" name="Text Box 24"/>
          <p:cNvSpPr txBox="1">
            <a:spLocks noChangeArrowheads="1"/>
          </p:cNvSpPr>
          <p:nvPr/>
        </p:nvSpPr>
        <p:spPr bwMode="auto">
          <a:xfrm>
            <a:off x="4800600" y="3581400"/>
            <a:ext cx="539750" cy="3048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wrap="none">
            <a:spAutoFit/>
          </a:bodyPr>
          <a:lstStyle/>
          <a:p>
            <a:pPr algn="l">
              <a:spcBef>
                <a:spcPct val="0"/>
              </a:spcBef>
              <a:spcAft>
                <a:spcPct val="0"/>
              </a:spcAft>
            </a:pPr>
            <a:r>
              <a:rPr lang="en-US" sz="1400" b="1">
                <a:effectLst/>
                <a:latin typeface="Helvetica" pitchFamily="34" charset="0"/>
              </a:rPr>
              <a:t>DEL</a:t>
            </a:r>
            <a:endParaRPr lang="en-US" sz="2400" b="1">
              <a:effectLst/>
            </a:endParaRPr>
          </a:p>
        </p:txBody>
      </p:sp>
      <p:sp>
        <p:nvSpPr>
          <p:cNvPr id="36" name="Rectangle 16"/>
          <p:cNvSpPr>
            <a:spLocks noChangeArrowheads="1"/>
          </p:cNvSpPr>
          <p:nvPr/>
        </p:nvSpPr>
        <p:spPr bwMode="auto">
          <a:xfrm>
            <a:off x="1117600" y="3471862"/>
            <a:ext cx="1841500" cy="530225"/>
          </a:xfrm>
          <a:prstGeom prst="rect">
            <a:avLst/>
          </a:prstGeom>
          <a:gradFill rotWithShape="0">
            <a:gsLst>
              <a:gs pos="0">
                <a:schemeClr val="accent1"/>
              </a:gs>
              <a:gs pos="50000">
                <a:schemeClr val="accent1">
                  <a:gamma/>
                  <a:tint val="28627"/>
                  <a:invGamma/>
                </a:schemeClr>
              </a:gs>
              <a:gs pos="100000">
                <a:schemeClr val="accent1"/>
              </a:gs>
            </a:gsLst>
            <a:lin ang="5400000" scaled="1"/>
          </a:gradFill>
          <a:ln w="9525">
            <a:solidFill>
              <a:schemeClr val="tx1"/>
            </a:solidFill>
            <a:miter lim="800000"/>
            <a:headEnd/>
            <a:tailEnd/>
          </a:ln>
          <a:effectLst/>
        </p:spPr>
        <p:txBody>
          <a:bodyPr wrap="none" anchor="ctr"/>
          <a:lstStyle/>
          <a:p>
            <a:endParaRPr lang="en-US"/>
          </a:p>
        </p:txBody>
      </p:sp>
      <p:sp>
        <p:nvSpPr>
          <p:cNvPr id="37" name="Text Box 17"/>
          <p:cNvSpPr txBox="1">
            <a:spLocks noChangeArrowheads="1"/>
          </p:cNvSpPr>
          <p:nvPr/>
        </p:nvSpPr>
        <p:spPr bwMode="auto">
          <a:xfrm>
            <a:off x="1435100" y="3581400"/>
            <a:ext cx="1030288" cy="304800"/>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Helvetica" pitchFamily="34" charset="0"/>
              </a:rPr>
              <a:t>Data Field</a:t>
            </a:r>
            <a:endParaRPr lang="en-US" sz="2400" b="1">
              <a:effectLst/>
            </a:endParaRPr>
          </a:p>
        </p:txBody>
      </p:sp>
      <p:sp>
        <p:nvSpPr>
          <p:cNvPr id="38" name="Rectangle 18"/>
          <p:cNvSpPr>
            <a:spLocks noChangeArrowheads="1"/>
          </p:cNvSpPr>
          <p:nvPr/>
        </p:nvSpPr>
        <p:spPr bwMode="auto">
          <a:xfrm>
            <a:off x="2959100" y="3471862"/>
            <a:ext cx="1841500" cy="530225"/>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endParaRPr lang="en-US"/>
          </a:p>
        </p:txBody>
      </p:sp>
      <p:sp>
        <p:nvSpPr>
          <p:cNvPr id="39" name="Text Box 19"/>
          <p:cNvSpPr txBox="1">
            <a:spLocks noChangeArrowheads="1"/>
          </p:cNvSpPr>
          <p:nvPr/>
        </p:nvSpPr>
        <p:spPr bwMode="auto">
          <a:xfrm>
            <a:off x="3276600" y="3581400"/>
            <a:ext cx="1031875" cy="304800"/>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Helvetica" pitchFamily="34" charset="0"/>
              </a:rPr>
              <a:t>CRC Field</a:t>
            </a:r>
            <a:endParaRPr lang="en-US" sz="2400" b="1">
              <a:effectLst/>
            </a:endParaRPr>
          </a:p>
        </p:txBody>
      </p:sp>
      <p:sp>
        <p:nvSpPr>
          <p:cNvPr id="40" name="Line 25"/>
          <p:cNvSpPr>
            <a:spLocks noChangeShapeType="1"/>
          </p:cNvSpPr>
          <p:nvPr/>
        </p:nvSpPr>
        <p:spPr bwMode="auto">
          <a:xfrm>
            <a:off x="4800600" y="3471862"/>
            <a:ext cx="539750" cy="0"/>
          </a:xfrm>
          <a:prstGeom prst="line">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endParaRPr lang="en-US"/>
          </a:p>
        </p:txBody>
      </p:sp>
      <p:sp>
        <p:nvSpPr>
          <p:cNvPr id="41" name="Line 26"/>
          <p:cNvSpPr>
            <a:spLocks noChangeShapeType="1"/>
          </p:cNvSpPr>
          <p:nvPr/>
        </p:nvSpPr>
        <p:spPr bwMode="auto">
          <a:xfrm>
            <a:off x="5340350" y="3471862"/>
            <a:ext cx="0" cy="530225"/>
          </a:xfrm>
          <a:prstGeom prst="line">
            <a:avLst/>
          </a:prstGeom>
          <a:noFill/>
          <a:ln w="28575">
            <a:solidFill>
              <a:schemeClr val="tx1"/>
            </a:solidFill>
            <a:round/>
            <a:headEnd/>
            <a:tailEnd/>
          </a:ln>
          <a:effectLst/>
        </p:spPr>
        <p:txBody>
          <a:bodyPr wrap="none" anchor="ctr"/>
          <a:lstStyle/>
          <a:p>
            <a:endParaRPr lang="en-US"/>
          </a:p>
        </p:txBody>
      </p:sp>
      <p:sp>
        <p:nvSpPr>
          <p:cNvPr id="42" name="Line 27"/>
          <p:cNvSpPr>
            <a:spLocks noChangeShapeType="1"/>
          </p:cNvSpPr>
          <p:nvPr/>
        </p:nvSpPr>
        <p:spPr bwMode="auto">
          <a:xfrm>
            <a:off x="5340350" y="4002087"/>
            <a:ext cx="615950" cy="0"/>
          </a:xfrm>
          <a:prstGeom prst="line">
            <a:avLst/>
          </a:prstGeom>
          <a:noFill/>
          <a:ln w="28575">
            <a:solidFill>
              <a:schemeClr val="tx1"/>
            </a:solidFill>
            <a:round/>
            <a:headEnd/>
            <a:tailEnd/>
          </a:ln>
          <a:effectLst/>
        </p:spPr>
        <p:txBody>
          <a:bodyPr wrap="none" anchor="ctr"/>
          <a:lstStyle/>
          <a:p>
            <a:endParaRPr lang="en-US"/>
          </a:p>
        </p:txBody>
      </p:sp>
      <p:sp>
        <p:nvSpPr>
          <p:cNvPr id="43" name="Text Box 35"/>
          <p:cNvSpPr txBox="1">
            <a:spLocks noChangeArrowheads="1"/>
          </p:cNvSpPr>
          <p:nvPr/>
        </p:nvSpPr>
        <p:spPr bwMode="auto">
          <a:xfrm>
            <a:off x="5657850" y="3581400"/>
            <a:ext cx="1787525" cy="304800"/>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Helvetica" pitchFamily="34" charset="0"/>
              </a:rPr>
              <a:t>Acknowledge Field</a:t>
            </a:r>
            <a:endParaRPr lang="en-US" sz="2400" b="1">
              <a:effectLst/>
            </a:endParaRPr>
          </a:p>
        </p:txBody>
      </p:sp>
      <p:pic>
        <p:nvPicPr>
          <p:cNvPr id="44" name="Content Placeholder 3" descr="poly.JPG"/>
          <p:cNvPicPr>
            <a:picLocks noChangeAspect="1"/>
          </p:cNvPicPr>
          <p:nvPr/>
        </p:nvPicPr>
        <p:blipFill>
          <a:blip r:embed="rId4" cstate="print"/>
          <a:stretch>
            <a:fillRect/>
          </a:stretch>
        </p:blipFill>
        <p:spPr>
          <a:xfrm>
            <a:off x="5943600" y="4724400"/>
            <a:ext cx="2800350" cy="219075"/>
          </a:xfrm>
          <a:prstGeom prst="rect">
            <a:avLst/>
          </a:prstGeom>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Frame</a:t>
            </a:r>
            <a:endParaRPr lang="en-US" dirty="0"/>
          </a:p>
        </p:txBody>
      </p:sp>
      <p:pic>
        <p:nvPicPr>
          <p:cNvPr id="4" name="Content Placeholder 3" descr="can frame fields.JPG"/>
          <p:cNvPicPr>
            <a:picLocks noGrp="1" noChangeAspect="1"/>
          </p:cNvPicPr>
          <p:nvPr>
            <p:ph idx="1"/>
          </p:nvPr>
        </p:nvPicPr>
        <p:blipFill>
          <a:blip r:embed="rId3" cstate="print"/>
          <a:stretch>
            <a:fillRect/>
          </a:stretch>
        </p:blipFill>
        <p:spPr>
          <a:xfrm>
            <a:off x="1371600" y="1295400"/>
            <a:ext cx="7010400" cy="438150"/>
          </a:xfrm>
        </p:spPr>
      </p:pic>
      <p:sp>
        <p:nvSpPr>
          <p:cNvPr id="24" name="Title 1"/>
          <p:cNvSpPr txBox="1">
            <a:spLocks/>
          </p:cNvSpPr>
          <p:nvPr/>
        </p:nvSpPr>
        <p:spPr>
          <a:xfrm>
            <a:off x="381000" y="4191000"/>
            <a:ext cx="8229600" cy="1905000"/>
          </a:xfrm>
          <a:prstGeom prst="rect">
            <a:avLst/>
          </a:prstGeom>
        </p:spPr>
        <p:txBody>
          <a:bodyPr vert="horz" lIns="91440" tIns="45720" rIns="91440" bIns="45720" rtlCol="0" anchor="ctr">
            <a:normAutofit fontScale="77500" lnSpcReduction="20000"/>
          </a:bodyPr>
          <a:lstStyle/>
          <a:p>
            <a:pPr marL="514350" lvl="0" indent="-514350">
              <a:spcBef>
                <a:spcPct val="0"/>
              </a:spcBef>
              <a:buFontTx/>
              <a:buAutoNum type="arabicPeriod"/>
            </a:pPr>
            <a:endParaRPr lang="en-US" sz="2900" dirty="0" smtClean="0"/>
          </a:p>
          <a:p>
            <a:pPr marL="514350" lvl="0" indent="-514350">
              <a:spcBef>
                <a:spcPct val="0"/>
              </a:spcBef>
              <a:buFontTx/>
              <a:buAutoNum type="arabicPeriod"/>
            </a:pPr>
            <a:r>
              <a:rPr lang="en-US" sz="2300" dirty="0" smtClean="0"/>
              <a:t>The ACK FIELD is two bits long and contains the ACK SLOT and the ACK DELIMITER. In the ACK FIELD the transmitting station sends two recessive bits.</a:t>
            </a:r>
          </a:p>
          <a:p>
            <a:pPr marL="514350" lvl="0" indent="-514350">
              <a:spcBef>
                <a:spcPct val="0"/>
              </a:spcBef>
              <a:buFontTx/>
              <a:buAutoNum type="arabicPeriod"/>
            </a:pPr>
            <a:r>
              <a:rPr lang="en-US" sz="2300" dirty="0" smtClean="0"/>
              <a:t>The receiver sends a dominant bit in ACK slot if the message is valid(i.e., if CRC matches).</a:t>
            </a:r>
          </a:p>
          <a:p>
            <a:pPr marL="514350" lvl="0" indent="-514350">
              <a:spcBef>
                <a:spcPct val="0"/>
              </a:spcBef>
              <a:buFontTx/>
              <a:buAutoNum type="arabicPeriod"/>
            </a:pPr>
            <a:r>
              <a:rPr lang="en-US" sz="2300" dirty="0" smtClean="0"/>
              <a:t>The ACK DELIMITER is the second bit of the ACK FIELD and has to be a recessive bit. </a:t>
            </a:r>
            <a:endParaRPr kumimoji="0" lang="en-US" sz="28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18" name="AutoShape 30"/>
          <p:cNvSpPr>
            <a:spLocks noChangeArrowheads="1"/>
          </p:cNvSpPr>
          <p:nvPr/>
        </p:nvSpPr>
        <p:spPr bwMode="auto">
          <a:xfrm>
            <a:off x="3810000" y="2057400"/>
            <a:ext cx="1930400" cy="879475"/>
          </a:xfrm>
          <a:prstGeom prst="cloudCallout">
            <a:avLst>
              <a:gd name="adj1" fmla="val -37583"/>
              <a:gd name="adj2" fmla="val 70037"/>
            </a:avLst>
          </a:prstGeom>
          <a:noFill/>
          <a:ln w="9525">
            <a:solidFill>
              <a:schemeClr val="tx1"/>
            </a:solidFill>
            <a:round/>
            <a:headEnd/>
            <a:tailEnd/>
          </a:ln>
          <a:effectLst/>
        </p:spPr>
        <p:txBody>
          <a:bodyPr wrap="none" anchor="ctr"/>
          <a:lstStyle/>
          <a:p>
            <a:pPr>
              <a:spcBef>
                <a:spcPct val="0"/>
              </a:spcBef>
              <a:spcAft>
                <a:spcPct val="0"/>
              </a:spcAft>
            </a:pPr>
            <a:endParaRPr lang="en-US" sz="1400" b="1">
              <a:effectLst/>
              <a:latin typeface="Helvetica" pitchFamily="34" charset="0"/>
            </a:endParaRPr>
          </a:p>
          <a:p>
            <a:pPr>
              <a:spcBef>
                <a:spcPct val="0"/>
              </a:spcBef>
              <a:spcAft>
                <a:spcPct val="0"/>
              </a:spcAft>
            </a:pPr>
            <a:r>
              <a:rPr lang="en-US" sz="1400" b="1">
                <a:solidFill>
                  <a:schemeClr val="accent2"/>
                </a:solidFill>
                <a:effectLst>
                  <a:outerShdw blurRad="38100" dist="38100" dir="2700000" algn="tl">
                    <a:srgbClr val="C0C0C0"/>
                  </a:outerShdw>
                </a:effectLst>
                <a:latin typeface="Helvetica" pitchFamily="34" charset="0"/>
              </a:rPr>
              <a:t>Acknowledge</a:t>
            </a:r>
          </a:p>
          <a:p>
            <a:pPr>
              <a:spcBef>
                <a:spcPct val="0"/>
              </a:spcBef>
              <a:spcAft>
                <a:spcPct val="0"/>
              </a:spcAft>
            </a:pPr>
            <a:r>
              <a:rPr lang="en-US" sz="1400" b="1">
                <a:solidFill>
                  <a:schemeClr val="accent2"/>
                </a:solidFill>
                <a:effectLst>
                  <a:outerShdw blurRad="38100" dist="38100" dir="2700000" algn="tl">
                    <a:srgbClr val="C0C0C0"/>
                  </a:outerShdw>
                </a:effectLst>
                <a:latin typeface="Helvetica" pitchFamily="34" charset="0"/>
              </a:rPr>
              <a:t> Field</a:t>
            </a:r>
            <a:endParaRPr lang="en-US" b="1">
              <a:solidFill>
                <a:schemeClr val="accent2"/>
              </a:solidFill>
              <a:effectLst>
                <a:outerShdw blurRad="38100" dist="38100" dir="2700000" algn="tl">
                  <a:srgbClr val="C0C0C0"/>
                </a:outerShdw>
              </a:effectLst>
            </a:endParaRPr>
          </a:p>
          <a:p>
            <a:pPr>
              <a:spcBef>
                <a:spcPct val="0"/>
              </a:spcBef>
              <a:spcAft>
                <a:spcPct val="0"/>
              </a:spcAft>
            </a:pPr>
            <a:endParaRPr lang="en-US" b="1">
              <a:solidFill>
                <a:schemeClr val="accent2"/>
              </a:solidFill>
              <a:effectLst>
                <a:outerShdw blurRad="38100" dist="38100" dir="2700000" algn="tl">
                  <a:srgbClr val="C0C0C0"/>
                </a:outerShdw>
              </a:effectLst>
            </a:endParaRPr>
          </a:p>
        </p:txBody>
      </p:sp>
      <p:sp>
        <p:nvSpPr>
          <p:cNvPr id="19" name="Rectangle 35"/>
          <p:cNvSpPr>
            <a:spLocks noChangeArrowheads="1"/>
          </p:cNvSpPr>
          <p:nvPr/>
        </p:nvSpPr>
        <p:spPr bwMode="auto">
          <a:xfrm>
            <a:off x="3371850" y="3241675"/>
            <a:ext cx="622300" cy="581025"/>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en-US"/>
          </a:p>
        </p:txBody>
      </p:sp>
      <p:sp>
        <p:nvSpPr>
          <p:cNvPr id="20" name="Rectangle 36"/>
          <p:cNvSpPr>
            <a:spLocks noChangeArrowheads="1"/>
          </p:cNvSpPr>
          <p:nvPr/>
        </p:nvSpPr>
        <p:spPr bwMode="auto">
          <a:xfrm>
            <a:off x="3994150" y="3241675"/>
            <a:ext cx="622300" cy="581025"/>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en-US"/>
          </a:p>
        </p:txBody>
      </p:sp>
      <p:sp>
        <p:nvSpPr>
          <p:cNvPr id="21" name="Text Box 37"/>
          <p:cNvSpPr txBox="1">
            <a:spLocks noChangeArrowheads="1"/>
          </p:cNvSpPr>
          <p:nvPr/>
        </p:nvSpPr>
        <p:spPr bwMode="auto">
          <a:xfrm>
            <a:off x="4070350" y="3352800"/>
            <a:ext cx="439738" cy="266700"/>
          </a:xfrm>
          <a:prstGeom prst="rect">
            <a:avLst/>
          </a:prstGeom>
          <a:noFill/>
          <a:ln w="9525">
            <a:noFill/>
            <a:miter lim="800000"/>
            <a:headEnd/>
            <a:tailEnd/>
          </a:ln>
          <a:effectLst/>
        </p:spPr>
        <p:txBody>
          <a:bodyPr wrap="none" lIns="18000" tIns="10800" rIns="18000" bIns="10800">
            <a:spAutoFit/>
          </a:bodyPr>
          <a:lstStyle/>
          <a:p>
            <a:pPr algn="l">
              <a:spcBef>
                <a:spcPct val="0"/>
              </a:spcBef>
              <a:spcAft>
                <a:spcPct val="0"/>
              </a:spcAft>
            </a:pPr>
            <a:r>
              <a:rPr lang="en-US" b="1">
                <a:effectLst/>
                <a:latin typeface="Helvetica" pitchFamily="34" charset="0"/>
              </a:rPr>
              <a:t>DEL</a:t>
            </a:r>
            <a:endParaRPr lang="en-US" sz="2400" b="1">
              <a:effectLst/>
            </a:endParaRPr>
          </a:p>
        </p:txBody>
      </p:sp>
      <p:sp>
        <p:nvSpPr>
          <p:cNvPr id="22" name="Text Box 38"/>
          <p:cNvSpPr txBox="1">
            <a:spLocks noChangeArrowheads="1"/>
          </p:cNvSpPr>
          <p:nvPr/>
        </p:nvSpPr>
        <p:spPr bwMode="auto">
          <a:xfrm>
            <a:off x="3460750" y="3352800"/>
            <a:ext cx="473075" cy="266700"/>
          </a:xfrm>
          <a:prstGeom prst="rect">
            <a:avLst/>
          </a:prstGeom>
          <a:noFill/>
          <a:ln w="9525">
            <a:noFill/>
            <a:miter lim="800000"/>
            <a:headEnd/>
            <a:tailEnd/>
          </a:ln>
          <a:effectLst/>
        </p:spPr>
        <p:txBody>
          <a:bodyPr wrap="none" lIns="18000" tIns="10800" rIns="18000" bIns="10800">
            <a:spAutoFit/>
          </a:bodyPr>
          <a:lstStyle/>
          <a:p>
            <a:pPr algn="l">
              <a:spcBef>
                <a:spcPct val="0"/>
              </a:spcBef>
              <a:spcAft>
                <a:spcPct val="0"/>
              </a:spcAft>
            </a:pPr>
            <a:r>
              <a:rPr lang="en-US" b="1">
                <a:effectLst/>
                <a:latin typeface="Helvetica" pitchFamily="34" charset="0"/>
              </a:rPr>
              <a:t>ACK</a:t>
            </a:r>
            <a:endParaRPr lang="en-US" sz="2400" b="1">
              <a:effectLst/>
            </a:endParaRPr>
          </a:p>
        </p:txBody>
      </p:sp>
      <p:sp>
        <p:nvSpPr>
          <p:cNvPr id="23" name="Line 40"/>
          <p:cNvSpPr>
            <a:spLocks noChangeShapeType="1"/>
          </p:cNvSpPr>
          <p:nvPr/>
        </p:nvSpPr>
        <p:spPr bwMode="auto">
          <a:xfrm>
            <a:off x="3994150" y="3241675"/>
            <a:ext cx="0" cy="568325"/>
          </a:xfrm>
          <a:prstGeom prst="line">
            <a:avLst/>
          </a:prstGeom>
          <a:noFill/>
          <a:ln w="28575">
            <a:solidFill>
              <a:schemeClr val="tx1"/>
            </a:solidFill>
            <a:round/>
            <a:headEnd/>
            <a:tailEnd/>
          </a:ln>
          <a:effectLst/>
        </p:spPr>
        <p:txBody>
          <a:bodyPr wrap="none" anchor="ctr"/>
          <a:lstStyle/>
          <a:p>
            <a:endParaRPr lang="en-US"/>
          </a:p>
        </p:txBody>
      </p:sp>
      <p:sp>
        <p:nvSpPr>
          <p:cNvPr id="29" name="Line 41"/>
          <p:cNvSpPr>
            <a:spLocks noChangeShapeType="1"/>
          </p:cNvSpPr>
          <p:nvPr/>
        </p:nvSpPr>
        <p:spPr bwMode="auto">
          <a:xfrm>
            <a:off x="3994150" y="3244850"/>
            <a:ext cx="622300" cy="0"/>
          </a:xfrm>
          <a:prstGeom prst="line">
            <a:avLst/>
          </a:prstGeom>
          <a:noFill/>
          <a:ln w="28575">
            <a:solidFill>
              <a:schemeClr val="tx1"/>
            </a:solidFill>
            <a:round/>
            <a:headEnd/>
            <a:tailEnd/>
          </a:ln>
          <a:effectLst/>
        </p:spPr>
        <p:txBody>
          <a:bodyPr wrap="none" anchor="ctr"/>
          <a:lstStyle/>
          <a:p>
            <a:endParaRPr lang="en-US"/>
          </a:p>
        </p:txBody>
      </p:sp>
      <p:sp>
        <p:nvSpPr>
          <p:cNvPr id="30" name="Line 42"/>
          <p:cNvSpPr>
            <a:spLocks noChangeShapeType="1"/>
          </p:cNvSpPr>
          <p:nvPr/>
        </p:nvSpPr>
        <p:spPr bwMode="auto">
          <a:xfrm>
            <a:off x="4616450" y="3241675"/>
            <a:ext cx="0" cy="581025"/>
          </a:xfrm>
          <a:prstGeom prst="line">
            <a:avLst/>
          </a:prstGeom>
          <a:noFill/>
          <a:ln w="28575">
            <a:solidFill>
              <a:schemeClr val="tx1"/>
            </a:solidFill>
            <a:round/>
            <a:headEnd/>
            <a:tailEnd/>
          </a:ln>
          <a:effectLst/>
        </p:spPr>
        <p:txBody>
          <a:bodyPr wrap="none" anchor="ctr"/>
          <a:lstStyle/>
          <a:p>
            <a:endParaRPr lang="en-US"/>
          </a:p>
        </p:txBody>
      </p:sp>
      <p:sp>
        <p:nvSpPr>
          <p:cNvPr id="31" name="Line 43"/>
          <p:cNvSpPr>
            <a:spLocks noChangeShapeType="1"/>
          </p:cNvSpPr>
          <p:nvPr/>
        </p:nvSpPr>
        <p:spPr bwMode="auto">
          <a:xfrm>
            <a:off x="3371850" y="3241675"/>
            <a:ext cx="0" cy="581025"/>
          </a:xfrm>
          <a:prstGeom prst="line">
            <a:avLst/>
          </a:prstGeom>
          <a:noFill/>
          <a:ln w="28575">
            <a:solidFill>
              <a:schemeClr val="tx1"/>
            </a:solidFill>
            <a:round/>
            <a:headEnd/>
            <a:tailEnd/>
          </a:ln>
          <a:effectLst/>
        </p:spPr>
        <p:txBody>
          <a:bodyPr wrap="none" anchor="ctr"/>
          <a:lstStyle/>
          <a:p>
            <a:endParaRPr lang="en-US"/>
          </a:p>
        </p:txBody>
      </p:sp>
      <p:sp>
        <p:nvSpPr>
          <p:cNvPr id="32" name="Line 45"/>
          <p:cNvSpPr>
            <a:spLocks noChangeShapeType="1"/>
          </p:cNvSpPr>
          <p:nvPr/>
        </p:nvSpPr>
        <p:spPr bwMode="auto">
          <a:xfrm>
            <a:off x="3371850" y="3822700"/>
            <a:ext cx="622300" cy="0"/>
          </a:xfrm>
          <a:prstGeom prst="line">
            <a:avLst/>
          </a:prstGeom>
          <a:noFill/>
          <a:ln w="28575">
            <a:solidFill>
              <a:schemeClr val="tx1"/>
            </a:solidFill>
            <a:round/>
            <a:headEnd/>
            <a:tailEnd/>
          </a:ln>
          <a:effectLst/>
        </p:spPr>
        <p:txBody>
          <a:bodyPr wrap="none" anchor="ctr"/>
          <a:lstStyle/>
          <a:p>
            <a:endParaRPr lang="en-US"/>
          </a:p>
        </p:txBody>
      </p:sp>
      <p:sp>
        <p:nvSpPr>
          <p:cNvPr id="33" name="Rectangle 63"/>
          <p:cNvSpPr>
            <a:spLocks noChangeArrowheads="1"/>
          </p:cNvSpPr>
          <p:nvPr/>
        </p:nvSpPr>
        <p:spPr bwMode="auto">
          <a:xfrm>
            <a:off x="2036763" y="3244850"/>
            <a:ext cx="1331912" cy="581025"/>
          </a:xfrm>
          <a:prstGeom prst="rect">
            <a:avLst/>
          </a:prstGeom>
          <a:gradFill rotWithShape="1">
            <a:gsLst>
              <a:gs pos="0">
                <a:schemeClr val="accent1"/>
              </a:gs>
              <a:gs pos="50000">
                <a:schemeClr val="accent1">
                  <a:gamma/>
                  <a:tint val="21176"/>
                  <a:invGamma/>
                </a:schemeClr>
              </a:gs>
              <a:gs pos="100000">
                <a:schemeClr val="accent1"/>
              </a:gs>
            </a:gsLst>
            <a:lin ang="5400000" scaled="1"/>
          </a:gradFill>
          <a:ln w="9525">
            <a:solidFill>
              <a:schemeClr val="tx1"/>
            </a:solidFill>
            <a:miter lim="800000"/>
            <a:headEnd/>
            <a:tailEnd/>
          </a:ln>
          <a:effectLst/>
        </p:spPr>
        <p:txBody>
          <a:bodyPr wrap="none" anchor="ctr"/>
          <a:lstStyle/>
          <a:p>
            <a:endParaRPr lang="en-US"/>
          </a:p>
        </p:txBody>
      </p:sp>
      <p:sp>
        <p:nvSpPr>
          <p:cNvPr id="34" name="Text Box 25"/>
          <p:cNvSpPr txBox="1">
            <a:spLocks noChangeArrowheads="1"/>
          </p:cNvSpPr>
          <p:nvPr/>
        </p:nvSpPr>
        <p:spPr bwMode="auto">
          <a:xfrm>
            <a:off x="2262188" y="3352800"/>
            <a:ext cx="1042987" cy="549275"/>
          </a:xfrm>
          <a:prstGeom prst="rect">
            <a:avLst/>
          </a:prstGeom>
          <a:noFill/>
          <a:ln w="9525">
            <a:noFill/>
            <a:miter lim="800000"/>
            <a:headEnd/>
            <a:tailEnd/>
          </a:ln>
          <a:effectLst/>
        </p:spPr>
        <p:txBody>
          <a:bodyPr>
            <a:spAutoFit/>
          </a:bodyPr>
          <a:lstStyle/>
          <a:p>
            <a:pPr algn="l">
              <a:spcBef>
                <a:spcPct val="0"/>
              </a:spcBef>
              <a:spcAft>
                <a:spcPct val="0"/>
              </a:spcAft>
            </a:pPr>
            <a:r>
              <a:rPr lang="en-US" sz="1400" b="1">
                <a:effectLst/>
                <a:latin typeface="Helvetica" pitchFamily="34" charset="0"/>
              </a:rPr>
              <a:t>CRC Field</a:t>
            </a:r>
            <a:r>
              <a:rPr lang="en-US" b="1">
                <a:effectLst/>
              </a:rPr>
              <a:t>	</a:t>
            </a:r>
            <a:endParaRPr lang="en-US" sz="2400" b="1">
              <a:effectLst/>
            </a:endParaRPr>
          </a:p>
        </p:txBody>
      </p:sp>
      <p:sp>
        <p:nvSpPr>
          <p:cNvPr id="35" name="Rectangle 64"/>
          <p:cNvSpPr>
            <a:spLocks noChangeArrowheads="1"/>
          </p:cNvSpPr>
          <p:nvPr/>
        </p:nvSpPr>
        <p:spPr bwMode="auto">
          <a:xfrm>
            <a:off x="4616450" y="3244850"/>
            <a:ext cx="1331913" cy="581025"/>
          </a:xfrm>
          <a:prstGeom prst="rect">
            <a:avLst/>
          </a:prstGeom>
          <a:gradFill rotWithShape="1">
            <a:gsLst>
              <a:gs pos="0">
                <a:schemeClr val="accent1"/>
              </a:gs>
              <a:gs pos="50000">
                <a:schemeClr val="accent1">
                  <a:gamma/>
                  <a:tint val="21176"/>
                  <a:invGamma/>
                </a:schemeClr>
              </a:gs>
              <a:gs pos="100000">
                <a:schemeClr val="accent1"/>
              </a:gs>
            </a:gsLst>
            <a:lin ang="5400000" scaled="1"/>
          </a:gradFill>
          <a:ln w="9525">
            <a:solidFill>
              <a:schemeClr val="tx1"/>
            </a:solidFill>
            <a:miter lim="800000"/>
            <a:headEnd/>
            <a:tailEnd/>
          </a:ln>
          <a:effectLst/>
        </p:spPr>
        <p:txBody>
          <a:bodyPr wrap="none" anchor="ctr"/>
          <a:lstStyle/>
          <a:p>
            <a:endParaRPr lang="en-US"/>
          </a:p>
        </p:txBody>
      </p:sp>
      <p:sp>
        <p:nvSpPr>
          <p:cNvPr id="45" name="Text Box 26"/>
          <p:cNvSpPr txBox="1">
            <a:spLocks noChangeArrowheads="1"/>
          </p:cNvSpPr>
          <p:nvPr/>
        </p:nvSpPr>
        <p:spPr bwMode="auto">
          <a:xfrm>
            <a:off x="4672013" y="3352800"/>
            <a:ext cx="1123950" cy="336550"/>
          </a:xfrm>
          <a:prstGeom prst="rect">
            <a:avLst/>
          </a:prstGeom>
          <a:noFill/>
          <a:ln w="9525">
            <a:noFill/>
            <a:miter lim="800000"/>
            <a:headEnd/>
            <a:tailEnd/>
          </a:ln>
          <a:effectLst/>
        </p:spPr>
        <p:txBody>
          <a:bodyPr>
            <a:spAutoFit/>
          </a:bodyPr>
          <a:lstStyle/>
          <a:p>
            <a:pPr algn="l">
              <a:spcBef>
                <a:spcPct val="0"/>
              </a:spcBef>
              <a:spcAft>
                <a:spcPct val="0"/>
              </a:spcAft>
            </a:pPr>
            <a:r>
              <a:rPr lang="en-US" sz="1400" b="1" dirty="0">
                <a:effectLst/>
                <a:latin typeface="Helvetica" pitchFamily="34" charset="0"/>
              </a:rPr>
              <a:t>EOF Field</a:t>
            </a:r>
            <a:r>
              <a:rPr lang="en-US" b="1" dirty="0">
                <a:effectLst/>
              </a:rPr>
              <a:t>	</a:t>
            </a:r>
            <a:endParaRPr lang="en-US" sz="2400" b="1" dirty="0">
              <a:effectLst/>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Frame</a:t>
            </a:r>
            <a:endParaRPr lang="en-US" dirty="0"/>
          </a:p>
        </p:txBody>
      </p:sp>
      <p:pic>
        <p:nvPicPr>
          <p:cNvPr id="4" name="Content Placeholder 3" descr="can frame fields.JPG"/>
          <p:cNvPicPr>
            <a:picLocks noGrp="1" noChangeAspect="1"/>
          </p:cNvPicPr>
          <p:nvPr>
            <p:ph idx="1"/>
          </p:nvPr>
        </p:nvPicPr>
        <p:blipFill>
          <a:blip r:embed="rId3" cstate="print"/>
          <a:stretch>
            <a:fillRect/>
          </a:stretch>
        </p:blipFill>
        <p:spPr>
          <a:xfrm>
            <a:off x="1371600" y="1295400"/>
            <a:ext cx="7010400" cy="438150"/>
          </a:xfrm>
        </p:spPr>
      </p:pic>
      <p:sp>
        <p:nvSpPr>
          <p:cNvPr id="24" name="Title 1"/>
          <p:cNvSpPr txBox="1">
            <a:spLocks/>
          </p:cNvSpPr>
          <p:nvPr/>
        </p:nvSpPr>
        <p:spPr>
          <a:xfrm>
            <a:off x="381000" y="4191000"/>
            <a:ext cx="8229600" cy="1905000"/>
          </a:xfrm>
          <a:prstGeom prst="rect">
            <a:avLst/>
          </a:prstGeom>
        </p:spPr>
        <p:txBody>
          <a:bodyPr vert="horz" lIns="91440" tIns="45720" rIns="91440" bIns="45720" rtlCol="0" anchor="ctr">
            <a:normAutofit/>
          </a:bodyPr>
          <a:lstStyle/>
          <a:p>
            <a:pPr marL="514350" lvl="0" indent="-514350">
              <a:spcBef>
                <a:spcPct val="0"/>
              </a:spcBef>
              <a:buFontTx/>
              <a:buAutoNum type="arabicPeriod"/>
            </a:pPr>
            <a:endParaRPr lang="en-US" sz="2000" dirty="0" smtClean="0"/>
          </a:p>
          <a:p>
            <a:pPr marL="514350" lvl="0" indent="-514350">
              <a:spcBef>
                <a:spcPct val="0"/>
              </a:spcBef>
              <a:buFontTx/>
              <a:buAutoNum type="arabicPeriod"/>
            </a:pPr>
            <a:r>
              <a:rPr lang="en-US" sz="2000" dirty="0" smtClean="0"/>
              <a:t>Each DATA FRAME and REMOTE FRAME is delimited by a flag sequence consisting of seven ’recessive’ bits.</a:t>
            </a:r>
          </a:p>
          <a:p>
            <a:pPr marL="514350" lvl="0" indent="-514350">
              <a:spcBef>
                <a:spcPct val="0"/>
              </a:spcBef>
              <a:buFontTx/>
              <a:buAutoNum type="arabicPeriod"/>
            </a:pPr>
            <a:r>
              <a:rPr lang="en-US" sz="2000" dirty="0" smtClean="0">
                <a:latin typeface="+mj-lt"/>
                <a:ea typeface="+mj-ea"/>
                <a:cs typeface="+mj-cs"/>
              </a:rPr>
              <a:t>It is followed by Inter Frame Space</a:t>
            </a:r>
            <a:endParaRPr kumimoji="0" lang="en-US" sz="20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59" name="Rectangle 2"/>
          <p:cNvSpPr>
            <a:spLocks noChangeArrowheads="1"/>
          </p:cNvSpPr>
          <p:nvPr/>
        </p:nvSpPr>
        <p:spPr bwMode="auto">
          <a:xfrm>
            <a:off x="1711325" y="3200400"/>
            <a:ext cx="1063625" cy="541338"/>
          </a:xfrm>
          <a:prstGeom prst="rect">
            <a:avLst/>
          </a:prstGeom>
          <a:gradFill rotWithShape="1">
            <a:gsLst>
              <a:gs pos="0">
                <a:schemeClr val="accent1"/>
              </a:gs>
              <a:gs pos="50000">
                <a:schemeClr val="accent1">
                  <a:gamma/>
                  <a:tint val="24314"/>
                  <a:invGamma/>
                </a:schemeClr>
              </a:gs>
              <a:gs pos="100000">
                <a:schemeClr val="accent1"/>
              </a:gs>
            </a:gsLst>
            <a:lin ang="5400000" scaled="1"/>
          </a:gradFill>
          <a:ln w="9525">
            <a:noFill/>
            <a:miter lim="800000"/>
            <a:headEnd/>
            <a:tailEnd/>
          </a:ln>
          <a:effectLst/>
        </p:spPr>
        <p:txBody>
          <a:bodyPr wrap="none" anchor="ctr"/>
          <a:lstStyle/>
          <a:p>
            <a:endParaRPr lang="en-US"/>
          </a:p>
        </p:txBody>
      </p:sp>
      <p:sp>
        <p:nvSpPr>
          <p:cNvPr id="60" name="Rectangle 3"/>
          <p:cNvSpPr>
            <a:spLocks noChangeArrowheads="1"/>
          </p:cNvSpPr>
          <p:nvPr/>
        </p:nvSpPr>
        <p:spPr bwMode="auto">
          <a:xfrm>
            <a:off x="6543675" y="3200400"/>
            <a:ext cx="1063625" cy="541338"/>
          </a:xfrm>
          <a:prstGeom prst="rect">
            <a:avLst/>
          </a:prstGeom>
          <a:gradFill rotWithShape="0">
            <a:gsLst>
              <a:gs pos="0">
                <a:schemeClr val="accent1"/>
              </a:gs>
              <a:gs pos="50000">
                <a:schemeClr val="accent1">
                  <a:gamma/>
                  <a:tint val="21176"/>
                  <a:invGamma/>
                </a:schemeClr>
              </a:gs>
              <a:gs pos="100000">
                <a:schemeClr val="accent1"/>
              </a:gs>
            </a:gsLst>
            <a:lin ang="5400000" scaled="1"/>
          </a:gradFill>
          <a:ln w="9525">
            <a:noFill/>
            <a:miter lim="800000"/>
            <a:headEnd/>
            <a:tailEnd/>
          </a:ln>
          <a:effectLst/>
        </p:spPr>
        <p:txBody>
          <a:bodyPr wrap="none" anchor="ctr"/>
          <a:lstStyle/>
          <a:p>
            <a:endParaRPr lang="en-US"/>
          </a:p>
        </p:txBody>
      </p:sp>
      <p:sp>
        <p:nvSpPr>
          <p:cNvPr id="61" name="Rectangle 8"/>
          <p:cNvSpPr>
            <a:spLocks noChangeArrowheads="1"/>
          </p:cNvSpPr>
          <p:nvPr/>
        </p:nvSpPr>
        <p:spPr bwMode="auto">
          <a:xfrm>
            <a:off x="2765425" y="3200400"/>
            <a:ext cx="3778250" cy="53975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en-US"/>
          </a:p>
        </p:txBody>
      </p:sp>
      <p:sp>
        <p:nvSpPr>
          <p:cNvPr id="62" name="Line 9"/>
          <p:cNvSpPr>
            <a:spLocks noChangeAspect="1" noChangeShapeType="1"/>
          </p:cNvSpPr>
          <p:nvPr/>
        </p:nvSpPr>
        <p:spPr bwMode="auto">
          <a:xfrm>
            <a:off x="2765425" y="3200400"/>
            <a:ext cx="0" cy="541338"/>
          </a:xfrm>
          <a:prstGeom prst="line">
            <a:avLst/>
          </a:prstGeom>
          <a:noFill/>
          <a:ln w="12700">
            <a:solidFill>
              <a:schemeClr val="tx1"/>
            </a:solidFill>
            <a:round/>
            <a:headEnd/>
            <a:tailEnd/>
          </a:ln>
          <a:effectLst/>
        </p:spPr>
        <p:txBody>
          <a:bodyPr wrap="none" anchor="ctr"/>
          <a:lstStyle/>
          <a:p>
            <a:endParaRPr lang="en-US"/>
          </a:p>
        </p:txBody>
      </p:sp>
      <p:sp>
        <p:nvSpPr>
          <p:cNvPr id="63" name="Line 10"/>
          <p:cNvSpPr>
            <a:spLocks noChangeShapeType="1"/>
          </p:cNvSpPr>
          <p:nvPr/>
        </p:nvSpPr>
        <p:spPr bwMode="auto">
          <a:xfrm>
            <a:off x="2225675" y="3200400"/>
            <a:ext cx="539750" cy="0"/>
          </a:xfrm>
          <a:prstGeom prst="line">
            <a:avLst/>
          </a:prstGeom>
          <a:noFill/>
          <a:ln w="12700">
            <a:solidFill>
              <a:schemeClr val="tx1"/>
            </a:solidFill>
            <a:round/>
            <a:headEnd/>
            <a:tailEnd/>
          </a:ln>
          <a:effectLst/>
        </p:spPr>
        <p:txBody>
          <a:bodyPr wrap="none" anchor="ctr"/>
          <a:lstStyle/>
          <a:p>
            <a:endParaRPr lang="en-US"/>
          </a:p>
        </p:txBody>
      </p:sp>
      <p:sp>
        <p:nvSpPr>
          <p:cNvPr id="64" name="Line 11"/>
          <p:cNvSpPr>
            <a:spLocks noChangeShapeType="1"/>
          </p:cNvSpPr>
          <p:nvPr/>
        </p:nvSpPr>
        <p:spPr bwMode="auto">
          <a:xfrm>
            <a:off x="1701800" y="3200400"/>
            <a:ext cx="5905500" cy="0"/>
          </a:xfrm>
          <a:prstGeom prst="line">
            <a:avLst/>
          </a:prstGeom>
          <a:noFill/>
          <a:ln w="28575">
            <a:solidFill>
              <a:schemeClr val="tx1"/>
            </a:solidFill>
            <a:round/>
            <a:headEnd/>
            <a:tailEnd/>
          </a:ln>
          <a:effectLst/>
        </p:spPr>
        <p:txBody>
          <a:bodyPr wrap="none" anchor="ctr"/>
          <a:lstStyle/>
          <a:p>
            <a:endParaRPr lang="en-US"/>
          </a:p>
        </p:txBody>
      </p:sp>
      <p:sp>
        <p:nvSpPr>
          <p:cNvPr id="66" name="Text Box 13"/>
          <p:cNvSpPr txBox="1">
            <a:spLocks noChangeArrowheads="1"/>
          </p:cNvSpPr>
          <p:nvPr/>
        </p:nvSpPr>
        <p:spPr bwMode="auto">
          <a:xfrm>
            <a:off x="2798763" y="3282950"/>
            <a:ext cx="471487" cy="28416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defTabSz="762000">
              <a:lnSpc>
                <a:spcPct val="90000"/>
              </a:lnSpc>
              <a:spcBef>
                <a:spcPct val="50000"/>
              </a:spcBef>
              <a:spcAft>
                <a:spcPct val="0"/>
              </a:spcAft>
            </a:pPr>
            <a:r>
              <a:rPr lang="en-US" sz="1400" b="1" dirty="0" smtClean="0">
                <a:solidFill>
                  <a:schemeClr val="accent2"/>
                </a:solidFill>
                <a:effectLst/>
                <a:latin typeface="Helvetica" pitchFamily="34" charset="0"/>
              </a:rPr>
              <a:t>1</a:t>
            </a:r>
            <a:endParaRPr lang="en-US" sz="1400" b="1" dirty="0">
              <a:solidFill>
                <a:schemeClr val="accent2"/>
              </a:solidFill>
              <a:effectLst/>
              <a:latin typeface="Helvetica" pitchFamily="34" charset="0"/>
            </a:endParaRPr>
          </a:p>
        </p:txBody>
      </p:sp>
      <p:sp>
        <p:nvSpPr>
          <p:cNvPr id="67" name="Line 14"/>
          <p:cNvSpPr>
            <a:spLocks noChangeAspect="1" noChangeShapeType="1"/>
          </p:cNvSpPr>
          <p:nvPr/>
        </p:nvSpPr>
        <p:spPr bwMode="auto">
          <a:xfrm>
            <a:off x="3305175" y="3200400"/>
            <a:ext cx="0" cy="541338"/>
          </a:xfrm>
          <a:prstGeom prst="line">
            <a:avLst/>
          </a:prstGeom>
          <a:noFill/>
          <a:ln w="12700">
            <a:solidFill>
              <a:schemeClr val="tx1"/>
            </a:solidFill>
            <a:round/>
            <a:headEnd/>
            <a:tailEnd/>
          </a:ln>
          <a:effectLst/>
        </p:spPr>
        <p:txBody>
          <a:bodyPr wrap="none" anchor="ctr"/>
          <a:lstStyle/>
          <a:p>
            <a:endParaRPr lang="en-US"/>
          </a:p>
        </p:txBody>
      </p:sp>
      <p:sp>
        <p:nvSpPr>
          <p:cNvPr id="68" name="Line 15"/>
          <p:cNvSpPr>
            <a:spLocks noChangeAspect="1" noChangeShapeType="1"/>
          </p:cNvSpPr>
          <p:nvPr/>
        </p:nvSpPr>
        <p:spPr bwMode="auto">
          <a:xfrm>
            <a:off x="3846513" y="3200400"/>
            <a:ext cx="0" cy="541338"/>
          </a:xfrm>
          <a:prstGeom prst="line">
            <a:avLst/>
          </a:prstGeom>
          <a:noFill/>
          <a:ln w="12700">
            <a:solidFill>
              <a:schemeClr val="tx1"/>
            </a:solidFill>
            <a:round/>
            <a:headEnd/>
            <a:tailEnd/>
          </a:ln>
          <a:effectLst/>
        </p:spPr>
        <p:txBody>
          <a:bodyPr wrap="none" anchor="ctr"/>
          <a:lstStyle/>
          <a:p>
            <a:endParaRPr lang="en-US"/>
          </a:p>
        </p:txBody>
      </p:sp>
      <p:sp>
        <p:nvSpPr>
          <p:cNvPr id="69" name="Line 16"/>
          <p:cNvSpPr>
            <a:spLocks noChangeAspect="1" noChangeShapeType="1"/>
          </p:cNvSpPr>
          <p:nvPr/>
        </p:nvSpPr>
        <p:spPr bwMode="auto">
          <a:xfrm>
            <a:off x="4386263" y="3200400"/>
            <a:ext cx="0" cy="541338"/>
          </a:xfrm>
          <a:prstGeom prst="line">
            <a:avLst/>
          </a:prstGeom>
          <a:noFill/>
          <a:ln w="12700">
            <a:solidFill>
              <a:schemeClr val="tx1"/>
            </a:solidFill>
            <a:round/>
            <a:headEnd/>
            <a:tailEnd/>
          </a:ln>
          <a:effectLst/>
        </p:spPr>
        <p:txBody>
          <a:bodyPr wrap="none" anchor="ctr"/>
          <a:lstStyle/>
          <a:p>
            <a:endParaRPr lang="en-US"/>
          </a:p>
        </p:txBody>
      </p:sp>
      <p:sp>
        <p:nvSpPr>
          <p:cNvPr id="70" name="Line 17"/>
          <p:cNvSpPr>
            <a:spLocks noChangeAspect="1" noChangeShapeType="1"/>
          </p:cNvSpPr>
          <p:nvPr/>
        </p:nvSpPr>
        <p:spPr bwMode="auto">
          <a:xfrm>
            <a:off x="4926013" y="3200400"/>
            <a:ext cx="0" cy="541338"/>
          </a:xfrm>
          <a:prstGeom prst="line">
            <a:avLst/>
          </a:prstGeom>
          <a:noFill/>
          <a:ln w="12700">
            <a:solidFill>
              <a:schemeClr val="tx1"/>
            </a:solidFill>
            <a:round/>
            <a:headEnd/>
            <a:tailEnd/>
          </a:ln>
          <a:effectLst/>
        </p:spPr>
        <p:txBody>
          <a:bodyPr wrap="none" anchor="ctr"/>
          <a:lstStyle/>
          <a:p>
            <a:endParaRPr lang="en-US"/>
          </a:p>
        </p:txBody>
      </p:sp>
      <p:sp>
        <p:nvSpPr>
          <p:cNvPr id="71" name="Line 18"/>
          <p:cNvSpPr>
            <a:spLocks noChangeAspect="1" noChangeShapeType="1"/>
          </p:cNvSpPr>
          <p:nvPr/>
        </p:nvSpPr>
        <p:spPr bwMode="auto">
          <a:xfrm>
            <a:off x="5465763" y="3200400"/>
            <a:ext cx="0" cy="541338"/>
          </a:xfrm>
          <a:prstGeom prst="line">
            <a:avLst/>
          </a:prstGeom>
          <a:noFill/>
          <a:ln w="12700">
            <a:solidFill>
              <a:schemeClr val="tx1"/>
            </a:solidFill>
            <a:round/>
            <a:headEnd/>
            <a:tailEnd/>
          </a:ln>
          <a:effectLst/>
        </p:spPr>
        <p:txBody>
          <a:bodyPr wrap="none" anchor="ctr"/>
          <a:lstStyle/>
          <a:p>
            <a:endParaRPr lang="en-US"/>
          </a:p>
        </p:txBody>
      </p:sp>
      <p:sp>
        <p:nvSpPr>
          <p:cNvPr id="72" name="Line 19"/>
          <p:cNvSpPr>
            <a:spLocks noChangeAspect="1" noChangeShapeType="1"/>
          </p:cNvSpPr>
          <p:nvPr/>
        </p:nvSpPr>
        <p:spPr bwMode="auto">
          <a:xfrm>
            <a:off x="6005513" y="3200400"/>
            <a:ext cx="0" cy="541338"/>
          </a:xfrm>
          <a:prstGeom prst="line">
            <a:avLst/>
          </a:prstGeom>
          <a:noFill/>
          <a:ln w="12700">
            <a:solidFill>
              <a:schemeClr val="tx1"/>
            </a:solidFill>
            <a:round/>
            <a:headEnd/>
            <a:tailEnd/>
          </a:ln>
          <a:effectLst/>
        </p:spPr>
        <p:txBody>
          <a:bodyPr wrap="none" anchor="ctr"/>
          <a:lstStyle/>
          <a:p>
            <a:endParaRPr lang="en-US"/>
          </a:p>
        </p:txBody>
      </p:sp>
      <p:sp>
        <p:nvSpPr>
          <p:cNvPr id="73" name="Line 20"/>
          <p:cNvSpPr>
            <a:spLocks noChangeAspect="1" noChangeShapeType="1"/>
          </p:cNvSpPr>
          <p:nvPr/>
        </p:nvSpPr>
        <p:spPr bwMode="auto">
          <a:xfrm>
            <a:off x="6543675" y="3200400"/>
            <a:ext cx="0" cy="541338"/>
          </a:xfrm>
          <a:prstGeom prst="line">
            <a:avLst/>
          </a:prstGeom>
          <a:noFill/>
          <a:ln w="12700">
            <a:solidFill>
              <a:schemeClr val="tx1"/>
            </a:solidFill>
            <a:round/>
            <a:headEnd/>
            <a:tailEnd/>
          </a:ln>
          <a:effectLst/>
        </p:spPr>
        <p:txBody>
          <a:bodyPr wrap="none" anchor="ctr"/>
          <a:lstStyle/>
          <a:p>
            <a:endParaRPr lang="en-US"/>
          </a:p>
        </p:txBody>
      </p:sp>
      <p:sp>
        <p:nvSpPr>
          <p:cNvPr id="74" name="Text Box 21"/>
          <p:cNvSpPr txBox="1">
            <a:spLocks noChangeArrowheads="1"/>
          </p:cNvSpPr>
          <p:nvPr/>
        </p:nvSpPr>
        <p:spPr bwMode="auto">
          <a:xfrm>
            <a:off x="3336925" y="3282950"/>
            <a:ext cx="471488" cy="28416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defTabSz="762000">
              <a:lnSpc>
                <a:spcPct val="90000"/>
              </a:lnSpc>
              <a:spcBef>
                <a:spcPct val="50000"/>
              </a:spcBef>
              <a:spcAft>
                <a:spcPct val="0"/>
              </a:spcAft>
            </a:pPr>
            <a:r>
              <a:rPr lang="en-US" sz="1400" b="1" dirty="0">
                <a:solidFill>
                  <a:schemeClr val="accent2"/>
                </a:solidFill>
                <a:effectLst/>
                <a:latin typeface="Helvetica" pitchFamily="34" charset="0"/>
              </a:rPr>
              <a:t>1</a:t>
            </a:r>
          </a:p>
        </p:txBody>
      </p:sp>
      <p:sp>
        <p:nvSpPr>
          <p:cNvPr id="75" name="Text Box 22"/>
          <p:cNvSpPr txBox="1">
            <a:spLocks noChangeArrowheads="1"/>
          </p:cNvSpPr>
          <p:nvPr/>
        </p:nvSpPr>
        <p:spPr bwMode="auto">
          <a:xfrm>
            <a:off x="3876675" y="3282950"/>
            <a:ext cx="471488" cy="28416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defTabSz="762000">
              <a:lnSpc>
                <a:spcPct val="90000"/>
              </a:lnSpc>
              <a:spcBef>
                <a:spcPct val="50000"/>
              </a:spcBef>
              <a:spcAft>
                <a:spcPct val="0"/>
              </a:spcAft>
            </a:pPr>
            <a:r>
              <a:rPr lang="en-US" sz="1400" b="1" dirty="0">
                <a:solidFill>
                  <a:schemeClr val="accent2"/>
                </a:solidFill>
                <a:effectLst/>
                <a:latin typeface="Helvetica" pitchFamily="34" charset="0"/>
              </a:rPr>
              <a:t>1</a:t>
            </a:r>
          </a:p>
        </p:txBody>
      </p:sp>
      <p:sp>
        <p:nvSpPr>
          <p:cNvPr id="76" name="Text Box 23"/>
          <p:cNvSpPr txBox="1">
            <a:spLocks noChangeArrowheads="1"/>
          </p:cNvSpPr>
          <p:nvPr/>
        </p:nvSpPr>
        <p:spPr bwMode="auto">
          <a:xfrm>
            <a:off x="4416425" y="3282950"/>
            <a:ext cx="471488" cy="28416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defTabSz="762000">
              <a:lnSpc>
                <a:spcPct val="90000"/>
              </a:lnSpc>
              <a:spcBef>
                <a:spcPct val="50000"/>
              </a:spcBef>
              <a:spcAft>
                <a:spcPct val="0"/>
              </a:spcAft>
            </a:pPr>
            <a:r>
              <a:rPr lang="en-US" sz="1400" b="1" dirty="0">
                <a:solidFill>
                  <a:schemeClr val="accent2"/>
                </a:solidFill>
                <a:effectLst/>
                <a:latin typeface="Helvetica" pitchFamily="34" charset="0"/>
              </a:rPr>
              <a:t>1</a:t>
            </a:r>
          </a:p>
        </p:txBody>
      </p:sp>
      <p:sp>
        <p:nvSpPr>
          <p:cNvPr id="77" name="Text Box 24"/>
          <p:cNvSpPr txBox="1">
            <a:spLocks noChangeArrowheads="1"/>
          </p:cNvSpPr>
          <p:nvPr/>
        </p:nvSpPr>
        <p:spPr bwMode="auto">
          <a:xfrm>
            <a:off x="4956175" y="3282950"/>
            <a:ext cx="471488" cy="28416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defTabSz="762000">
              <a:lnSpc>
                <a:spcPct val="90000"/>
              </a:lnSpc>
              <a:spcBef>
                <a:spcPct val="50000"/>
              </a:spcBef>
              <a:spcAft>
                <a:spcPct val="0"/>
              </a:spcAft>
            </a:pPr>
            <a:r>
              <a:rPr lang="en-US" sz="1400" b="1" dirty="0">
                <a:solidFill>
                  <a:schemeClr val="accent2"/>
                </a:solidFill>
                <a:effectLst/>
                <a:latin typeface="Helvetica" pitchFamily="34" charset="0"/>
              </a:rPr>
              <a:t>1</a:t>
            </a:r>
          </a:p>
        </p:txBody>
      </p:sp>
      <p:sp>
        <p:nvSpPr>
          <p:cNvPr id="78" name="Text Box 25"/>
          <p:cNvSpPr txBox="1">
            <a:spLocks noChangeArrowheads="1"/>
          </p:cNvSpPr>
          <p:nvPr/>
        </p:nvSpPr>
        <p:spPr bwMode="auto">
          <a:xfrm>
            <a:off x="5495925" y="3282950"/>
            <a:ext cx="471488" cy="28416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defTabSz="762000">
              <a:lnSpc>
                <a:spcPct val="90000"/>
              </a:lnSpc>
              <a:spcBef>
                <a:spcPct val="50000"/>
              </a:spcBef>
              <a:spcAft>
                <a:spcPct val="0"/>
              </a:spcAft>
            </a:pPr>
            <a:r>
              <a:rPr lang="en-US" sz="1400" b="1">
                <a:solidFill>
                  <a:schemeClr val="accent2"/>
                </a:solidFill>
                <a:effectLst/>
                <a:latin typeface="Helvetica" pitchFamily="34" charset="0"/>
              </a:rPr>
              <a:t>1</a:t>
            </a:r>
          </a:p>
        </p:txBody>
      </p:sp>
      <p:sp>
        <p:nvSpPr>
          <p:cNvPr id="79" name="Text Box 26"/>
          <p:cNvSpPr txBox="1">
            <a:spLocks noChangeArrowheads="1"/>
          </p:cNvSpPr>
          <p:nvPr/>
        </p:nvSpPr>
        <p:spPr bwMode="auto">
          <a:xfrm>
            <a:off x="6037263" y="3282950"/>
            <a:ext cx="471487" cy="28416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defTabSz="762000">
              <a:lnSpc>
                <a:spcPct val="90000"/>
              </a:lnSpc>
              <a:spcBef>
                <a:spcPct val="50000"/>
              </a:spcBef>
              <a:spcAft>
                <a:spcPct val="0"/>
              </a:spcAft>
            </a:pPr>
            <a:r>
              <a:rPr lang="en-US" sz="1400" b="1">
                <a:solidFill>
                  <a:schemeClr val="accent2"/>
                </a:solidFill>
                <a:effectLst/>
                <a:latin typeface="Helvetica" pitchFamily="34" charset="0"/>
              </a:rPr>
              <a:t>1</a:t>
            </a:r>
          </a:p>
        </p:txBody>
      </p:sp>
      <p:sp>
        <p:nvSpPr>
          <p:cNvPr id="81" name="Text Box 43"/>
          <p:cNvSpPr txBox="1">
            <a:spLocks noChangeArrowheads="1"/>
          </p:cNvSpPr>
          <p:nvPr/>
        </p:nvSpPr>
        <p:spPr bwMode="auto">
          <a:xfrm>
            <a:off x="6553200" y="3352800"/>
            <a:ext cx="1111202" cy="307777"/>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dirty="0" smtClean="0">
                <a:effectLst/>
                <a:latin typeface="Helvetica" pitchFamily="34" charset="0"/>
              </a:rPr>
              <a:t>Inter frame</a:t>
            </a:r>
            <a:endParaRPr lang="en-US" sz="1400" b="1" dirty="0">
              <a:effectLst/>
              <a:latin typeface="Helvetica" pitchFamily="34" charset="0"/>
            </a:endParaRPr>
          </a:p>
        </p:txBody>
      </p:sp>
      <p:sp>
        <p:nvSpPr>
          <p:cNvPr id="82" name="Text Box 44"/>
          <p:cNvSpPr txBox="1">
            <a:spLocks noChangeArrowheads="1"/>
          </p:cNvSpPr>
          <p:nvPr/>
        </p:nvSpPr>
        <p:spPr bwMode="auto">
          <a:xfrm>
            <a:off x="1752600" y="3352800"/>
            <a:ext cx="1025525" cy="304800"/>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dirty="0">
                <a:effectLst/>
                <a:latin typeface="Helvetica" pitchFamily="34" charset="0"/>
              </a:rPr>
              <a:t>ACK Field</a:t>
            </a:r>
          </a:p>
        </p:txBody>
      </p:sp>
      <p:sp>
        <p:nvSpPr>
          <p:cNvPr id="83" name="AutoShape 46"/>
          <p:cNvSpPr>
            <a:spLocks noChangeArrowheads="1"/>
          </p:cNvSpPr>
          <p:nvPr/>
        </p:nvSpPr>
        <p:spPr bwMode="auto">
          <a:xfrm>
            <a:off x="4416425" y="1905000"/>
            <a:ext cx="2276475" cy="990600"/>
          </a:xfrm>
          <a:prstGeom prst="cloudCallout">
            <a:avLst>
              <a:gd name="adj1" fmla="val -43722"/>
              <a:gd name="adj2" fmla="val 66986"/>
            </a:avLst>
          </a:prstGeom>
          <a:noFill/>
          <a:ln w="9525">
            <a:solidFill>
              <a:schemeClr val="tx1"/>
            </a:solidFill>
            <a:round/>
            <a:headEnd/>
            <a:tailEnd/>
          </a:ln>
          <a:effectLst/>
        </p:spPr>
        <p:txBody>
          <a:bodyPr wrap="none" anchor="ctr"/>
          <a:lstStyle/>
          <a:p>
            <a:pPr>
              <a:spcBef>
                <a:spcPct val="0"/>
              </a:spcBef>
              <a:spcAft>
                <a:spcPct val="0"/>
              </a:spcAft>
            </a:pPr>
            <a:endParaRPr lang="en-US" sz="2400" b="1">
              <a:effectLst/>
            </a:endParaRPr>
          </a:p>
        </p:txBody>
      </p:sp>
      <p:sp>
        <p:nvSpPr>
          <p:cNvPr id="84" name="Text Box 47"/>
          <p:cNvSpPr txBox="1">
            <a:spLocks noChangeArrowheads="1"/>
          </p:cNvSpPr>
          <p:nvPr/>
        </p:nvSpPr>
        <p:spPr bwMode="auto">
          <a:xfrm>
            <a:off x="4887913" y="2106613"/>
            <a:ext cx="1500187" cy="582612"/>
          </a:xfrm>
          <a:prstGeom prst="rect">
            <a:avLst/>
          </a:prstGeom>
          <a:noFill/>
          <a:ln w="12700">
            <a:noFill/>
            <a:miter lim="800000"/>
            <a:headEnd/>
            <a:tailEnd/>
          </a:ln>
          <a:effectLst/>
        </p:spPr>
        <p:txBody>
          <a:bodyPr>
            <a:spAutoFit/>
          </a:bodyPr>
          <a:lstStyle/>
          <a:p>
            <a:pPr algn="l" defTabSz="762000">
              <a:lnSpc>
                <a:spcPct val="90000"/>
              </a:lnSpc>
              <a:spcBef>
                <a:spcPct val="50000"/>
              </a:spcBef>
              <a:spcAft>
                <a:spcPct val="0"/>
              </a:spcAft>
            </a:pPr>
            <a:r>
              <a:rPr lang="en-US" sz="1400" b="1" dirty="0">
                <a:solidFill>
                  <a:srgbClr val="FF0000"/>
                </a:solidFill>
                <a:effectLst>
                  <a:outerShdw blurRad="38100" dist="38100" dir="2700000" algn="tl">
                    <a:srgbClr val="C0C0C0"/>
                  </a:outerShdw>
                </a:effectLst>
                <a:latin typeface="Helvetica" pitchFamily="34" charset="0"/>
              </a:rPr>
              <a:t>End Of Frame </a:t>
            </a:r>
          </a:p>
          <a:p>
            <a:pPr algn="l" defTabSz="762000">
              <a:lnSpc>
                <a:spcPct val="90000"/>
              </a:lnSpc>
              <a:spcBef>
                <a:spcPct val="50000"/>
              </a:spcBef>
              <a:spcAft>
                <a:spcPct val="0"/>
              </a:spcAft>
            </a:pPr>
            <a:r>
              <a:rPr lang="en-US" sz="1400" b="1" dirty="0">
                <a:solidFill>
                  <a:srgbClr val="FF0000"/>
                </a:solidFill>
                <a:effectLst>
                  <a:outerShdw blurRad="38100" dist="38100" dir="2700000" algn="tl">
                    <a:srgbClr val="C0C0C0"/>
                  </a:outerShdw>
                </a:effectLst>
                <a:latin typeface="Helvetica" pitchFamily="34" charset="0"/>
              </a:rPr>
              <a:t>(EOF) Field</a:t>
            </a:r>
            <a:endParaRPr lang="en-US" sz="2400" b="1" dirty="0">
              <a:solidFill>
                <a:srgbClr val="FF0000"/>
              </a:solidFill>
              <a:effectLst>
                <a:outerShdw blurRad="38100" dist="38100" dir="2700000" algn="tl">
                  <a:srgbClr val="C0C0C0"/>
                </a:outerShdw>
              </a:effectLst>
              <a:latin typeface="Helvetica"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dissolve">
                                      <p:cBhvr>
                                        <p:cTn id="7" dur="500"/>
                                        <p:tgtEl>
                                          <p:spTgt spid="8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dissolve">
                                      <p:cBhvr>
                                        <p:cTn id="12"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autoUpdateAnimBg="0"/>
      <p:bldP spid="84"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Frames</a:t>
            </a:r>
            <a:endParaRPr lang="en-US" dirty="0"/>
          </a:p>
        </p:txBody>
      </p:sp>
      <p:sp>
        <p:nvSpPr>
          <p:cNvPr id="3" name="Content Placeholder 2"/>
          <p:cNvSpPr>
            <a:spLocks noGrp="1"/>
          </p:cNvSpPr>
          <p:nvPr>
            <p:ph idx="1"/>
          </p:nvPr>
        </p:nvSpPr>
        <p:spPr/>
        <p:txBody>
          <a:bodyPr/>
          <a:lstStyle/>
          <a:p>
            <a:pPr>
              <a:buNone/>
            </a:pPr>
            <a:r>
              <a:rPr lang="en-US" dirty="0" smtClean="0"/>
              <a:t> </a:t>
            </a:r>
            <a:endParaRPr lang="en-US" dirty="0"/>
          </a:p>
        </p:txBody>
      </p:sp>
      <p:grpSp>
        <p:nvGrpSpPr>
          <p:cNvPr id="4" name="Group 16"/>
          <p:cNvGrpSpPr>
            <a:grpSpLocks/>
          </p:cNvGrpSpPr>
          <p:nvPr/>
        </p:nvGrpSpPr>
        <p:grpSpPr bwMode="auto">
          <a:xfrm>
            <a:off x="3886200" y="1905000"/>
            <a:ext cx="1477108" cy="1295400"/>
            <a:chOff x="2640" y="1152"/>
            <a:chExt cx="1008" cy="816"/>
          </a:xfrm>
        </p:grpSpPr>
        <p:sp>
          <p:nvSpPr>
            <p:cNvPr id="5" name="Oval 7"/>
            <p:cNvSpPr>
              <a:spLocks noChangeArrowheads="1"/>
            </p:cNvSpPr>
            <p:nvPr/>
          </p:nvSpPr>
          <p:spPr bwMode="auto">
            <a:xfrm>
              <a:off x="2640" y="1152"/>
              <a:ext cx="1008" cy="816"/>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flatTx/>
            </a:bodyPr>
            <a:lstStyle/>
            <a:p>
              <a:endParaRPr lang="en-US"/>
            </a:p>
          </p:txBody>
        </p:sp>
        <p:sp>
          <p:nvSpPr>
            <p:cNvPr id="6" name="Text Box 8"/>
            <p:cNvSpPr txBox="1">
              <a:spLocks noChangeArrowheads="1"/>
            </p:cNvSpPr>
            <p:nvPr/>
          </p:nvSpPr>
          <p:spPr bwMode="auto">
            <a:xfrm>
              <a:off x="2832" y="1344"/>
              <a:ext cx="686" cy="407"/>
            </a:xfrm>
            <a:prstGeom prst="rect">
              <a:avLst/>
            </a:prstGeom>
            <a:noFill/>
            <a:ln w="9525">
              <a:noFill/>
              <a:miter lim="800000"/>
              <a:headEnd/>
              <a:tailEnd/>
            </a:ln>
            <a:effectLst/>
          </p:spPr>
          <p:txBody>
            <a:bodyPr wrap="none">
              <a:spAutoFit/>
            </a:bodyPr>
            <a:lstStyle/>
            <a:p>
              <a:pPr algn="l">
                <a:spcBef>
                  <a:spcPct val="0"/>
                </a:spcBef>
                <a:spcAft>
                  <a:spcPct val="0"/>
                </a:spcAft>
              </a:pPr>
              <a:r>
                <a:rPr lang="en-US" sz="1800" b="1">
                  <a:solidFill>
                    <a:srgbClr val="FFFF66"/>
                  </a:solidFill>
                  <a:effectLst/>
                </a:rPr>
                <a:t>REMOTE</a:t>
              </a:r>
            </a:p>
            <a:p>
              <a:pPr algn="l">
                <a:spcBef>
                  <a:spcPct val="0"/>
                </a:spcBef>
                <a:spcAft>
                  <a:spcPct val="0"/>
                </a:spcAft>
              </a:pPr>
              <a:r>
                <a:rPr lang="en-US" sz="1800" b="1">
                  <a:solidFill>
                    <a:srgbClr val="FFFF66"/>
                  </a:solidFill>
                  <a:effectLst/>
                </a:rPr>
                <a:t>FRAME</a:t>
              </a:r>
              <a:endParaRPr lang="en-US" sz="2400" b="1">
                <a:effectLst/>
              </a:endParaRPr>
            </a:p>
          </p:txBody>
        </p:sp>
      </p:grpSp>
      <p:grpSp>
        <p:nvGrpSpPr>
          <p:cNvPr id="7" name="Group 16"/>
          <p:cNvGrpSpPr>
            <a:grpSpLocks/>
          </p:cNvGrpSpPr>
          <p:nvPr/>
        </p:nvGrpSpPr>
        <p:grpSpPr bwMode="auto">
          <a:xfrm>
            <a:off x="1524000" y="1905000"/>
            <a:ext cx="1477108" cy="1295400"/>
            <a:chOff x="936" y="1152"/>
            <a:chExt cx="1008" cy="816"/>
          </a:xfrm>
        </p:grpSpPr>
        <p:sp>
          <p:nvSpPr>
            <p:cNvPr id="8" name="Oval 7"/>
            <p:cNvSpPr>
              <a:spLocks noChangeArrowheads="1"/>
            </p:cNvSpPr>
            <p:nvPr/>
          </p:nvSpPr>
          <p:spPr bwMode="auto">
            <a:xfrm>
              <a:off x="936" y="1152"/>
              <a:ext cx="1008" cy="816"/>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flatTx/>
            </a:bodyPr>
            <a:lstStyle/>
            <a:p>
              <a:endParaRPr lang="en-US"/>
            </a:p>
          </p:txBody>
        </p:sp>
        <p:sp>
          <p:nvSpPr>
            <p:cNvPr id="9" name="Text Box 8"/>
            <p:cNvSpPr txBox="1">
              <a:spLocks noChangeArrowheads="1"/>
            </p:cNvSpPr>
            <p:nvPr/>
          </p:nvSpPr>
          <p:spPr bwMode="auto">
            <a:xfrm>
              <a:off x="1092" y="1344"/>
              <a:ext cx="609" cy="407"/>
            </a:xfrm>
            <a:prstGeom prst="rect">
              <a:avLst/>
            </a:prstGeom>
            <a:noFill/>
            <a:ln w="9525">
              <a:noFill/>
              <a:miter lim="800000"/>
              <a:headEnd/>
              <a:tailEnd/>
            </a:ln>
            <a:effectLst/>
          </p:spPr>
          <p:txBody>
            <a:bodyPr wrap="none">
              <a:spAutoFit/>
            </a:bodyPr>
            <a:lstStyle/>
            <a:p>
              <a:pPr algn="l">
                <a:spcBef>
                  <a:spcPct val="0"/>
                </a:spcBef>
                <a:spcAft>
                  <a:spcPct val="0"/>
                </a:spcAft>
              </a:pPr>
              <a:r>
                <a:rPr lang="en-US" b="1" dirty="0" smtClean="0">
                  <a:solidFill>
                    <a:srgbClr val="FFFF66"/>
                  </a:solidFill>
                </a:rPr>
                <a:t>DATA</a:t>
              </a:r>
              <a:endParaRPr lang="en-US" sz="1800" b="1" dirty="0">
                <a:solidFill>
                  <a:srgbClr val="FFFF66"/>
                </a:solidFill>
                <a:effectLst/>
              </a:endParaRPr>
            </a:p>
            <a:p>
              <a:pPr algn="l">
                <a:spcBef>
                  <a:spcPct val="0"/>
                </a:spcBef>
                <a:spcAft>
                  <a:spcPct val="0"/>
                </a:spcAft>
              </a:pPr>
              <a:r>
                <a:rPr lang="en-US" sz="1800" b="1" dirty="0">
                  <a:solidFill>
                    <a:srgbClr val="FFFF66"/>
                  </a:solidFill>
                  <a:effectLst/>
                </a:rPr>
                <a:t>FRAME</a:t>
              </a:r>
              <a:endParaRPr lang="en-US" sz="2400" b="1" dirty="0">
                <a:effectLst/>
              </a:endParaRPr>
            </a:p>
          </p:txBody>
        </p:sp>
      </p:grpSp>
      <p:grpSp>
        <p:nvGrpSpPr>
          <p:cNvPr id="10" name="Group 16"/>
          <p:cNvGrpSpPr>
            <a:grpSpLocks/>
          </p:cNvGrpSpPr>
          <p:nvPr/>
        </p:nvGrpSpPr>
        <p:grpSpPr bwMode="auto">
          <a:xfrm>
            <a:off x="6477000" y="1981200"/>
            <a:ext cx="1477108" cy="1295400"/>
            <a:chOff x="936" y="1152"/>
            <a:chExt cx="1008" cy="816"/>
          </a:xfrm>
        </p:grpSpPr>
        <p:sp>
          <p:nvSpPr>
            <p:cNvPr id="11" name="Oval 7"/>
            <p:cNvSpPr>
              <a:spLocks noChangeArrowheads="1"/>
            </p:cNvSpPr>
            <p:nvPr/>
          </p:nvSpPr>
          <p:spPr bwMode="auto">
            <a:xfrm>
              <a:off x="936" y="1152"/>
              <a:ext cx="1008" cy="816"/>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flatTx/>
            </a:bodyPr>
            <a:lstStyle/>
            <a:p>
              <a:endParaRPr lang="en-US"/>
            </a:p>
          </p:txBody>
        </p:sp>
        <p:sp>
          <p:nvSpPr>
            <p:cNvPr id="12" name="Text Box 8"/>
            <p:cNvSpPr txBox="1">
              <a:spLocks noChangeArrowheads="1"/>
            </p:cNvSpPr>
            <p:nvPr/>
          </p:nvSpPr>
          <p:spPr bwMode="auto">
            <a:xfrm>
              <a:off x="1092" y="1344"/>
              <a:ext cx="609" cy="407"/>
            </a:xfrm>
            <a:prstGeom prst="rect">
              <a:avLst/>
            </a:prstGeom>
            <a:noFill/>
            <a:ln w="9525">
              <a:noFill/>
              <a:miter lim="800000"/>
              <a:headEnd/>
              <a:tailEnd/>
            </a:ln>
            <a:effectLst/>
          </p:spPr>
          <p:txBody>
            <a:bodyPr wrap="none">
              <a:spAutoFit/>
            </a:bodyPr>
            <a:lstStyle/>
            <a:p>
              <a:pPr algn="l">
                <a:spcBef>
                  <a:spcPct val="0"/>
                </a:spcBef>
                <a:spcAft>
                  <a:spcPct val="0"/>
                </a:spcAft>
              </a:pPr>
              <a:r>
                <a:rPr lang="en-US" b="1" dirty="0" smtClean="0">
                  <a:solidFill>
                    <a:srgbClr val="FFFF66"/>
                  </a:solidFill>
                </a:rPr>
                <a:t>ERROR</a:t>
              </a:r>
              <a:endParaRPr lang="en-US" sz="1800" b="1" dirty="0">
                <a:solidFill>
                  <a:srgbClr val="FFFF66"/>
                </a:solidFill>
                <a:effectLst/>
              </a:endParaRPr>
            </a:p>
            <a:p>
              <a:pPr algn="l">
                <a:spcBef>
                  <a:spcPct val="0"/>
                </a:spcBef>
                <a:spcAft>
                  <a:spcPct val="0"/>
                </a:spcAft>
              </a:pPr>
              <a:r>
                <a:rPr lang="en-US" sz="1800" b="1" dirty="0">
                  <a:solidFill>
                    <a:srgbClr val="FFFF66"/>
                  </a:solidFill>
                  <a:effectLst/>
                </a:rPr>
                <a:t>FRAME</a:t>
              </a:r>
              <a:endParaRPr lang="en-US" sz="2400" b="1" dirty="0">
                <a:effectLst/>
              </a:endParaRPr>
            </a:p>
          </p:txBody>
        </p:sp>
      </p:grpSp>
      <p:grpSp>
        <p:nvGrpSpPr>
          <p:cNvPr id="13" name="Group 16"/>
          <p:cNvGrpSpPr>
            <a:grpSpLocks/>
          </p:cNvGrpSpPr>
          <p:nvPr/>
        </p:nvGrpSpPr>
        <p:grpSpPr bwMode="auto">
          <a:xfrm>
            <a:off x="1676400" y="3733800"/>
            <a:ext cx="1477108" cy="1295400"/>
            <a:chOff x="936" y="1152"/>
            <a:chExt cx="1008" cy="816"/>
          </a:xfrm>
        </p:grpSpPr>
        <p:sp>
          <p:nvSpPr>
            <p:cNvPr id="14" name="Oval 7"/>
            <p:cNvSpPr>
              <a:spLocks noChangeArrowheads="1"/>
            </p:cNvSpPr>
            <p:nvPr/>
          </p:nvSpPr>
          <p:spPr bwMode="auto">
            <a:xfrm>
              <a:off x="936" y="1152"/>
              <a:ext cx="1008" cy="816"/>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flatTx/>
            </a:bodyPr>
            <a:lstStyle/>
            <a:p>
              <a:endParaRPr lang="en-US"/>
            </a:p>
          </p:txBody>
        </p:sp>
        <p:sp>
          <p:nvSpPr>
            <p:cNvPr id="15" name="Text Box 8"/>
            <p:cNvSpPr txBox="1">
              <a:spLocks noChangeArrowheads="1"/>
            </p:cNvSpPr>
            <p:nvPr/>
          </p:nvSpPr>
          <p:spPr bwMode="auto">
            <a:xfrm>
              <a:off x="988" y="1344"/>
              <a:ext cx="850" cy="407"/>
            </a:xfrm>
            <a:prstGeom prst="rect">
              <a:avLst/>
            </a:prstGeom>
            <a:noFill/>
            <a:ln w="9525">
              <a:noFill/>
              <a:miter lim="800000"/>
              <a:headEnd/>
              <a:tailEnd/>
            </a:ln>
            <a:effectLst/>
          </p:spPr>
          <p:txBody>
            <a:bodyPr wrap="none">
              <a:spAutoFit/>
            </a:bodyPr>
            <a:lstStyle/>
            <a:p>
              <a:pPr algn="l">
                <a:spcBef>
                  <a:spcPct val="0"/>
                </a:spcBef>
                <a:spcAft>
                  <a:spcPct val="0"/>
                </a:spcAft>
              </a:pPr>
              <a:r>
                <a:rPr lang="en-US" b="1" dirty="0" smtClean="0">
                  <a:solidFill>
                    <a:srgbClr val="FFFF66"/>
                  </a:solidFill>
                </a:rPr>
                <a:t>OVERLOAD</a:t>
              </a:r>
              <a:endParaRPr lang="en-US" sz="1800" b="1" dirty="0">
                <a:solidFill>
                  <a:srgbClr val="FFFF66"/>
                </a:solidFill>
                <a:effectLst/>
              </a:endParaRPr>
            </a:p>
            <a:p>
              <a:pPr algn="l">
                <a:spcBef>
                  <a:spcPct val="0"/>
                </a:spcBef>
                <a:spcAft>
                  <a:spcPct val="0"/>
                </a:spcAft>
              </a:pPr>
              <a:r>
                <a:rPr lang="en-US" sz="1800" b="1" dirty="0">
                  <a:solidFill>
                    <a:srgbClr val="FFFF66"/>
                  </a:solidFill>
                  <a:effectLst/>
                </a:rPr>
                <a:t>FRAME</a:t>
              </a:r>
              <a:endParaRPr lang="en-US" sz="2400" b="1" dirty="0">
                <a:effectLst/>
              </a:endParaRPr>
            </a:p>
          </p:txBody>
        </p:sp>
      </p:grpSp>
      <p:grpSp>
        <p:nvGrpSpPr>
          <p:cNvPr id="16" name="Group 16"/>
          <p:cNvGrpSpPr>
            <a:grpSpLocks/>
          </p:cNvGrpSpPr>
          <p:nvPr/>
        </p:nvGrpSpPr>
        <p:grpSpPr bwMode="auto">
          <a:xfrm>
            <a:off x="3886200" y="3810000"/>
            <a:ext cx="1477107" cy="1295400"/>
            <a:chOff x="936" y="1152"/>
            <a:chExt cx="1008" cy="816"/>
          </a:xfrm>
        </p:grpSpPr>
        <p:sp>
          <p:nvSpPr>
            <p:cNvPr id="17" name="Oval 7"/>
            <p:cNvSpPr>
              <a:spLocks noChangeArrowheads="1"/>
            </p:cNvSpPr>
            <p:nvPr/>
          </p:nvSpPr>
          <p:spPr bwMode="auto">
            <a:xfrm>
              <a:off x="936" y="1152"/>
              <a:ext cx="1008" cy="816"/>
            </a:xfrm>
            <a:prstGeom prst="ellipse">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flatTx/>
            </a:bodyPr>
            <a:lstStyle/>
            <a:p>
              <a:endParaRPr lang="en-US"/>
            </a:p>
          </p:txBody>
        </p:sp>
        <p:sp>
          <p:nvSpPr>
            <p:cNvPr id="18" name="Text Box 8"/>
            <p:cNvSpPr txBox="1">
              <a:spLocks noChangeArrowheads="1"/>
            </p:cNvSpPr>
            <p:nvPr/>
          </p:nvSpPr>
          <p:spPr bwMode="auto">
            <a:xfrm>
              <a:off x="1144" y="1296"/>
              <a:ext cx="633" cy="582"/>
            </a:xfrm>
            <a:prstGeom prst="rect">
              <a:avLst/>
            </a:prstGeom>
            <a:noFill/>
            <a:ln w="9525">
              <a:noFill/>
              <a:miter lim="800000"/>
              <a:headEnd/>
              <a:tailEnd/>
            </a:ln>
            <a:effectLst/>
          </p:spPr>
          <p:txBody>
            <a:bodyPr wrap="none">
              <a:spAutoFit/>
            </a:bodyPr>
            <a:lstStyle/>
            <a:p>
              <a:pPr algn="l">
                <a:spcBef>
                  <a:spcPct val="0"/>
                </a:spcBef>
                <a:spcAft>
                  <a:spcPct val="0"/>
                </a:spcAft>
              </a:pPr>
              <a:r>
                <a:rPr lang="en-US" b="1" dirty="0" smtClean="0">
                  <a:solidFill>
                    <a:srgbClr val="FFFF66"/>
                  </a:solidFill>
                </a:rPr>
                <a:t>INTER</a:t>
              </a:r>
              <a:endParaRPr lang="en-US" sz="1800" b="1" dirty="0">
                <a:solidFill>
                  <a:srgbClr val="FFFF66"/>
                </a:solidFill>
                <a:effectLst/>
              </a:endParaRPr>
            </a:p>
            <a:p>
              <a:pPr algn="l">
                <a:spcBef>
                  <a:spcPct val="0"/>
                </a:spcBef>
                <a:spcAft>
                  <a:spcPct val="0"/>
                </a:spcAft>
              </a:pPr>
              <a:r>
                <a:rPr lang="en-US" sz="1800" b="1" dirty="0" smtClean="0">
                  <a:solidFill>
                    <a:srgbClr val="FFFF66"/>
                  </a:solidFill>
                  <a:effectLst/>
                </a:rPr>
                <a:t>FRAME </a:t>
              </a:r>
            </a:p>
            <a:p>
              <a:pPr algn="l">
                <a:spcBef>
                  <a:spcPct val="0"/>
                </a:spcBef>
                <a:spcAft>
                  <a:spcPct val="0"/>
                </a:spcAft>
              </a:pPr>
              <a:r>
                <a:rPr lang="en-US" sz="1800" b="1" dirty="0" smtClean="0">
                  <a:solidFill>
                    <a:srgbClr val="FFFF66"/>
                  </a:solidFill>
                  <a:effectLst/>
                </a:rPr>
                <a:t>SPACE</a:t>
              </a:r>
              <a:endParaRPr lang="en-US" sz="2400" b="1" dirty="0">
                <a:effectLst/>
              </a:endParaRP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Frame</a:t>
            </a:r>
            <a:endParaRPr lang="en-US" dirty="0"/>
          </a:p>
        </p:txBody>
      </p:sp>
      <p:pic>
        <p:nvPicPr>
          <p:cNvPr id="4" name="Content Placeholder 3" descr="dataframe.JPG"/>
          <p:cNvPicPr>
            <a:picLocks noGrp="1" noChangeAspect="1"/>
          </p:cNvPicPr>
          <p:nvPr>
            <p:ph idx="1"/>
          </p:nvPr>
        </p:nvPicPr>
        <p:blipFill>
          <a:blip r:embed="rId3" cstate="print"/>
          <a:stretch>
            <a:fillRect/>
          </a:stretch>
        </p:blipFill>
        <p:spPr>
          <a:xfrm>
            <a:off x="1095418" y="1752601"/>
            <a:ext cx="6905581" cy="3906044"/>
          </a:xfrm>
        </p:spPr>
      </p:pic>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Remote Frame</a:t>
            </a:r>
            <a:endParaRPr lang="en-US" dirty="0"/>
          </a:p>
        </p:txBody>
      </p:sp>
      <p:pic>
        <p:nvPicPr>
          <p:cNvPr id="4" name="Content Placeholder 3" descr="remote frame.JPG"/>
          <p:cNvPicPr>
            <a:picLocks noGrp="1" noChangeAspect="1"/>
          </p:cNvPicPr>
          <p:nvPr>
            <p:ph idx="1"/>
          </p:nvPr>
        </p:nvPicPr>
        <p:blipFill>
          <a:blip r:embed="rId3" cstate="print"/>
          <a:stretch>
            <a:fillRect/>
          </a:stretch>
        </p:blipFill>
        <p:spPr>
          <a:xfrm>
            <a:off x="1600200" y="1676400"/>
            <a:ext cx="6096000" cy="3733800"/>
          </a:xfrm>
        </p:spPr>
      </p:pic>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Remote Frame</a:t>
            </a:r>
            <a:endParaRPr lang="en-US" dirty="0"/>
          </a:p>
        </p:txBody>
      </p:sp>
      <p:sp>
        <p:nvSpPr>
          <p:cNvPr id="3" name="Content Placeholder 2"/>
          <p:cNvSpPr>
            <a:spLocks noGrp="1"/>
          </p:cNvSpPr>
          <p:nvPr>
            <p:ph idx="1"/>
          </p:nvPr>
        </p:nvSpPr>
        <p:spPr/>
        <p:txBody>
          <a:bodyPr/>
          <a:lstStyle/>
          <a:p>
            <a:r>
              <a:rPr lang="en-US" dirty="0" smtClean="0"/>
              <a:t>For certain data, in order to initiate transmission, a receiver node can send remote data.</a:t>
            </a:r>
          </a:p>
          <a:p>
            <a:r>
              <a:rPr lang="en-US" dirty="0" smtClean="0"/>
              <a:t>There are two things to note here</a:t>
            </a:r>
          </a:p>
          <a:p>
            <a:pPr marL="514350" indent="-514350">
              <a:buFont typeface="+mj-lt"/>
              <a:buAutoNum type="arabicPeriod"/>
            </a:pPr>
            <a:r>
              <a:rPr lang="en-US" dirty="0" smtClean="0"/>
              <a:t>There is no data field.</a:t>
            </a:r>
          </a:p>
          <a:p>
            <a:pPr marL="514350" indent="-514350">
              <a:buFont typeface="+mj-lt"/>
              <a:buAutoNum type="arabicPeriod"/>
            </a:pPr>
            <a:r>
              <a:rPr lang="en-US" dirty="0" smtClean="0"/>
              <a:t>The RTR bit is recessive.</a:t>
            </a:r>
          </a:p>
          <a:p>
            <a:pPr marL="514350" indent="-514350">
              <a:buNone/>
            </a:pPr>
            <a:r>
              <a:rPr lang="en-US" dirty="0" smtClean="0"/>
              <a:t>Note that, it is independent of the DLC.</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Frame</a:t>
            </a:r>
            <a:endParaRPr lang="en-US" dirty="0"/>
          </a:p>
        </p:txBody>
      </p:sp>
      <p:sp>
        <p:nvSpPr>
          <p:cNvPr id="3" name="Content Placeholder 2"/>
          <p:cNvSpPr>
            <a:spLocks noGrp="1"/>
          </p:cNvSpPr>
          <p:nvPr>
            <p:ph idx="1"/>
          </p:nvPr>
        </p:nvSpPr>
        <p:spPr/>
        <p:txBody>
          <a:bodyPr/>
          <a:lstStyle/>
          <a:p>
            <a:r>
              <a:rPr lang="en-US" dirty="0" smtClean="0"/>
              <a:t>When an error is detected error frame is sent.</a:t>
            </a:r>
          </a:p>
          <a:p>
            <a:r>
              <a:rPr lang="en-US" dirty="0" smtClean="0"/>
              <a:t>This leads to the different types of errors.</a:t>
            </a:r>
          </a:p>
          <a:p>
            <a:pPr>
              <a:buNone/>
            </a:pPr>
            <a:r>
              <a:rPr lang="en-US" dirty="0" smtClean="0"/>
              <a:t>Types of error</a:t>
            </a:r>
          </a:p>
          <a:p>
            <a:r>
              <a:rPr lang="en-US" b="1" dirty="0" smtClean="0"/>
              <a:t> </a:t>
            </a:r>
            <a:r>
              <a:rPr lang="en-US" dirty="0" smtClean="0"/>
              <a:t>There are five types of error are there in CAN and are listed below. </a:t>
            </a:r>
          </a:p>
          <a:p>
            <a:r>
              <a:rPr lang="en-US" dirty="0" smtClean="0"/>
              <a:t>And in case, any one of these error is observed the error frame is transmitted.</a:t>
            </a:r>
          </a:p>
          <a:p>
            <a:endParaRPr lang="en-US" dirty="0"/>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a:bodyPr>
          <a:lstStyle/>
          <a:p>
            <a:r>
              <a:rPr lang="en-US" dirty="0"/>
              <a:t> </a:t>
            </a:r>
            <a:r>
              <a:rPr lang="en-US" sz="2000" dirty="0" smtClean="0">
                <a:solidFill>
                  <a:srgbClr val="FF0000"/>
                </a:solidFill>
              </a:rPr>
              <a:t>Bit </a:t>
            </a:r>
            <a:r>
              <a:rPr lang="en-US" sz="2000" dirty="0">
                <a:solidFill>
                  <a:srgbClr val="FF0000"/>
                </a:solidFill>
              </a:rPr>
              <a:t>error: </a:t>
            </a:r>
            <a:r>
              <a:rPr lang="en-US" sz="2000" dirty="0"/>
              <a:t>During transmission the node transmits the bit at transmit time region and receives the bit at receive time and two bits are compared if they are not equal then that is considered as bit error.</a:t>
            </a:r>
          </a:p>
          <a:p>
            <a:r>
              <a:rPr lang="en-US" sz="2000" dirty="0" smtClean="0">
                <a:solidFill>
                  <a:srgbClr val="FF0000"/>
                </a:solidFill>
              </a:rPr>
              <a:t>Stuff </a:t>
            </a:r>
            <a:r>
              <a:rPr lang="en-US" sz="2000" dirty="0">
                <a:solidFill>
                  <a:srgbClr val="FF0000"/>
                </a:solidFill>
              </a:rPr>
              <a:t>error:</a:t>
            </a:r>
            <a:r>
              <a:rPr lang="en-US" sz="2000" dirty="0"/>
              <a:t> In a frame if continuous 5 recessive or dominant bits are transmitted, the sixth bit should be of opposite to that. </a:t>
            </a:r>
            <a:endParaRPr lang="en-US" sz="2000" dirty="0" smtClean="0"/>
          </a:p>
          <a:p>
            <a:r>
              <a:rPr lang="en-US" sz="2000" dirty="0" smtClean="0"/>
              <a:t>While </a:t>
            </a:r>
            <a:r>
              <a:rPr lang="en-US" sz="2000" dirty="0"/>
              <a:t>receiving if continuous 5 recessive or dominant bits are received then the next incoming bit is of same value that of previous then it will be considered as stuff error</a:t>
            </a:r>
            <a:r>
              <a:rPr lang="en-US" sz="2000" dirty="0" smtClean="0"/>
              <a:t>. </a:t>
            </a:r>
          </a:p>
          <a:p>
            <a:r>
              <a:rPr lang="en-US" sz="2000" dirty="0" smtClean="0"/>
              <a:t>Bit Stuffing rule does not apply to CRC delimiter, ACK field and EOF. These fields are fixed.</a:t>
            </a:r>
            <a:endParaRPr lang="en-US" sz="2000" dirty="0"/>
          </a:p>
          <a:p>
            <a:endParaRPr lang="en-US" dirty="0"/>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 Stuff and NRZ Coding</a:t>
            </a:r>
            <a:endParaRPr lang="en-US" dirty="0"/>
          </a:p>
        </p:txBody>
      </p:sp>
      <p:sp>
        <p:nvSpPr>
          <p:cNvPr id="3" name="Content Placeholder 2"/>
          <p:cNvSpPr>
            <a:spLocks noGrp="1"/>
          </p:cNvSpPr>
          <p:nvPr>
            <p:ph idx="1"/>
          </p:nvPr>
        </p:nvSpPr>
        <p:spPr/>
        <p:txBody>
          <a:bodyPr/>
          <a:lstStyle/>
          <a:p>
            <a:r>
              <a:rPr lang="en-US" dirty="0" smtClean="0"/>
              <a:t>Bit stream is coded according to NRZ Coding</a:t>
            </a:r>
          </a:p>
          <a:p>
            <a:endParaRPr lang="en-US" dirty="0"/>
          </a:p>
        </p:txBody>
      </p:sp>
      <p:pic>
        <p:nvPicPr>
          <p:cNvPr id="4" name="Picture 3" descr="nrz.JPG"/>
          <p:cNvPicPr>
            <a:picLocks noChangeAspect="1"/>
          </p:cNvPicPr>
          <p:nvPr/>
        </p:nvPicPr>
        <p:blipFill>
          <a:blip r:embed="rId2" cstate="print"/>
          <a:stretch>
            <a:fillRect/>
          </a:stretch>
        </p:blipFill>
        <p:spPr>
          <a:xfrm>
            <a:off x="381000" y="1828800"/>
            <a:ext cx="8382000" cy="307181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 Stuffing- Example</a:t>
            </a:r>
            <a:endParaRPr lang="en-US" dirty="0"/>
          </a:p>
        </p:txBody>
      </p:sp>
      <p:pic>
        <p:nvPicPr>
          <p:cNvPr id="4" name="Content Placeholder 3" descr="nrzcodindex.JPG"/>
          <p:cNvPicPr>
            <a:picLocks noGrp="1" noChangeAspect="1"/>
          </p:cNvPicPr>
          <p:nvPr>
            <p:ph idx="1"/>
          </p:nvPr>
        </p:nvPicPr>
        <p:blipFill>
          <a:blip r:embed="rId2" cstate="print"/>
          <a:stretch>
            <a:fillRect/>
          </a:stretch>
        </p:blipFill>
        <p:spPr>
          <a:xfrm>
            <a:off x="395288" y="1490149"/>
            <a:ext cx="8353425" cy="4238065"/>
          </a:xfr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Errors</a:t>
            </a:r>
            <a:endParaRPr lang="en-US" dirty="0"/>
          </a:p>
        </p:txBody>
      </p:sp>
      <p:sp>
        <p:nvSpPr>
          <p:cNvPr id="3" name="Content Placeholder 2"/>
          <p:cNvSpPr>
            <a:spLocks noGrp="1"/>
          </p:cNvSpPr>
          <p:nvPr>
            <p:ph idx="1"/>
          </p:nvPr>
        </p:nvSpPr>
        <p:spPr/>
        <p:txBody>
          <a:bodyPr/>
          <a:lstStyle/>
          <a:p>
            <a:r>
              <a:rPr lang="en-US" dirty="0" smtClean="0">
                <a:solidFill>
                  <a:srgbClr val="FF0000"/>
                </a:solidFill>
              </a:rPr>
              <a:t>CRC error: </a:t>
            </a:r>
            <a:r>
              <a:rPr lang="en-US" dirty="0" smtClean="0"/>
              <a:t>While receiving data or remote frame the CRC value will be calculated and is compared with the received CRC values. </a:t>
            </a:r>
          </a:p>
          <a:p>
            <a:r>
              <a:rPr lang="en-US" dirty="0" smtClean="0"/>
              <a:t>In case of proper frame transmission both will be equal. Else that will be considered as CRC error and error frame will be transmitted.</a:t>
            </a:r>
          </a:p>
          <a:p>
            <a:r>
              <a:rPr lang="en-US" dirty="0" smtClean="0">
                <a:solidFill>
                  <a:srgbClr val="FF0000"/>
                </a:solidFill>
              </a:rPr>
              <a:t>Form error:</a:t>
            </a:r>
            <a:r>
              <a:rPr lang="en-US" dirty="0" smtClean="0"/>
              <a:t> Form error will be related to the error in forming the frame. </a:t>
            </a:r>
          </a:p>
          <a:p>
            <a:r>
              <a:rPr lang="en-US" dirty="0" smtClean="0"/>
              <a:t>For e.g. delimiter (CRC, ACK) missing or improper end of frame, these conditions are taken as form error and immediately error frame is transmitted. </a:t>
            </a:r>
          </a:p>
          <a:p>
            <a:r>
              <a:rPr lang="en-US" dirty="0" smtClean="0">
                <a:solidFill>
                  <a:srgbClr val="FF0000"/>
                </a:solidFill>
              </a:rPr>
              <a:t>Acknowledgement error:</a:t>
            </a:r>
            <a:r>
              <a:rPr lang="en-US" b="1" dirty="0" smtClean="0"/>
              <a:t> </a:t>
            </a:r>
            <a:r>
              <a:rPr lang="en-US" dirty="0" smtClean="0"/>
              <a:t>During the transmission of data</a:t>
            </a:r>
            <a:r>
              <a:rPr lang="en-US" b="1" dirty="0" smtClean="0"/>
              <a:t> </a:t>
            </a:r>
            <a:r>
              <a:rPr lang="en-US" dirty="0" smtClean="0"/>
              <a:t>or remote frame, in the ACK flag field the transmitter will put recessive bit and expect dominant bit from receive pin. </a:t>
            </a:r>
          </a:p>
          <a:p>
            <a:r>
              <a:rPr lang="en-US" dirty="0" smtClean="0"/>
              <a:t>If dominant bit is observed then that is considered as proper transmission. In other case it is acknowledgement error. </a:t>
            </a:r>
          </a:p>
          <a:p>
            <a:r>
              <a:rPr lang="en-US" dirty="0" smtClean="0"/>
              <a:t>The error frame is transmitted if acknowledgment error is observed.</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Frame</a:t>
            </a:r>
            <a:endParaRPr lang="en-US" dirty="0"/>
          </a:p>
        </p:txBody>
      </p:sp>
      <p:pic>
        <p:nvPicPr>
          <p:cNvPr id="4" name="Content Placeholder 3" descr="error frame1.JPG"/>
          <p:cNvPicPr>
            <a:picLocks noGrp="1" noChangeAspect="1"/>
          </p:cNvPicPr>
          <p:nvPr>
            <p:ph idx="1"/>
          </p:nvPr>
        </p:nvPicPr>
        <p:blipFill>
          <a:blip r:embed="rId3" cstate="print"/>
          <a:stretch>
            <a:fillRect/>
          </a:stretch>
        </p:blipFill>
        <p:spPr>
          <a:xfrm>
            <a:off x="2057400" y="1447800"/>
            <a:ext cx="4772025" cy="1866900"/>
          </a:xfrm>
        </p:spPr>
      </p:pic>
      <p:sp>
        <p:nvSpPr>
          <p:cNvPr id="5" name="Title 1"/>
          <p:cNvSpPr txBox="1">
            <a:spLocks/>
          </p:cNvSpPr>
          <p:nvPr/>
        </p:nvSpPr>
        <p:spPr>
          <a:xfrm>
            <a:off x="381000" y="3505200"/>
            <a:ext cx="8229600" cy="2895600"/>
          </a:xfrm>
          <a:prstGeom prst="rect">
            <a:avLst/>
          </a:prstGeom>
        </p:spPr>
        <p:txBody>
          <a:bodyPr vert="horz" lIns="91440" tIns="45720" rIns="91440" bIns="45720" rtlCol="0" anchor="ctr">
            <a:normAutofit/>
          </a:bodyPr>
          <a:lstStyle/>
          <a:p>
            <a:pPr lvl="0">
              <a:spcBef>
                <a:spcPct val="0"/>
              </a:spcBef>
              <a:buFont typeface="Arial" pitchFamily="34" charset="0"/>
              <a:buChar char="•"/>
            </a:pPr>
            <a:r>
              <a:rPr lang="en-US" dirty="0" smtClean="0"/>
              <a:t>The ERROR FRAME consists of two different fields. Error Flag and Error Delimiter.</a:t>
            </a:r>
          </a:p>
          <a:p>
            <a:pPr lvl="0">
              <a:spcBef>
                <a:spcPct val="0"/>
              </a:spcBef>
              <a:buFont typeface="Arial" pitchFamily="34" charset="0"/>
              <a:buChar char="•"/>
            </a:pPr>
            <a:r>
              <a:rPr kumimoji="0" lang="en-US" b="0" i="0" u="none" strike="noStrike" kern="1200" cap="none" spc="0" normalizeH="0" baseline="0" noProof="0" dirty="0" smtClean="0">
                <a:ln>
                  <a:noFill/>
                </a:ln>
                <a:solidFill>
                  <a:schemeClr val="tx1"/>
                </a:solidFill>
                <a:effectLst/>
                <a:uLnTx/>
                <a:uFillTx/>
                <a:latin typeface="+mj-lt"/>
                <a:ea typeface="+mj-ea"/>
                <a:cs typeface="+mj-cs"/>
              </a:rPr>
              <a:t>There</a:t>
            </a:r>
            <a:r>
              <a:rPr kumimoji="0" lang="en-US" b="0" i="0" u="none" strike="noStrike" kern="1200" cap="none" spc="0" normalizeH="0" noProof="0" dirty="0" smtClean="0">
                <a:ln>
                  <a:noFill/>
                </a:ln>
                <a:solidFill>
                  <a:schemeClr val="tx1"/>
                </a:solidFill>
                <a:effectLst/>
                <a:uLnTx/>
                <a:uFillTx/>
                <a:latin typeface="+mj-lt"/>
                <a:ea typeface="+mj-ea"/>
                <a:cs typeface="+mj-cs"/>
              </a:rPr>
              <a:t> are two forms of error flag: Active Error Flag (6 consecutive dominant flags) and Passive Error Flag(6 consecutive recessive flags).</a:t>
            </a:r>
          </a:p>
          <a:p>
            <a:pPr lvl="0">
              <a:spcBef>
                <a:spcPct val="0"/>
              </a:spcBef>
              <a:buFont typeface="Arial" pitchFamily="34" charset="0"/>
              <a:buChar char="•"/>
            </a:pPr>
            <a:r>
              <a:rPr lang="en-US" baseline="0" dirty="0" smtClean="0">
                <a:latin typeface="+mj-lt"/>
                <a:ea typeface="+mj-ea"/>
                <a:cs typeface="+mj-cs"/>
              </a:rPr>
              <a:t>So when six 0’s/1’s are</a:t>
            </a:r>
            <a:r>
              <a:rPr lang="en-US" dirty="0" smtClean="0">
                <a:latin typeface="+mj-lt"/>
                <a:ea typeface="+mj-ea"/>
                <a:cs typeface="+mj-cs"/>
              </a:rPr>
              <a:t> being transmitted, it violates bit stuffing rule and as a consequence all the nodes will send a error flag. Error flag can vary from 6 to 12 bits.</a:t>
            </a:r>
          </a:p>
          <a:p>
            <a:pPr lvl="0">
              <a:spcBef>
                <a:spcPct val="0"/>
              </a:spcBef>
              <a:buFont typeface="Arial" pitchFamily="34" charset="0"/>
              <a:buChar char="•"/>
            </a:pPr>
            <a:r>
              <a:rPr lang="en-US" dirty="0" smtClean="0"/>
              <a:t>After transmission of an ERROR FLAG each station sends recessive bits and monitors the bus until it detects a recessive bit. Afterwards it starts transmitting seven more recessive bits.</a:t>
            </a:r>
            <a:endParaRPr kumimoji="0" lang="en-US" b="0" i="0" u="none" strike="noStrike" kern="1200" cap="none" spc="0" normalizeH="0" baseline="0" noProof="0" dirty="0" smtClean="0">
              <a:ln>
                <a:noFill/>
              </a:ln>
              <a:solidFill>
                <a:schemeClr val="tx1"/>
              </a:solidFill>
              <a:effectLst/>
              <a:uLnTx/>
              <a:uFillTx/>
              <a:latin typeface="+mj-lt"/>
              <a:ea typeface="+mj-ea"/>
              <a:cs typeface="+mj-cs"/>
            </a:endParaRPr>
          </a:p>
        </p:txBody>
      </p:sp>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Overload Frame</a:t>
            </a:r>
            <a:endParaRPr lang="en-US" dirty="0"/>
          </a:p>
        </p:txBody>
      </p:sp>
      <p:sp>
        <p:nvSpPr>
          <p:cNvPr id="3" name="Content Placeholder 2"/>
          <p:cNvSpPr>
            <a:spLocks noGrp="1"/>
          </p:cNvSpPr>
          <p:nvPr>
            <p:ph idx="1"/>
          </p:nvPr>
        </p:nvSpPr>
        <p:spPr/>
        <p:txBody>
          <a:bodyPr>
            <a:normAutofit lnSpcReduction="10000"/>
          </a:bodyPr>
          <a:lstStyle/>
          <a:p>
            <a:r>
              <a:rPr lang="en-US" sz="2400" dirty="0" smtClean="0"/>
              <a:t>Overload frames are sent when the receiver is not able to receive frames and requires delay.</a:t>
            </a:r>
          </a:p>
          <a:p>
            <a:r>
              <a:rPr lang="en-US" sz="2400" dirty="0" smtClean="0"/>
              <a:t>Originally </a:t>
            </a:r>
            <a:r>
              <a:rPr lang="en-US" sz="2400" dirty="0"/>
              <a:t>introduced to gain more time for processing the received data, today no CAN controller sends them actively. </a:t>
            </a:r>
            <a:endParaRPr lang="en-US" sz="2400" dirty="0" smtClean="0"/>
          </a:p>
          <a:p>
            <a:r>
              <a:rPr lang="en-US" sz="2400" dirty="0" smtClean="0"/>
              <a:t>All </a:t>
            </a:r>
            <a:r>
              <a:rPr lang="en-US" sz="2400" dirty="0"/>
              <a:t>CAN controllers are fast enough to store the received data. </a:t>
            </a:r>
            <a:endParaRPr lang="en-US" sz="2400" dirty="0" smtClean="0"/>
          </a:p>
          <a:p>
            <a:r>
              <a:rPr lang="en-US" sz="2400" dirty="0" smtClean="0"/>
              <a:t>Nevertheless</a:t>
            </a:r>
            <a:r>
              <a:rPr lang="en-US" sz="2400" dirty="0"/>
              <a:t>, the CAN protocols specify some conditions where an Overload Frame needs to be transmitted. </a:t>
            </a:r>
            <a:endParaRPr lang="en-US" sz="2400" dirty="0" smtClean="0"/>
          </a:p>
          <a:p>
            <a:r>
              <a:rPr lang="en-US" sz="2400" dirty="0" smtClean="0"/>
              <a:t>It </a:t>
            </a:r>
            <a:r>
              <a:rPr lang="en-US" sz="2400" dirty="0"/>
              <a:t>has the same structure and format as an active Error Flag. </a:t>
            </a:r>
            <a:endParaRPr lang="en-US" sz="2400" dirty="0" smtClean="0"/>
          </a:p>
          <a:p>
            <a:r>
              <a:rPr lang="en-US" sz="2400" dirty="0" smtClean="0"/>
              <a:t>However</a:t>
            </a:r>
            <a:r>
              <a:rPr lang="en-US" sz="2400" dirty="0"/>
              <a:t>, it doesn’t cause an increase of the error counters or an automatic retransmission of the </a:t>
            </a:r>
            <a:r>
              <a:rPr lang="en-US" sz="2400" dirty="0" smtClean="0"/>
              <a:t>message.</a:t>
            </a:r>
            <a:endParaRPr lang="en-US" sz="2400" dirty="0"/>
          </a:p>
        </p:txBody>
      </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Overload Frame</a:t>
            </a:r>
            <a:endParaRPr lang="en-US" dirty="0"/>
          </a:p>
        </p:txBody>
      </p:sp>
      <p:pic>
        <p:nvPicPr>
          <p:cNvPr id="4" name="Content Placeholder 3" descr="overloadframe.JPG"/>
          <p:cNvPicPr>
            <a:picLocks noGrp="1" noChangeAspect="1"/>
          </p:cNvPicPr>
          <p:nvPr>
            <p:ph idx="1"/>
          </p:nvPr>
        </p:nvPicPr>
        <p:blipFill>
          <a:blip r:embed="rId3" cstate="print"/>
          <a:stretch>
            <a:fillRect/>
          </a:stretch>
        </p:blipFill>
        <p:spPr>
          <a:xfrm>
            <a:off x="1447800" y="1676400"/>
            <a:ext cx="6644556" cy="2391569"/>
          </a:xfrm>
          <a:prstGeom prst="rect">
            <a:avLst/>
          </a:prstGeom>
        </p:spPr>
      </p:pic>
      <p:sp>
        <p:nvSpPr>
          <p:cNvPr id="5" name="Title 1"/>
          <p:cNvSpPr txBox="1">
            <a:spLocks/>
          </p:cNvSpPr>
          <p:nvPr/>
        </p:nvSpPr>
        <p:spPr>
          <a:xfrm>
            <a:off x="457200" y="4191000"/>
            <a:ext cx="8229600" cy="22860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 typeface="Arial" pitchFamily="34" charset="0"/>
              <a:buChar char="•"/>
              <a:tabLst/>
              <a:defRPr/>
            </a:pPr>
            <a:r>
              <a:rPr lang="en-US" sz="2000" dirty="0">
                <a:latin typeface="+mj-lt"/>
                <a:ea typeface="+mj-ea"/>
                <a:cs typeface="+mj-cs"/>
              </a:rPr>
              <a:t> </a:t>
            </a:r>
            <a:r>
              <a:rPr lang="en-US" sz="2000" dirty="0" smtClean="0">
                <a:latin typeface="+mj-lt"/>
                <a:ea typeface="+mj-ea"/>
                <a:cs typeface="+mj-cs"/>
              </a:rPr>
              <a:t>A overload frame is received during the inter frame space and the error   frame is received during the actual CAN frame. Moreover it does not </a:t>
            </a:r>
            <a:r>
              <a:rPr lang="en-US" sz="2000" dirty="0" err="1" smtClean="0">
                <a:latin typeface="+mj-lt"/>
                <a:ea typeface="+mj-ea"/>
                <a:cs typeface="+mj-cs"/>
              </a:rPr>
              <a:t>increse</a:t>
            </a:r>
            <a:r>
              <a:rPr lang="en-US" sz="2000" dirty="0" smtClean="0">
                <a:latin typeface="+mj-lt"/>
                <a:ea typeface="+mj-ea"/>
                <a:cs typeface="+mj-cs"/>
              </a:rPr>
              <a:t> the TEC/REC count This is how the CAN controller distinguishes between an error frame and an overload frame.</a:t>
            </a:r>
          </a:p>
          <a:p>
            <a:pPr marL="0" marR="0" lvl="0" indent="0" defTabSz="914400" rtl="0" eaLnBrk="1" fontAlgn="auto" latinLnBrk="0" hangingPunct="1">
              <a:lnSpc>
                <a:spcPct val="100000"/>
              </a:lnSpc>
              <a:spcBef>
                <a:spcPct val="0"/>
              </a:spcBef>
              <a:spcAft>
                <a:spcPts val="0"/>
              </a:spcAft>
              <a:buClrTx/>
              <a:buSzTx/>
              <a:buFont typeface="Arial" pitchFamily="34" charset="0"/>
              <a:buChar char="•"/>
              <a:tabLst/>
              <a:defRPr/>
            </a:pPr>
            <a:r>
              <a:rPr lang="en-US" sz="2000" dirty="0" smtClean="0">
                <a:latin typeface="+mj-lt"/>
                <a:ea typeface="+mj-ea"/>
                <a:cs typeface="+mj-cs"/>
              </a:rPr>
              <a:t>  It consists of overload flag(dominant 6 bits) and overload delimiter (recessive 8 bits).</a:t>
            </a:r>
            <a:endParaRPr kumimoji="0" lang="en-US" sz="2000" b="0" i="0" u="none" strike="noStrike" kern="1200" cap="none" spc="0" normalizeH="0" baseline="0" noProof="0" dirty="0" smtClean="0">
              <a:ln>
                <a:noFill/>
              </a:ln>
              <a:solidFill>
                <a:schemeClr val="tx1"/>
              </a:solidFill>
              <a:effectLst/>
              <a:uLnTx/>
              <a:uFillTx/>
              <a:latin typeface="+mj-lt"/>
              <a:ea typeface="+mj-ea"/>
              <a:cs typeface="+mj-cs"/>
            </a:endParaRPr>
          </a:p>
        </p:txBody>
      </p:sp>
    </p:spTree>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 Frame Space</a:t>
            </a:r>
            <a:endParaRPr lang="en-US" dirty="0"/>
          </a:p>
        </p:txBody>
      </p:sp>
      <p:sp>
        <p:nvSpPr>
          <p:cNvPr id="3" name="Content Placeholder 2"/>
          <p:cNvSpPr>
            <a:spLocks noGrp="1"/>
          </p:cNvSpPr>
          <p:nvPr>
            <p:ph idx="1"/>
          </p:nvPr>
        </p:nvSpPr>
        <p:spPr/>
        <p:txBody>
          <a:bodyPr/>
          <a:lstStyle/>
          <a:p>
            <a:r>
              <a:rPr lang="en-US" dirty="0" smtClean="0"/>
              <a:t>Preceding frames are separated from each other with Inter frame spaces.</a:t>
            </a:r>
          </a:p>
          <a:p>
            <a:r>
              <a:rPr lang="en-US" dirty="0" smtClean="0"/>
              <a:t>OVERLOAD FRAMEs and ERROR FRAMEs are not preceded by an INTERFRAME SPACE and multiple OVERLOAD FRAMEs are not separated by an INTERFRAME SPACE.</a:t>
            </a:r>
          </a:p>
          <a:p>
            <a:endParaRPr lang="en-US" dirty="0"/>
          </a:p>
        </p:txBody>
      </p:sp>
    </p:spTree>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 frame Space</a:t>
            </a:r>
            <a:endParaRPr lang="en-US" dirty="0"/>
          </a:p>
        </p:txBody>
      </p:sp>
      <p:pic>
        <p:nvPicPr>
          <p:cNvPr id="4" name="Content Placeholder 3" descr="ifs.JPG"/>
          <p:cNvPicPr>
            <a:picLocks noGrp="1" noChangeAspect="1"/>
          </p:cNvPicPr>
          <p:nvPr>
            <p:ph idx="1"/>
          </p:nvPr>
        </p:nvPicPr>
        <p:blipFill>
          <a:blip r:embed="rId3" cstate="print"/>
          <a:stretch>
            <a:fillRect/>
          </a:stretch>
        </p:blipFill>
        <p:spPr>
          <a:xfrm>
            <a:off x="1553067" y="1341438"/>
            <a:ext cx="6037867" cy="4535487"/>
          </a:xfrm>
        </p:spPr>
      </p:pic>
    </p:spTree>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 frame Space</a:t>
            </a:r>
            <a:endParaRPr lang="en-US" dirty="0"/>
          </a:p>
        </p:txBody>
      </p:sp>
      <p:sp>
        <p:nvSpPr>
          <p:cNvPr id="3" name="Content Placeholder 2"/>
          <p:cNvSpPr>
            <a:spLocks noGrp="1"/>
          </p:cNvSpPr>
          <p:nvPr>
            <p:ph idx="1"/>
          </p:nvPr>
        </p:nvSpPr>
        <p:spPr/>
        <p:txBody>
          <a:bodyPr/>
          <a:lstStyle/>
          <a:p>
            <a:r>
              <a:rPr lang="en-US" dirty="0" smtClean="0"/>
              <a:t>Intermission- During this time, no nodes are allowed to transmit.</a:t>
            </a:r>
          </a:p>
          <a:p>
            <a:r>
              <a:rPr lang="en-US" dirty="0" smtClean="0"/>
              <a:t>Bus Idle- Bus idle is a arbitrary period till a node starts to transmit.</a:t>
            </a:r>
          </a:p>
          <a:p>
            <a:r>
              <a:rPr lang="en-US" dirty="0" smtClean="0"/>
              <a:t>Suspend Transmission- After a error passive message is transmitted, the corresponding node sends 8 recessive bits followed by Intermission.</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Fault Confinement</a:t>
            </a:r>
            <a:endParaRPr lang="en-US" dirty="0"/>
          </a:p>
        </p:txBody>
      </p:sp>
      <p:sp>
        <p:nvSpPr>
          <p:cNvPr id="3" name="Content Placeholder 2"/>
          <p:cNvSpPr>
            <a:spLocks noGrp="1"/>
          </p:cNvSpPr>
          <p:nvPr>
            <p:ph idx="1"/>
          </p:nvPr>
        </p:nvSpPr>
        <p:spPr>
          <a:xfrm>
            <a:off x="457200" y="1295400"/>
            <a:ext cx="8229600" cy="4830763"/>
          </a:xfrm>
        </p:spPr>
        <p:txBody>
          <a:bodyPr>
            <a:normAutofit/>
          </a:bodyPr>
          <a:lstStyle/>
          <a:p>
            <a:r>
              <a:rPr lang="en-US" dirty="0" smtClean="0"/>
              <a:t>For fault confinement two counts are implemented in every bus unit:</a:t>
            </a:r>
          </a:p>
          <a:p>
            <a:pPr marL="514350" indent="-514350">
              <a:buFont typeface="+mj-lt"/>
              <a:buAutoNum type="arabicPeriod"/>
            </a:pPr>
            <a:r>
              <a:rPr lang="en-US" dirty="0" smtClean="0"/>
              <a:t> TRANSMIT ERROR COUNT :When a TRANSMITTER sends an ERROR FLAG the TRANSMIT ERROR COUNT is increased by 8.</a:t>
            </a:r>
          </a:p>
          <a:p>
            <a:pPr marL="514350" indent="-514350">
              <a:buFont typeface="+mj-lt"/>
              <a:buAutoNum type="arabicPeriod"/>
            </a:pPr>
            <a:r>
              <a:rPr lang="en-US" dirty="0" smtClean="0"/>
              <a:t> RECEIVE ERROR COUNT : When a RECEIVER detects an error, the RECEIVE ERROR COUNT will be increased by 1.</a:t>
            </a:r>
          </a:p>
          <a:p>
            <a:pPr marL="514350" indent="-514350">
              <a:buFont typeface="+mj-lt"/>
              <a:buAutoNum type="arabicPeriod"/>
            </a:pPr>
            <a:r>
              <a:rPr lang="en-US" dirty="0" smtClean="0"/>
              <a:t>If a RECEIVER detects a bit error after sending a active error flag or an overload flag, the RECEIVE ERROR COUNT will be increased by 8.</a:t>
            </a:r>
          </a:p>
          <a:p>
            <a:pPr marL="514350" indent="-514350">
              <a:buFont typeface="+mj-lt"/>
              <a:buAutoNum type="arabicPeriod"/>
            </a:pP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Fault Confinement</a:t>
            </a:r>
            <a:endParaRPr lang="en-US" dirty="0"/>
          </a:p>
        </p:txBody>
      </p:sp>
      <p:sp>
        <p:nvSpPr>
          <p:cNvPr id="3" name="Content Placeholder 2"/>
          <p:cNvSpPr>
            <a:spLocks noGrp="1"/>
          </p:cNvSpPr>
          <p:nvPr>
            <p:ph idx="1"/>
          </p:nvPr>
        </p:nvSpPr>
        <p:spPr/>
        <p:txBody>
          <a:bodyPr>
            <a:normAutofit/>
          </a:bodyPr>
          <a:lstStyle/>
          <a:p>
            <a:r>
              <a:rPr lang="en-US" dirty="0" smtClean="0"/>
              <a:t>A node can have three states.</a:t>
            </a:r>
          </a:p>
          <a:p>
            <a:pPr marL="514350" indent="-514350">
              <a:buFont typeface="+mj-lt"/>
              <a:buAutoNum type="arabicPeriod"/>
            </a:pPr>
            <a:r>
              <a:rPr lang="en-US" dirty="0" smtClean="0"/>
              <a:t>Error active</a:t>
            </a:r>
          </a:p>
          <a:p>
            <a:pPr marL="514350" indent="-514350">
              <a:buFont typeface="+mj-lt"/>
              <a:buAutoNum type="arabicPeriod"/>
            </a:pPr>
            <a:r>
              <a:rPr lang="en-US" dirty="0" smtClean="0"/>
              <a:t>Error Passive</a:t>
            </a:r>
          </a:p>
          <a:p>
            <a:pPr marL="514350" indent="-514350">
              <a:buFont typeface="+mj-lt"/>
              <a:buAutoNum type="arabicPeriod"/>
            </a:pPr>
            <a:r>
              <a:rPr lang="en-US" dirty="0" smtClean="0"/>
              <a:t>Bus off</a:t>
            </a:r>
          </a:p>
          <a:p>
            <a:pPr marL="514350" indent="-514350"/>
            <a:r>
              <a:rPr lang="en-US" dirty="0" smtClean="0"/>
              <a:t>Let's assume that whenever node-A (for example) on a bus tries to transmit a message, it fails (for whatever reason). </a:t>
            </a:r>
          </a:p>
          <a:p>
            <a:pPr marL="514350" indent="-514350"/>
            <a:r>
              <a:rPr lang="en-US" dirty="0" smtClean="0"/>
              <a:t>Each time this happens, it increases its Transmit Error Counter by 8 and transmits an Active Error Flag. Then it will attempt to retransmit the message and suppose the same thing happens again. </a:t>
            </a:r>
          </a:p>
          <a:p>
            <a:pPr marL="514350" indent="-514350"/>
            <a:r>
              <a:rPr lang="en-US" dirty="0" smtClean="0"/>
              <a:t>When the Transmit Error Counter rises above 127 (i.e. after 16 attempts), node A goes Error Passive. It will now transmit passive error flags on the bus. </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lnSpcReduction="10000"/>
          </a:bodyPr>
          <a:lstStyle/>
          <a:p>
            <a:r>
              <a:rPr lang="en-US" dirty="0" smtClean="0"/>
              <a:t>A Passive Error Flag comprises 6 recessive bits, and will not destroy other bus traffic - so the other nodes will not hear the node-A complaining about bus errors. </a:t>
            </a:r>
          </a:p>
          <a:p>
            <a:r>
              <a:rPr lang="en-US" dirty="0" smtClean="0"/>
              <a:t>However, A continues to increase its TEC. When it rises above 255, node-A finally stops and goes to "Bus Off" state. </a:t>
            </a:r>
          </a:p>
          <a:p>
            <a:r>
              <a:rPr lang="en-US" dirty="0" smtClean="0"/>
              <a:t>For every active error flag that A transmitted, the other nodes will increase their Receive Error Counters by 1. By the time that A goes Bus Off, the other nodes will have a count in their Receive Error Counters that is well below the limit for Error Passive, i.e. 127. </a:t>
            </a:r>
          </a:p>
          <a:p>
            <a:r>
              <a:rPr lang="en-US" dirty="0" smtClean="0"/>
              <a:t>This count will decrease by one for every correctly received message. However, node A will stay bus off.</a:t>
            </a:r>
          </a:p>
          <a:p>
            <a:r>
              <a:rPr lang="en-US" dirty="0" smtClean="0"/>
              <a:t>The TEC will decrease by 1 for every correctly transmitted message. When this count reduces below 127, it sets the node to send active error flag.</a:t>
            </a:r>
          </a:p>
          <a:p>
            <a:r>
              <a:rPr lang="en-US" dirty="0" smtClean="0"/>
              <a:t>A bus-off node can become error active node after 128 occurrence of 11 recessive bits that is monitored on the bus. </a:t>
            </a:r>
          </a:p>
          <a:p>
            <a:r>
              <a:rPr lang="en-US" dirty="0" smtClean="0"/>
              <a:t>Note: Most CAN controllers will provide status bits and corresponding interrupts for two states: "Error Warning" (for one or both error counters are above 96) and "Bus Off".</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Fault Confinement</a:t>
            </a:r>
            <a:endParaRPr lang="en-US" dirty="0"/>
          </a:p>
        </p:txBody>
      </p:sp>
      <p:pic>
        <p:nvPicPr>
          <p:cNvPr id="4" name="Content Placeholder 3" descr="errorpro.JPG"/>
          <p:cNvPicPr>
            <a:picLocks noGrp="1" noChangeAspect="1"/>
          </p:cNvPicPr>
          <p:nvPr>
            <p:ph idx="1"/>
          </p:nvPr>
        </p:nvPicPr>
        <p:blipFill>
          <a:blip r:embed="rId2" cstate="print"/>
          <a:stretch>
            <a:fillRect/>
          </a:stretch>
        </p:blipFill>
        <p:spPr>
          <a:xfrm>
            <a:off x="543586" y="1341438"/>
            <a:ext cx="8056828" cy="4535487"/>
          </a:xfr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 Timing Requirements</a:t>
            </a:r>
            <a:endParaRPr lang="en-US" dirty="0"/>
          </a:p>
        </p:txBody>
      </p:sp>
      <p:sp>
        <p:nvSpPr>
          <p:cNvPr id="3" name="Content Placeholder 2"/>
          <p:cNvSpPr>
            <a:spLocks noGrp="1"/>
          </p:cNvSpPr>
          <p:nvPr>
            <p:ph idx="1"/>
          </p:nvPr>
        </p:nvSpPr>
        <p:spPr/>
        <p:txBody>
          <a:bodyPr/>
          <a:lstStyle/>
          <a:p>
            <a:r>
              <a:rPr lang="en-US" dirty="0" smtClean="0"/>
              <a:t>Each bit in a CAN message frame is made up of four non- over </a:t>
            </a:r>
            <a:r>
              <a:rPr lang="en-US" dirty="0" err="1" smtClean="0"/>
              <a:t>laping</a:t>
            </a:r>
            <a:r>
              <a:rPr lang="en-US" dirty="0" smtClean="0"/>
              <a:t> time segments.</a:t>
            </a:r>
          </a:p>
          <a:p>
            <a:r>
              <a:rPr lang="en-US" dirty="0" smtClean="0"/>
              <a:t>They are:</a:t>
            </a:r>
          </a:p>
          <a:p>
            <a:pPr marL="342900" indent="-342900">
              <a:buFont typeface="+mj-lt"/>
              <a:buAutoNum type="arabicPeriod"/>
            </a:pPr>
            <a:r>
              <a:rPr lang="en-US" dirty="0" smtClean="0"/>
              <a:t>Synchronization Segment</a:t>
            </a:r>
          </a:p>
          <a:p>
            <a:pPr marL="342900" indent="-342900">
              <a:buFont typeface="+mj-lt"/>
              <a:buAutoNum type="arabicPeriod"/>
            </a:pPr>
            <a:r>
              <a:rPr lang="en-US" dirty="0" smtClean="0"/>
              <a:t>Propagation Segment</a:t>
            </a:r>
          </a:p>
          <a:p>
            <a:pPr marL="342900" indent="-342900">
              <a:buFont typeface="+mj-lt"/>
              <a:buAutoNum type="arabicPeriod"/>
            </a:pPr>
            <a:r>
              <a:rPr lang="en-US" dirty="0" smtClean="0"/>
              <a:t>Phase Segment 1</a:t>
            </a:r>
          </a:p>
          <a:p>
            <a:pPr marL="342900" indent="-342900">
              <a:buFont typeface="+mj-lt"/>
              <a:buAutoNum type="arabicPeriod"/>
            </a:pPr>
            <a:r>
              <a:rPr lang="en-US" dirty="0" smtClean="0"/>
              <a:t>Phase Segment 2</a:t>
            </a:r>
          </a:p>
          <a:p>
            <a:pPr marL="342900" indent="-342900">
              <a:buFont typeface="+mj-lt"/>
              <a:buAutoNum type="arabicPeriod"/>
            </a:pPr>
            <a:r>
              <a:rPr lang="en-US" dirty="0" smtClean="0"/>
              <a:t>The Sample point will always be at the end of Phase-seg1. It is the time at which the bus level is read and interpreted as the value of the current bit.</a:t>
            </a:r>
          </a:p>
          <a:p>
            <a:pPr marL="342900" indent="-342900">
              <a:buNone/>
            </a:pPr>
            <a:r>
              <a:rPr lang="en-US" dirty="0" smtClean="0"/>
              <a:t>What is quantum?</a:t>
            </a:r>
          </a:p>
          <a:p>
            <a:pPr marL="342900" indent="-342900"/>
            <a:r>
              <a:rPr lang="en-US" dirty="0" smtClean="0"/>
              <a:t>The period of the local oscillator (or the system clock period) multiplied by the value of BRP(Baud Rate Prescalar) register , normally 1 to 32,  is called one quantum.</a:t>
            </a:r>
          </a:p>
          <a:p>
            <a:pPr marL="342900" indent="-342900"/>
            <a:r>
              <a:rPr lang="en-US" dirty="0" smtClean="0"/>
              <a:t>Total programmable time quanta is from 8 to 25</a:t>
            </a:r>
          </a:p>
        </p:txBody>
      </p:sp>
    </p:spTree>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9" name="Text Box 5"/>
          <p:cNvSpPr txBox="1">
            <a:spLocks noChangeArrowheads="1"/>
          </p:cNvSpPr>
          <p:nvPr/>
        </p:nvSpPr>
        <p:spPr bwMode="auto">
          <a:xfrm>
            <a:off x="492370" y="655639"/>
            <a:ext cx="1688283" cy="584775"/>
          </a:xfrm>
          <a:prstGeom prst="rect">
            <a:avLst/>
          </a:prstGeom>
          <a:noFill/>
          <a:ln w="12700">
            <a:noFill/>
            <a:miter lim="800000"/>
            <a:headEnd/>
            <a:tailEnd/>
          </a:ln>
          <a:effectLst>
            <a:outerShdw dist="17961" dir="2700000" algn="ctr" rotWithShape="0">
              <a:schemeClr val="bg2"/>
            </a:outerShdw>
          </a:effectLst>
        </p:spPr>
        <p:txBody>
          <a:bodyPr wrap="none">
            <a:spAutoFit/>
          </a:bodyPr>
          <a:lstStyle/>
          <a:p>
            <a:pPr>
              <a:spcBef>
                <a:spcPct val="0"/>
              </a:spcBef>
              <a:spcAft>
                <a:spcPct val="0"/>
              </a:spcAft>
            </a:pPr>
            <a:r>
              <a:rPr lang="en-US" sz="3200" b="1">
                <a:solidFill>
                  <a:schemeClr val="accent2"/>
                </a:solidFill>
                <a:effectLst/>
              </a:rPr>
              <a:t>Bit time</a:t>
            </a:r>
            <a:endParaRPr lang="en-US" sz="3200" b="1">
              <a:solidFill>
                <a:srgbClr val="000099"/>
              </a:solidFill>
              <a:effectLst/>
            </a:endParaRPr>
          </a:p>
        </p:txBody>
      </p:sp>
      <p:sp>
        <p:nvSpPr>
          <p:cNvPr id="159750" name="Text Box 6"/>
          <p:cNvSpPr txBox="1">
            <a:spLocks noChangeArrowheads="1"/>
          </p:cNvSpPr>
          <p:nvPr/>
        </p:nvSpPr>
        <p:spPr bwMode="auto">
          <a:xfrm>
            <a:off x="1756997" y="3773489"/>
            <a:ext cx="6667210" cy="400110"/>
          </a:xfrm>
          <a:prstGeom prst="rect">
            <a:avLst/>
          </a:prstGeom>
          <a:noFill/>
          <a:ln w="12700">
            <a:noFill/>
            <a:miter lim="800000"/>
            <a:headEnd/>
            <a:tailEnd/>
          </a:ln>
          <a:effectLst/>
        </p:spPr>
        <p:txBody>
          <a:bodyPr wrap="none">
            <a:spAutoFit/>
          </a:bodyPr>
          <a:lstStyle/>
          <a:p>
            <a:pPr>
              <a:spcBef>
                <a:spcPct val="0"/>
              </a:spcBef>
              <a:spcAft>
                <a:spcPct val="0"/>
              </a:spcAft>
            </a:pPr>
            <a:r>
              <a:rPr lang="en-US" sz="2000" b="1">
                <a:solidFill>
                  <a:srgbClr val="000099"/>
                </a:solidFill>
                <a:effectLst/>
              </a:rPr>
              <a:t>The </a:t>
            </a:r>
            <a:r>
              <a:rPr lang="en-US" sz="2000" b="1">
                <a:solidFill>
                  <a:srgbClr val="008000"/>
                </a:solidFill>
                <a:effectLst/>
              </a:rPr>
              <a:t>bit time t</a:t>
            </a:r>
            <a:r>
              <a:rPr lang="en-US" sz="2000" b="1" baseline="-25000">
                <a:solidFill>
                  <a:srgbClr val="008000"/>
                </a:solidFill>
                <a:effectLst/>
              </a:rPr>
              <a:t>Bit</a:t>
            </a:r>
            <a:r>
              <a:rPr lang="en-US" sz="2000" b="1">
                <a:solidFill>
                  <a:srgbClr val="000099"/>
                </a:solidFill>
                <a:effectLst/>
              </a:rPr>
              <a:t> is the time it takes to transmit one bit.</a:t>
            </a:r>
          </a:p>
        </p:txBody>
      </p:sp>
      <p:sp>
        <p:nvSpPr>
          <p:cNvPr id="159751" name="Text Box 7"/>
          <p:cNvSpPr txBox="1">
            <a:spLocks noChangeArrowheads="1"/>
          </p:cNvSpPr>
          <p:nvPr/>
        </p:nvSpPr>
        <p:spPr bwMode="auto">
          <a:xfrm>
            <a:off x="2630366" y="4432301"/>
            <a:ext cx="6115777" cy="646331"/>
          </a:xfrm>
          <a:prstGeom prst="rect">
            <a:avLst/>
          </a:prstGeom>
          <a:noFill/>
          <a:ln w="12700">
            <a:noFill/>
            <a:miter lim="800000"/>
            <a:headEnd/>
            <a:tailEnd/>
          </a:ln>
          <a:effectLst/>
        </p:spPr>
        <p:txBody>
          <a:bodyPr wrap="none">
            <a:spAutoFit/>
          </a:bodyPr>
          <a:lstStyle/>
          <a:p>
            <a:pPr algn="l">
              <a:spcBef>
                <a:spcPct val="0"/>
              </a:spcBef>
              <a:spcAft>
                <a:spcPct val="0"/>
              </a:spcAft>
            </a:pPr>
            <a:r>
              <a:rPr lang="en-US" b="1">
                <a:effectLst/>
              </a:rPr>
              <a:t>Example:	          Data rate:     f       =   500 kBit / s</a:t>
            </a:r>
          </a:p>
          <a:p>
            <a:pPr algn="l">
              <a:spcBef>
                <a:spcPct val="0"/>
              </a:spcBef>
              <a:spcAft>
                <a:spcPct val="0"/>
              </a:spcAft>
            </a:pPr>
            <a:r>
              <a:rPr lang="en-US" b="1">
                <a:effectLst/>
                <a:sym typeface="Wingdings" pitchFamily="2" charset="2"/>
              </a:rPr>
              <a:t>            	          Bit time:       t</a:t>
            </a:r>
            <a:r>
              <a:rPr lang="en-US" b="1" baseline="-25000">
                <a:effectLst/>
                <a:sym typeface="Wingdings" pitchFamily="2" charset="2"/>
              </a:rPr>
              <a:t>Bit</a:t>
            </a:r>
            <a:r>
              <a:rPr lang="en-US" b="1">
                <a:effectLst/>
                <a:sym typeface="Wingdings" pitchFamily="2" charset="2"/>
              </a:rPr>
              <a:t>    =   2 μs</a:t>
            </a:r>
            <a:endParaRPr lang="en-US" b="1">
              <a:effectLst/>
            </a:endParaRPr>
          </a:p>
        </p:txBody>
      </p:sp>
      <p:sp>
        <p:nvSpPr>
          <p:cNvPr id="159753" name="Rectangle 9"/>
          <p:cNvSpPr>
            <a:spLocks noChangeArrowheads="1"/>
          </p:cNvSpPr>
          <p:nvPr/>
        </p:nvSpPr>
        <p:spPr bwMode="auto">
          <a:xfrm>
            <a:off x="1482970" y="2667000"/>
            <a:ext cx="6644054" cy="539750"/>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en-US"/>
          </a:p>
        </p:txBody>
      </p:sp>
      <p:sp>
        <p:nvSpPr>
          <p:cNvPr id="159754" name="Line 10"/>
          <p:cNvSpPr>
            <a:spLocks noChangeShapeType="1"/>
          </p:cNvSpPr>
          <p:nvPr/>
        </p:nvSpPr>
        <p:spPr bwMode="auto">
          <a:xfrm>
            <a:off x="1482970" y="2127250"/>
            <a:ext cx="6644054" cy="0"/>
          </a:xfrm>
          <a:prstGeom prst="line">
            <a:avLst/>
          </a:prstGeom>
          <a:noFill/>
          <a:ln w="28575">
            <a:solidFill>
              <a:schemeClr val="tx1"/>
            </a:solidFill>
            <a:round/>
            <a:headEnd type="triangle" w="med" len="med"/>
            <a:tailEnd type="triangle" w="med" len="med"/>
          </a:ln>
          <a:effectLst/>
        </p:spPr>
        <p:txBody>
          <a:bodyPr wrap="none" anchor="ctr"/>
          <a:lstStyle/>
          <a:p>
            <a:endParaRPr lang="en-US"/>
          </a:p>
        </p:txBody>
      </p:sp>
      <p:sp>
        <p:nvSpPr>
          <p:cNvPr id="159755" name="Text Box 11"/>
          <p:cNvSpPr txBox="1">
            <a:spLocks noChangeArrowheads="1"/>
          </p:cNvSpPr>
          <p:nvPr/>
        </p:nvSpPr>
        <p:spPr bwMode="auto">
          <a:xfrm>
            <a:off x="4201258" y="1670050"/>
            <a:ext cx="1313180" cy="461665"/>
          </a:xfrm>
          <a:prstGeom prst="rect">
            <a:avLst/>
          </a:prstGeom>
          <a:noFill/>
          <a:ln w="12700">
            <a:noFill/>
            <a:miter lim="800000"/>
            <a:headEnd/>
            <a:tailEnd/>
          </a:ln>
          <a:effectLst/>
        </p:spPr>
        <p:txBody>
          <a:bodyPr wrap="none">
            <a:spAutoFit/>
          </a:bodyPr>
          <a:lstStyle/>
          <a:p>
            <a:pPr>
              <a:spcBef>
                <a:spcPct val="0"/>
              </a:spcBef>
              <a:spcAft>
                <a:spcPct val="0"/>
              </a:spcAft>
            </a:pPr>
            <a:r>
              <a:rPr lang="en-US" sz="2400" b="1">
                <a:solidFill>
                  <a:srgbClr val="008000"/>
                </a:solidFill>
                <a:effectLst/>
              </a:rPr>
              <a:t>Bit time</a:t>
            </a:r>
          </a:p>
        </p:txBody>
      </p:sp>
      <p:sp>
        <p:nvSpPr>
          <p:cNvPr id="159756" name="Line 12"/>
          <p:cNvSpPr>
            <a:spLocks noChangeShapeType="1"/>
          </p:cNvSpPr>
          <p:nvPr/>
        </p:nvSpPr>
        <p:spPr bwMode="auto">
          <a:xfrm flipV="1">
            <a:off x="1482969" y="1857375"/>
            <a:ext cx="0" cy="719138"/>
          </a:xfrm>
          <a:prstGeom prst="line">
            <a:avLst/>
          </a:prstGeom>
          <a:noFill/>
          <a:ln w="28575">
            <a:solidFill>
              <a:schemeClr val="tx1"/>
            </a:solidFill>
            <a:round/>
            <a:headEnd/>
            <a:tailEnd/>
          </a:ln>
          <a:effectLst/>
        </p:spPr>
        <p:txBody>
          <a:bodyPr wrap="none" anchor="ctr"/>
          <a:lstStyle/>
          <a:p>
            <a:endParaRPr lang="en-US"/>
          </a:p>
        </p:txBody>
      </p:sp>
      <p:sp>
        <p:nvSpPr>
          <p:cNvPr id="159757" name="Line 13"/>
          <p:cNvSpPr>
            <a:spLocks noChangeShapeType="1"/>
          </p:cNvSpPr>
          <p:nvPr/>
        </p:nvSpPr>
        <p:spPr bwMode="auto">
          <a:xfrm flipV="1">
            <a:off x="8127023" y="1857375"/>
            <a:ext cx="0" cy="719138"/>
          </a:xfrm>
          <a:prstGeom prst="line">
            <a:avLst/>
          </a:prstGeom>
          <a:noFill/>
          <a:ln w="28575">
            <a:solidFill>
              <a:schemeClr val="tx1"/>
            </a:solidFill>
            <a:round/>
            <a:headEnd/>
            <a:tailEnd/>
          </a:ln>
          <a:effectLst/>
        </p:spPr>
        <p:txBody>
          <a:bodyPr wrap="none" anchor="ctr"/>
          <a:lstStyle/>
          <a:p>
            <a:endParaRPr lang="en-US"/>
          </a:p>
        </p:txBody>
      </p:sp>
      <p:sp>
        <p:nvSpPr>
          <p:cNvPr id="159758" name="Text Box 14"/>
          <p:cNvSpPr txBox="1">
            <a:spLocks noChangeArrowheads="1"/>
          </p:cNvSpPr>
          <p:nvPr/>
        </p:nvSpPr>
        <p:spPr bwMode="auto">
          <a:xfrm>
            <a:off x="4394689" y="2695575"/>
            <a:ext cx="851515" cy="461665"/>
          </a:xfrm>
          <a:prstGeom prst="rect">
            <a:avLst/>
          </a:prstGeom>
          <a:noFill/>
          <a:ln w="12700">
            <a:noFill/>
            <a:miter lim="800000"/>
            <a:headEnd/>
            <a:tailEnd/>
          </a:ln>
          <a:effectLst/>
        </p:spPr>
        <p:txBody>
          <a:bodyPr wrap="none">
            <a:spAutoFit/>
          </a:bodyPr>
          <a:lstStyle/>
          <a:p>
            <a:pPr>
              <a:spcBef>
                <a:spcPct val="0"/>
              </a:spcBef>
              <a:spcAft>
                <a:spcPct val="0"/>
              </a:spcAft>
            </a:pPr>
            <a:r>
              <a:rPr lang="en-US" sz="2400" b="1">
                <a:effectLst/>
              </a:rPr>
              <a:t>1 Bit</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7" name="Text Box 5"/>
          <p:cNvSpPr txBox="1">
            <a:spLocks noChangeArrowheads="1"/>
          </p:cNvSpPr>
          <p:nvPr/>
        </p:nvSpPr>
        <p:spPr bwMode="auto">
          <a:xfrm>
            <a:off x="400051" y="655639"/>
            <a:ext cx="2977675" cy="584775"/>
          </a:xfrm>
          <a:prstGeom prst="rect">
            <a:avLst/>
          </a:prstGeom>
          <a:noFill/>
          <a:ln w="12700">
            <a:noFill/>
            <a:miter lim="800000"/>
            <a:headEnd/>
            <a:tailEnd/>
          </a:ln>
          <a:effectLst>
            <a:outerShdw dist="17961" dir="2700000" algn="ctr" rotWithShape="0">
              <a:schemeClr val="bg2"/>
            </a:outerShdw>
          </a:effectLst>
        </p:spPr>
        <p:txBody>
          <a:bodyPr wrap="none">
            <a:spAutoFit/>
          </a:bodyPr>
          <a:lstStyle/>
          <a:p>
            <a:pPr>
              <a:spcBef>
                <a:spcPct val="0"/>
              </a:spcBef>
              <a:spcAft>
                <a:spcPct val="0"/>
              </a:spcAft>
            </a:pPr>
            <a:r>
              <a:rPr lang="en-US" sz="3200" b="1" dirty="0">
                <a:solidFill>
                  <a:schemeClr val="accent1"/>
                </a:solidFill>
                <a:effectLst/>
              </a:rPr>
              <a:t>Time quantum</a:t>
            </a:r>
          </a:p>
        </p:txBody>
      </p:sp>
      <p:sp>
        <p:nvSpPr>
          <p:cNvPr id="161799" name="Rectangle 7"/>
          <p:cNvSpPr>
            <a:spLocks noChangeArrowheads="1"/>
          </p:cNvSpPr>
          <p:nvPr/>
        </p:nvSpPr>
        <p:spPr bwMode="auto">
          <a:xfrm>
            <a:off x="1162051" y="3068638"/>
            <a:ext cx="6644054" cy="53975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1801" name="Text Box 9"/>
          <p:cNvSpPr txBox="1">
            <a:spLocks noChangeArrowheads="1"/>
          </p:cNvSpPr>
          <p:nvPr/>
        </p:nvSpPr>
        <p:spPr bwMode="auto">
          <a:xfrm>
            <a:off x="3880339" y="2251075"/>
            <a:ext cx="1313180" cy="461665"/>
          </a:xfrm>
          <a:prstGeom prst="rect">
            <a:avLst/>
          </a:prstGeom>
          <a:solidFill>
            <a:schemeClr val="bg1"/>
          </a:solidFill>
          <a:ln w="12700">
            <a:noFill/>
            <a:miter lim="800000"/>
            <a:headEnd/>
            <a:tailEnd/>
          </a:ln>
          <a:effectLst/>
        </p:spPr>
        <p:txBody>
          <a:bodyPr wrap="none">
            <a:spAutoFit/>
          </a:bodyPr>
          <a:lstStyle/>
          <a:p>
            <a:pPr>
              <a:spcBef>
                <a:spcPct val="0"/>
              </a:spcBef>
              <a:spcAft>
                <a:spcPct val="0"/>
              </a:spcAft>
            </a:pPr>
            <a:r>
              <a:rPr lang="en-US" sz="2400" b="1">
                <a:solidFill>
                  <a:srgbClr val="669900"/>
                </a:solidFill>
                <a:effectLst/>
              </a:rPr>
              <a:t>Bit time</a:t>
            </a:r>
            <a:endParaRPr lang="en-US" sz="2400" b="1">
              <a:solidFill>
                <a:srgbClr val="008000"/>
              </a:solidFill>
              <a:effectLst/>
            </a:endParaRPr>
          </a:p>
        </p:txBody>
      </p:sp>
      <p:sp>
        <p:nvSpPr>
          <p:cNvPr id="161802" name="Line 10"/>
          <p:cNvSpPr>
            <a:spLocks noChangeShapeType="1"/>
          </p:cNvSpPr>
          <p:nvPr/>
        </p:nvSpPr>
        <p:spPr bwMode="auto">
          <a:xfrm flipV="1">
            <a:off x="1162050" y="2438400"/>
            <a:ext cx="0" cy="539750"/>
          </a:xfrm>
          <a:prstGeom prst="line">
            <a:avLst/>
          </a:prstGeom>
          <a:noFill/>
          <a:ln w="28575">
            <a:solidFill>
              <a:schemeClr val="tx1"/>
            </a:solidFill>
            <a:round/>
            <a:headEnd/>
            <a:tailEnd/>
          </a:ln>
          <a:effectLst/>
        </p:spPr>
        <p:txBody>
          <a:bodyPr wrap="none" anchor="ctr"/>
          <a:lstStyle/>
          <a:p>
            <a:endParaRPr lang="en-US"/>
          </a:p>
        </p:txBody>
      </p:sp>
      <p:sp>
        <p:nvSpPr>
          <p:cNvPr id="161803" name="Line 11"/>
          <p:cNvSpPr>
            <a:spLocks noChangeShapeType="1"/>
          </p:cNvSpPr>
          <p:nvPr/>
        </p:nvSpPr>
        <p:spPr bwMode="auto">
          <a:xfrm flipV="1">
            <a:off x="7806104" y="2438400"/>
            <a:ext cx="0" cy="539750"/>
          </a:xfrm>
          <a:prstGeom prst="line">
            <a:avLst/>
          </a:prstGeom>
          <a:noFill/>
          <a:ln w="28575">
            <a:solidFill>
              <a:schemeClr val="tx1"/>
            </a:solidFill>
            <a:round/>
            <a:headEnd/>
            <a:tailEnd/>
          </a:ln>
          <a:effectLst/>
        </p:spPr>
        <p:txBody>
          <a:bodyPr wrap="none" anchor="ctr"/>
          <a:lstStyle/>
          <a:p>
            <a:endParaRPr lang="en-US"/>
          </a:p>
        </p:txBody>
      </p:sp>
      <p:sp>
        <p:nvSpPr>
          <p:cNvPr id="161804" name="Text Box 12"/>
          <p:cNvSpPr txBox="1">
            <a:spLocks noChangeArrowheads="1"/>
          </p:cNvSpPr>
          <p:nvPr/>
        </p:nvSpPr>
        <p:spPr bwMode="auto">
          <a:xfrm>
            <a:off x="4073769" y="3094038"/>
            <a:ext cx="851515" cy="461665"/>
          </a:xfrm>
          <a:prstGeom prst="rect">
            <a:avLst/>
          </a:prstGeom>
          <a:noFill/>
          <a:ln w="12700">
            <a:noFill/>
            <a:miter lim="800000"/>
            <a:headEnd/>
            <a:tailEnd/>
          </a:ln>
          <a:effectLst/>
        </p:spPr>
        <p:txBody>
          <a:bodyPr wrap="none">
            <a:spAutoFit/>
          </a:bodyPr>
          <a:lstStyle/>
          <a:p>
            <a:pPr>
              <a:spcBef>
                <a:spcPct val="0"/>
              </a:spcBef>
              <a:spcAft>
                <a:spcPct val="0"/>
              </a:spcAft>
            </a:pPr>
            <a:r>
              <a:rPr lang="en-US" sz="2400" b="1">
                <a:effectLst/>
              </a:rPr>
              <a:t>1 Bit</a:t>
            </a:r>
          </a:p>
        </p:txBody>
      </p:sp>
      <p:sp>
        <p:nvSpPr>
          <p:cNvPr id="161805" name="Line 13"/>
          <p:cNvSpPr>
            <a:spLocks noChangeShapeType="1"/>
          </p:cNvSpPr>
          <p:nvPr/>
        </p:nvSpPr>
        <p:spPr bwMode="auto">
          <a:xfrm flipV="1">
            <a:off x="1162050"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06" name="Line 14"/>
          <p:cNvSpPr>
            <a:spLocks noChangeShapeType="1"/>
          </p:cNvSpPr>
          <p:nvPr/>
        </p:nvSpPr>
        <p:spPr bwMode="auto">
          <a:xfrm flipV="1">
            <a:off x="1713035"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07" name="Line 15"/>
          <p:cNvSpPr>
            <a:spLocks noChangeShapeType="1"/>
          </p:cNvSpPr>
          <p:nvPr/>
        </p:nvSpPr>
        <p:spPr bwMode="auto">
          <a:xfrm flipV="1">
            <a:off x="7250723"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08" name="Line 16"/>
          <p:cNvSpPr>
            <a:spLocks noChangeShapeType="1"/>
          </p:cNvSpPr>
          <p:nvPr/>
        </p:nvSpPr>
        <p:spPr bwMode="auto">
          <a:xfrm flipV="1">
            <a:off x="6696808"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09" name="Line 17"/>
          <p:cNvSpPr>
            <a:spLocks noChangeShapeType="1"/>
          </p:cNvSpPr>
          <p:nvPr/>
        </p:nvSpPr>
        <p:spPr bwMode="auto">
          <a:xfrm flipV="1">
            <a:off x="6144358"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10" name="Line 18"/>
          <p:cNvSpPr>
            <a:spLocks noChangeShapeType="1"/>
          </p:cNvSpPr>
          <p:nvPr/>
        </p:nvSpPr>
        <p:spPr bwMode="auto">
          <a:xfrm flipV="1">
            <a:off x="5590443"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11" name="Line 19"/>
          <p:cNvSpPr>
            <a:spLocks noChangeShapeType="1"/>
          </p:cNvSpPr>
          <p:nvPr/>
        </p:nvSpPr>
        <p:spPr bwMode="auto">
          <a:xfrm flipV="1">
            <a:off x="5035062"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12" name="Line 20"/>
          <p:cNvSpPr>
            <a:spLocks noChangeShapeType="1"/>
          </p:cNvSpPr>
          <p:nvPr/>
        </p:nvSpPr>
        <p:spPr bwMode="auto">
          <a:xfrm flipV="1">
            <a:off x="4484077"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13" name="Line 21"/>
          <p:cNvSpPr>
            <a:spLocks noChangeShapeType="1"/>
          </p:cNvSpPr>
          <p:nvPr/>
        </p:nvSpPr>
        <p:spPr bwMode="auto">
          <a:xfrm flipV="1">
            <a:off x="3928697"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14" name="Line 22"/>
          <p:cNvSpPr>
            <a:spLocks noChangeShapeType="1"/>
          </p:cNvSpPr>
          <p:nvPr/>
        </p:nvSpPr>
        <p:spPr bwMode="auto">
          <a:xfrm flipV="1">
            <a:off x="3374781"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15" name="Line 23"/>
          <p:cNvSpPr>
            <a:spLocks noChangeShapeType="1"/>
          </p:cNvSpPr>
          <p:nvPr/>
        </p:nvSpPr>
        <p:spPr bwMode="auto">
          <a:xfrm flipV="1">
            <a:off x="2822331"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16" name="Line 24"/>
          <p:cNvSpPr>
            <a:spLocks noChangeShapeType="1"/>
          </p:cNvSpPr>
          <p:nvPr/>
        </p:nvSpPr>
        <p:spPr bwMode="auto">
          <a:xfrm flipV="1">
            <a:off x="2268415"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17" name="Line 25"/>
          <p:cNvSpPr>
            <a:spLocks noChangeShapeType="1"/>
          </p:cNvSpPr>
          <p:nvPr/>
        </p:nvSpPr>
        <p:spPr bwMode="auto">
          <a:xfrm flipV="1">
            <a:off x="7806104" y="3706813"/>
            <a:ext cx="0" cy="539750"/>
          </a:xfrm>
          <a:prstGeom prst="line">
            <a:avLst/>
          </a:prstGeom>
          <a:noFill/>
          <a:ln w="28575">
            <a:solidFill>
              <a:schemeClr val="tx1"/>
            </a:solidFill>
            <a:round/>
            <a:headEnd/>
            <a:tailEnd/>
          </a:ln>
          <a:effectLst/>
        </p:spPr>
        <p:txBody>
          <a:bodyPr wrap="none" anchor="ctr"/>
          <a:lstStyle/>
          <a:p>
            <a:endParaRPr lang="en-US"/>
          </a:p>
        </p:txBody>
      </p:sp>
      <p:sp>
        <p:nvSpPr>
          <p:cNvPr id="161818" name="Line 26"/>
          <p:cNvSpPr>
            <a:spLocks noChangeShapeType="1"/>
          </p:cNvSpPr>
          <p:nvPr/>
        </p:nvSpPr>
        <p:spPr bwMode="auto">
          <a:xfrm>
            <a:off x="2268415" y="3957638"/>
            <a:ext cx="550985" cy="0"/>
          </a:xfrm>
          <a:prstGeom prst="line">
            <a:avLst/>
          </a:prstGeom>
          <a:noFill/>
          <a:ln w="28575">
            <a:solidFill>
              <a:schemeClr val="tx1"/>
            </a:solidFill>
            <a:round/>
            <a:headEnd type="triangle" w="med" len="med"/>
            <a:tailEnd type="triangle" w="med" len="med"/>
          </a:ln>
          <a:effectLst/>
        </p:spPr>
        <p:txBody>
          <a:bodyPr wrap="none" anchor="ctr"/>
          <a:lstStyle/>
          <a:p>
            <a:endParaRPr lang="en-US"/>
          </a:p>
        </p:txBody>
      </p:sp>
      <p:sp>
        <p:nvSpPr>
          <p:cNvPr id="161819" name="Text Box 27"/>
          <p:cNvSpPr txBox="1">
            <a:spLocks noChangeArrowheads="1"/>
          </p:cNvSpPr>
          <p:nvPr/>
        </p:nvSpPr>
        <p:spPr bwMode="auto">
          <a:xfrm>
            <a:off x="2321170" y="3962400"/>
            <a:ext cx="436685" cy="457200"/>
          </a:xfrm>
          <a:prstGeom prst="rect">
            <a:avLst/>
          </a:prstGeom>
          <a:noFill/>
          <a:ln w="12700">
            <a:noFill/>
            <a:miter lim="800000"/>
            <a:headEnd/>
            <a:tailEnd/>
          </a:ln>
          <a:effectLst/>
        </p:spPr>
        <p:txBody>
          <a:bodyPr>
            <a:spAutoFit/>
          </a:bodyPr>
          <a:lstStyle/>
          <a:p>
            <a:pPr>
              <a:spcBef>
                <a:spcPct val="0"/>
              </a:spcBef>
              <a:spcAft>
                <a:spcPct val="0"/>
              </a:spcAft>
            </a:pPr>
            <a:r>
              <a:rPr lang="en-US" sz="2400" b="1">
                <a:solidFill>
                  <a:srgbClr val="008000"/>
                </a:solidFill>
                <a:effectLst/>
              </a:rPr>
              <a:t>t</a:t>
            </a:r>
            <a:r>
              <a:rPr lang="en-US" sz="2400" b="1" baseline="-25000">
                <a:solidFill>
                  <a:srgbClr val="008000"/>
                </a:solidFill>
                <a:effectLst/>
              </a:rPr>
              <a:t>q</a:t>
            </a:r>
            <a:endParaRPr lang="en-US" sz="2400" b="1">
              <a:solidFill>
                <a:srgbClr val="008000"/>
              </a:solidFill>
              <a:effectLst/>
            </a:endParaRPr>
          </a:p>
        </p:txBody>
      </p:sp>
      <p:sp>
        <p:nvSpPr>
          <p:cNvPr id="161820" name="Text Box 28"/>
          <p:cNvSpPr txBox="1">
            <a:spLocks noChangeArrowheads="1"/>
          </p:cNvSpPr>
          <p:nvPr/>
        </p:nvSpPr>
        <p:spPr bwMode="auto">
          <a:xfrm>
            <a:off x="1066800" y="4495801"/>
            <a:ext cx="6629400" cy="400110"/>
          </a:xfrm>
          <a:prstGeom prst="rect">
            <a:avLst/>
          </a:prstGeom>
          <a:noFill/>
          <a:ln w="12700">
            <a:noFill/>
            <a:miter lim="800000"/>
            <a:headEnd/>
            <a:tailEnd/>
          </a:ln>
          <a:effectLst/>
        </p:spPr>
        <p:txBody>
          <a:bodyPr wrap="square">
            <a:spAutoFit/>
          </a:bodyPr>
          <a:lstStyle/>
          <a:p>
            <a:pPr>
              <a:spcBef>
                <a:spcPct val="0"/>
              </a:spcBef>
              <a:spcAft>
                <a:spcPct val="0"/>
              </a:spcAft>
            </a:pPr>
            <a:r>
              <a:rPr lang="en-US" sz="2000" b="1" dirty="0">
                <a:effectLst/>
              </a:rPr>
              <a:t>The bit time is divided up into time quanta </a:t>
            </a:r>
            <a:r>
              <a:rPr lang="en-US" sz="2000" b="1" dirty="0" err="1">
                <a:effectLst/>
              </a:rPr>
              <a:t>t</a:t>
            </a:r>
            <a:r>
              <a:rPr lang="en-US" sz="2000" b="1" baseline="-25000" dirty="0" err="1">
                <a:effectLst/>
              </a:rPr>
              <a:t>q</a:t>
            </a:r>
            <a:r>
              <a:rPr lang="en-US" sz="2000" b="1" dirty="0">
                <a:effectLst/>
              </a:rPr>
              <a:t>.</a:t>
            </a:r>
          </a:p>
        </p:txBody>
      </p:sp>
      <p:sp>
        <p:nvSpPr>
          <p:cNvPr id="161800" name="Line 8"/>
          <p:cNvSpPr>
            <a:spLocks noChangeShapeType="1"/>
          </p:cNvSpPr>
          <p:nvPr/>
        </p:nvSpPr>
        <p:spPr bwMode="auto">
          <a:xfrm>
            <a:off x="1162051" y="2708275"/>
            <a:ext cx="6644054" cy="0"/>
          </a:xfrm>
          <a:prstGeom prst="line">
            <a:avLst/>
          </a:prstGeom>
          <a:noFill/>
          <a:ln w="28575">
            <a:solidFill>
              <a:schemeClr val="tx1"/>
            </a:solidFill>
            <a:round/>
            <a:headEnd type="triangle" w="med" len="med"/>
            <a:tailEnd type="triangle" w="med" len="med"/>
          </a:ln>
          <a:effectLst/>
        </p:spPr>
        <p:txBody>
          <a:bodyPr wrap="none" anchor="ctr"/>
          <a:lstStyle/>
          <a:p>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6" name="Text Box 6"/>
          <p:cNvSpPr txBox="1">
            <a:spLocks noChangeArrowheads="1"/>
          </p:cNvSpPr>
          <p:nvPr/>
        </p:nvSpPr>
        <p:spPr bwMode="auto">
          <a:xfrm>
            <a:off x="3880339" y="2251075"/>
            <a:ext cx="1313180" cy="461665"/>
          </a:xfrm>
          <a:prstGeom prst="rect">
            <a:avLst/>
          </a:prstGeom>
          <a:noFill/>
          <a:ln w="12700">
            <a:noFill/>
            <a:miter lim="800000"/>
            <a:headEnd/>
            <a:tailEnd/>
          </a:ln>
          <a:effectLst/>
        </p:spPr>
        <p:txBody>
          <a:bodyPr wrap="none">
            <a:spAutoFit/>
          </a:bodyPr>
          <a:lstStyle/>
          <a:p>
            <a:pPr>
              <a:spcBef>
                <a:spcPct val="0"/>
              </a:spcBef>
              <a:spcAft>
                <a:spcPct val="0"/>
              </a:spcAft>
            </a:pPr>
            <a:r>
              <a:rPr lang="en-US" sz="2400" b="1">
                <a:solidFill>
                  <a:srgbClr val="669900"/>
                </a:solidFill>
                <a:effectLst/>
              </a:rPr>
              <a:t>Bit time</a:t>
            </a:r>
            <a:endParaRPr lang="en-US" sz="2400" b="1">
              <a:solidFill>
                <a:srgbClr val="008000"/>
              </a:solidFill>
              <a:effectLst/>
            </a:endParaRPr>
          </a:p>
        </p:txBody>
      </p:sp>
      <p:sp>
        <p:nvSpPr>
          <p:cNvPr id="163847" name="Line 7"/>
          <p:cNvSpPr>
            <a:spLocks noChangeShapeType="1"/>
          </p:cNvSpPr>
          <p:nvPr/>
        </p:nvSpPr>
        <p:spPr bwMode="auto">
          <a:xfrm flipV="1">
            <a:off x="1162050" y="2438400"/>
            <a:ext cx="0" cy="539750"/>
          </a:xfrm>
          <a:prstGeom prst="line">
            <a:avLst/>
          </a:prstGeom>
          <a:noFill/>
          <a:ln w="28575">
            <a:solidFill>
              <a:schemeClr val="tx1"/>
            </a:solidFill>
            <a:round/>
            <a:headEnd/>
            <a:tailEnd/>
          </a:ln>
          <a:effectLst/>
        </p:spPr>
        <p:txBody>
          <a:bodyPr wrap="none" anchor="ctr"/>
          <a:lstStyle/>
          <a:p>
            <a:endParaRPr lang="en-US"/>
          </a:p>
        </p:txBody>
      </p:sp>
      <p:sp>
        <p:nvSpPr>
          <p:cNvPr id="163848" name="Line 8"/>
          <p:cNvSpPr>
            <a:spLocks noChangeShapeType="1"/>
          </p:cNvSpPr>
          <p:nvPr/>
        </p:nvSpPr>
        <p:spPr bwMode="auto">
          <a:xfrm flipV="1">
            <a:off x="7806104" y="2438400"/>
            <a:ext cx="0" cy="539750"/>
          </a:xfrm>
          <a:prstGeom prst="line">
            <a:avLst/>
          </a:prstGeom>
          <a:noFill/>
          <a:ln w="28575">
            <a:solidFill>
              <a:schemeClr val="tx1"/>
            </a:solidFill>
            <a:round/>
            <a:headEnd/>
            <a:tailEnd/>
          </a:ln>
          <a:effectLst/>
        </p:spPr>
        <p:txBody>
          <a:bodyPr wrap="none" anchor="ctr"/>
          <a:lstStyle/>
          <a:p>
            <a:endParaRPr lang="en-US"/>
          </a:p>
        </p:txBody>
      </p:sp>
      <p:sp>
        <p:nvSpPr>
          <p:cNvPr id="163849" name="Line 9"/>
          <p:cNvSpPr>
            <a:spLocks noChangeShapeType="1"/>
          </p:cNvSpPr>
          <p:nvPr/>
        </p:nvSpPr>
        <p:spPr bwMode="auto">
          <a:xfrm flipV="1">
            <a:off x="1162050"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50" name="Line 10"/>
          <p:cNvSpPr>
            <a:spLocks noChangeShapeType="1"/>
          </p:cNvSpPr>
          <p:nvPr/>
        </p:nvSpPr>
        <p:spPr bwMode="auto">
          <a:xfrm flipV="1">
            <a:off x="1713035"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51" name="Line 11"/>
          <p:cNvSpPr>
            <a:spLocks noChangeShapeType="1"/>
          </p:cNvSpPr>
          <p:nvPr/>
        </p:nvSpPr>
        <p:spPr bwMode="auto">
          <a:xfrm flipV="1">
            <a:off x="7250723"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52" name="Line 12"/>
          <p:cNvSpPr>
            <a:spLocks noChangeShapeType="1"/>
          </p:cNvSpPr>
          <p:nvPr/>
        </p:nvSpPr>
        <p:spPr bwMode="auto">
          <a:xfrm flipV="1">
            <a:off x="6696808"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53" name="Line 13"/>
          <p:cNvSpPr>
            <a:spLocks noChangeShapeType="1"/>
          </p:cNvSpPr>
          <p:nvPr/>
        </p:nvSpPr>
        <p:spPr bwMode="auto">
          <a:xfrm flipV="1">
            <a:off x="6144358"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54" name="Line 14"/>
          <p:cNvSpPr>
            <a:spLocks noChangeShapeType="1"/>
          </p:cNvSpPr>
          <p:nvPr/>
        </p:nvSpPr>
        <p:spPr bwMode="auto">
          <a:xfrm flipV="1">
            <a:off x="5590443"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55" name="Line 15"/>
          <p:cNvSpPr>
            <a:spLocks noChangeShapeType="1"/>
          </p:cNvSpPr>
          <p:nvPr/>
        </p:nvSpPr>
        <p:spPr bwMode="auto">
          <a:xfrm flipV="1">
            <a:off x="5035062"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56" name="Line 16"/>
          <p:cNvSpPr>
            <a:spLocks noChangeShapeType="1"/>
          </p:cNvSpPr>
          <p:nvPr/>
        </p:nvSpPr>
        <p:spPr bwMode="auto">
          <a:xfrm flipV="1">
            <a:off x="4484077"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57" name="Line 17"/>
          <p:cNvSpPr>
            <a:spLocks noChangeShapeType="1"/>
          </p:cNvSpPr>
          <p:nvPr/>
        </p:nvSpPr>
        <p:spPr bwMode="auto">
          <a:xfrm flipV="1">
            <a:off x="3928697"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58" name="Line 18"/>
          <p:cNvSpPr>
            <a:spLocks noChangeShapeType="1"/>
          </p:cNvSpPr>
          <p:nvPr/>
        </p:nvSpPr>
        <p:spPr bwMode="auto">
          <a:xfrm flipV="1">
            <a:off x="3374781"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59" name="Line 19"/>
          <p:cNvSpPr>
            <a:spLocks noChangeShapeType="1"/>
          </p:cNvSpPr>
          <p:nvPr/>
        </p:nvSpPr>
        <p:spPr bwMode="auto">
          <a:xfrm flipV="1">
            <a:off x="2822331"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60" name="Line 20"/>
          <p:cNvSpPr>
            <a:spLocks noChangeShapeType="1"/>
          </p:cNvSpPr>
          <p:nvPr/>
        </p:nvSpPr>
        <p:spPr bwMode="auto">
          <a:xfrm flipV="1">
            <a:off x="2268415"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61" name="Line 21"/>
          <p:cNvSpPr>
            <a:spLocks noChangeShapeType="1"/>
          </p:cNvSpPr>
          <p:nvPr/>
        </p:nvSpPr>
        <p:spPr bwMode="auto">
          <a:xfrm flipV="1">
            <a:off x="7806104" y="3706813"/>
            <a:ext cx="0" cy="360362"/>
          </a:xfrm>
          <a:prstGeom prst="line">
            <a:avLst/>
          </a:prstGeom>
          <a:noFill/>
          <a:ln w="28575">
            <a:solidFill>
              <a:schemeClr val="tx1"/>
            </a:solidFill>
            <a:round/>
            <a:headEnd/>
            <a:tailEnd/>
          </a:ln>
          <a:effectLst/>
        </p:spPr>
        <p:txBody>
          <a:bodyPr wrap="none" anchor="ctr"/>
          <a:lstStyle/>
          <a:p>
            <a:endParaRPr lang="en-US"/>
          </a:p>
        </p:txBody>
      </p:sp>
      <p:sp>
        <p:nvSpPr>
          <p:cNvPr id="163862" name="Line 22"/>
          <p:cNvSpPr>
            <a:spLocks noChangeShapeType="1"/>
          </p:cNvSpPr>
          <p:nvPr/>
        </p:nvSpPr>
        <p:spPr bwMode="auto">
          <a:xfrm>
            <a:off x="2268415" y="3881438"/>
            <a:ext cx="550985" cy="0"/>
          </a:xfrm>
          <a:prstGeom prst="line">
            <a:avLst/>
          </a:prstGeom>
          <a:noFill/>
          <a:ln w="28575">
            <a:solidFill>
              <a:schemeClr val="tx1"/>
            </a:solidFill>
            <a:round/>
            <a:headEnd type="triangle" w="med" len="med"/>
            <a:tailEnd type="triangle" w="med" len="med"/>
          </a:ln>
          <a:effectLst/>
        </p:spPr>
        <p:txBody>
          <a:bodyPr wrap="none" anchor="ctr"/>
          <a:lstStyle/>
          <a:p>
            <a:endParaRPr lang="en-US"/>
          </a:p>
        </p:txBody>
      </p:sp>
      <p:sp>
        <p:nvSpPr>
          <p:cNvPr id="163863" name="Text Box 23"/>
          <p:cNvSpPr txBox="1">
            <a:spLocks noChangeArrowheads="1"/>
          </p:cNvSpPr>
          <p:nvPr/>
        </p:nvSpPr>
        <p:spPr bwMode="auto">
          <a:xfrm>
            <a:off x="2321170" y="3886200"/>
            <a:ext cx="436685" cy="457200"/>
          </a:xfrm>
          <a:prstGeom prst="rect">
            <a:avLst/>
          </a:prstGeom>
          <a:noFill/>
          <a:ln w="12700">
            <a:noFill/>
            <a:miter lim="800000"/>
            <a:headEnd/>
            <a:tailEnd/>
          </a:ln>
          <a:effectLst/>
        </p:spPr>
        <p:txBody>
          <a:bodyPr>
            <a:spAutoFit/>
          </a:bodyPr>
          <a:lstStyle/>
          <a:p>
            <a:pPr>
              <a:spcBef>
                <a:spcPct val="0"/>
              </a:spcBef>
              <a:spcAft>
                <a:spcPct val="0"/>
              </a:spcAft>
            </a:pPr>
            <a:r>
              <a:rPr lang="en-US" sz="2400" b="1">
                <a:effectLst/>
              </a:rPr>
              <a:t>t</a:t>
            </a:r>
            <a:r>
              <a:rPr lang="en-US" sz="2400" b="1" baseline="-25000">
                <a:effectLst/>
              </a:rPr>
              <a:t>q</a:t>
            </a:r>
            <a:endParaRPr lang="en-US" sz="2400" b="1">
              <a:effectLst/>
            </a:endParaRPr>
          </a:p>
        </p:txBody>
      </p:sp>
      <p:sp>
        <p:nvSpPr>
          <p:cNvPr id="163864" name="Text Box 24"/>
          <p:cNvSpPr txBox="1">
            <a:spLocks noChangeArrowheads="1"/>
          </p:cNvSpPr>
          <p:nvPr/>
        </p:nvSpPr>
        <p:spPr bwMode="auto">
          <a:xfrm>
            <a:off x="473320" y="655639"/>
            <a:ext cx="3714478" cy="584775"/>
          </a:xfrm>
          <a:prstGeom prst="rect">
            <a:avLst/>
          </a:prstGeom>
          <a:noFill/>
          <a:ln w="12700">
            <a:noFill/>
            <a:miter lim="800000"/>
            <a:headEnd/>
            <a:tailEnd/>
          </a:ln>
          <a:effectLst>
            <a:outerShdw dist="17961" dir="2700000" algn="ctr" rotWithShape="0">
              <a:schemeClr val="bg2"/>
            </a:outerShdw>
          </a:effectLst>
        </p:spPr>
        <p:txBody>
          <a:bodyPr wrap="none">
            <a:spAutoFit/>
          </a:bodyPr>
          <a:lstStyle/>
          <a:p>
            <a:pPr>
              <a:spcBef>
                <a:spcPct val="0"/>
              </a:spcBef>
              <a:spcAft>
                <a:spcPct val="0"/>
              </a:spcAft>
            </a:pPr>
            <a:r>
              <a:rPr lang="en-US" sz="3200" b="1" dirty="0">
                <a:solidFill>
                  <a:schemeClr val="accent1"/>
                </a:solidFill>
                <a:effectLst/>
              </a:rPr>
              <a:t>Bit time segments</a:t>
            </a:r>
          </a:p>
        </p:txBody>
      </p:sp>
      <p:sp>
        <p:nvSpPr>
          <p:cNvPr id="163865" name="Rectangle 25"/>
          <p:cNvSpPr>
            <a:spLocks noChangeArrowheads="1"/>
          </p:cNvSpPr>
          <p:nvPr/>
        </p:nvSpPr>
        <p:spPr bwMode="auto">
          <a:xfrm>
            <a:off x="1162050" y="3048000"/>
            <a:ext cx="550985" cy="539750"/>
          </a:xfrm>
          <a:prstGeom prst="rect">
            <a:avLst/>
          </a:prstGeom>
          <a:gradFill rotWithShape="0">
            <a:gsLst>
              <a:gs pos="0">
                <a:srgbClr val="EEB09A"/>
              </a:gs>
              <a:gs pos="100000">
                <a:srgbClr val="EEB09A">
                  <a:gamma/>
                  <a:shade val="66667"/>
                  <a:invGamma/>
                </a:srgbClr>
              </a:gs>
            </a:gsLst>
            <a:lin ang="5400000" scaled="1"/>
          </a:gradFill>
          <a:ln w="28575">
            <a:solidFill>
              <a:schemeClr val="tx1"/>
            </a:solidFill>
            <a:miter lim="800000"/>
            <a:headEnd/>
            <a:tailEnd/>
          </a:ln>
          <a:effectLst/>
        </p:spPr>
        <p:txBody>
          <a:bodyPr wrap="none" anchor="ctr"/>
          <a:lstStyle/>
          <a:p>
            <a:endParaRPr lang="en-US"/>
          </a:p>
        </p:txBody>
      </p:sp>
      <p:sp>
        <p:nvSpPr>
          <p:cNvPr id="163866" name="Rectangle 26"/>
          <p:cNvSpPr>
            <a:spLocks noChangeArrowheads="1"/>
          </p:cNvSpPr>
          <p:nvPr/>
        </p:nvSpPr>
        <p:spPr bwMode="auto">
          <a:xfrm>
            <a:off x="1713036" y="3048000"/>
            <a:ext cx="1661746" cy="539750"/>
          </a:xfrm>
          <a:prstGeom prst="rect">
            <a:avLst/>
          </a:prstGeom>
          <a:gradFill rotWithShape="0">
            <a:gsLst>
              <a:gs pos="0">
                <a:srgbClr val="FF91FF">
                  <a:gamma/>
                  <a:shade val="66667"/>
                  <a:invGamma/>
                </a:srgbClr>
              </a:gs>
              <a:gs pos="50000">
                <a:srgbClr val="FF91FF"/>
              </a:gs>
              <a:gs pos="100000">
                <a:srgbClr val="FF91FF">
                  <a:gamma/>
                  <a:shade val="66667"/>
                  <a:invGamma/>
                </a:srgbClr>
              </a:gs>
            </a:gsLst>
            <a:lin ang="5400000" scaled="1"/>
          </a:gradFill>
          <a:ln w="28575">
            <a:solidFill>
              <a:schemeClr val="tx1"/>
            </a:solidFill>
            <a:miter lim="800000"/>
            <a:headEnd/>
            <a:tailEnd/>
          </a:ln>
          <a:effectLst/>
        </p:spPr>
        <p:txBody>
          <a:bodyPr wrap="none" anchor="ctr"/>
          <a:lstStyle/>
          <a:p>
            <a:endParaRPr lang="en-US"/>
          </a:p>
        </p:txBody>
      </p:sp>
      <p:sp>
        <p:nvSpPr>
          <p:cNvPr id="163867" name="Rectangle 27"/>
          <p:cNvSpPr>
            <a:spLocks noChangeArrowheads="1"/>
          </p:cNvSpPr>
          <p:nvPr/>
        </p:nvSpPr>
        <p:spPr bwMode="auto">
          <a:xfrm>
            <a:off x="3374782" y="3048000"/>
            <a:ext cx="2212731" cy="539750"/>
          </a:xfrm>
          <a:prstGeom prst="rect">
            <a:avLst/>
          </a:prstGeom>
          <a:gradFill rotWithShape="0">
            <a:gsLst>
              <a:gs pos="0">
                <a:srgbClr val="9191E3">
                  <a:gamma/>
                  <a:shade val="66667"/>
                  <a:invGamma/>
                </a:srgbClr>
              </a:gs>
              <a:gs pos="50000">
                <a:srgbClr val="9191E3"/>
              </a:gs>
              <a:gs pos="100000">
                <a:srgbClr val="9191E3">
                  <a:gamma/>
                  <a:shade val="66667"/>
                  <a:invGamma/>
                </a:srgbClr>
              </a:gs>
            </a:gsLst>
            <a:lin ang="5400000" scaled="1"/>
          </a:gradFill>
          <a:ln w="28575">
            <a:solidFill>
              <a:schemeClr val="tx1"/>
            </a:solidFill>
            <a:miter lim="800000"/>
            <a:headEnd/>
            <a:tailEnd/>
          </a:ln>
          <a:effectLst/>
        </p:spPr>
        <p:txBody>
          <a:bodyPr wrap="none" anchor="ctr"/>
          <a:lstStyle/>
          <a:p>
            <a:endParaRPr lang="en-US"/>
          </a:p>
        </p:txBody>
      </p:sp>
      <p:sp>
        <p:nvSpPr>
          <p:cNvPr id="163868" name="Rectangle 28"/>
          <p:cNvSpPr>
            <a:spLocks noChangeArrowheads="1"/>
          </p:cNvSpPr>
          <p:nvPr/>
        </p:nvSpPr>
        <p:spPr bwMode="auto">
          <a:xfrm>
            <a:off x="5590443" y="3048000"/>
            <a:ext cx="2212731" cy="539750"/>
          </a:xfrm>
          <a:prstGeom prst="rect">
            <a:avLst/>
          </a:prstGeom>
          <a:gradFill rotWithShape="0">
            <a:gsLst>
              <a:gs pos="0">
                <a:srgbClr val="A7FFE8">
                  <a:gamma/>
                  <a:shade val="54510"/>
                  <a:invGamma/>
                </a:srgbClr>
              </a:gs>
              <a:gs pos="50000">
                <a:srgbClr val="A7FFE8"/>
              </a:gs>
              <a:gs pos="100000">
                <a:srgbClr val="A7FFE8">
                  <a:gamma/>
                  <a:shade val="54510"/>
                  <a:invGamma/>
                </a:srgbClr>
              </a:gs>
            </a:gsLst>
            <a:lin ang="5400000" scaled="1"/>
          </a:gradFill>
          <a:ln w="28575">
            <a:solidFill>
              <a:schemeClr val="tx1"/>
            </a:solidFill>
            <a:miter lim="800000"/>
            <a:headEnd/>
            <a:tailEnd/>
          </a:ln>
          <a:effectLst/>
        </p:spPr>
        <p:txBody>
          <a:bodyPr wrap="none" anchor="ctr"/>
          <a:lstStyle/>
          <a:p>
            <a:endParaRPr lang="en-US"/>
          </a:p>
        </p:txBody>
      </p:sp>
      <p:sp>
        <p:nvSpPr>
          <p:cNvPr id="163869" name="Rectangle 29"/>
          <p:cNvSpPr>
            <a:spLocks noChangeArrowheads="1"/>
          </p:cNvSpPr>
          <p:nvPr/>
        </p:nvSpPr>
        <p:spPr bwMode="auto">
          <a:xfrm>
            <a:off x="2602523" y="4592639"/>
            <a:ext cx="165589" cy="179387"/>
          </a:xfrm>
          <a:prstGeom prst="rect">
            <a:avLst/>
          </a:prstGeom>
          <a:solidFill>
            <a:srgbClr val="EEB09A"/>
          </a:solidFill>
          <a:ln w="19050">
            <a:solidFill>
              <a:schemeClr val="tx1"/>
            </a:solidFill>
            <a:miter lim="800000"/>
            <a:headEnd/>
            <a:tailEnd/>
          </a:ln>
          <a:effectLst/>
        </p:spPr>
        <p:txBody>
          <a:bodyPr wrap="none" anchor="ctr"/>
          <a:lstStyle/>
          <a:p>
            <a:endParaRPr lang="en-US"/>
          </a:p>
        </p:txBody>
      </p:sp>
      <p:sp>
        <p:nvSpPr>
          <p:cNvPr id="163870" name="Text Box 30"/>
          <p:cNvSpPr txBox="1">
            <a:spLocks noChangeArrowheads="1"/>
          </p:cNvSpPr>
          <p:nvPr/>
        </p:nvSpPr>
        <p:spPr bwMode="auto">
          <a:xfrm>
            <a:off x="2935166" y="4522788"/>
            <a:ext cx="1040670" cy="307777"/>
          </a:xfrm>
          <a:prstGeom prst="rect">
            <a:avLst/>
          </a:prstGeom>
          <a:noFill/>
          <a:ln w="12700">
            <a:noFill/>
            <a:miter lim="800000"/>
            <a:headEnd/>
            <a:tailEnd/>
          </a:ln>
          <a:effectLst/>
        </p:spPr>
        <p:txBody>
          <a:bodyPr wrap="none">
            <a:spAutoFit/>
          </a:bodyPr>
          <a:lstStyle/>
          <a:p>
            <a:pPr algn="l">
              <a:spcBef>
                <a:spcPct val="0"/>
              </a:spcBef>
              <a:spcAft>
                <a:spcPct val="0"/>
              </a:spcAft>
            </a:pPr>
            <a:r>
              <a:rPr lang="en-US" sz="1400" b="1" i="1">
                <a:solidFill>
                  <a:srgbClr val="D25123"/>
                </a:solidFill>
                <a:effectLst/>
              </a:rPr>
              <a:t>Sync_Seg</a:t>
            </a:r>
            <a:endParaRPr lang="en-US" sz="1400" b="1">
              <a:effectLst/>
            </a:endParaRPr>
          </a:p>
        </p:txBody>
      </p:sp>
      <p:sp>
        <p:nvSpPr>
          <p:cNvPr id="163871" name="Rectangle 31"/>
          <p:cNvSpPr>
            <a:spLocks noChangeArrowheads="1"/>
          </p:cNvSpPr>
          <p:nvPr/>
        </p:nvSpPr>
        <p:spPr bwMode="auto">
          <a:xfrm>
            <a:off x="2602523" y="4916489"/>
            <a:ext cx="165589" cy="179387"/>
          </a:xfrm>
          <a:prstGeom prst="rect">
            <a:avLst/>
          </a:prstGeom>
          <a:solidFill>
            <a:srgbClr val="FF91FF"/>
          </a:solidFill>
          <a:ln w="19050">
            <a:solidFill>
              <a:schemeClr val="tx1"/>
            </a:solidFill>
            <a:miter lim="800000"/>
            <a:headEnd/>
            <a:tailEnd/>
          </a:ln>
          <a:effectLst/>
        </p:spPr>
        <p:txBody>
          <a:bodyPr wrap="none" anchor="ctr"/>
          <a:lstStyle/>
          <a:p>
            <a:endParaRPr lang="en-US"/>
          </a:p>
        </p:txBody>
      </p:sp>
      <p:sp>
        <p:nvSpPr>
          <p:cNvPr id="163872" name="Text Box 32"/>
          <p:cNvSpPr txBox="1">
            <a:spLocks noChangeArrowheads="1"/>
          </p:cNvSpPr>
          <p:nvPr/>
        </p:nvSpPr>
        <p:spPr bwMode="auto">
          <a:xfrm>
            <a:off x="2935167" y="4846638"/>
            <a:ext cx="1021433" cy="307777"/>
          </a:xfrm>
          <a:prstGeom prst="rect">
            <a:avLst/>
          </a:prstGeom>
          <a:noFill/>
          <a:ln w="12700">
            <a:noFill/>
            <a:miter lim="800000"/>
            <a:headEnd/>
            <a:tailEnd/>
          </a:ln>
          <a:effectLst/>
        </p:spPr>
        <p:txBody>
          <a:bodyPr wrap="none">
            <a:spAutoFit/>
          </a:bodyPr>
          <a:lstStyle/>
          <a:p>
            <a:pPr algn="l">
              <a:spcBef>
                <a:spcPct val="0"/>
              </a:spcBef>
              <a:spcAft>
                <a:spcPct val="0"/>
              </a:spcAft>
            </a:pPr>
            <a:r>
              <a:rPr lang="en-US" sz="1400" b="1" i="1">
                <a:solidFill>
                  <a:srgbClr val="660066"/>
                </a:solidFill>
                <a:effectLst/>
              </a:rPr>
              <a:t>Prop_Seg</a:t>
            </a:r>
            <a:endParaRPr lang="en-US" sz="1400" b="1">
              <a:effectLst/>
            </a:endParaRPr>
          </a:p>
        </p:txBody>
      </p:sp>
      <p:sp>
        <p:nvSpPr>
          <p:cNvPr id="163873" name="Rectangle 33"/>
          <p:cNvSpPr>
            <a:spLocks noChangeArrowheads="1"/>
          </p:cNvSpPr>
          <p:nvPr/>
        </p:nvSpPr>
        <p:spPr bwMode="auto">
          <a:xfrm>
            <a:off x="2602523" y="5240339"/>
            <a:ext cx="165589" cy="179387"/>
          </a:xfrm>
          <a:prstGeom prst="rect">
            <a:avLst/>
          </a:prstGeom>
          <a:solidFill>
            <a:srgbClr val="9191E3"/>
          </a:solidFill>
          <a:ln w="19050">
            <a:solidFill>
              <a:schemeClr val="tx1"/>
            </a:solidFill>
            <a:miter lim="800000"/>
            <a:headEnd/>
            <a:tailEnd/>
          </a:ln>
          <a:effectLst/>
        </p:spPr>
        <p:txBody>
          <a:bodyPr wrap="none" anchor="ctr"/>
          <a:lstStyle/>
          <a:p>
            <a:endParaRPr lang="en-US"/>
          </a:p>
        </p:txBody>
      </p:sp>
      <p:sp>
        <p:nvSpPr>
          <p:cNvPr id="163874" name="Rectangle 34"/>
          <p:cNvSpPr>
            <a:spLocks noChangeArrowheads="1"/>
          </p:cNvSpPr>
          <p:nvPr/>
        </p:nvSpPr>
        <p:spPr bwMode="auto">
          <a:xfrm>
            <a:off x="2602523" y="5564189"/>
            <a:ext cx="165589" cy="179387"/>
          </a:xfrm>
          <a:prstGeom prst="rect">
            <a:avLst/>
          </a:prstGeom>
          <a:solidFill>
            <a:srgbClr val="A7FFE8"/>
          </a:solidFill>
          <a:ln w="19050">
            <a:solidFill>
              <a:schemeClr val="tx1"/>
            </a:solidFill>
            <a:miter lim="800000"/>
            <a:headEnd/>
            <a:tailEnd/>
          </a:ln>
          <a:effectLst/>
        </p:spPr>
        <p:txBody>
          <a:bodyPr wrap="none" anchor="ctr"/>
          <a:lstStyle/>
          <a:p>
            <a:endParaRPr lang="en-US"/>
          </a:p>
        </p:txBody>
      </p:sp>
      <p:sp>
        <p:nvSpPr>
          <p:cNvPr id="163875" name="Text Box 35"/>
          <p:cNvSpPr txBox="1">
            <a:spLocks noChangeArrowheads="1"/>
          </p:cNvSpPr>
          <p:nvPr/>
        </p:nvSpPr>
        <p:spPr bwMode="auto">
          <a:xfrm>
            <a:off x="2935166" y="5494338"/>
            <a:ext cx="1239442" cy="307777"/>
          </a:xfrm>
          <a:prstGeom prst="rect">
            <a:avLst/>
          </a:prstGeom>
          <a:noFill/>
          <a:ln w="12700">
            <a:noFill/>
            <a:miter lim="800000"/>
            <a:headEnd/>
            <a:tailEnd/>
          </a:ln>
          <a:effectLst/>
        </p:spPr>
        <p:txBody>
          <a:bodyPr wrap="none">
            <a:spAutoFit/>
          </a:bodyPr>
          <a:lstStyle/>
          <a:p>
            <a:pPr algn="l">
              <a:spcBef>
                <a:spcPct val="0"/>
              </a:spcBef>
              <a:spcAft>
                <a:spcPct val="0"/>
              </a:spcAft>
            </a:pPr>
            <a:r>
              <a:rPr lang="en-US" sz="1400" b="1" i="1">
                <a:solidFill>
                  <a:srgbClr val="009C73"/>
                </a:solidFill>
                <a:effectLst/>
              </a:rPr>
              <a:t>Phase_Seg2</a:t>
            </a:r>
            <a:endParaRPr lang="en-US" sz="1400" b="1">
              <a:effectLst/>
            </a:endParaRPr>
          </a:p>
        </p:txBody>
      </p:sp>
      <p:sp>
        <p:nvSpPr>
          <p:cNvPr id="163876" name="Text Box 36"/>
          <p:cNvSpPr txBox="1">
            <a:spLocks noChangeArrowheads="1"/>
          </p:cNvSpPr>
          <p:nvPr/>
        </p:nvSpPr>
        <p:spPr bwMode="auto">
          <a:xfrm>
            <a:off x="2935166" y="5170488"/>
            <a:ext cx="1239442" cy="307777"/>
          </a:xfrm>
          <a:prstGeom prst="rect">
            <a:avLst/>
          </a:prstGeom>
          <a:noFill/>
          <a:ln w="12700">
            <a:noFill/>
            <a:miter lim="800000"/>
            <a:headEnd/>
            <a:tailEnd/>
          </a:ln>
          <a:effectLst/>
        </p:spPr>
        <p:txBody>
          <a:bodyPr wrap="none">
            <a:spAutoFit/>
          </a:bodyPr>
          <a:lstStyle/>
          <a:p>
            <a:pPr algn="l">
              <a:spcBef>
                <a:spcPct val="0"/>
              </a:spcBef>
              <a:spcAft>
                <a:spcPct val="0"/>
              </a:spcAft>
            </a:pPr>
            <a:r>
              <a:rPr lang="en-US" sz="1400" b="1" i="1">
                <a:solidFill>
                  <a:schemeClr val="accent2"/>
                </a:solidFill>
                <a:effectLst/>
              </a:rPr>
              <a:t>Phase_Seg</a:t>
            </a:r>
            <a:r>
              <a:rPr lang="en-US" sz="1400" b="1">
                <a:solidFill>
                  <a:schemeClr val="accent2"/>
                </a:solidFill>
                <a:effectLst/>
              </a:rPr>
              <a:t>1</a:t>
            </a:r>
            <a:endParaRPr lang="en-US" sz="1400" b="1">
              <a:effectLst/>
            </a:endParaRPr>
          </a:p>
        </p:txBody>
      </p:sp>
      <p:sp>
        <p:nvSpPr>
          <p:cNvPr id="163877" name="Text Box 37"/>
          <p:cNvSpPr txBox="1">
            <a:spLocks noChangeArrowheads="1"/>
          </p:cNvSpPr>
          <p:nvPr/>
        </p:nvSpPr>
        <p:spPr bwMode="auto">
          <a:xfrm>
            <a:off x="4164624" y="4522788"/>
            <a:ext cx="2382383" cy="307777"/>
          </a:xfrm>
          <a:prstGeom prst="rect">
            <a:avLst/>
          </a:prstGeom>
          <a:noFill/>
          <a:ln w="12700">
            <a:noFill/>
            <a:miter lim="800000"/>
            <a:headEnd/>
            <a:tailEnd/>
          </a:ln>
          <a:effectLst/>
        </p:spPr>
        <p:txBody>
          <a:bodyPr wrap="none">
            <a:spAutoFit/>
          </a:bodyPr>
          <a:lstStyle/>
          <a:p>
            <a:pPr algn="l">
              <a:spcBef>
                <a:spcPct val="0"/>
              </a:spcBef>
              <a:spcAft>
                <a:spcPct val="0"/>
              </a:spcAft>
            </a:pPr>
            <a:r>
              <a:rPr lang="en-US" sz="1400" b="1">
                <a:effectLst/>
              </a:rPr>
              <a:t>Synchronization Segment</a:t>
            </a:r>
          </a:p>
        </p:txBody>
      </p:sp>
      <p:sp>
        <p:nvSpPr>
          <p:cNvPr id="163878" name="Text Box 38"/>
          <p:cNvSpPr txBox="1">
            <a:spLocks noChangeArrowheads="1"/>
          </p:cNvSpPr>
          <p:nvPr/>
        </p:nvSpPr>
        <p:spPr bwMode="auto">
          <a:xfrm>
            <a:off x="4164623" y="4846638"/>
            <a:ext cx="2499339" cy="307777"/>
          </a:xfrm>
          <a:prstGeom prst="rect">
            <a:avLst/>
          </a:prstGeom>
          <a:noFill/>
          <a:ln w="12700">
            <a:noFill/>
            <a:miter lim="800000"/>
            <a:headEnd/>
            <a:tailEnd/>
          </a:ln>
          <a:effectLst/>
        </p:spPr>
        <p:txBody>
          <a:bodyPr wrap="none">
            <a:spAutoFit/>
          </a:bodyPr>
          <a:lstStyle/>
          <a:p>
            <a:pPr algn="l">
              <a:spcBef>
                <a:spcPct val="0"/>
              </a:spcBef>
              <a:spcAft>
                <a:spcPct val="0"/>
              </a:spcAft>
            </a:pPr>
            <a:r>
              <a:rPr lang="en-US" sz="1400" b="1">
                <a:effectLst/>
              </a:rPr>
              <a:t>Propagation Time Segment</a:t>
            </a:r>
          </a:p>
        </p:txBody>
      </p:sp>
      <p:sp>
        <p:nvSpPr>
          <p:cNvPr id="163879" name="Text Box 39"/>
          <p:cNvSpPr txBox="1">
            <a:spLocks noChangeArrowheads="1"/>
          </p:cNvSpPr>
          <p:nvPr/>
        </p:nvSpPr>
        <p:spPr bwMode="auto">
          <a:xfrm>
            <a:off x="4164623" y="5494338"/>
            <a:ext cx="2244525" cy="307777"/>
          </a:xfrm>
          <a:prstGeom prst="rect">
            <a:avLst/>
          </a:prstGeom>
          <a:noFill/>
          <a:ln w="12700">
            <a:noFill/>
            <a:miter lim="800000"/>
            <a:headEnd/>
            <a:tailEnd/>
          </a:ln>
          <a:effectLst/>
        </p:spPr>
        <p:txBody>
          <a:bodyPr wrap="none">
            <a:spAutoFit/>
          </a:bodyPr>
          <a:lstStyle/>
          <a:p>
            <a:pPr algn="l">
              <a:spcBef>
                <a:spcPct val="0"/>
              </a:spcBef>
              <a:spcAft>
                <a:spcPct val="0"/>
              </a:spcAft>
            </a:pPr>
            <a:r>
              <a:rPr lang="en-US" sz="1400" b="1">
                <a:effectLst/>
              </a:rPr>
              <a:t>Phase Buffer Segment 2</a:t>
            </a:r>
          </a:p>
        </p:txBody>
      </p:sp>
      <p:sp>
        <p:nvSpPr>
          <p:cNvPr id="163880" name="Text Box 40"/>
          <p:cNvSpPr txBox="1">
            <a:spLocks noChangeArrowheads="1"/>
          </p:cNvSpPr>
          <p:nvPr/>
        </p:nvSpPr>
        <p:spPr bwMode="auto">
          <a:xfrm>
            <a:off x="4164623" y="5170488"/>
            <a:ext cx="2244525" cy="307777"/>
          </a:xfrm>
          <a:prstGeom prst="rect">
            <a:avLst/>
          </a:prstGeom>
          <a:noFill/>
          <a:ln w="12700">
            <a:noFill/>
            <a:miter lim="800000"/>
            <a:headEnd/>
            <a:tailEnd/>
          </a:ln>
          <a:effectLst/>
        </p:spPr>
        <p:txBody>
          <a:bodyPr wrap="none">
            <a:spAutoFit/>
          </a:bodyPr>
          <a:lstStyle/>
          <a:p>
            <a:pPr algn="l">
              <a:spcBef>
                <a:spcPct val="0"/>
              </a:spcBef>
              <a:spcAft>
                <a:spcPct val="0"/>
              </a:spcAft>
            </a:pPr>
            <a:r>
              <a:rPr lang="en-US" sz="1400" b="1">
                <a:effectLst/>
              </a:rPr>
              <a:t>Phase Buffer Segment 1</a:t>
            </a:r>
          </a:p>
        </p:txBody>
      </p:sp>
      <p:sp>
        <p:nvSpPr>
          <p:cNvPr id="163845" name="Line 5"/>
          <p:cNvSpPr>
            <a:spLocks noChangeShapeType="1"/>
          </p:cNvSpPr>
          <p:nvPr/>
        </p:nvSpPr>
        <p:spPr bwMode="auto">
          <a:xfrm>
            <a:off x="1162051" y="2708275"/>
            <a:ext cx="6644054" cy="0"/>
          </a:xfrm>
          <a:prstGeom prst="line">
            <a:avLst/>
          </a:prstGeom>
          <a:noFill/>
          <a:ln w="28575">
            <a:solidFill>
              <a:schemeClr val="tx1"/>
            </a:solidFill>
            <a:round/>
            <a:headEnd type="triangle" w="med" len="med"/>
            <a:tailEnd type="triangle" w="med" len="med"/>
          </a:ln>
          <a:effectLst/>
        </p:spPr>
        <p:txBody>
          <a:bodyPr wrap="none" anchor="ctr"/>
          <a:lstStyle/>
          <a:p>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 Timing Requirements</a:t>
            </a:r>
            <a:endParaRPr lang="en-US" dirty="0"/>
          </a:p>
        </p:txBody>
      </p:sp>
      <p:sp>
        <p:nvSpPr>
          <p:cNvPr id="3" name="Content Placeholder 2"/>
          <p:cNvSpPr>
            <a:spLocks noGrp="1"/>
          </p:cNvSpPr>
          <p:nvPr>
            <p:ph idx="1"/>
          </p:nvPr>
        </p:nvSpPr>
        <p:spPr/>
        <p:txBody>
          <a:bodyPr>
            <a:normAutofit fontScale="77500" lnSpcReduction="20000"/>
          </a:bodyPr>
          <a:lstStyle/>
          <a:p>
            <a:pPr marL="342900" indent="-342900">
              <a:buNone/>
            </a:pPr>
            <a:r>
              <a:rPr lang="en-US" dirty="0" smtClean="0">
                <a:solidFill>
                  <a:srgbClr val="FF0000"/>
                </a:solidFill>
              </a:rPr>
              <a:t>Synchronization Segment</a:t>
            </a:r>
          </a:p>
          <a:p>
            <a:pPr marL="342900" indent="-342900"/>
            <a:r>
              <a:rPr lang="en-US" dirty="0" smtClean="0"/>
              <a:t>Used to synchronize the nodes in the bus</a:t>
            </a:r>
          </a:p>
          <a:p>
            <a:pPr marL="342900" indent="-342900"/>
            <a:r>
              <a:rPr lang="en-US" dirty="0" smtClean="0"/>
              <a:t>One quantum long</a:t>
            </a:r>
          </a:p>
          <a:p>
            <a:pPr marL="342900" indent="-342900"/>
            <a:r>
              <a:rPr lang="en-US" dirty="0" smtClean="0"/>
              <a:t> A bit edge is expected to take place during this synchronization segment when the data changes on the bus.</a:t>
            </a:r>
          </a:p>
          <a:p>
            <a:pPr marL="342900" indent="-342900">
              <a:buNone/>
            </a:pPr>
            <a:r>
              <a:rPr lang="en-US" dirty="0" smtClean="0">
                <a:solidFill>
                  <a:srgbClr val="FF0000"/>
                </a:solidFill>
              </a:rPr>
              <a:t>Propagation Segment</a:t>
            </a:r>
          </a:p>
          <a:p>
            <a:pPr marL="342900" indent="-342900"/>
            <a:r>
              <a:rPr lang="en-US" dirty="0" smtClean="0"/>
              <a:t>Used to compensate for physical delay times within the bus</a:t>
            </a:r>
          </a:p>
          <a:p>
            <a:pPr marL="342900" indent="-342900"/>
            <a:r>
              <a:rPr lang="en-US" dirty="0" smtClean="0"/>
              <a:t>It is programmable from 1 to 8 quant long</a:t>
            </a:r>
          </a:p>
          <a:p>
            <a:pPr marL="342900" indent="-342900">
              <a:buNone/>
            </a:pPr>
            <a:r>
              <a:rPr lang="en-US" dirty="0" smtClean="0">
                <a:solidFill>
                  <a:srgbClr val="FF0000"/>
                </a:solidFill>
              </a:rPr>
              <a:t>Phase Segment 1</a:t>
            </a:r>
          </a:p>
          <a:p>
            <a:pPr marL="342900" indent="-342900"/>
            <a:r>
              <a:rPr lang="en-US" dirty="0" smtClean="0"/>
              <a:t>This is a buffer segment that can be lengthened during resynchronization to compensate for oscillator drift and positive phase differences between the oscillators of the transmitting and receiving nodes. </a:t>
            </a:r>
          </a:p>
          <a:p>
            <a:pPr marL="342900" indent="-342900"/>
            <a:r>
              <a:rPr lang="en-US" dirty="0" smtClean="0"/>
              <a:t>It is programmable from one to eight time quanta long.</a:t>
            </a:r>
            <a:endParaRPr lang="en-US" dirty="0" smtClean="0">
              <a:solidFill>
                <a:srgbClr val="FF0000"/>
              </a:solidFill>
            </a:endParaRPr>
          </a:p>
          <a:p>
            <a:pPr marL="342900" indent="-342900">
              <a:buNone/>
            </a:pPr>
            <a:r>
              <a:rPr lang="en-US" dirty="0" smtClean="0">
                <a:solidFill>
                  <a:srgbClr val="FF0000"/>
                </a:solidFill>
              </a:rPr>
              <a:t>Phase Segment 2</a:t>
            </a:r>
          </a:p>
          <a:p>
            <a:pPr marL="342900" indent="-342900"/>
            <a:r>
              <a:rPr lang="en-US" dirty="0" smtClean="0"/>
              <a:t>This is a buffer segment that can be shortened during resynchronization to compensate for oscillator drift and negative phase differences between the oscillators of the transmitting and receiving nodes. </a:t>
            </a:r>
          </a:p>
          <a:p>
            <a:pPr marL="342900" indent="-342900"/>
            <a:r>
              <a:rPr lang="en-US" dirty="0" smtClean="0"/>
              <a:t>It is Phase Segment 1 + Information Processing  time long( It is the time segment starting from Sample point and is less than or equal to 2 quanta).</a:t>
            </a:r>
            <a:endParaRPr lang="en-US" dirty="0" smtClean="0">
              <a:solidFill>
                <a:srgbClr val="FF0000"/>
              </a:solidFill>
            </a:endParaRPr>
          </a:p>
          <a:p>
            <a:pPr marL="342900" indent="-342900">
              <a:buNone/>
            </a:pPr>
            <a:endParaRPr lang="en-US" dirty="0" smtClean="0">
              <a:solidFill>
                <a:srgbClr val="FF0000"/>
              </a:solidFill>
            </a:endParaRPr>
          </a:p>
          <a:p>
            <a:pPr>
              <a:buNone/>
            </a:pPr>
            <a:endParaRPr lang="en-US" dirty="0" smtClean="0"/>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Synchronization</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So if a node is a receiver, it has to synchronize itself with the transmitter. How does it synchronizes?</a:t>
            </a:r>
          </a:p>
          <a:p>
            <a:r>
              <a:rPr lang="en-US" dirty="0" smtClean="0"/>
              <a:t>There are two ways of synchronization</a:t>
            </a:r>
          </a:p>
          <a:p>
            <a:pPr marL="342900" indent="-342900">
              <a:buNone/>
            </a:pPr>
            <a:r>
              <a:rPr lang="en-US" dirty="0" smtClean="0">
                <a:solidFill>
                  <a:srgbClr val="FF0000"/>
                </a:solidFill>
              </a:rPr>
              <a:t>Hard Synchronization</a:t>
            </a:r>
          </a:p>
          <a:p>
            <a:pPr marL="342900" indent="-342900"/>
            <a:r>
              <a:rPr lang="en-US" dirty="0" smtClean="0"/>
              <a:t>It occurs at the Start-of-Frame or at the transition of the start bit. </a:t>
            </a:r>
          </a:p>
          <a:p>
            <a:pPr marL="342900" indent="-342900"/>
            <a:r>
              <a:rPr lang="en-US" dirty="0" smtClean="0"/>
              <a:t>The bit time is restarted from that edge.</a:t>
            </a:r>
          </a:p>
          <a:p>
            <a:pPr marL="342900" indent="-342900">
              <a:buNone/>
            </a:pPr>
            <a:r>
              <a:rPr lang="en-US" dirty="0" smtClean="0">
                <a:solidFill>
                  <a:srgbClr val="FF0000"/>
                </a:solidFill>
              </a:rPr>
              <a:t>Resynchronization</a:t>
            </a:r>
          </a:p>
          <a:p>
            <a:pPr marL="342900" indent="-342900"/>
            <a:r>
              <a:rPr lang="en-US" dirty="0" smtClean="0"/>
              <a:t>If there is oscillator drift and phase differences between transmitter and receiver oscillators, additional synchronization is needed to compensate them. </a:t>
            </a:r>
          </a:p>
          <a:p>
            <a:pPr marL="342900" indent="-342900"/>
            <a:r>
              <a:rPr lang="en-US" dirty="0" smtClean="0"/>
              <a:t>A bit edge is expected to take place during this synchronization segment when the data changes on the bus. If that does not happen, resynchronization is required.</a:t>
            </a:r>
          </a:p>
          <a:p>
            <a:pPr marL="342900" indent="-342900"/>
            <a:r>
              <a:rPr lang="en-US" dirty="0" smtClean="0"/>
              <a:t>How it happens is, one of the phase segments are either shortened or lengthened depending upon the </a:t>
            </a:r>
            <a:r>
              <a:rPr lang="en-US" dirty="0" smtClean="0">
                <a:solidFill>
                  <a:srgbClr val="FF0000"/>
                </a:solidFill>
              </a:rPr>
              <a:t>phase error. </a:t>
            </a:r>
          </a:p>
          <a:p>
            <a:pPr marL="342900" indent="-342900"/>
            <a:r>
              <a:rPr lang="en-US" dirty="0" smtClean="0"/>
              <a:t>How much we can shorten or lengthen depends upon the </a:t>
            </a:r>
            <a:r>
              <a:rPr lang="en-US" dirty="0" smtClean="0">
                <a:solidFill>
                  <a:srgbClr val="FF0000"/>
                </a:solidFill>
              </a:rPr>
              <a:t>Synchronization Jump Width parameter (SJW).</a:t>
            </a:r>
          </a:p>
          <a:p>
            <a:pPr marL="342900" indent="-342900"/>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8" name="Text Box 6"/>
          <p:cNvSpPr txBox="1">
            <a:spLocks noChangeArrowheads="1"/>
          </p:cNvSpPr>
          <p:nvPr/>
        </p:nvSpPr>
        <p:spPr bwMode="auto">
          <a:xfrm>
            <a:off x="351693" y="655639"/>
            <a:ext cx="6606296" cy="584775"/>
          </a:xfrm>
          <a:prstGeom prst="rect">
            <a:avLst/>
          </a:prstGeom>
          <a:noFill/>
          <a:ln w="12700">
            <a:noFill/>
            <a:miter lim="800000"/>
            <a:headEnd/>
            <a:tailEnd/>
          </a:ln>
          <a:effectLst>
            <a:outerShdw dist="17961" dir="2700000" algn="ctr" rotWithShape="0">
              <a:schemeClr val="bg2"/>
            </a:outerShdw>
          </a:effectLst>
        </p:spPr>
        <p:txBody>
          <a:bodyPr wrap="none">
            <a:spAutoFit/>
          </a:bodyPr>
          <a:lstStyle/>
          <a:p>
            <a:pPr>
              <a:spcBef>
                <a:spcPct val="0"/>
              </a:spcBef>
              <a:spcAft>
                <a:spcPct val="0"/>
              </a:spcAft>
            </a:pPr>
            <a:r>
              <a:rPr lang="en-US" sz="3200" b="1" dirty="0">
                <a:solidFill>
                  <a:schemeClr val="accent1"/>
                </a:solidFill>
                <a:effectLst/>
              </a:rPr>
              <a:t>Adjustable controller parameters</a:t>
            </a:r>
          </a:p>
        </p:txBody>
      </p:sp>
      <p:sp>
        <p:nvSpPr>
          <p:cNvPr id="172039" name="Text Box 7"/>
          <p:cNvSpPr txBox="1">
            <a:spLocks noChangeArrowheads="1"/>
          </p:cNvSpPr>
          <p:nvPr/>
        </p:nvSpPr>
        <p:spPr bwMode="auto">
          <a:xfrm>
            <a:off x="1062405" y="3124200"/>
            <a:ext cx="1026243" cy="2246769"/>
          </a:xfrm>
          <a:prstGeom prst="rect">
            <a:avLst/>
          </a:prstGeom>
          <a:noFill/>
          <a:ln w="12700">
            <a:noFill/>
            <a:miter lim="800000"/>
            <a:headEnd/>
            <a:tailEnd/>
          </a:ln>
          <a:effectLst/>
        </p:spPr>
        <p:txBody>
          <a:bodyPr wrap="none">
            <a:spAutoFit/>
          </a:bodyPr>
          <a:lstStyle/>
          <a:p>
            <a:pPr algn="l">
              <a:spcBef>
                <a:spcPct val="0"/>
              </a:spcBef>
              <a:spcAft>
                <a:spcPct val="0"/>
              </a:spcAft>
            </a:pPr>
            <a:r>
              <a:rPr lang="en-US" sz="2000" b="1">
                <a:solidFill>
                  <a:srgbClr val="000099"/>
                </a:solidFill>
                <a:effectLst/>
              </a:rPr>
              <a:t>TSEG1</a:t>
            </a:r>
          </a:p>
          <a:p>
            <a:pPr algn="l">
              <a:spcBef>
                <a:spcPct val="0"/>
              </a:spcBef>
              <a:spcAft>
                <a:spcPct val="0"/>
              </a:spcAft>
            </a:pPr>
            <a:endParaRPr lang="en-US" b="1">
              <a:solidFill>
                <a:srgbClr val="000099"/>
              </a:solidFill>
              <a:effectLst/>
            </a:endParaRPr>
          </a:p>
          <a:p>
            <a:pPr algn="l">
              <a:spcBef>
                <a:spcPct val="0"/>
              </a:spcBef>
              <a:spcAft>
                <a:spcPct val="0"/>
              </a:spcAft>
            </a:pPr>
            <a:endParaRPr lang="en-US" sz="800" b="1">
              <a:solidFill>
                <a:srgbClr val="000099"/>
              </a:solidFill>
              <a:effectLst/>
            </a:endParaRPr>
          </a:p>
          <a:p>
            <a:pPr algn="l">
              <a:spcBef>
                <a:spcPct val="0"/>
              </a:spcBef>
              <a:spcAft>
                <a:spcPct val="0"/>
              </a:spcAft>
            </a:pPr>
            <a:r>
              <a:rPr lang="en-US" sz="2000" b="1">
                <a:solidFill>
                  <a:srgbClr val="000099"/>
                </a:solidFill>
                <a:effectLst/>
              </a:rPr>
              <a:t>TSEG2</a:t>
            </a:r>
          </a:p>
          <a:p>
            <a:pPr algn="l">
              <a:spcBef>
                <a:spcPct val="0"/>
              </a:spcBef>
              <a:spcAft>
                <a:spcPct val="0"/>
              </a:spcAft>
            </a:pPr>
            <a:endParaRPr lang="en-US" b="1">
              <a:solidFill>
                <a:srgbClr val="000099"/>
              </a:solidFill>
              <a:effectLst/>
            </a:endParaRPr>
          </a:p>
          <a:p>
            <a:pPr algn="l">
              <a:spcBef>
                <a:spcPct val="0"/>
              </a:spcBef>
              <a:spcAft>
                <a:spcPct val="0"/>
              </a:spcAft>
            </a:pPr>
            <a:endParaRPr lang="en-US" sz="800" b="1">
              <a:solidFill>
                <a:srgbClr val="000099"/>
              </a:solidFill>
              <a:effectLst/>
            </a:endParaRPr>
          </a:p>
          <a:p>
            <a:pPr algn="l">
              <a:spcBef>
                <a:spcPct val="0"/>
              </a:spcBef>
              <a:spcAft>
                <a:spcPct val="0"/>
              </a:spcAft>
            </a:pPr>
            <a:r>
              <a:rPr lang="en-US" sz="2000" b="1">
                <a:solidFill>
                  <a:srgbClr val="000099"/>
                </a:solidFill>
                <a:effectLst/>
              </a:rPr>
              <a:t>BRP</a:t>
            </a:r>
          </a:p>
          <a:p>
            <a:pPr algn="l">
              <a:spcBef>
                <a:spcPct val="0"/>
              </a:spcBef>
              <a:spcAft>
                <a:spcPct val="0"/>
              </a:spcAft>
            </a:pPr>
            <a:endParaRPr lang="en-US" sz="800" b="1">
              <a:solidFill>
                <a:srgbClr val="000099"/>
              </a:solidFill>
              <a:effectLst/>
            </a:endParaRPr>
          </a:p>
          <a:p>
            <a:pPr algn="l">
              <a:spcBef>
                <a:spcPct val="0"/>
              </a:spcBef>
              <a:spcAft>
                <a:spcPct val="0"/>
              </a:spcAft>
            </a:pPr>
            <a:r>
              <a:rPr lang="en-US" sz="2000" b="1">
                <a:solidFill>
                  <a:srgbClr val="000099"/>
                </a:solidFill>
                <a:effectLst/>
              </a:rPr>
              <a:t>SJW</a:t>
            </a:r>
          </a:p>
        </p:txBody>
      </p:sp>
      <p:sp>
        <p:nvSpPr>
          <p:cNvPr id="172040" name="Text Box 8"/>
          <p:cNvSpPr txBox="1">
            <a:spLocks noChangeArrowheads="1"/>
          </p:cNvSpPr>
          <p:nvPr/>
        </p:nvSpPr>
        <p:spPr bwMode="auto">
          <a:xfrm>
            <a:off x="2105758" y="3125788"/>
            <a:ext cx="5461623" cy="2677656"/>
          </a:xfrm>
          <a:prstGeom prst="rect">
            <a:avLst/>
          </a:prstGeom>
          <a:noFill/>
          <a:ln w="12700">
            <a:noFill/>
            <a:miter lim="800000"/>
            <a:headEnd/>
            <a:tailEnd/>
          </a:ln>
          <a:effectLst/>
        </p:spPr>
        <p:txBody>
          <a:bodyPr wrap="none">
            <a:spAutoFit/>
          </a:bodyPr>
          <a:lstStyle/>
          <a:p>
            <a:pPr algn="l">
              <a:spcBef>
                <a:spcPct val="0"/>
              </a:spcBef>
              <a:spcAft>
                <a:spcPct val="0"/>
              </a:spcAft>
            </a:pPr>
            <a:r>
              <a:rPr lang="en-US" sz="2000" dirty="0">
                <a:solidFill>
                  <a:srgbClr val="000099"/>
                </a:solidFill>
                <a:effectLst/>
              </a:rPr>
              <a:t>Time Segment 1</a:t>
            </a:r>
            <a:endParaRPr lang="en-US" sz="2000" dirty="0">
              <a:effectLst/>
            </a:endParaRPr>
          </a:p>
          <a:p>
            <a:pPr algn="l">
              <a:spcBef>
                <a:spcPct val="0"/>
              </a:spcBef>
              <a:spcAft>
                <a:spcPct val="0"/>
              </a:spcAft>
            </a:pPr>
            <a:r>
              <a:rPr lang="en-US" b="1" dirty="0">
                <a:effectLst/>
              </a:rPr>
              <a:t>TSEG1   =   </a:t>
            </a:r>
            <a:r>
              <a:rPr lang="en-US" b="1" dirty="0" err="1">
                <a:effectLst/>
              </a:rPr>
              <a:t>Prop_Seg</a:t>
            </a:r>
            <a:r>
              <a:rPr lang="en-US" b="1" dirty="0">
                <a:effectLst/>
              </a:rPr>
              <a:t> + Phase_Seg1</a:t>
            </a:r>
            <a:endParaRPr lang="en-US" dirty="0">
              <a:effectLst/>
            </a:endParaRPr>
          </a:p>
          <a:p>
            <a:pPr algn="l">
              <a:spcBef>
                <a:spcPct val="0"/>
              </a:spcBef>
              <a:spcAft>
                <a:spcPct val="0"/>
              </a:spcAft>
            </a:pPr>
            <a:endParaRPr lang="en-US" sz="800" dirty="0">
              <a:effectLst/>
            </a:endParaRPr>
          </a:p>
          <a:p>
            <a:pPr algn="l">
              <a:spcBef>
                <a:spcPct val="0"/>
              </a:spcBef>
              <a:spcAft>
                <a:spcPct val="0"/>
              </a:spcAft>
            </a:pPr>
            <a:r>
              <a:rPr lang="en-US" sz="2000" dirty="0">
                <a:solidFill>
                  <a:srgbClr val="000099"/>
                </a:solidFill>
                <a:effectLst/>
              </a:rPr>
              <a:t>Time Segment 2</a:t>
            </a:r>
            <a:endParaRPr lang="en-US" sz="2000" dirty="0">
              <a:effectLst/>
            </a:endParaRPr>
          </a:p>
          <a:p>
            <a:pPr algn="l">
              <a:spcBef>
                <a:spcPct val="0"/>
              </a:spcBef>
              <a:spcAft>
                <a:spcPct val="0"/>
              </a:spcAft>
            </a:pPr>
            <a:r>
              <a:rPr lang="en-US" b="1" dirty="0">
                <a:effectLst/>
              </a:rPr>
              <a:t>TSEG2   =   Phase_Seg2</a:t>
            </a:r>
            <a:endParaRPr lang="en-US" dirty="0">
              <a:effectLst/>
            </a:endParaRPr>
          </a:p>
          <a:p>
            <a:pPr algn="l">
              <a:spcBef>
                <a:spcPct val="0"/>
              </a:spcBef>
              <a:spcAft>
                <a:spcPct val="0"/>
              </a:spcAft>
            </a:pPr>
            <a:endParaRPr lang="en-US" sz="800" dirty="0">
              <a:effectLst/>
            </a:endParaRPr>
          </a:p>
          <a:p>
            <a:pPr algn="l">
              <a:spcBef>
                <a:spcPct val="0"/>
              </a:spcBef>
              <a:spcAft>
                <a:spcPct val="0"/>
              </a:spcAft>
            </a:pPr>
            <a:r>
              <a:rPr lang="en-US" sz="2000" dirty="0">
                <a:solidFill>
                  <a:srgbClr val="000099"/>
                </a:solidFill>
                <a:effectLst/>
              </a:rPr>
              <a:t>Baud Rate </a:t>
            </a:r>
            <a:r>
              <a:rPr lang="en-US" sz="2000" dirty="0" err="1">
                <a:solidFill>
                  <a:srgbClr val="000099"/>
                </a:solidFill>
                <a:effectLst/>
              </a:rPr>
              <a:t>Prescaler</a:t>
            </a:r>
            <a:endParaRPr lang="en-US" sz="2000" dirty="0">
              <a:solidFill>
                <a:srgbClr val="000099"/>
              </a:solidFill>
              <a:effectLst/>
            </a:endParaRPr>
          </a:p>
          <a:p>
            <a:pPr algn="l">
              <a:spcBef>
                <a:spcPct val="0"/>
              </a:spcBef>
              <a:spcAft>
                <a:spcPct val="0"/>
              </a:spcAft>
            </a:pPr>
            <a:endParaRPr lang="en-US" sz="800" dirty="0">
              <a:solidFill>
                <a:srgbClr val="000099"/>
              </a:solidFill>
              <a:effectLst/>
            </a:endParaRPr>
          </a:p>
          <a:p>
            <a:pPr algn="l">
              <a:spcBef>
                <a:spcPct val="0"/>
              </a:spcBef>
              <a:spcAft>
                <a:spcPct val="0"/>
              </a:spcAft>
            </a:pPr>
            <a:r>
              <a:rPr lang="en-US" sz="2000" dirty="0">
                <a:solidFill>
                  <a:srgbClr val="000099"/>
                </a:solidFill>
                <a:effectLst/>
              </a:rPr>
              <a:t>Synchronization Jump Width</a:t>
            </a:r>
            <a:endParaRPr lang="en-US" sz="2000" dirty="0">
              <a:effectLst/>
            </a:endParaRPr>
          </a:p>
          <a:p>
            <a:pPr algn="l">
              <a:spcBef>
                <a:spcPct val="0"/>
              </a:spcBef>
              <a:spcAft>
                <a:spcPct val="0"/>
              </a:spcAft>
            </a:pPr>
            <a:r>
              <a:rPr lang="en-US" sz="1400" dirty="0" smtClean="0">
                <a:effectLst/>
              </a:rPr>
              <a:t>SJW </a:t>
            </a:r>
            <a:r>
              <a:rPr lang="en-US" sz="1400" dirty="0">
                <a:effectLst/>
              </a:rPr>
              <a:t>indicates the maximum number of time quanta </a:t>
            </a:r>
            <a:r>
              <a:rPr lang="en-US" sz="1400" dirty="0" err="1">
                <a:effectLst/>
              </a:rPr>
              <a:t>t</a:t>
            </a:r>
            <a:r>
              <a:rPr lang="en-US" sz="1400" baseline="-25000" dirty="0" err="1">
                <a:effectLst/>
              </a:rPr>
              <a:t>q</a:t>
            </a:r>
            <a:endParaRPr lang="en-US" sz="1400" dirty="0">
              <a:effectLst/>
            </a:endParaRPr>
          </a:p>
          <a:p>
            <a:pPr algn="l">
              <a:spcBef>
                <a:spcPct val="0"/>
              </a:spcBef>
              <a:spcAft>
                <a:spcPct val="0"/>
              </a:spcAft>
            </a:pPr>
            <a:r>
              <a:rPr lang="en-US" sz="1400" dirty="0">
                <a:effectLst/>
              </a:rPr>
              <a:t>by which TSEG1 may be lengthened </a:t>
            </a:r>
            <a:r>
              <a:rPr lang="en-US" sz="1400" dirty="0">
                <a:solidFill>
                  <a:srgbClr val="D25123"/>
                </a:solidFill>
                <a:effectLst/>
              </a:rPr>
              <a:t>or</a:t>
            </a:r>
            <a:r>
              <a:rPr lang="en-US" sz="1400" dirty="0">
                <a:effectLst/>
              </a:rPr>
              <a:t> TSEG2 may be shortened.</a:t>
            </a:r>
          </a:p>
        </p:txBody>
      </p:sp>
      <p:sp>
        <p:nvSpPr>
          <p:cNvPr id="172042" name="Rectangle 10"/>
          <p:cNvSpPr>
            <a:spLocks noChangeArrowheads="1"/>
          </p:cNvSpPr>
          <p:nvPr/>
        </p:nvSpPr>
        <p:spPr bwMode="auto">
          <a:xfrm>
            <a:off x="1162050" y="2362200"/>
            <a:ext cx="550985" cy="539750"/>
          </a:xfrm>
          <a:prstGeom prst="rect">
            <a:avLst/>
          </a:prstGeom>
          <a:gradFill rotWithShape="0">
            <a:gsLst>
              <a:gs pos="0">
                <a:srgbClr val="EEB09A">
                  <a:gamma/>
                  <a:shade val="46275"/>
                  <a:invGamma/>
                </a:srgbClr>
              </a:gs>
              <a:gs pos="50000">
                <a:srgbClr val="EEB09A"/>
              </a:gs>
              <a:gs pos="100000">
                <a:srgbClr val="EEB09A">
                  <a:gamma/>
                  <a:shade val="46275"/>
                  <a:invGamma/>
                </a:srgbClr>
              </a:gs>
            </a:gsLst>
            <a:lin ang="5400000" scaled="1"/>
          </a:gradFill>
          <a:ln w="28575">
            <a:solidFill>
              <a:schemeClr val="tx1"/>
            </a:solidFill>
            <a:miter lim="800000"/>
            <a:headEnd/>
            <a:tailEnd/>
          </a:ln>
          <a:effectLst/>
        </p:spPr>
        <p:txBody>
          <a:bodyPr wrap="none" anchor="ctr"/>
          <a:lstStyle/>
          <a:p>
            <a:endParaRPr lang="en-US"/>
          </a:p>
        </p:txBody>
      </p:sp>
      <p:sp>
        <p:nvSpPr>
          <p:cNvPr id="172043" name="Rectangle 11"/>
          <p:cNvSpPr>
            <a:spLocks noChangeArrowheads="1"/>
          </p:cNvSpPr>
          <p:nvPr/>
        </p:nvSpPr>
        <p:spPr bwMode="auto">
          <a:xfrm>
            <a:off x="1713036" y="2362200"/>
            <a:ext cx="1661746" cy="539750"/>
          </a:xfrm>
          <a:prstGeom prst="rect">
            <a:avLst/>
          </a:prstGeom>
          <a:gradFill rotWithShape="0">
            <a:gsLst>
              <a:gs pos="0">
                <a:srgbClr val="FF91FF">
                  <a:gamma/>
                  <a:shade val="63529"/>
                  <a:invGamma/>
                </a:srgbClr>
              </a:gs>
              <a:gs pos="50000">
                <a:srgbClr val="FF91FF"/>
              </a:gs>
              <a:gs pos="100000">
                <a:srgbClr val="FF91FF">
                  <a:gamma/>
                  <a:shade val="63529"/>
                  <a:invGamma/>
                </a:srgbClr>
              </a:gs>
            </a:gsLst>
            <a:lin ang="5400000" scaled="1"/>
          </a:gradFill>
          <a:ln w="28575">
            <a:noFill/>
            <a:miter lim="800000"/>
            <a:headEnd/>
            <a:tailEnd/>
          </a:ln>
          <a:effectLst/>
        </p:spPr>
        <p:txBody>
          <a:bodyPr wrap="none" anchor="ctr"/>
          <a:lstStyle/>
          <a:p>
            <a:pPr>
              <a:spcBef>
                <a:spcPct val="0"/>
              </a:spcBef>
              <a:spcAft>
                <a:spcPct val="0"/>
              </a:spcAft>
            </a:pPr>
            <a:endParaRPr lang="en-US" sz="2400">
              <a:effectLst/>
            </a:endParaRPr>
          </a:p>
        </p:txBody>
      </p:sp>
      <p:sp>
        <p:nvSpPr>
          <p:cNvPr id="172044" name="Rectangle 12"/>
          <p:cNvSpPr>
            <a:spLocks noChangeArrowheads="1"/>
          </p:cNvSpPr>
          <p:nvPr/>
        </p:nvSpPr>
        <p:spPr bwMode="auto">
          <a:xfrm>
            <a:off x="3374782" y="2362200"/>
            <a:ext cx="2212731" cy="539750"/>
          </a:xfrm>
          <a:prstGeom prst="rect">
            <a:avLst/>
          </a:prstGeom>
          <a:gradFill rotWithShape="0">
            <a:gsLst>
              <a:gs pos="0">
                <a:srgbClr val="9191E3">
                  <a:gamma/>
                  <a:shade val="60784"/>
                  <a:invGamma/>
                </a:srgbClr>
              </a:gs>
              <a:gs pos="50000">
                <a:srgbClr val="9191E3"/>
              </a:gs>
              <a:gs pos="100000">
                <a:srgbClr val="9191E3">
                  <a:gamma/>
                  <a:shade val="60784"/>
                  <a:invGamma/>
                </a:srgbClr>
              </a:gs>
            </a:gsLst>
            <a:lin ang="5400000" scaled="1"/>
          </a:gradFill>
          <a:ln w="28575">
            <a:noFill/>
            <a:miter lim="800000"/>
            <a:headEnd/>
            <a:tailEnd/>
          </a:ln>
          <a:effectLst/>
        </p:spPr>
        <p:txBody>
          <a:bodyPr wrap="none" anchor="ctr"/>
          <a:lstStyle/>
          <a:p>
            <a:endParaRPr lang="en-US"/>
          </a:p>
        </p:txBody>
      </p:sp>
      <p:sp>
        <p:nvSpPr>
          <p:cNvPr id="172045" name="Rectangle 13"/>
          <p:cNvSpPr>
            <a:spLocks noChangeArrowheads="1"/>
          </p:cNvSpPr>
          <p:nvPr/>
        </p:nvSpPr>
        <p:spPr bwMode="auto">
          <a:xfrm>
            <a:off x="5590443" y="2362200"/>
            <a:ext cx="2212731" cy="539750"/>
          </a:xfrm>
          <a:prstGeom prst="rect">
            <a:avLst/>
          </a:prstGeom>
          <a:gradFill rotWithShape="0">
            <a:gsLst>
              <a:gs pos="0">
                <a:srgbClr val="A7FFE8">
                  <a:gamma/>
                  <a:shade val="46275"/>
                  <a:invGamma/>
                </a:srgbClr>
              </a:gs>
              <a:gs pos="50000">
                <a:srgbClr val="A7FFE8"/>
              </a:gs>
              <a:gs pos="100000">
                <a:srgbClr val="A7FFE8">
                  <a:gamma/>
                  <a:shade val="46275"/>
                  <a:invGamma/>
                </a:srgbClr>
              </a:gs>
            </a:gsLst>
            <a:lin ang="5400000" scaled="1"/>
          </a:gradFill>
          <a:ln w="28575">
            <a:solidFill>
              <a:schemeClr val="tx1"/>
            </a:solidFill>
            <a:miter lim="800000"/>
            <a:headEnd/>
            <a:tailEnd/>
          </a:ln>
          <a:effectLst/>
        </p:spPr>
        <p:txBody>
          <a:bodyPr wrap="none" anchor="ctr"/>
          <a:lstStyle/>
          <a:p>
            <a:endParaRPr lang="en-US"/>
          </a:p>
        </p:txBody>
      </p:sp>
      <p:sp>
        <p:nvSpPr>
          <p:cNvPr id="172046" name="Rectangle 14"/>
          <p:cNvSpPr>
            <a:spLocks noChangeArrowheads="1"/>
          </p:cNvSpPr>
          <p:nvPr/>
        </p:nvSpPr>
        <p:spPr bwMode="auto">
          <a:xfrm>
            <a:off x="1713035" y="2362200"/>
            <a:ext cx="3873011" cy="539750"/>
          </a:xfrm>
          <a:prstGeom prst="rect">
            <a:avLst/>
          </a:prstGeom>
          <a:noFill/>
          <a:ln w="28575">
            <a:solidFill>
              <a:schemeClr val="tx1"/>
            </a:solidFill>
            <a:miter lim="800000"/>
            <a:headEnd/>
            <a:tailEnd/>
          </a:ln>
          <a:effectLst/>
        </p:spPr>
        <p:txBody>
          <a:bodyPr wrap="none" anchor="ctr"/>
          <a:lstStyle/>
          <a:p>
            <a:endParaRPr lang="en-US"/>
          </a:p>
        </p:txBody>
      </p:sp>
      <p:sp>
        <p:nvSpPr>
          <p:cNvPr id="172047" name="Text Box 15"/>
          <p:cNvSpPr txBox="1">
            <a:spLocks noChangeArrowheads="1"/>
          </p:cNvSpPr>
          <p:nvPr/>
        </p:nvSpPr>
        <p:spPr bwMode="auto">
          <a:xfrm>
            <a:off x="6189785" y="2414588"/>
            <a:ext cx="1192955" cy="461665"/>
          </a:xfrm>
          <a:prstGeom prst="rect">
            <a:avLst/>
          </a:prstGeom>
          <a:noFill/>
          <a:ln w="12700">
            <a:noFill/>
            <a:miter lim="800000"/>
            <a:headEnd/>
            <a:tailEnd/>
          </a:ln>
          <a:effectLst/>
        </p:spPr>
        <p:txBody>
          <a:bodyPr wrap="none">
            <a:spAutoFit/>
          </a:bodyPr>
          <a:lstStyle/>
          <a:p>
            <a:pPr algn="l">
              <a:spcBef>
                <a:spcPct val="0"/>
              </a:spcBef>
              <a:spcAft>
                <a:spcPct val="0"/>
              </a:spcAft>
            </a:pPr>
            <a:r>
              <a:rPr lang="en-US" sz="2400" b="1">
                <a:effectLst/>
              </a:rPr>
              <a:t>TSEG2</a:t>
            </a:r>
          </a:p>
        </p:txBody>
      </p:sp>
      <p:sp>
        <p:nvSpPr>
          <p:cNvPr id="172048" name="Text Box 16"/>
          <p:cNvSpPr txBox="1">
            <a:spLocks noChangeArrowheads="1"/>
          </p:cNvSpPr>
          <p:nvPr/>
        </p:nvSpPr>
        <p:spPr bwMode="auto">
          <a:xfrm>
            <a:off x="2813538" y="2414588"/>
            <a:ext cx="1192955" cy="461665"/>
          </a:xfrm>
          <a:prstGeom prst="rect">
            <a:avLst/>
          </a:prstGeom>
          <a:noFill/>
          <a:ln w="12700">
            <a:noFill/>
            <a:miter lim="800000"/>
            <a:headEnd/>
            <a:tailEnd/>
          </a:ln>
          <a:effectLst/>
        </p:spPr>
        <p:txBody>
          <a:bodyPr wrap="none">
            <a:spAutoFit/>
          </a:bodyPr>
          <a:lstStyle/>
          <a:p>
            <a:pPr algn="l">
              <a:spcBef>
                <a:spcPct val="0"/>
              </a:spcBef>
              <a:spcAft>
                <a:spcPct val="0"/>
              </a:spcAft>
            </a:pPr>
            <a:r>
              <a:rPr lang="en-US" sz="2400" b="1">
                <a:effectLst/>
              </a:rPr>
              <a:t>TSEG1</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36"/>
          <p:cNvGrpSpPr>
            <a:grpSpLocks/>
          </p:cNvGrpSpPr>
          <p:nvPr/>
        </p:nvGrpSpPr>
        <p:grpSpPr bwMode="auto">
          <a:xfrm>
            <a:off x="307730" y="5257801"/>
            <a:ext cx="3097823" cy="685800"/>
            <a:chOff x="4039" y="3307"/>
            <a:chExt cx="2114" cy="617"/>
          </a:xfrm>
        </p:grpSpPr>
        <p:sp>
          <p:nvSpPr>
            <p:cNvPr id="263210" name="Rectangle 42"/>
            <p:cNvSpPr>
              <a:spLocks noChangeArrowheads="1"/>
            </p:cNvSpPr>
            <p:nvPr/>
          </p:nvSpPr>
          <p:spPr bwMode="auto">
            <a:xfrm>
              <a:off x="4039" y="3307"/>
              <a:ext cx="113" cy="113"/>
            </a:xfrm>
            <a:prstGeom prst="rect">
              <a:avLst/>
            </a:prstGeom>
            <a:solidFill>
              <a:srgbClr val="EEB09A"/>
            </a:solidFill>
            <a:ln w="19050">
              <a:solidFill>
                <a:schemeClr val="tx1"/>
              </a:solidFill>
              <a:miter lim="800000"/>
              <a:headEnd/>
              <a:tailEnd/>
            </a:ln>
            <a:effectLst/>
          </p:spPr>
          <p:txBody>
            <a:bodyPr wrap="none" anchor="ctr"/>
            <a:lstStyle/>
            <a:p>
              <a:endParaRPr lang="en-US"/>
            </a:p>
          </p:txBody>
        </p:sp>
        <p:sp>
          <p:nvSpPr>
            <p:cNvPr id="263211" name="Text Box 43"/>
            <p:cNvSpPr txBox="1">
              <a:spLocks noChangeArrowheads="1"/>
            </p:cNvSpPr>
            <p:nvPr/>
          </p:nvSpPr>
          <p:spPr bwMode="auto">
            <a:xfrm>
              <a:off x="4266" y="3307"/>
              <a:ext cx="542"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i="1">
                  <a:solidFill>
                    <a:srgbClr val="D25123"/>
                  </a:solidFill>
                  <a:effectLst/>
                </a:rPr>
                <a:t>Sync_Seg</a:t>
              </a:r>
              <a:endParaRPr lang="en-US" sz="1200" b="1">
                <a:effectLst/>
              </a:endParaRPr>
            </a:p>
          </p:txBody>
        </p:sp>
        <p:sp>
          <p:nvSpPr>
            <p:cNvPr id="263212" name="Rectangle 44"/>
            <p:cNvSpPr>
              <a:spLocks noChangeArrowheads="1"/>
            </p:cNvSpPr>
            <p:nvPr/>
          </p:nvSpPr>
          <p:spPr bwMode="auto">
            <a:xfrm>
              <a:off x="4039" y="3475"/>
              <a:ext cx="113" cy="113"/>
            </a:xfrm>
            <a:prstGeom prst="rect">
              <a:avLst/>
            </a:prstGeom>
            <a:solidFill>
              <a:srgbClr val="FF91FF"/>
            </a:solidFill>
            <a:ln w="19050">
              <a:solidFill>
                <a:schemeClr val="tx1"/>
              </a:solidFill>
              <a:miter lim="800000"/>
              <a:headEnd/>
              <a:tailEnd/>
            </a:ln>
            <a:effectLst/>
          </p:spPr>
          <p:txBody>
            <a:bodyPr wrap="none" anchor="ctr"/>
            <a:lstStyle/>
            <a:p>
              <a:endParaRPr lang="en-US"/>
            </a:p>
          </p:txBody>
        </p:sp>
        <p:sp>
          <p:nvSpPr>
            <p:cNvPr id="263213" name="Text Box 45"/>
            <p:cNvSpPr txBox="1">
              <a:spLocks noChangeArrowheads="1"/>
            </p:cNvSpPr>
            <p:nvPr/>
          </p:nvSpPr>
          <p:spPr bwMode="auto">
            <a:xfrm>
              <a:off x="4266" y="3461"/>
              <a:ext cx="533"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i="1">
                  <a:solidFill>
                    <a:srgbClr val="660066"/>
                  </a:solidFill>
                  <a:effectLst/>
                </a:rPr>
                <a:t>Prop_Seg</a:t>
              </a:r>
              <a:endParaRPr lang="en-US" sz="1200" b="1">
                <a:effectLst/>
              </a:endParaRPr>
            </a:p>
          </p:txBody>
        </p:sp>
        <p:sp>
          <p:nvSpPr>
            <p:cNvPr id="263214" name="Rectangle 46"/>
            <p:cNvSpPr>
              <a:spLocks noChangeArrowheads="1"/>
            </p:cNvSpPr>
            <p:nvPr/>
          </p:nvSpPr>
          <p:spPr bwMode="auto">
            <a:xfrm>
              <a:off x="4039" y="3629"/>
              <a:ext cx="113" cy="113"/>
            </a:xfrm>
            <a:prstGeom prst="rect">
              <a:avLst/>
            </a:prstGeom>
            <a:solidFill>
              <a:srgbClr val="9191E3"/>
            </a:solidFill>
            <a:ln w="19050">
              <a:solidFill>
                <a:schemeClr val="tx1"/>
              </a:solidFill>
              <a:miter lim="800000"/>
              <a:headEnd/>
              <a:tailEnd/>
            </a:ln>
            <a:effectLst/>
          </p:spPr>
          <p:txBody>
            <a:bodyPr wrap="none" anchor="ctr"/>
            <a:lstStyle/>
            <a:p>
              <a:endParaRPr lang="en-US"/>
            </a:p>
          </p:txBody>
        </p:sp>
        <p:sp>
          <p:nvSpPr>
            <p:cNvPr id="263215" name="Rectangle 47"/>
            <p:cNvSpPr>
              <a:spLocks noChangeArrowheads="1"/>
            </p:cNvSpPr>
            <p:nvPr/>
          </p:nvSpPr>
          <p:spPr bwMode="auto">
            <a:xfrm>
              <a:off x="4039" y="3783"/>
              <a:ext cx="113" cy="113"/>
            </a:xfrm>
            <a:prstGeom prst="rect">
              <a:avLst/>
            </a:prstGeom>
            <a:solidFill>
              <a:srgbClr val="A7FFE8"/>
            </a:solidFill>
            <a:ln w="19050">
              <a:solidFill>
                <a:schemeClr val="tx1"/>
              </a:solidFill>
              <a:miter lim="800000"/>
              <a:headEnd/>
              <a:tailEnd/>
            </a:ln>
            <a:effectLst/>
          </p:spPr>
          <p:txBody>
            <a:bodyPr wrap="none" anchor="ctr"/>
            <a:lstStyle/>
            <a:p>
              <a:endParaRPr lang="en-US"/>
            </a:p>
          </p:txBody>
        </p:sp>
        <p:sp>
          <p:nvSpPr>
            <p:cNvPr id="263216" name="Text Box 48"/>
            <p:cNvSpPr txBox="1">
              <a:spLocks noChangeArrowheads="1"/>
            </p:cNvSpPr>
            <p:nvPr/>
          </p:nvSpPr>
          <p:spPr bwMode="auto">
            <a:xfrm>
              <a:off x="4266" y="3769"/>
              <a:ext cx="638"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i="1">
                  <a:solidFill>
                    <a:srgbClr val="009C73"/>
                  </a:solidFill>
                  <a:effectLst/>
                </a:rPr>
                <a:t>Phase_Seg2</a:t>
              </a:r>
              <a:endParaRPr lang="en-US" sz="1200" b="1">
                <a:effectLst/>
              </a:endParaRPr>
            </a:p>
          </p:txBody>
        </p:sp>
        <p:sp>
          <p:nvSpPr>
            <p:cNvPr id="263217" name="Text Box 49"/>
            <p:cNvSpPr txBox="1">
              <a:spLocks noChangeArrowheads="1"/>
            </p:cNvSpPr>
            <p:nvPr/>
          </p:nvSpPr>
          <p:spPr bwMode="auto">
            <a:xfrm>
              <a:off x="4266" y="3615"/>
              <a:ext cx="638"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i="1">
                  <a:solidFill>
                    <a:schemeClr val="accent2"/>
                  </a:solidFill>
                  <a:effectLst/>
                </a:rPr>
                <a:t>Phase_Seg</a:t>
              </a:r>
              <a:r>
                <a:rPr lang="en-US" sz="1000" b="1">
                  <a:solidFill>
                    <a:schemeClr val="accent2"/>
                  </a:solidFill>
                  <a:effectLst/>
                </a:rPr>
                <a:t>1</a:t>
              </a:r>
              <a:endParaRPr lang="en-US" sz="1200" b="1">
                <a:effectLst/>
              </a:endParaRPr>
            </a:p>
          </p:txBody>
        </p:sp>
        <p:sp>
          <p:nvSpPr>
            <p:cNvPr id="263218" name="Text Box 50"/>
            <p:cNvSpPr txBox="1">
              <a:spLocks noChangeArrowheads="1"/>
            </p:cNvSpPr>
            <p:nvPr/>
          </p:nvSpPr>
          <p:spPr bwMode="auto">
            <a:xfrm>
              <a:off x="4897" y="3307"/>
              <a:ext cx="1198"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a:effectLst/>
                </a:rPr>
                <a:t>Synchronization Segment</a:t>
              </a:r>
              <a:endParaRPr lang="en-US" sz="1200" b="1">
                <a:effectLst/>
              </a:endParaRPr>
            </a:p>
          </p:txBody>
        </p:sp>
        <p:sp>
          <p:nvSpPr>
            <p:cNvPr id="263219" name="Text Box 51"/>
            <p:cNvSpPr txBox="1">
              <a:spLocks noChangeArrowheads="1"/>
            </p:cNvSpPr>
            <p:nvPr/>
          </p:nvSpPr>
          <p:spPr bwMode="auto">
            <a:xfrm>
              <a:off x="4897" y="3461"/>
              <a:ext cx="1256"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dirty="0">
                  <a:effectLst/>
                </a:rPr>
                <a:t>Propagation Time Segment</a:t>
              </a:r>
              <a:endParaRPr lang="en-US" sz="1200" b="1" dirty="0">
                <a:effectLst/>
              </a:endParaRPr>
            </a:p>
          </p:txBody>
        </p:sp>
        <p:sp>
          <p:nvSpPr>
            <p:cNvPr id="263220" name="Text Box 52"/>
            <p:cNvSpPr txBox="1">
              <a:spLocks noChangeArrowheads="1"/>
            </p:cNvSpPr>
            <p:nvPr/>
          </p:nvSpPr>
          <p:spPr bwMode="auto">
            <a:xfrm>
              <a:off x="4897" y="3769"/>
              <a:ext cx="1129"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a:effectLst/>
                </a:rPr>
                <a:t>Phase Buffer Segment 2</a:t>
              </a:r>
              <a:endParaRPr lang="en-US" sz="1200" b="1">
                <a:effectLst/>
              </a:endParaRPr>
            </a:p>
          </p:txBody>
        </p:sp>
        <p:sp>
          <p:nvSpPr>
            <p:cNvPr id="263221" name="Text Box 53"/>
            <p:cNvSpPr txBox="1">
              <a:spLocks noChangeArrowheads="1"/>
            </p:cNvSpPr>
            <p:nvPr/>
          </p:nvSpPr>
          <p:spPr bwMode="auto">
            <a:xfrm>
              <a:off x="4897" y="3615"/>
              <a:ext cx="1129"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a:effectLst/>
                </a:rPr>
                <a:t>Phase Buffer Segment 1</a:t>
              </a:r>
              <a:endParaRPr lang="en-US" sz="1200" b="1">
                <a:effectLst/>
              </a:endParaRPr>
            </a:p>
          </p:txBody>
        </p:sp>
      </p:grpSp>
      <p:grpSp>
        <p:nvGrpSpPr>
          <p:cNvPr id="3" name="Group 139"/>
          <p:cNvGrpSpPr>
            <a:grpSpLocks/>
          </p:cNvGrpSpPr>
          <p:nvPr/>
        </p:nvGrpSpPr>
        <p:grpSpPr bwMode="auto">
          <a:xfrm>
            <a:off x="307731" y="1220788"/>
            <a:ext cx="8143143" cy="2209800"/>
            <a:chOff x="210" y="769"/>
            <a:chExt cx="5557" cy="1392"/>
          </a:xfrm>
        </p:grpSpPr>
        <p:sp>
          <p:nvSpPr>
            <p:cNvPr id="263242" name="Line 74"/>
            <p:cNvSpPr>
              <a:spLocks noChangeShapeType="1"/>
            </p:cNvSpPr>
            <p:nvPr/>
          </p:nvSpPr>
          <p:spPr bwMode="auto">
            <a:xfrm>
              <a:off x="1794" y="961"/>
              <a:ext cx="0" cy="1200"/>
            </a:xfrm>
            <a:prstGeom prst="line">
              <a:avLst/>
            </a:prstGeom>
            <a:noFill/>
            <a:ln w="3175">
              <a:solidFill>
                <a:schemeClr val="tx1"/>
              </a:solidFill>
              <a:round/>
              <a:headEnd/>
              <a:tailEnd/>
            </a:ln>
            <a:effectLst/>
          </p:spPr>
          <p:txBody>
            <a:bodyPr wrap="none" anchor="ctr"/>
            <a:lstStyle/>
            <a:p>
              <a:endParaRPr lang="en-US"/>
            </a:p>
          </p:txBody>
        </p:sp>
        <p:sp>
          <p:nvSpPr>
            <p:cNvPr id="263243" name="Line 75"/>
            <p:cNvSpPr>
              <a:spLocks noChangeShapeType="1"/>
            </p:cNvSpPr>
            <p:nvPr/>
          </p:nvSpPr>
          <p:spPr bwMode="auto">
            <a:xfrm>
              <a:off x="1410" y="961"/>
              <a:ext cx="0" cy="1200"/>
            </a:xfrm>
            <a:prstGeom prst="line">
              <a:avLst/>
            </a:prstGeom>
            <a:noFill/>
            <a:ln w="3175">
              <a:solidFill>
                <a:schemeClr val="tx1"/>
              </a:solidFill>
              <a:round/>
              <a:headEnd/>
              <a:tailEnd/>
            </a:ln>
            <a:effectLst/>
          </p:spPr>
          <p:txBody>
            <a:bodyPr wrap="none" anchor="ctr"/>
            <a:lstStyle/>
            <a:p>
              <a:endParaRPr lang="en-US"/>
            </a:p>
          </p:txBody>
        </p:sp>
        <p:sp>
          <p:nvSpPr>
            <p:cNvPr id="263253" name="Text Box 85"/>
            <p:cNvSpPr txBox="1">
              <a:spLocks noChangeArrowheads="1"/>
            </p:cNvSpPr>
            <p:nvPr/>
          </p:nvSpPr>
          <p:spPr bwMode="auto">
            <a:xfrm>
              <a:off x="4098" y="1825"/>
              <a:ext cx="844" cy="291"/>
            </a:xfrm>
            <a:prstGeom prst="rect">
              <a:avLst/>
            </a:prstGeom>
            <a:noFill/>
            <a:ln w="9525">
              <a:noFill/>
              <a:miter lim="800000"/>
              <a:headEnd/>
              <a:tailEnd/>
            </a:ln>
            <a:effectLst/>
          </p:spPr>
          <p:txBody>
            <a:bodyPr wrap="none">
              <a:spAutoFit/>
            </a:bodyPr>
            <a:lstStyle/>
            <a:p>
              <a:pPr>
                <a:spcBef>
                  <a:spcPct val="0"/>
                </a:spcBef>
                <a:spcAft>
                  <a:spcPct val="0"/>
                </a:spcAft>
              </a:pPr>
              <a:r>
                <a:rPr lang="en-US" sz="1200" b="1">
                  <a:effectLst/>
                  <a:latin typeface="Times New Roman" pitchFamily="18" charset="0"/>
                </a:rPr>
                <a:t>Needed Sample </a:t>
              </a:r>
            </a:p>
            <a:p>
              <a:pPr>
                <a:spcBef>
                  <a:spcPct val="0"/>
                </a:spcBef>
                <a:spcAft>
                  <a:spcPct val="0"/>
                </a:spcAft>
              </a:pPr>
              <a:r>
                <a:rPr lang="en-US" sz="1200" b="1">
                  <a:effectLst/>
                  <a:latin typeface="Times New Roman" pitchFamily="18" charset="0"/>
                </a:rPr>
                <a:t>Point</a:t>
              </a:r>
              <a:endParaRPr lang="en-US" sz="2400" b="1">
                <a:effectLst/>
                <a:latin typeface="Times New Roman" pitchFamily="18" charset="0"/>
              </a:endParaRPr>
            </a:p>
          </p:txBody>
        </p:sp>
        <p:sp>
          <p:nvSpPr>
            <p:cNvPr id="263200" name="Rectangle 32"/>
            <p:cNvSpPr>
              <a:spLocks noChangeArrowheads="1"/>
            </p:cNvSpPr>
            <p:nvPr/>
          </p:nvSpPr>
          <p:spPr bwMode="auto">
            <a:xfrm>
              <a:off x="1794" y="1153"/>
              <a:ext cx="384" cy="144"/>
            </a:xfrm>
            <a:prstGeom prst="rect">
              <a:avLst/>
            </a:prstGeom>
            <a:gradFill rotWithShape="0">
              <a:gsLst>
                <a:gs pos="0">
                  <a:srgbClr val="FF9900">
                    <a:gamma/>
                    <a:shade val="69804"/>
                    <a:invGamma/>
                  </a:srgbClr>
                </a:gs>
                <a:gs pos="50000">
                  <a:srgbClr val="FF9900"/>
                </a:gs>
                <a:gs pos="100000">
                  <a:srgbClr val="FF9900">
                    <a:gamma/>
                    <a:shade val="69804"/>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02" name="Rectangle 34"/>
            <p:cNvSpPr>
              <a:spLocks noChangeArrowheads="1"/>
            </p:cNvSpPr>
            <p:nvPr/>
          </p:nvSpPr>
          <p:spPr bwMode="auto">
            <a:xfrm>
              <a:off x="2178" y="1153"/>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07" name="Rectangle 39"/>
            <p:cNvSpPr>
              <a:spLocks noChangeArrowheads="1"/>
            </p:cNvSpPr>
            <p:nvPr/>
          </p:nvSpPr>
          <p:spPr bwMode="auto">
            <a:xfrm>
              <a:off x="4098" y="1153"/>
              <a:ext cx="384" cy="144"/>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22" name="Rectangle 54"/>
            <p:cNvSpPr>
              <a:spLocks noChangeArrowheads="1"/>
            </p:cNvSpPr>
            <p:nvPr/>
          </p:nvSpPr>
          <p:spPr bwMode="auto">
            <a:xfrm>
              <a:off x="2562" y="1153"/>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23" name="Rectangle 55"/>
            <p:cNvSpPr>
              <a:spLocks noChangeArrowheads="1"/>
            </p:cNvSpPr>
            <p:nvPr/>
          </p:nvSpPr>
          <p:spPr bwMode="auto">
            <a:xfrm>
              <a:off x="2946" y="1153"/>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24" name="Rectangle 56"/>
            <p:cNvSpPr>
              <a:spLocks noChangeArrowheads="1"/>
            </p:cNvSpPr>
            <p:nvPr/>
          </p:nvSpPr>
          <p:spPr bwMode="auto">
            <a:xfrm>
              <a:off x="3340" y="1153"/>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26" name="Rectangle 58"/>
            <p:cNvSpPr>
              <a:spLocks noChangeArrowheads="1"/>
            </p:cNvSpPr>
            <p:nvPr/>
          </p:nvSpPr>
          <p:spPr bwMode="auto">
            <a:xfrm>
              <a:off x="3714" y="1153"/>
              <a:ext cx="384" cy="144"/>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29" name="Rectangle 61"/>
            <p:cNvSpPr>
              <a:spLocks noChangeArrowheads="1"/>
            </p:cNvSpPr>
            <p:nvPr/>
          </p:nvSpPr>
          <p:spPr bwMode="auto">
            <a:xfrm>
              <a:off x="4866" y="1153"/>
              <a:ext cx="384" cy="144"/>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30" name="Rectangle 62"/>
            <p:cNvSpPr>
              <a:spLocks noChangeArrowheads="1"/>
            </p:cNvSpPr>
            <p:nvPr/>
          </p:nvSpPr>
          <p:spPr bwMode="auto">
            <a:xfrm>
              <a:off x="4482" y="1153"/>
              <a:ext cx="384" cy="144"/>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31" name="Rectangle 63"/>
            <p:cNvSpPr>
              <a:spLocks noChangeArrowheads="1"/>
            </p:cNvSpPr>
            <p:nvPr/>
          </p:nvSpPr>
          <p:spPr bwMode="auto">
            <a:xfrm>
              <a:off x="1410" y="1585"/>
              <a:ext cx="384" cy="144"/>
            </a:xfrm>
            <a:prstGeom prst="rect">
              <a:avLst/>
            </a:prstGeom>
            <a:gradFill rotWithShape="0">
              <a:gsLst>
                <a:gs pos="0">
                  <a:srgbClr val="FF9900">
                    <a:gamma/>
                    <a:shade val="69804"/>
                    <a:invGamma/>
                  </a:srgbClr>
                </a:gs>
                <a:gs pos="50000">
                  <a:srgbClr val="FF9900"/>
                </a:gs>
                <a:gs pos="100000">
                  <a:srgbClr val="FF9900">
                    <a:gamma/>
                    <a:shade val="69804"/>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32" name="Rectangle 64"/>
            <p:cNvSpPr>
              <a:spLocks noChangeArrowheads="1"/>
            </p:cNvSpPr>
            <p:nvPr/>
          </p:nvSpPr>
          <p:spPr bwMode="auto">
            <a:xfrm>
              <a:off x="1794" y="1585"/>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33" name="Rectangle 65"/>
            <p:cNvSpPr>
              <a:spLocks noChangeArrowheads="1"/>
            </p:cNvSpPr>
            <p:nvPr/>
          </p:nvSpPr>
          <p:spPr bwMode="auto">
            <a:xfrm>
              <a:off x="3714" y="1585"/>
              <a:ext cx="384" cy="144"/>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34" name="Rectangle 66"/>
            <p:cNvSpPr>
              <a:spLocks noChangeArrowheads="1"/>
            </p:cNvSpPr>
            <p:nvPr/>
          </p:nvSpPr>
          <p:spPr bwMode="auto">
            <a:xfrm>
              <a:off x="2178" y="1585"/>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35" name="Rectangle 67"/>
            <p:cNvSpPr>
              <a:spLocks noChangeArrowheads="1"/>
            </p:cNvSpPr>
            <p:nvPr/>
          </p:nvSpPr>
          <p:spPr bwMode="auto">
            <a:xfrm>
              <a:off x="2562" y="1585"/>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36" name="Rectangle 68"/>
            <p:cNvSpPr>
              <a:spLocks noChangeArrowheads="1"/>
            </p:cNvSpPr>
            <p:nvPr/>
          </p:nvSpPr>
          <p:spPr bwMode="auto">
            <a:xfrm>
              <a:off x="2956" y="1585"/>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37" name="Rectangle 69"/>
            <p:cNvSpPr>
              <a:spLocks noChangeArrowheads="1"/>
            </p:cNvSpPr>
            <p:nvPr/>
          </p:nvSpPr>
          <p:spPr bwMode="auto">
            <a:xfrm>
              <a:off x="3330" y="1585"/>
              <a:ext cx="384" cy="144"/>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38" name="Rectangle 70"/>
            <p:cNvSpPr>
              <a:spLocks noChangeArrowheads="1"/>
            </p:cNvSpPr>
            <p:nvPr/>
          </p:nvSpPr>
          <p:spPr bwMode="auto">
            <a:xfrm>
              <a:off x="4482" y="1585"/>
              <a:ext cx="384" cy="144"/>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39" name="Rectangle 71"/>
            <p:cNvSpPr>
              <a:spLocks noChangeArrowheads="1"/>
            </p:cNvSpPr>
            <p:nvPr/>
          </p:nvSpPr>
          <p:spPr bwMode="auto">
            <a:xfrm>
              <a:off x="4098" y="1585"/>
              <a:ext cx="384" cy="144"/>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40" name="Rectangle 72"/>
            <p:cNvSpPr>
              <a:spLocks noChangeArrowheads="1"/>
            </p:cNvSpPr>
            <p:nvPr/>
          </p:nvSpPr>
          <p:spPr bwMode="auto">
            <a:xfrm>
              <a:off x="5250" y="1153"/>
              <a:ext cx="384" cy="144"/>
            </a:xfrm>
            <a:prstGeom prst="rect">
              <a:avLst/>
            </a:prstGeom>
            <a:gradFill rotWithShape="0">
              <a:gsLst>
                <a:gs pos="0">
                  <a:schemeClr val="hlink">
                    <a:gamma/>
                    <a:shade val="66667"/>
                    <a:invGamma/>
                  </a:schemeClr>
                </a:gs>
                <a:gs pos="50000">
                  <a:schemeClr val="hlink"/>
                </a:gs>
                <a:gs pos="100000">
                  <a:schemeClr val="hlink">
                    <a:gamma/>
                    <a:shade val="66667"/>
                    <a:invGamma/>
                  </a:schemeClr>
                </a:gs>
              </a:gsLst>
              <a:lin ang="5400000" scaled="1"/>
            </a:gradFill>
            <a:ln w="9525">
              <a:solidFill>
                <a:schemeClr val="tx1"/>
              </a:solidFill>
              <a:miter lim="800000"/>
              <a:headEnd/>
              <a:tailEnd/>
            </a:ln>
            <a:effectLst/>
          </p:spPr>
          <p:txBody>
            <a:bodyPr wrap="none" anchor="ctr"/>
            <a:lstStyle/>
            <a:p>
              <a:endParaRPr lang="en-US"/>
            </a:p>
          </p:txBody>
        </p:sp>
        <p:sp>
          <p:nvSpPr>
            <p:cNvPr id="263241" name="Rectangle 73"/>
            <p:cNvSpPr>
              <a:spLocks noChangeArrowheads="1"/>
            </p:cNvSpPr>
            <p:nvPr/>
          </p:nvSpPr>
          <p:spPr bwMode="auto">
            <a:xfrm>
              <a:off x="4866" y="1585"/>
              <a:ext cx="384" cy="144"/>
            </a:xfrm>
            <a:prstGeom prst="rect">
              <a:avLst/>
            </a:prstGeom>
            <a:gradFill rotWithShape="0">
              <a:gsLst>
                <a:gs pos="0">
                  <a:schemeClr val="hlink">
                    <a:gamma/>
                    <a:shade val="66667"/>
                    <a:invGamma/>
                  </a:schemeClr>
                </a:gs>
                <a:gs pos="50000">
                  <a:schemeClr val="hlink"/>
                </a:gs>
                <a:gs pos="100000">
                  <a:schemeClr val="hlink">
                    <a:gamma/>
                    <a:shade val="66667"/>
                    <a:invGamma/>
                  </a:schemeClr>
                </a:gs>
              </a:gsLst>
              <a:lin ang="5400000" scaled="1"/>
            </a:gradFill>
            <a:ln w="9525">
              <a:solidFill>
                <a:schemeClr val="tx1"/>
              </a:solidFill>
              <a:miter lim="800000"/>
              <a:headEnd/>
              <a:tailEnd/>
            </a:ln>
            <a:effectLst/>
          </p:spPr>
          <p:txBody>
            <a:bodyPr wrap="none" anchor="ctr"/>
            <a:lstStyle/>
            <a:p>
              <a:endParaRPr lang="en-US"/>
            </a:p>
          </p:txBody>
        </p:sp>
        <p:sp>
          <p:nvSpPr>
            <p:cNvPr id="263244" name="Line 76"/>
            <p:cNvSpPr>
              <a:spLocks noChangeShapeType="1"/>
            </p:cNvSpPr>
            <p:nvPr/>
          </p:nvSpPr>
          <p:spPr bwMode="auto">
            <a:xfrm>
              <a:off x="1410" y="961"/>
              <a:ext cx="384"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63245" name="Text Box 77"/>
            <p:cNvSpPr txBox="1">
              <a:spLocks noChangeArrowheads="1"/>
            </p:cNvSpPr>
            <p:nvPr/>
          </p:nvSpPr>
          <p:spPr bwMode="auto">
            <a:xfrm>
              <a:off x="1506" y="769"/>
              <a:ext cx="221" cy="194"/>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a:effectLst/>
                  <a:latin typeface="Times New Roman" pitchFamily="18" charset="0"/>
                </a:rPr>
                <a:t>tq</a:t>
              </a:r>
              <a:endParaRPr lang="en-US" sz="2400" b="1">
                <a:effectLst/>
                <a:latin typeface="Times New Roman" pitchFamily="18" charset="0"/>
              </a:endParaRPr>
            </a:p>
          </p:txBody>
        </p:sp>
        <p:sp>
          <p:nvSpPr>
            <p:cNvPr id="263246" name="Line 78"/>
            <p:cNvSpPr>
              <a:spLocks noChangeShapeType="1"/>
            </p:cNvSpPr>
            <p:nvPr/>
          </p:nvSpPr>
          <p:spPr bwMode="auto">
            <a:xfrm>
              <a:off x="1266" y="1364"/>
              <a:ext cx="528" cy="0"/>
            </a:xfrm>
            <a:prstGeom prst="line">
              <a:avLst/>
            </a:prstGeom>
            <a:noFill/>
            <a:ln w="28575">
              <a:solidFill>
                <a:schemeClr val="tx1"/>
              </a:solidFill>
              <a:round/>
              <a:headEnd/>
              <a:tailEnd/>
            </a:ln>
            <a:effectLst/>
          </p:spPr>
          <p:txBody>
            <a:bodyPr wrap="none" anchor="ctr"/>
            <a:lstStyle/>
            <a:p>
              <a:endParaRPr lang="en-US"/>
            </a:p>
          </p:txBody>
        </p:sp>
        <p:sp>
          <p:nvSpPr>
            <p:cNvPr id="263247" name="Line 79"/>
            <p:cNvSpPr>
              <a:spLocks noChangeShapeType="1"/>
            </p:cNvSpPr>
            <p:nvPr/>
          </p:nvSpPr>
          <p:spPr bwMode="auto">
            <a:xfrm>
              <a:off x="1794" y="1364"/>
              <a:ext cx="0" cy="144"/>
            </a:xfrm>
            <a:prstGeom prst="line">
              <a:avLst/>
            </a:prstGeom>
            <a:noFill/>
            <a:ln w="28575">
              <a:solidFill>
                <a:schemeClr val="tx1"/>
              </a:solidFill>
              <a:round/>
              <a:headEnd/>
              <a:tailEnd type="triangle" w="med" len="med"/>
            </a:ln>
            <a:effectLst/>
          </p:spPr>
          <p:txBody>
            <a:bodyPr wrap="none" anchor="ctr"/>
            <a:lstStyle/>
            <a:p>
              <a:endParaRPr lang="en-US"/>
            </a:p>
          </p:txBody>
        </p:sp>
        <p:sp>
          <p:nvSpPr>
            <p:cNvPr id="263248" name="Line 80"/>
            <p:cNvSpPr>
              <a:spLocks noChangeShapeType="1"/>
            </p:cNvSpPr>
            <p:nvPr/>
          </p:nvSpPr>
          <p:spPr bwMode="auto">
            <a:xfrm>
              <a:off x="1794" y="1556"/>
              <a:ext cx="384" cy="0"/>
            </a:xfrm>
            <a:prstGeom prst="line">
              <a:avLst/>
            </a:prstGeom>
            <a:noFill/>
            <a:ln w="28575">
              <a:solidFill>
                <a:schemeClr val="tx1"/>
              </a:solidFill>
              <a:round/>
              <a:headEnd/>
              <a:tailEnd/>
            </a:ln>
            <a:effectLst/>
          </p:spPr>
          <p:txBody>
            <a:bodyPr wrap="none" anchor="ctr"/>
            <a:lstStyle/>
            <a:p>
              <a:endParaRPr lang="en-US"/>
            </a:p>
          </p:txBody>
        </p:sp>
        <p:sp>
          <p:nvSpPr>
            <p:cNvPr id="263249" name="Text Box 81"/>
            <p:cNvSpPr txBox="1">
              <a:spLocks noChangeArrowheads="1"/>
            </p:cNvSpPr>
            <p:nvPr/>
          </p:nvSpPr>
          <p:spPr bwMode="auto">
            <a:xfrm>
              <a:off x="2274" y="1364"/>
              <a:ext cx="2331" cy="174"/>
            </a:xfrm>
            <a:prstGeom prst="rect">
              <a:avLst/>
            </a:prstGeom>
            <a:solidFill>
              <a:srgbClr val="CCECFF"/>
            </a:solidFill>
            <a:ln w="9525">
              <a:noFill/>
              <a:miter lim="800000"/>
              <a:headEnd/>
              <a:tailEnd/>
            </a:ln>
            <a:effectLst/>
          </p:spPr>
          <p:txBody>
            <a:bodyPr wrap="none">
              <a:spAutoFit/>
            </a:bodyPr>
            <a:lstStyle/>
            <a:p>
              <a:pPr algn="l">
                <a:spcBef>
                  <a:spcPct val="0"/>
                </a:spcBef>
                <a:spcAft>
                  <a:spcPct val="0"/>
                </a:spcAft>
              </a:pPr>
              <a:r>
                <a:rPr lang="en-US" sz="1200" b="1">
                  <a:effectLst/>
                  <a:latin typeface="Times New Roman" pitchFamily="18" charset="0"/>
                </a:rPr>
                <a:t>Next edge for Re- synchronization delayed by 1tq</a:t>
              </a:r>
              <a:endParaRPr lang="en-US" sz="2400" b="1">
                <a:effectLst/>
                <a:latin typeface="Times New Roman" pitchFamily="18" charset="0"/>
              </a:endParaRPr>
            </a:p>
          </p:txBody>
        </p:sp>
        <p:sp>
          <p:nvSpPr>
            <p:cNvPr id="263250" name="Line 82"/>
            <p:cNvSpPr>
              <a:spLocks noChangeShapeType="1"/>
            </p:cNvSpPr>
            <p:nvPr/>
          </p:nvSpPr>
          <p:spPr bwMode="auto">
            <a:xfrm>
              <a:off x="4482" y="961"/>
              <a:ext cx="0" cy="192"/>
            </a:xfrm>
            <a:prstGeom prst="line">
              <a:avLst/>
            </a:prstGeom>
            <a:noFill/>
            <a:ln w="9525">
              <a:solidFill>
                <a:srgbClr val="FF3300"/>
              </a:solidFill>
              <a:round/>
              <a:headEnd/>
              <a:tailEnd type="triangle" w="med" len="med"/>
            </a:ln>
            <a:effectLst/>
          </p:spPr>
          <p:txBody>
            <a:bodyPr wrap="none" anchor="ctr"/>
            <a:lstStyle/>
            <a:p>
              <a:endParaRPr lang="en-US"/>
            </a:p>
          </p:txBody>
        </p:sp>
        <p:sp>
          <p:nvSpPr>
            <p:cNvPr id="263251" name="Text Box 83"/>
            <p:cNvSpPr txBox="1">
              <a:spLocks noChangeArrowheads="1"/>
            </p:cNvSpPr>
            <p:nvPr/>
          </p:nvSpPr>
          <p:spPr bwMode="auto">
            <a:xfrm>
              <a:off x="4504" y="769"/>
              <a:ext cx="844" cy="291"/>
            </a:xfrm>
            <a:prstGeom prst="rect">
              <a:avLst/>
            </a:prstGeom>
            <a:noFill/>
            <a:ln w="9525">
              <a:noFill/>
              <a:miter lim="800000"/>
              <a:headEnd/>
              <a:tailEnd/>
            </a:ln>
            <a:effectLst/>
          </p:spPr>
          <p:txBody>
            <a:bodyPr wrap="none">
              <a:spAutoFit/>
            </a:bodyPr>
            <a:lstStyle/>
            <a:p>
              <a:pPr>
                <a:spcBef>
                  <a:spcPct val="0"/>
                </a:spcBef>
                <a:spcAft>
                  <a:spcPct val="0"/>
                </a:spcAft>
              </a:pPr>
              <a:r>
                <a:rPr lang="en-US" sz="1200" b="1">
                  <a:effectLst/>
                  <a:latin typeface="Times New Roman" pitchFamily="18" charset="0"/>
                </a:rPr>
                <a:t>Needed Sample </a:t>
              </a:r>
            </a:p>
            <a:p>
              <a:pPr>
                <a:spcBef>
                  <a:spcPct val="0"/>
                </a:spcBef>
                <a:spcAft>
                  <a:spcPct val="0"/>
                </a:spcAft>
              </a:pPr>
              <a:r>
                <a:rPr lang="en-US" sz="1200" b="1">
                  <a:effectLst/>
                  <a:latin typeface="Times New Roman" pitchFamily="18" charset="0"/>
                </a:rPr>
                <a:t>Point</a:t>
              </a:r>
              <a:endParaRPr lang="en-US" sz="2400" b="1">
                <a:effectLst/>
                <a:latin typeface="Times New Roman" pitchFamily="18" charset="0"/>
              </a:endParaRPr>
            </a:p>
          </p:txBody>
        </p:sp>
        <p:sp>
          <p:nvSpPr>
            <p:cNvPr id="263252" name="Line 84"/>
            <p:cNvSpPr>
              <a:spLocks noChangeShapeType="1"/>
            </p:cNvSpPr>
            <p:nvPr/>
          </p:nvSpPr>
          <p:spPr bwMode="auto">
            <a:xfrm>
              <a:off x="4098" y="1729"/>
              <a:ext cx="0" cy="192"/>
            </a:xfrm>
            <a:prstGeom prst="line">
              <a:avLst/>
            </a:prstGeom>
            <a:noFill/>
            <a:ln w="9525">
              <a:solidFill>
                <a:srgbClr val="FF3300"/>
              </a:solidFill>
              <a:round/>
              <a:headEnd type="triangle" w="med" len="med"/>
              <a:tailEnd/>
            </a:ln>
            <a:effectLst/>
          </p:spPr>
          <p:txBody>
            <a:bodyPr wrap="none" anchor="ctr"/>
            <a:lstStyle/>
            <a:p>
              <a:endParaRPr lang="en-US"/>
            </a:p>
          </p:txBody>
        </p:sp>
        <p:sp>
          <p:nvSpPr>
            <p:cNvPr id="263254" name="Text Box 86"/>
            <p:cNvSpPr txBox="1">
              <a:spLocks noChangeArrowheads="1"/>
            </p:cNvSpPr>
            <p:nvPr/>
          </p:nvSpPr>
          <p:spPr bwMode="auto">
            <a:xfrm>
              <a:off x="210" y="1137"/>
              <a:ext cx="1134" cy="194"/>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Times New Roman" pitchFamily="18" charset="0"/>
                </a:rPr>
                <a:t>Transmitter-slower</a:t>
              </a:r>
              <a:endParaRPr lang="en-US" sz="2400" b="1">
                <a:effectLst/>
                <a:latin typeface="Times New Roman" pitchFamily="18" charset="0"/>
              </a:endParaRPr>
            </a:p>
          </p:txBody>
        </p:sp>
        <p:sp>
          <p:nvSpPr>
            <p:cNvPr id="263255" name="Text Box 87"/>
            <p:cNvSpPr txBox="1">
              <a:spLocks noChangeArrowheads="1"/>
            </p:cNvSpPr>
            <p:nvPr/>
          </p:nvSpPr>
          <p:spPr bwMode="auto">
            <a:xfrm>
              <a:off x="306" y="1492"/>
              <a:ext cx="919" cy="194"/>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Times New Roman" pitchFamily="18" charset="0"/>
                </a:rPr>
                <a:t>Receiver-faster</a:t>
              </a:r>
              <a:endParaRPr lang="en-US" sz="2400" b="1">
                <a:effectLst/>
                <a:latin typeface="Times New Roman" pitchFamily="18" charset="0"/>
              </a:endParaRPr>
            </a:p>
          </p:txBody>
        </p:sp>
        <p:sp>
          <p:nvSpPr>
            <p:cNvPr id="263256" name="Line 88"/>
            <p:cNvSpPr>
              <a:spLocks noChangeShapeType="1"/>
            </p:cNvSpPr>
            <p:nvPr/>
          </p:nvSpPr>
          <p:spPr bwMode="auto">
            <a:xfrm>
              <a:off x="5250" y="769"/>
              <a:ext cx="0" cy="528"/>
            </a:xfrm>
            <a:prstGeom prst="line">
              <a:avLst/>
            </a:prstGeom>
            <a:noFill/>
            <a:ln w="9525">
              <a:solidFill>
                <a:schemeClr val="tx1"/>
              </a:solidFill>
              <a:round/>
              <a:headEnd/>
              <a:tailEnd/>
            </a:ln>
            <a:effectLst/>
          </p:spPr>
          <p:txBody>
            <a:bodyPr wrap="none" anchor="ctr"/>
            <a:lstStyle/>
            <a:p>
              <a:endParaRPr lang="en-US"/>
            </a:p>
          </p:txBody>
        </p:sp>
        <p:sp>
          <p:nvSpPr>
            <p:cNvPr id="263258" name="Text Box 90"/>
            <p:cNvSpPr txBox="1">
              <a:spLocks noChangeArrowheads="1"/>
            </p:cNvSpPr>
            <p:nvPr/>
          </p:nvSpPr>
          <p:spPr bwMode="auto">
            <a:xfrm>
              <a:off x="5250" y="769"/>
              <a:ext cx="517" cy="291"/>
            </a:xfrm>
            <a:prstGeom prst="rect">
              <a:avLst/>
            </a:prstGeom>
            <a:noFill/>
            <a:ln w="9525">
              <a:noFill/>
              <a:miter lim="800000"/>
              <a:headEnd/>
              <a:tailEnd/>
            </a:ln>
            <a:effectLst/>
          </p:spPr>
          <p:txBody>
            <a:bodyPr wrap="none">
              <a:spAutoFit/>
            </a:bodyPr>
            <a:lstStyle/>
            <a:p>
              <a:pPr algn="l">
                <a:spcBef>
                  <a:spcPct val="0"/>
                </a:spcBef>
                <a:spcAft>
                  <a:spcPct val="0"/>
                </a:spcAft>
              </a:pPr>
              <a:r>
                <a:rPr lang="en-US" sz="1200" b="1">
                  <a:effectLst/>
                  <a:latin typeface="Times New Roman" pitchFamily="18" charset="0"/>
                </a:rPr>
                <a:t>Next </a:t>
              </a:r>
            </a:p>
            <a:p>
              <a:pPr algn="l">
                <a:spcBef>
                  <a:spcPct val="0"/>
                </a:spcBef>
                <a:spcAft>
                  <a:spcPct val="0"/>
                </a:spcAft>
              </a:pPr>
              <a:r>
                <a:rPr lang="en-US" sz="1200" b="1">
                  <a:effectLst/>
                  <a:latin typeface="Times New Roman" pitchFamily="18" charset="0"/>
                </a:rPr>
                <a:t>sync.seg.</a:t>
              </a:r>
              <a:endParaRPr lang="en-US" sz="2400" b="1">
                <a:effectLst/>
                <a:latin typeface="Times New Roman" pitchFamily="18" charset="0"/>
              </a:endParaRPr>
            </a:p>
          </p:txBody>
        </p:sp>
        <p:sp>
          <p:nvSpPr>
            <p:cNvPr id="263259" name="Text Box 91"/>
            <p:cNvSpPr txBox="1">
              <a:spLocks noChangeArrowheads="1"/>
            </p:cNvSpPr>
            <p:nvPr/>
          </p:nvSpPr>
          <p:spPr bwMode="auto">
            <a:xfrm>
              <a:off x="4870" y="1297"/>
              <a:ext cx="672" cy="288"/>
            </a:xfrm>
            <a:prstGeom prst="rect">
              <a:avLst/>
            </a:prstGeom>
            <a:noFill/>
            <a:ln w="9525">
              <a:noFill/>
              <a:miter lim="800000"/>
              <a:headEnd/>
              <a:tailEnd/>
            </a:ln>
            <a:effectLst/>
          </p:spPr>
          <p:txBody>
            <a:bodyPr>
              <a:spAutoFit/>
            </a:bodyPr>
            <a:lstStyle/>
            <a:p>
              <a:pPr algn="l">
                <a:spcBef>
                  <a:spcPct val="0"/>
                </a:spcBef>
                <a:spcAft>
                  <a:spcPct val="0"/>
                </a:spcAft>
              </a:pPr>
              <a:r>
                <a:rPr lang="en-US" sz="1200" b="1">
                  <a:effectLst/>
                  <a:latin typeface="Times New Roman" pitchFamily="18" charset="0"/>
                </a:rPr>
                <a:t>Next </a:t>
              </a:r>
            </a:p>
            <a:p>
              <a:pPr algn="l">
                <a:spcBef>
                  <a:spcPct val="0"/>
                </a:spcBef>
                <a:spcAft>
                  <a:spcPct val="0"/>
                </a:spcAft>
              </a:pPr>
              <a:r>
                <a:rPr lang="en-US" sz="1200" b="1">
                  <a:effectLst/>
                  <a:latin typeface="Times New Roman" pitchFamily="18" charset="0"/>
                </a:rPr>
                <a:t>sync.seg.</a:t>
              </a:r>
              <a:endParaRPr lang="en-US" sz="2400" b="1">
                <a:effectLst/>
                <a:latin typeface="Times New Roman" pitchFamily="18" charset="0"/>
              </a:endParaRPr>
            </a:p>
          </p:txBody>
        </p:sp>
        <p:sp>
          <p:nvSpPr>
            <p:cNvPr id="263260" name="Line 92"/>
            <p:cNvSpPr>
              <a:spLocks noChangeShapeType="1"/>
            </p:cNvSpPr>
            <p:nvPr/>
          </p:nvSpPr>
          <p:spPr bwMode="auto">
            <a:xfrm flipV="1">
              <a:off x="4870" y="1364"/>
              <a:ext cx="0" cy="221"/>
            </a:xfrm>
            <a:prstGeom prst="line">
              <a:avLst/>
            </a:prstGeom>
            <a:noFill/>
            <a:ln w="9525">
              <a:solidFill>
                <a:schemeClr val="tx1"/>
              </a:solidFill>
              <a:round/>
              <a:headEnd/>
              <a:tailEnd/>
            </a:ln>
            <a:effectLst/>
          </p:spPr>
          <p:txBody>
            <a:bodyPr wrap="none" anchor="ctr"/>
            <a:lstStyle/>
            <a:p>
              <a:endParaRPr lang="en-US"/>
            </a:p>
          </p:txBody>
        </p:sp>
      </p:grpSp>
      <p:grpSp>
        <p:nvGrpSpPr>
          <p:cNvPr id="4" name="Group 140"/>
          <p:cNvGrpSpPr>
            <a:grpSpLocks/>
          </p:cNvGrpSpPr>
          <p:nvPr/>
        </p:nvGrpSpPr>
        <p:grpSpPr bwMode="auto">
          <a:xfrm>
            <a:off x="307731" y="3289301"/>
            <a:ext cx="8382000" cy="2138363"/>
            <a:chOff x="210" y="2072"/>
            <a:chExt cx="5720" cy="1347"/>
          </a:xfrm>
        </p:grpSpPr>
        <p:sp>
          <p:nvSpPr>
            <p:cNvPr id="263261" name="Rectangle 93"/>
            <p:cNvSpPr>
              <a:spLocks noChangeArrowheads="1"/>
            </p:cNvSpPr>
            <p:nvPr/>
          </p:nvSpPr>
          <p:spPr bwMode="auto">
            <a:xfrm>
              <a:off x="1794" y="2456"/>
              <a:ext cx="384" cy="144"/>
            </a:xfrm>
            <a:prstGeom prst="rect">
              <a:avLst/>
            </a:prstGeom>
            <a:gradFill rotWithShape="0">
              <a:gsLst>
                <a:gs pos="0">
                  <a:srgbClr val="FF9900">
                    <a:gamma/>
                    <a:shade val="69804"/>
                    <a:invGamma/>
                  </a:srgbClr>
                </a:gs>
                <a:gs pos="50000">
                  <a:srgbClr val="FF9900"/>
                </a:gs>
                <a:gs pos="100000">
                  <a:srgbClr val="FF9900">
                    <a:gamma/>
                    <a:shade val="69804"/>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62" name="Rectangle 94"/>
            <p:cNvSpPr>
              <a:spLocks noChangeArrowheads="1"/>
            </p:cNvSpPr>
            <p:nvPr/>
          </p:nvSpPr>
          <p:spPr bwMode="auto">
            <a:xfrm>
              <a:off x="2178" y="2456"/>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63" name="Rectangle 95"/>
            <p:cNvSpPr>
              <a:spLocks noChangeArrowheads="1"/>
            </p:cNvSpPr>
            <p:nvPr/>
          </p:nvSpPr>
          <p:spPr bwMode="auto">
            <a:xfrm>
              <a:off x="4098" y="2456"/>
              <a:ext cx="384" cy="144"/>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64" name="Rectangle 96"/>
            <p:cNvSpPr>
              <a:spLocks noChangeArrowheads="1"/>
            </p:cNvSpPr>
            <p:nvPr/>
          </p:nvSpPr>
          <p:spPr bwMode="auto">
            <a:xfrm>
              <a:off x="2562" y="2456"/>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65" name="Rectangle 97"/>
            <p:cNvSpPr>
              <a:spLocks noChangeArrowheads="1"/>
            </p:cNvSpPr>
            <p:nvPr/>
          </p:nvSpPr>
          <p:spPr bwMode="auto">
            <a:xfrm>
              <a:off x="2946" y="2456"/>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66" name="Rectangle 98"/>
            <p:cNvSpPr>
              <a:spLocks noChangeArrowheads="1"/>
            </p:cNvSpPr>
            <p:nvPr/>
          </p:nvSpPr>
          <p:spPr bwMode="auto">
            <a:xfrm>
              <a:off x="3340" y="2456"/>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67" name="Rectangle 99"/>
            <p:cNvSpPr>
              <a:spLocks noChangeArrowheads="1"/>
            </p:cNvSpPr>
            <p:nvPr/>
          </p:nvSpPr>
          <p:spPr bwMode="auto">
            <a:xfrm>
              <a:off x="3714" y="2456"/>
              <a:ext cx="384" cy="144"/>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68" name="Rectangle 100"/>
            <p:cNvSpPr>
              <a:spLocks noChangeArrowheads="1"/>
            </p:cNvSpPr>
            <p:nvPr/>
          </p:nvSpPr>
          <p:spPr bwMode="auto">
            <a:xfrm>
              <a:off x="4866" y="2456"/>
              <a:ext cx="384" cy="144"/>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69" name="Rectangle 101"/>
            <p:cNvSpPr>
              <a:spLocks noChangeArrowheads="1"/>
            </p:cNvSpPr>
            <p:nvPr/>
          </p:nvSpPr>
          <p:spPr bwMode="auto">
            <a:xfrm>
              <a:off x="4482" y="2456"/>
              <a:ext cx="384" cy="144"/>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70" name="Rectangle 102"/>
            <p:cNvSpPr>
              <a:spLocks noChangeArrowheads="1"/>
            </p:cNvSpPr>
            <p:nvPr/>
          </p:nvSpPr>
          <p:spPr bwMode="auto">
            <a:xfrm>
              <a:off x="1410" y="2888"/>
              <a:ext cx="384" cy="144"/>
            </a:xfrm>
            <a:prstGeom prst="rect">
              <a:avLst/>
            </a:prstGeom>
            <a:gradFill rotWithShape="0">
              <a:gsLst>
                <a:gs pos="0">
                  <a:srgbClr val="FF9900">
                    <a:gamma/>
                    <a:shade val="69804"/>
                    <a:invGamma/>
                  </a:srgbClr>
                </a:gs>
                <a:gs pos="50000">
                  <a:srgbClr val="FF9900"/>
                </a:gs>
                <a:gs pos="100000">
                  <a:srgbClr val="FF9900">
                    <a:gamma/>
                    <a:shade val="69804"/>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71" name="Rectangle 103"/>
            <p:cNvSpPr>
              <a:spLocks noChangeArrowheads="1"/>
            </p:cNvSpPr>
            <p:nvPr/>
          </p:nvSpPr>
          <p:spPr bwMode="auto">
            <a:xfrm>
              <a:off x="1794" y="2888"/>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72" name="Rectangle 104"/>
            <p:cNvSpPr>
              <a:spLocks noChangeArrowheads="1"/>
            </p:cNvSpPr>
            <p:nvPr/>
          </p:nvSpPr>
          <p:spPr bwMode="auto">
            <a:xfrm>
              <a:off x="3714" y="2888"/>
              <a:ext cx="384" cy="144"/>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73" name="Rectangle 105"/>
            <p:cNvSpPr>
              <a:spLocks noChangeArrowheads="1"/>
            </p:cNvSpPr>
            <p:nvPr/>
          </p:nvSpPr>
          <p:spPr bwMode="auto">
            <a:xfrm>
              <a:off x="2178" y="2888"/>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74" name="Rectangle 106"/>
            <p:cNvSpPr>
              <a:spLocks noChangeArrowheads="1"/>
            </p:cNvSpPr>
            <p:nvPr/>
          </p:nvSpPr>
          <p:spPr bwMode="auto">
            <a:xfrm>
              <a:off x="2562" y="2888"/>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75" name="Rectangle 107"/>
            <p:cNvSpPr>
              <a:spLocks noChangeArrowheads="1"/>
            </p:cNvSpPr>
            <p:nvPr/>
          </p:nvSpPr>
          <p:spPr bwMode="auto">
            <a:xfrm>
              <a:off x="2956" y="2888"/>
              <a:ext cx="384" cy="144"/>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76" name="Rectangle 108"/>
            <p:cNvSpPr>
              <a:spLocks noChangeArrowheads="1"/>
            </p:cNvSpPr>
            <p:nvPr/>
          </p:nvSpPr>
          <p:spPr bwMode="auto">
            <a:xfrm>
              <a:off x="3330" y="2888"/>
              <a:ext cx="384" cy="144"/>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77" name="Rectangle 109"/>
            <p:cNvSpPr>
              <a:spLocks noChangeArrowheads="1"/>
            </p:cNvSpPr>
            <p:nvPr/>
          </p:nvSpPr>
          <p:spPr bwMode="auto">
            <a:xfrm>
              <a:off x="4870" y="2888"/>
              <a:ext cx="384" cy="144"/>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78" name="Rectangle 110"/>
            <p:cNvSpPr>
              <a:spLocks noChangeArrowheads="1"/>
            </p:cNvSpPr>
            <p:nvPr/>
          </p:nvSpPr>
          <p:spPr bwMode="auto">
            <a:xfrm>
              <a:off x="4486" y="2888"/>
              <a:ext cx="384" cy="144"/>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63279" name="Rectangle 111"/>
            <p:cNvSpPr>
              <a:spLocks noChangeArrowheads="1"/>
            </p:cNvSpPr>
            <p:nvPr/>
          </p:nvSpPr>
          <p:spPr bwMode="auto">
            <a:xfrm>
              <a:off x="5250" y="2456"/>
              <a:ext cx="384" cy="144"/>
            </a:xfrm>
            <a:prstGeom prst="rect">
              <a:avLst/>
            </a:prstGeom>
            <a:gradFill rotWithShape="0">
              <a:gsLst>
                <a:gs pos="0">
                  <a:schemeClr val="hlink">
                    <a:gamma/>
                    <a:shade val="66667"/>
                    <a:invGamma/>
                  </a:schemeClr>
                </a:gs>
                <a:gs pos="50000">
                  <a:schemeClr val="hlink"/>
                </a:gs>
                <a:gs pos="100000">
                  <a:schemeClr val="hlink">
                    <a:gamma/>
                    <a:shade val="66667"/>
                    <a:invGamma/>
                  </a:schemeClr>
                </a:gs>
              </a:gsLst>
              <a:lin ang="5400000" scaled="1"/>
            </a:gradFill>
            <a:ln w="9525">
              <a:solidFill>
                <a:schemeClr val="tx1"/>
              </a:solidFill>
              <a:miter lim="800000"/>
              <a:headEnd/>
              <a:tailEnd/>
            </a:ln>
            <a:effectLst/>
          </p:spPr>
          <p:txBody>
            <a:bodyPr wrap="none" anchor="ctr"/>
            <a:lstStyle/>
            <a:p>
              <a:endParaRPr lang="en-US"/>
            </a:p>
          </p:txBody>
        </p:sp>
        <p:sp>
          <p:nvSpPr>
            <p:cNvPr id="263280" name="Rectangle 112"/>
            <p:cNvSpPr>
              <a:spLocks noChangeArrowheads="1"/>
            </p:cNvSpPr>
            <p:nvPr/>
          </p:nvSpPr>
          <p:spPr bwMode="auto">
            <a:xfrm>
              <a:off x="5254" y="2888"/>
              <a:ext cx="384" cy="144"/>
            </a:xfrm>
            <a:prstGeom prst="rect">
              <a:avLst/>
            </a:prstGeom>
            <a:gradFill rotWithShape="0">
              <a:gsLst>
                <a:gs pos="0">
                  <a:schemeClr val="hlink">
                    <a:gamma/>
                    <a:shade val="66667"/>
                    <a:invGamma/>
                  </a:schemeClr>
                </a:gs>
                <a:gs pos="50000">
                  <a:schemeClr val="hlink"/>
                </a:gs>
                <a:gs pos="100000">
                  <a:schemeClr val="hlink">
                    <a:gamma/>
                    <a:shade val="66667"/>
                    <a:invGamma/>
                  </a:schemeClr>
                </a:gs>
              </a:gsLst>
              <a:lin ang="5400000" scaled="1"/>
            </a:gradFill>
            <a:ln w="9525">
              <a:solidFill>
                <a:schemeClr val="tx1"/>
              </a:solidFill>
              <a:miter lim="800000"/>
              <a:headEnd/>
              <a:tailEnd/>
            </a:ln>
            <a:effectLst/>
          </p:spPr>
          <p:txBody>
            <a:bodyPr wrap="none" anchor="ctr"/>
            <a:lstStyle/>
            <a:p>
              <a:endParaRPr lang="en-US"/>
            </a:p>
          </p:txBody>
        </p:sp>
        <p:sp>
          <p:nvSpPr>
            <p:cNvPr id="263281" name="Line 113"/>
            <p:cNvSpPr>
              <a:spLocks noChangeShapeType="1"/>
            </p:cNvSpPr>
            <p:nvPr/>
          </p:nvSpPr>
          <p:spPr bwMode="auto">
            <a:xfrm>
              <a:off x="1794" y="2161"/>
              <a:ext cx="0" cy="1063"/>
            </a:xfrm>
            <a:prstGeom prst="line">
              <a:avLst/>
            </a:prstGeom>
            <a:noFill/>
            <a:ln w="3175">
              <a:solidFill>
                <a:schemeClr val="tx1"/>
              </a:solidFill>
              <a:round/>
              <a:headEnd/>
              <a:tailEnd/>
            </a:ln>
            <a:effectLst/>
          </p:spPr>
          <p:txBody>
            <a:bodyPr wrap="none" anchor="ctr"/>
            <a:lstStyle/>
            <a:p>
              <a:endParaRPr lang="en-US"/>
            </a:p>
          </p:txBody>
        </p:sp>
        <p:sp>
          <p:nvSpPr>
            <p:cNvPr id="263282" name="Line 114"/>
            <p:cNvSpPr>
              <a:spLocks noChangeShapeType="1"/>
            </p:cNvSpPr>
            <p:nvPr/>
          </p:nvSpPr>
          <p:spPr bwMode="auto">
            <a:xfrm>
              <a:off x="1410" y="2161"/>
              <a:ext cx="0" cy="1063"/>
            </a:xfrm>
            <a:prstGeom prst="line">
              <a:avLst/>
            </a:prstGeom>
            <a:noFill/>
            <a:ln w="3175">
              <a:solidFill>
                <a:schemeClr val="tx1"/>
              </a:solidFill>
              <a:round/>
              <a:headEnd/>
              <a:tailEnd/>
            </a:ln>
            <a:effectLst/>
          </p:spPr>
          <p:txBody>
            <a:bodyPr wrap="none" anchor="ctr"/>
            <a:lstStyle/>
            <a:p>
              <a:endParaRPr lang="en-US"/>
            </a:p>
          </p:txBody>
        </p:sp>
        <p:sp>
          <p:nvSpPr>
            <p:cNvPr id="263288" name="Text Box 120"/>
            <p:cNvSpPr txBox="1">
              <a:spLocks noChangeArrowheads="1"/>
            </p:cNvSpPr>
            <p:nvPr/>
          </p:nvSpPr>
          <p:spPr bwMode="auto">
            <a:xfrm>
              <a:off x="3234" y="2600"/>
              <a:ext cx="2020" cy="174"/>
            </a:xfrm>
            <a:prstGeom prst="rect">
              <a:avLst/>
            </a:prstGeom>
            <a:solidFill>
              <a:srgbClr val="CCECFF"/>
            </a:solidFill>
            <a:ln w="9525">
              <a:noFill/>
              <a:miter lim="800000"/>
              <a:headEnd/>
              <a:tailEnd/>
            </a:ln>
            <a:effectLst/>
          </p:spPr>
          <p:txBody>
            <a:bodyPr wrap="none">
              <a:spAutoFit/>
            </a:bodyPr>
            <a:lstStyle/>
            <a:p>
              <a:pPr algn="l">
                <a:spcBef>
                  <a:spcPct val="0"/>
                </a:spcBef>
                <a:spcAft>
                  <a:spcPct val="0"/>
                </a:spcAft>
              </a:pPr>
              <a:r>
                <a:rPr lang="en-US" sz="1200" b="1">
                  <a:effectLst/>
                  <a:latin typeface="Times New Roman" pitchFamily="18" charset="0"/>
                </a:rPr>
                <a:t>Phase Buffer Segment 1 lengthened by 1tq</a:t>
              </a:r>
              <a:endParaRPr lang="en-US" sz="2400" b="1">
                <a:effectLst/>
                <a:latin typeface="Times New Roman" pitchFamily="18" charset="0"/>
              </a:endParaRPr>
            </a:p>
          </p:txBody>
        </p:sp>
        <p:sp>
          <p:nvSpPr>
            <p:cNvPr id="263289" name="Line 121"/>
            <p:cNvSpPr>
              <a:spLocks noChangeShapeType="1"/>
            </p:cNvSpPr>
            <p:nvPr/>
          </p:nvSpPr>
          <p:spPr bwMode="auto">
            <a:xfrm>
              <a:off x="4482" y="2264"/>
              <a:ext cx="0" cy="192"/>
            </a:xfrm>
            <a:prstGeom prst="line">
              <a:avLst/>
            </a:prstGeom>
            <a:noFill/>
            <a:ln w="9525">
              <a:solidFill>
                <a:srgbClr val="FF3300"/>
              </a:solidFill>
              <a:round/>
              <a:headEnd/>
              <a:tailEnd type="triangle" w="med" len="med"/>
            </a:ln>
            <a:effectLst/>
          </p:spPr>
          <p:txBody>
            <a:bodyPr wrap="none" anchor="ctr"/>
            <a:lstStyle/>
            <a:p>
              <a:endParaRPr lang="en-US"/>
            </a:p>
          </p:txBody>
        </p:sp>
        <p:sp>
          <p:nvSpPr>
            <p:cNvPr id="263290" name="Text Box 122"/>
            <p:cNvSpPr txBox="1">
              <a:spLocks noChangeArrowheads="1"/>
            </p:cNvSpPr>
            <p:nvPr/>
          </p:nvSpPr>
          <p:spPr bwMode="auto">
            <a:xfrm>
              <a:off x="4504" y="2072"/>
              <a:ext cx="844" cy="291"/>
            </a:xfrm>
            <a:prstGeom prst="rect">
              <a:avLst/>
            </a:prstGeom>
            <a:noFill/>
            <a:ln w="9525">
              <a:noFill/>
              <a:miter lim="800000"/>
              <a:headEnd/>
              <a:tailEnd/>
            </a:ln>
            <a:effectLst/>
          </p:spPr>
          <p:txBody>
            <a:bodyPr wrap="none">
              <a:spAutoFit/>
            </a:bodyPr>
            <a:lstStyle/>
            <a:p>
              <a:pPr>
                <a:spcBef>
                  <a:spcPct val="0"/>
                </a:spcBef>
                <a:spcAft>
                  <a:spcPct val="0"/>
                </a:spcAft>
              </a:pPr>
              <a:r>
                <a:rPr lang="en-US" sz="1200" b="1">
                  <a:effectLst/>
                  <a:latin typeface="Times New Roman" pitchFamily="18" charset="0"/>
                </a:rPr>
                <a:t>Needed Sample </a:t>
              </a:r>
            </a:p>
            <a:p>
              <a:pPr>
                <a:spcBef>
                  <a:spcPct val="0"/>
                </a:spcBef>
                <a:spcAft>
                  <a:spcPct val="0"/>
                </a:spcAft>
              </a:pPr>
              <a:r>
                <a:rPr lang="en-US" sz="1200" b="1">
                  <a:effectLst/>
                  <a:latin typeface="Times New Roman" pitchFamily="18" charset="0"/>
                </a:rPr>
                <a:t>Point</a:t>
              </a:r>
              <a:endParaRPr lang="en-US" sz="2400" b="1">
                <a:effectLst/>
                <a:latin typeface="Times New Roman" pitchFamily="18" charset="0"/>
              </a:endParaRPr>
            </a:p>
          </p:txBody>
        </p:sp>
        <p:sp>
          <p:nvSpPr>
            <p:cNvPr id="263291" name="Line 123"/>
            <p:cNvSpPr>
              <a:spLocks noChangeShapeType="1"/>
            </p:cNvSpPr>
            <p:nvPr/>
          </p:nvSpPr>
          <p:spPr bwMode="auto">
            <a:xfrm>
              <a:off x="4486" y="3032"/>
              <a:ext cx="0" cy="192"/>
            </a:xfrm>
            <a:prstGeom prst="line">
              <a:avLst/>
            </a:prstGeom>
            <a:noFill/>
            <a:ln w="9525">
              <a:solidFill>
                <a:srgbClr val="FF3300"/>
              </a:solidFill>
              <a:round/>
              <a:headEnd type="triangle" w="med" len="med"/>
              <a:tailEnd/>
            </a:ln>
            <a:effectLst/>
          </p:spPr>
          <p:txBody>
            <a:bodyPr wrap="none" anchor="ctr"/>
            <a:lstStyle/>
            <a:p>
              <a:endParaRPr lang="en-US"/>
            </a:p>
          </p:txBody>
        </p:sp>
        <p:sp>
          <p:nvSpPr>
            <p:cNvPr id="263292" name="Text Box 124"/>
            <p:cNvSpPr txBox="1">
              <a:spLocks noChangeArrowheads="1"/>
            </p:cNvSpPr>
            <p:nvPr/>
          </p:nvSpPr>
          <p:spPr bwMode="auto">
            <a:xfrm>
              <a:off x="4486" y="3128"/>
              <a:ext cx="844" cy="291"/>
            </a:xfrm>
            <a:prstGeom prst="rect">
              <a:avLst/>
            </a:prstGeom>
            <a:noFill/>
            <a:ln w="9525">
              <a:noFill/>
              <a:miter lim="800000"/>
              <a:headEnd/>
              <a:tailEnd/>
            </a:ln>
            <a:effectLst/>
          </p:spPr>
          <p:txBody>
            <a:bodyPr wrap="none">
              <a:spAutoFit/>
            </a:bodyPr>
            <a:lstStyle/>
            <a:p>
              <a:pPr>
                <a:spcBef>
                  <a:spcPct val="0"/>
                </a:spcBef>
                <a:spcAft>
                  <a:spcPct val="0"/>
                </a:spcAft>
              </a:pPr>
              <a:r>
                <a:rPr lang="en-US" sz="1200" b="1">
                  <a:effectLst/>
                  <a:latin typeface="Times New Roman" pitchFamily="18" charset="0"/>
                </a:rPr>
                <a:t>Needed Sample </a:t>
              </a:r>
            </a:p>
            <a:p>
              <a:pPr>
                <a:spcBef>
                  <a:spcPct val="0"/>
                </a:spcBef>
                <a:spcAft>
                  <a:spcPct val="0"/>
                </a:spcAft>
              </a:pPr>
              <a:r>
                <a:rPr lang="en-US" sz="1200" b="1">
                  <a:effectLst/>
                  <a:latin typeface="Times New Roman" pitchFamily="18" charset="0"/>
                </a:rPr>
                <a:t>Point</a:t>
              </a:r>
              <a:endParaRPr lang="en-US" sz="2400" b="1">
                <a:effectLst/>
                <a:latin typeface="Times New Roman" pitchFamily="18" charset="0"/>
              </a:endParaRPr>
            </a:p>
          </p:txBody>
        </p:sp>
        <p:sp>
          <p:nvSpPr>
            <p:cNvPr id="263293" name="Text Box 125"/>
            <p:cNvSpPr txBox="1">
              <a:spLocks noChangeArrowheads="1"/>
            </p:cNvSpPr>
            <p:nvPr/>
          </p:nvSpPr>
          <p:spPr bwMode="auto">
            <a:xfrm>
              <a:off x="210" y="2440"/>
              <a:ext cx="1134" cy="194"/>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Times New Roman" pitchFamily="18" charset="0"/>
                </a:rPr>
                <a:t>Transmitter-slower</a:t>
              </a:r>
              <a:endParaRPr lang="en-US" sz="2400" b="1">
                <a:effectLst/>
                <a:latin typeface="Times New Roman" pitchFamily="18" charset="0"/>
              </a:endParaRPr>
            </a:p>
          </p:txBody>
        </p:sp>
        <p:sp>
          <p:nvSpPr>
            <p:cNvPr id="263294" name="Text Box 126"/>
            <p:cNvSpPr txBox="1">
              <a:spLocks noChangeArrowheads="1"/>
            </p:cNvSpPr>
            <p:nvPr/>
          </p:nvSpPr>
          <p:spPr bwMode="auto">
            <a:xfrm>
              <a:off x="306" y="2795"/>
              <a:ext cx="919" cy="194"/>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Times New Roman" pitchFamily="18" charset="0"/>
                </a:rPr>
                <a:t>Receiver-faster</a:t>
              </a:r>
            </a:p>
          </p:txBody>
        </p:sp>
        <p:sp>
          <p:nvSpPr>
            <p:cNvPr id="263295" name="Line 127"/>
            <p:cNvSpPr>
              <a:spLocks noChangeShapeType="1"/>
            </p:cNvSpPr>
            <p:nvPr/>
          </p:nvSpPr>
          <p:spPr bwMode="auto">
            <a:xfrm>
              <a:off x="5250" y="2072"/>
              <a:ext cx="0" cy="528"/>
            </a:xfrm>
            <a:prstGeom prst="line">
              <a:avLst/>
            </a:prstGeom>
            <a:noFill/>
            <a:ln w="9525">
              <a:solidFill>
                <a:schemeClr val="tx1"/>
              </a:solidFill>
              <a:round/>
              <a:headEnd/>
              <a:tailEnd/>
            </a:ln>
            <a:effectLst/>
          </p:spPr>
          <p:txBody>
            <a:bodyPr wrap="none" anchor="ctr"/>
            <a:lstStyle/>
            <a:p>
              <a:endParaRPr lang="en-US"/>
            </a:p>
          </p:txBody>
        </p:sp>
        <p:sp>
          <p:nvSpPr>
            <p:cNvPr id="263296" name="Text Box 128"/>
            <p:cNvSpPr txBox="1">
              <a:spLocks noChangeArrowheads="1"/>
            </p:cNvSpPr>
            <p:nvPr/>
          </p:nvSpPr>
          <p:spPr bwMode="auto">
            <a:xfrm>
              <a:off x="5250" y="2072"/>
              <a:ext cx="517" cy="291"/>
            </a:xfrm>
            <a:prstGeom prst="rect">
              <a:avLst/>
            </a:prstGeom>
            <a:noFill/>
            <a:ln w="9525">
              <a:noFill/>
              <a:miter lim="800000"/>
              <a:headEnd/>
              <a:tailEnd/>
            </a:ln>
            <a:effectLst/>
          </p:spPr>
          <p:txBody>
            <a:bodyPr wrap="none">
              <a:spAutoFit/>
            </a:bodyPr>
            <a:lstStyle/>
            <a:p>
              <a:pPr algn="l">
                <a:spcBef>
                  <a:spcPct val="0"/>
                </a:spcBef>
                <a:spcAft>
                  <a:spcPct val="0"/>
                </a:spcAft>
              </a:pPr>
              <a:r>
                <a:rPr lang="en-US" sz="1200" b="1">
                  <a:effectLst/>
                  <a:latin typeface="Times New Roman" pitchFamily="18" charset="0"/>
                </a:rPr>
                <a:t>Next </a:t>
              </a:r>
            </a:p>
            <a:p>
              <a:pPr algn="l">
                <a:spcBef>
                  <a:spcPct val="0"/>
                </a:spcBef>
                <a:spcAft>
                  <a:spcPct val="0"/>
                </a:spcAft>
              </a:pPr>
              <a:r>
                <a:rPr lang="en-US" sz="1200" b="1">
                  <a:effectLst/>
                  <a:latin typeface="Times New Roman" pitchFamily="18" charset="0"/>
                </a:rPr>
                <a:t>sync.seg.</a:t>
              </a:r>
              <a:endParaRPr lang="en-US" sz="2400" b="1">
                <a:effectLst/>
                <a:latin typeface="Times New Roman" pitchFamily="18" charset="0"/>
              </a:endParaRPr>
            </a:p>
          </p:txBody>
        </p:sp>
        <p:sp>
          <p:nvSpPr>
            <p:cNvPr id="263297" name="Text Box 129"/>
            <p:cNvSpPr txBox="1">
              <a:spLocks noChangeArrowheads="1"/>
            </p:cNvSpPr>
            <p:nvPr/>
          </p:nvSpPr>
          <p:spPr bwMode="auto">
            <a:xfrm>
              <a:off x="5258" y="2600"/>
              <a:ext cx="672" cy="288"/>
            </a:xfrm>
            <a:prstGeom prst="rect">
              <a:avLst/>
            </a:prstGeom>
            <a:noFill/>
            <a:ln w="9525">
              <a:noFill/>
              <a:miter lim="800000"/>
              <a:headEnd/>
              <a:tailEnd/>
            </a:ln>
            <a:effectLst/>
          </p:spPr>
          <p:txBody>
            <a:bodyPr>
              <a:spAutoFit/>
            </a:bodyPr>
            <a:lstStyle/>
            <a:p>
              <a:pPr algn="l">
                <a:spcBef>
                  <a:spcPct val="0"/>
                </a:spcBef>
                <a:spcAft>
                  <a:spcPct val="0"/>
                </a:spcAft>
              </a:pPr>
              <a:r>
                <a:rPr lang="en-US" sz="1200" b="1">
                  <a:effectLst/>
                  <a:latin typeface="Times New Roman" pitchFamily="18" charset="0"/>
                </a:rPr>
                <a:t>Next </a:t>
              </a:r>
            </a:p>
            <a:p>
              <a:pPr algn="l">
                <a:spcBef>
                  <a:spcPct val="0"/>
                </a:spcBef>
                <a:spcAft>
                  <a:spcPct val="0"/>
                </a:spcAft>
              </a:pPr>
              <a:r>
                <a:rPr lang="en-US" sz="1200" b="1">
                  <a:effectLst/>
                  <a:latin typeface="Times New Roman" pitchFamily="18" charset="0"/>
                </a:rPr>
                <a:t>sync.seg.</a:t>
              </a:r>
              <a:endParaRPr lang="en-US" sz="2400" b="1">
                <a:effectLst/>
                <a:latin typeface="Times New Roman" pitchFamily="18" charset="0"/>
              </a:endParaRPr>
            </a:p>
          </p:txBody>
        </p:sp>
        <p:sp>
          <p:nvSpPr>
            <p:cNvPr id="263298" name="Line 130"/>
            <p:cNvSpPr>
              <a:spLocks noChangeShapeType="1"/>
            </p:cNvSpPr>
            <p:nvPr/>
          </p:nvSpPr>
          <p:spPr bwMode="auto">
            <a:xfrm flipV="1">
              <a:off x="5258" y="2667"/>
              <a:ext cx="0" cy="221"/>
            </a:xfrm>
            <a:prstGeom prst="line">
              <a:avLst/>
            </a:prstGeom>
            <a:noFill/>
            <a:ln w="9525">
              <a:solidFill>
                <a:schemeClr val="tx1"/>
              </a:solidFill>
              <a:round/>
              <a:headEnd/>
              <a:tailEnd/>
            </a:ln>
            <a:effectLst/>
          </p:spPr>
          <p:txBody>
            <a:bodyPr wrap="none" anchor="ctr"/>
            <a:lstStyle/>
            <a:p>
              <a:endParaRPr lang="en-US"/>
            </a:p>
          </p:txBody>
        </p:sp>
        <p:sp>
          <p:nvSpPr>
            <p:cNvPr id="263301" name="Rectangle 133"/>
            <p:cNvSpPr>
              <a:spLocks noChangeArrowheads="1"/>
            </p:cNvSpPr>
            <p:nvPr/>
          </p:nvSpPr>
          <p:spPr bwMode="auto">
            <a:xfrm>
              <a:off x="4102" y="2888"/>
              <a:ext cx="384" cy="144"/>
            </a:xfrm>
            <a:prstGeom prst="rect">
              <a:avLst/>
            </a:prstGeom>
            <a:gradFill rotWithShape="0">
              <a:gsLst>
                <a:gs pos="0">
                  <a:srgbClr val="3399FF">
                    <a:gamma/>
                    <a:shade val="78824"/>
                    <a:invGamma/>
                  </a:srgbClr>
                </a:gs>
                <a:gs pos="50000">
                  <a:srgbClr val="3399FF"/>
                </a:gs>
                <a:gs pos="100000">
                  <a:srgbClr val="3399FF">
                    <a:gamma/>
                    <a:shade val="78824"/>
                    <a:invGamma/>
                  </a:srgbClr>
                </a:gs>
              </a:gsLst>
              <a:lin ang="5400000" scaled="1"/>
            </a:gradFill>
            <a:ln w="9525">
              <a:solidFill>
                <a:schemeClr val="tx1"/>
              </a:solidFill>
              <a:miter lim="800000"/>
              <a:headEnd/>
              <a:tailEnd/>
            </a:ln>
            <a:effectLst/>
          </p:spPr>
          <p:txBody>
            <a:bodyPr wrap="none" anchor="ctr"/>
            <a:lstStyle/>
            <a:p>
              <a:endParaRPr lang="en-US"/>
            </a:p>
          </p:txBody>
        </p:sp>
        <p:sp>
          <p:nvSpPr>
            <p:cNvPr id="263302" name="Line 134"/>
            <p:cNvSpPr>
              <a:spLocks noChangeShapeType="1"/>
            </p:cNvSpPr>
            <p:nvPr/>
          </p:nvSpPr>
          <p:spPr bwMode="auto">
            <a:xfrm>
              <a:off x="4290" y="2773"/>
              <a:ext cx="0" cy="115"/>
            </a:xfrm>
            <a:prstGeom prst="line">
              <a:avLst/>
            </a:prstGeom>
            <a:noFill/>
            <a:ln w="28575">
              <a:solidFill>
                <a:srgbClr val="FF3300"/>
              </a:solidFill>
              <a:round/>
              <a:headEnd/>
              <a:tailEnd type="triangle" w="med" len="med"/>
            </a:ln>
            <a:effectLst/>
          </p:spPr>
          <p:txBody>
            <a:bodyPr wrap="none" anchor="ctr"/>
            <a:lstStyle/>
            <a:p>
              <a:endParaRPr lang="en-US"/>
            </a:p>
          </p:txBody>
        </p:sp>
      </p:grpSp>
      <p:sp>
        <p:nvSpPr>
          <p:cNvPr id="263303" name="Rectangle 135"/>
          <p:cNvSpPr>
            <a:spLocks noChangeArrowheads="1"/>
          </p:cNvSpPr>
          <p:nvPr/>
        </p:nvSpPr>
        <p:spPr bwMode="auto">
          <a:xfrm>
            <a:off x="414704" y="655638"/>
            <a:ext cx="2420856" cy="461665"/>
          </a:xfrm>
          <a:prstGeom prst="rect">
            <a:avLst/>
          </a:prstGeom>
          <a:noFill/>
          <a:ln w="9525">
            <a:noFill/>
            <a:miter lim="800000"/>
            <a:headEnd/>
            <a:tailEnd/>
          </a:ln>
          <a:effectLst/>
        </p:spPr>
        <p:txBody>
          <a:bodyPr wrap="none">
            <a:spAutoFit/>
          </a:bodyPr>
          <a:lstStyle/>
          <a:p>
            <a:pPr algn="l">
              <a:spcBef>
                <a:spcPct val="0"/>
              </a:spcBef>
              <a:spcAft>
                <a:spcPct val="0"/>
              </a:spcAft>
            </a:pPr>
            <a:r>
              <a:rPr lang="en-US" sz="2400" b="1" dirty="0">
                <a:solidFill>
                  <a:schemeClr val="accent1"/>
                </a:solidFill>
                <a:effectLst/>
              </a:rPr>
              <a:t>Bit lengthening</a:t>
            </a:r>
            <a:endParaRPr lang="en-US" sz="2400" dirty="0">
              <a:solidFill>
                <a:schemeClr val="accent1"/>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307730" y="5181601"/>
            <a:ext cx="3097823" cy="838200"/>
            <a:chOff x="4039" y="3307"/>
            <a:chExt cx="2114" cy="617"/>
          </a:xfrm>
        </p:grpSpPr>
        <p:sp>
          <p:nvSpPr>
            <p:cNvPr id="271364" name="Rectangle 4"/>
            <p:cNvSpPr>
              <a:spLocks noChangeArrowheads="1"/>
            </p:cNvSpPr>
            <p:nvPr/>
          </p:nvSpPr>
          <p:spPr bwMode="auto">
            <a:xfrm>
              <a:off x="4039" y="3307"/>
              <a:ext cx="113" cy="113"/>
            </a:xfrm>
            <a:prstGeom prst="rect">
              <a:avLst/>
            </a:prstGeom>
            <a:solidFill>
              <a:srgbClr val="EEB09A"/>
            </a:solidFill>
            <a:ln w="19050">
              <a:solidFill>
                <a:schemeClr val="tx1"/>
              </a:solidFill>
              <a:miter lim="800000"/>
              <a:headEnd/>
              <a:tailEnd/>
            </a:ln>
            <a:effectLst/>
          </p:spPr>
          <p:txBody>
            <a:bodyPr wrap="none" anchor="ctr"/>
            <a:lstStyle/>
            <a:p>
              <a:endParaRPr lang="en-US"/>
            </a:p>
          </p:txBody>
        </p:sp>
        <p:sp>
          <p:nvSpPr>
            <p:cNvPr id="271365" name="Text Box 5"/>
            <p:cNvSpPr txBox="1">
              <a:spLocks noChangeArrowheads="1"/>
            </p:cNvSpPr>
            <p:nvPr/>
          </p:nvSpPr>
          <p:spPr bwMode="auto">
            <a:xfrm>
              <a:off x="4266" y="3307"/>
              <a:ext cx="542"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i="1">
                  <a:solidFill>
                    <a:srgbClr val="D25123"/>
                  </a:solidFill>
                  <a:effectLst/>
                </a:rPr>
                <a:t>Sync_Seg</a:t>
              </a:r>
              <a:endParaRPr lang="en-US" sz="1200" b="1">
                <a:effectLst/>
              </a:endParaRPr>
            </a:p>
          </p:txBody>
        </p:sp>
        <p:sp>
          <p:nvSpPr>
            <p:cNvPr id="271366" name="Rectangle 6"/>
            <p:cNvSpPr>
              <a:spLocks noChangeArrowheads="1"/>
            </p:cNvSpPr>
            <p:nvPr/>
          </p:nvSpPr>
          <p:spPr bwMode="auto">
            <a:xfrm>
              <a:off x="4039" y="3475"/>
              <a:ext cx="113" cy="113"/>
            </a:xfrm>
            <a:prstGeom prst="rect">
              <a:avLst/>
            </a:prstGeom>
            <a:solidFill>
              <a:srgbClr val="FF91FF"/>
            </a:solidFill>
            <a:ln w="19050">
              <a:solidFill>
                <a:schemeClr val="tx1"/>
              </a:solidFill>
              <a:miter lim="800000"/>
              <a:headEnd/>
              <a:tailEnd/>
            </a:ln>
            <a:effectLst/>
          </p:spPr>
          <p:txBody>
            <a:bodyPr wrap="none" anchor="ctr"/>
            <a:lstStyle/>
            <a:p>
              <a:endParaRPr lang="en-US"/>
            </a:p>
          </p:txBody>
        </p:sp>
        <p:sp>
          <p:nvSpPr>
            <p:cNvPr id="271367" name="Text Box 7"/>
            <p:cNvSpPr txBox="1">
              <a:spLocks noChangeArrowheads="1"/>
            </p:cNvSpPr>
            <p:nvPr/>
          </p:nvSpPr>
          <p:spPr bwMode="auto">
            <a:xfrm>
              <a:off x="4266" y="3461"/>
              <a:ext cx="533"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i="1">
                  <a:solidFill>
                    <a:srgbClr val="660066"/>
                  </a:solidFill>
                  <a:effectLst/>
                </a:rPr>
                <a:t>Prop_Seg</a:t>
              </a:r>
              <a:endParaRPr lang="en-US" sz="1200" b="1">
                <a:effectLst/>
              </a:endParaRPr>
            </a:p>
          </p:txBody>
        </p:sp>
        <p:sp>
          <p:nvSpPr>
            <p:cNvPr id="271368" name="Rectangle 8"/>
            <p:cNvSpPr>
              <a:spLocks noChangeArrowheads="1"/>
            </p:cNvSpPr>
            <p:nvPr/>
          </p:nvSpPr>
          <p:spPr bwMode="auto">
            <a:xfrm>
              <a:off x="4039" y="3629"/>
              <a:ext cx="113" cy="113"/>
            </a:xfrm>
            <a:prstGeom prst="rect">
              <a:avLst/>
            </a:prstGeom>
            <a:solidFill>
              <a:srgbClr val="9191E3"/>
            </a:solidFill>
            <a:ln w="19050">
              <a:solidFill>
                <a:schemeClr val="tx1"/>
              </a:solidFill>
              <a:miter lim="800000"/>
              <a:headEnd/>
              <a:tailEnd/>
            </a:ln>
            <a:effectLst/>
          </p:spPr>
          <p:txBody>
            <a:bodyPr wrap="none" anchor="ctr"/>
            <a:lstStyle/>
            <a:p>
              <a:endParaRPr lang="en-US"/>
            </a:p>
          </p:txBody>
        </p:sp>
        <p:sp>
          <p:nvSpPr>
            <p:cNvPr id="271369" name="Rectangle 9"/>
            <p:cNvSpPr>
              <a:spLocks noChangeArrowheads="1"/>
            </p:cNvSpPr>
            <p:nvPr/>
          </p:nvSpPr>
          <p:spPr bwMode="auto">
            <a:xfrm>
              <a:off x="4039" y="3783"/>
              <a:ext cx="113" cy="113"/>
            </a:xfrm>
            <a:prstGeom prst="rect">
              <a:avLst/>
            </a:prstGeom>
            <a:solidFill>
              <a:srgbClr val="A7FFE8"/>
            </a:solidFill>
            <a:ln w="19050">
              <a:solidFill>
                <a:schemeClr val="tx1"/>
              </a:solidFill>
              <a:miter lim="800000"/>
              <a:headEnd/>
              <a:tailEnd/>
            </a:ln>
            <a:effectLst/>
          </p:spPr>
          <p:txBody>
            <a:bodyPr wrap="none" anchor="ctr"/>
            <a:lstStyle/>
            <a:p>
              <a:endParaRPr lang="en-US"/>
            </a:p>
          </p:txBody>
        </p:sp>
        <p:sp>
          <p:nvSpPr>
            <p:cNvPr id="271370" name="Text Box 10"/>
            <p:cNvSpPr txBox="1">
              <a:spLocks noChangeArrowheads="1"/>
            </p:cNvSpPr>
            <p:nvPr/>
          </p:nvSpPr>
          <p:spPr bwMode="auto">
            <a:xfrm>
              <a:off x="4266" y="3769"/>
              <a:ext cx="638"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i="1">
                  <a:solidFill>
                    <a:srgbClr val="009C73"/>
                  </a:solidFill>
                  <a:effectLst/>
                </a:rPr>
                <a:t>Phase_Seg2</a:t>
              </a:r>
              <a:endParaRPr lang="en-US" sz="1200" b="1">
                <a:effectLst/>
              </a:endParaRPr>
            </a:p>
          </p:txBody>
        </p:sp>
        <p:sp>
          <p:nvSpPr>
            <p:cNvPr id="271371" name="Text Box 11"/>
            <p:cNvSpPr txBox="1">
              <a:spLocks noChangeArrowheads="1"/>
            </p:cNvSpPr>
            <p:nvPr/>
          </p:nvSpPr>
          <p:spPr bwMode="auto">
            <a:xfrm>
              <a:off x="4266" y="3615"/>
              <a:ext cx="638"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i="1">
                  <a:solidFill>
                    <a:schemeClr val="accent2"/>
                  </a:solidFill>
                  <a:effectLst/>
                </a:rPr>
                <a:t>Phase_Seg</a:t>
              </a:r>
              <a:r>
                <a:rPr lang="en-US" sz="1000" b="1">
                  <a:solidFill>
                    <a:schemeClr val="accent2"/>
                  </a:solidFill>
                  <a:effectLst/>
                </a:rPr>
                <a:t>1</a:t>
              </a:r>
              <a:endParaRPr lang="en-US" sz="1200" b="1">
                <a:effectLst/>
              </a:endParaRPr>
            </a:p>
          </p:txBody>
        </p:sp>
        <p:sp>
          <p:nvSpPr>
            <p:cNvPr id="271372" name="Text Box 12"/>
            <p:cNvSpPr txBox="1">
              <a:spLocks noChangeArrowheads="1"/>
            </p:cNvSpPr>
            <p:nvPr/>
          </p:nvSpPr>
          <p:spPr bwMode="auto">
            <a:xfrm>
              <a:off x="4897" y="3307"/>
              <a:ext cx="1198"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a:effectLst/>
                </a:rPr>
                <a:t>Synchronization Segment</a:t>
              </a:r>
              <a:endParaRPr lang="en-US" sz="1200" b="1">
                <a:effectLst/>
              </a:endParaRPr>
            </a:p>
          </p:txBody>
        </p:sp>
        <p:sp>
          <p:nvSpPr>
            <p:cNvPr id="271373" name="Text Box 13"/>
            <p:cNvSpPr txBox="1">
              <a:spLocks noChangeArrowheads="1"/>
            </p:cNvSpPr>
            <p:nvPr/>
          </p:nvSpPr>
          <p:spPr bwMode="auto">
            <a:xfrm>
              <a:off x="4897" y="3461"/>
              <a:ext cx="1256"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a:effectLst/>
                </a:rPr>
                <a:t>Propagation Time Segment</a:t>
              </a:r>
              <a:endParaRPr lang="en-US" sz="1200" b="1">
                <a:effectLst/>
              </a:endParaRPr>
            </a:p>
          </p:txBody>
        </p:sp>
        <p:sp>
          <p:nvSpPr>
            <p:cNvPr id="271374" name="Text Box 14"/>
            <p:cNvSpPr txBox="1">
              <a:spLocks noChangeArrowheads="1"/>
            </p:cNvSpPr>
            <p:nvPr/>
          </p:nvSpPr>
          <p:spPr bwMode="auto">
            <a:xfrm>
              <a:off x="4897" y="3769"/>
              <a:ext cx="1129"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a:effectLst/>
                </a:rPr>
                <a:t>Phase Buffer Segment 2</a:t>
              </a:r>
              <a:endParaRPr lang="en-US" sz="1200" b="1">
                <a:effectLst/>
              </a:endParaRPr>
            </a:p>
          </p:txBody>
        </p:sp>
        <p:sp>
          <p:nvSpPr>
            <p:cNvPr id="271375" name="Text Box 15"/>
            <p:cNvSpPr txBox="1">
              <a:spLocks noChangeArrowheads="1"/>
            </p:cNvSpPr>
            <p:nvPr/>
          </p:nvSpPr>
          <p:spPr bwMode="auto">
            <a:xfrm>
              <a:off x="4897" y="3615"/>
              <a:ext cx="1129" cy="155"/>
            </a:xfrm>
            <a:prstGeom prst="rect">
              <a:avLst/>
            </a:prstGeom>
            <a:noFill/>
            <a:ln w="12700">
              <a:noFill/>
              <a:miter lim="800000"/>
              <a:headEnd/>
              <a:tailEnd/>
            </a:ln>
            <a:effectLst/>
          </p:spPr>
          <p:txBody>
            <a:bodyPr wrap="none">
              <a:spAutoFit/>
            </a:bodyPr>
            <a:lstStyle/>
            <a:p>
              <a:pPr algn="l">
                <a:spcBef>
                  <a:spcPct val="0"/>
                </a:spcBef>
                <a:spcAft>
                  <a:spcPct val="0"/>
                </a:spcAft>
              </a:pPr>
              <a:r>
                <a:rPr lang="en-US" sz="1000" b="1" dirty="0">
                  <a:effectLst/>
                </a:rPr>
                <a:t>Phase Buffer Segment 1</a:t>
              </a:r>
              <a:endParaRPr lang="en-US" sz="1200" b="1" dirty="0">
                <a:effectLst/>
              </a:endParaRPr>
            </a:p>
          </p:txBody>
        </p:sp>
      </p:grpSp>
      <p:sp>
        <p:nvSpPr>
          <p:cNvPr id="271450" name="Rectangle 90"/>
          <p:cNvSpPr>
            <a:spLocks noChangeArrowheads="1"/>
          </p:cNvSpPr>
          <p:nvPr/>
        </p:nvSpPr>
        <p:spPr bwMode="auto">
          <a:xfrm>
            <a:off x="414705" y="655638"/>
            <a:ext cx="2302233" cy="461665"/>
          </a:xfrm>
          <a:prstGeom prst="rect">
            <a:avLst/>
          </a:prstGeom>
          <a:noFill/>
          <a:ln w="9525">
            <a:noFill/>
            <a:miter lim="800000"/>
            <a:headEnd/>
            <a:tailEnd/>
          </a:ln>
          <a:effectLst/>
        </p:spPr>
        <p:txBody>
          <a:bodyPr wrap="none">
            <a:spAutoFit/>
          </a:bodyPr>
          <a:lstStyle/>
          <a:p>
            <a:pPr algn="l">
              <a:spcBef>
                <a:spcPct val="0"/>
              </a:spcBef>
              <a:spcAft>
                <a:spcPct val="0"/>
              </a:spcAft>
            </a:pPr>
            <a:r>
              <a:rPr lang="en-US" sz="2400" b="1" dirty="0">
                <a:solidFill>
                  <a:schemeClr val="accent1"/>
                </a:solidFill>
                <a:effectLst/>
              </a:rPr>
              <a:t>Bit Shortening</a:t>
            </a:r>
            <a:endParaRPr lang="en-US" sz="2400" dirty="0">
              <a:solidFill>
                <a:schemeClr val="accent1"/>
              </a:solidFill>
              <a:effectLst/>
            </a:endParaRPr>
          </a:p>
        </p:txBody>
      </p:sp>
      <p:sp>
        <p:nvSpPr>
          <p:cNvPr id="271506" name="Rectangle 146"/>
          <p:cNvSpPr>
            <a:spLocks noChangeArrowheads="1"/>
          </p:cNvSpPr>
          <p:nvPr/>
        </p:nvSpPr>
        <p:spPr bwMode="auto">
          <a:xfrm>
            <a:off x="2661138" y="3816350"/>
            <a:ext cx="562708" cy="228600"/>
          </a:xfrm>
          <a:prstGeom prst="rect">
            <a:avLst/>
          </a:prstGeom>
          <a:gradFill rotWithShape="0">
            <a:gsLst>
              <a:gs pos="0">
                <a:srgbClr val="FF9900">
                  <a:gamma/>
                  <a:shade val="69804"/>
                  <a:invGamma/>
                </a:srgbClr>
              </a:gs>
              <a:gs pos="50000">
                <a:srgbClr val="FF9900"/>
              </a:gs>
              <a:gs pos="100000">
                <a:srgbClr val="FF9900">
                  <a:gamma/>
                  <a:shade val="69804"/>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07" name="Rectangle 147"/>
          <p:cNvSpPr>
            <a:spLocks noChangeArrowheads="1"/>
          </p:cNvSpPr>
          <p:nvPr/>
        </p:nvSpPr>
        <p:spPr bwMode="auto">
          <a:xfrm>
            <a:off x="3223846" y="3816350"/>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08" name="Rectangle 148"/>
          <p:cNvSpPr>
            <a:spLocks noChangeArrowheads="1"/>
          </p:cNvSpPr>
          <p:nvPr/>
        </p:nvSpPr>
        <p:spPr bwMode="auto">
          <a:xfrm>
            <a:off x="6069623" y="3816350"/>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09" name="Rectangle 149"/>
          <p:cNvSpPr>
            <a:spLocks noChangeArrowheads="1"/>
          </p:cNvSpPr>
          <p:nvPr/>
        </p:nvSpPr>
        <p:spPr bwMode="auto">
          <a:xfrm>
            <a:off x="3786554" y="3816350"/>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10" name="Rectangle 150"/>
          <p:cNvSpPr>
            <a:spLocks noChangeArrowheads="1"/>
          </p:cNvSpPr>
          <p:nvPr/>
        </p:nvSpPr>
        <p:spPr bwMode="auto">
          <a:xfrm>
            <a:off x="4349261" y="3816350"/>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11" name="Rectangle 151"/>
          <p:cNvSpPr>
            <a:spLocks noChangeArrowheads="1"/>
          </p:cNvSpPr>
          <p:nvPr/>
        </p:nvSpPr>
        <p:spPr bwMode="auto">
          <a:xfrm>
            <a:off x="4926623" y="3816350"/>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12" name="Rectangle 152"/>
          <p:cNvSpPr>
            <a:spLocks noChangeArrowheads="1"/>
          </p:cNvSpPr>
          <p:nvPr/>
        </p:nvSpPr>
        <p:spPr bwMode="auto">
          <a:xfrm>
            <a:off x="5506915" y="3816350"/>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13" name="Rectangle 153"/>
          <p:cNvSpPr>
            <a:spLocks noChangeArrowheads="1"/>
          </p:cNvSpPr>
          <p:nvPr/>
        </p:nvSpPr>
        <p:spPr bwMode="auto">
          <a:xfrm>
            <a:off x="7195038" y="3816350"/>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14" name="Rectangle 154"/>
          <p:cNvSpPr>
            <a:spLocks noChangeArrowheads="1"/>
          </p:cNvSpPr>
          <p:nvPr/>
        </p:nvSpPr>
        <p:spPr bwMode="auto">
          <a:xfrm>
            <a:off x="6632331" y="3816350"/>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15" name="Rectangle 155"/>
          <p:cNvSpPr>
            <a:spLocks noChangeArrowheads="1"/>
          </p:cNvSpPr>
          <p:nvPr/>
        </p:nvSpPr>
        <p:spPr bwMode="auto">
          <a:xfrm>
            <a:off x="2665535" y="4654550"/>
            <a:ext cx="562708" cy="228600"/>
          </a:xfrm>
          <a:prstGeom prst="rect">
            <a:avLst/>
          </a:prstGeom>
          <a:gradFill rotWithShape="0">
            <a:gsLst>
              <a:gs pos="0">
                <a:srgbClr val="FF9900">
                  <a:gamma/>
                  <a:shade val="69804"/>
                  <a:invGamma/>
                </a:srgbClr>
              </a:gs>
              <a:gs pos="50000">
                <a:srgbClr val="FF9900"/>
              </a:gs>
              <a:gs pos="100000">
                <a:srgbClr val="FF9900">
                  <a:gamma/>
                  <a:shade val="69804"/>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16" name="Rectangle 156"/>
          <p:cNvSpPr>
            <a:spLocks noChangeArrowheads="1"/>
          </p:cNvSpPr>
          <p:nvPr/>
        </p:nvSpPr>
        <p:spPr bwMode="auto">
          <a:xfrm>
            <a:off x="3228243" y="4654550"/>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17" name="Rectangle 157"/>
          <p:cNvSpPr>
            <a:spLocks noChangeArrowheads="1"/>
          </p:cNvSpPr>
          <p:nvPr/>
        </p:nvSpPr>
        <p:spPr bwMode="auto">
          <a:xfrm>
            <a:off x="6041781" y="4654550"/>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18" name="Rectangle 158"/>
          <p:cNvSpPr>
            <a:spLocks noChangeArrowheads="1"/>
          </p:cNvSpPr>
          <p:nvPr/>
        </p:nvSpPr>
        <p:spPr bwMode="auto">
          <a:xfrm>
            <a:off x="3790950" y="4654550"/>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19" name="Rectangle 159"/>
          <p:cNvSpPr>
            <a:spLocks noChangeArrowheads="1"/>
          </p:cNvSpPr>
          <p:nvPr/>
        </p:nvSpPr>
        <p:spPr bwMode="auto">
          <a:xfrm>
            <a:off x="4353658" y="4654550"/>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20" name="Rectangle 160"/>
          <p:cNvSpPr>
            <a:spLocks noChangeArrowheads="1"/>
          </p:cNvSpPr>
          <p:nvPr/>
        </p:nvSpPr>
        <p:spPr bwMode="auto">
          <a:xfrm>
            <a:off x="4931020" y="4654550"/>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21" name="Rectangle 161"/>
          <p:cNvSpPr>
            <a:spLocks noChangeArrowheads="1"/>
          </p:cNvSpPr>
          <p:nvPr/>
        </p:nvSpPr>
        <p:spPr bwMode="auto">
          <a:xfrm>
            <a:off x="5479073" y="4654550"/>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22" name="Rectangle 162"/>
          <p:cNvSpPr>
            <a:spLocks noChangeArrowheads="1"/>
          </p:cNvSpPr>
          <p:nvPr/>
        </p:nvSpPr>
        <p:spPr bwMode="auto">
          <a:xfrm>
            <a:off x="7162800" y="4654550"/>
            <a:ext cx="572966"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23" name="Rectangle 163"/>
          <p:cNvSpPr>
            <a:spLocks noChangeArrowheads="1"/>
          </p:cNvSpPr>
          <p:nvPr/>
        </p:nvSpPr>
        <p:spPr bwMode="auto">
          <a:xfrm>
            <a:off x="6600092" y="4654550"/>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24" name="Rectangle 164"/>
          <p:cNvSpPr>
            <a:spLocks noChangeArrowheads="1"/>
          </p:cNvSpPr>
          <p:nvPr/>
        </p:nvSpPr>
        <p:spPr bwMode="auto">
          <a:xfrm>
            <a:off x="7757746" y="3816350"/>
            <a:ext cx="562708" cy="228600"/>
          </a:xfrm>
          <a:prstGeom prst="rect">
            <a:avLst/>
          </a:prstGeom>
          <a:gradFill rotWithShape="0">
            <a:gsLst>
              <a:gs pos="0">
                <a:schemeClr val="hlink">
                  <a:gamma/>
                  <a:shade val="66667"/>
                  <a:invGamma/>
                </a:schemeClr>
              </a:gs>
              <a:gs pos="50000">
                <a:schemeClr val="hlink"/>
              </a:gs>
              <a:gs pos="100000">
                <a:schemeClr val="hlink">
                  <a:gamma/>
                  <a:shade val="66667"/>
                  <a:invGamma/>
                </a:schemeClr>
              </a:gs>
            </a:gsLst>
            <a:lin ang="5400000" scaled="1"/>
          </a:gradFill>
          <a:ln w="9525">
            <a:solidFill>
              <a:schemeClr val="tx1"/>
            </a:solidFill>
            <a:miter lim="800000"/>
            <a:headEnd/>
            <a:tailEnd/>
          </a:ln>
          <a:effectLst/>
        </p:spPr>
        <p:txBody>
          <a:bodyPr wrap="none" anchor="ctr"/>
          <a:lstStyle/>
          <a:p>
            <a:endParaRPr lang="en-US"/>
          </a:p>
        </p:txBody>
      </p:sp>
      <p:sp>
        <p:nvSpPr>
          <p:cNvPr id="271525" name="Rectangle 165"/>
          <p:cNvSpPr>
            <a:spLocks noChangeArrowheads="1"/>
          </p:cNvSpPr>
          <p:nvPr/>
        </p:nvSpPr>
        <p:spPr bwMode="auto">
          <a:xfrm>
            <a:off x="7725508" y="4654550"/>
            <a:ext cx="562708" cy="228600"/>
          </a:xfrm>
          <a:prstGeom prst="rect">
            <a:avLst/>
          </a:prstGeom>
          <a:gradFill rotWithShape="0">
            <a:gsLst>
              <a:gs pos="0">
                <a:schemeClr val="hlink">
                  <a:gamma/>
                  <a:shade val="66667"/>
                  <a:invGamma/>
                </a:schemeClr>
              </a:gs>
              <a:gs pos="50000">
                <a:schemeClr val="hlink"/>
              </a:gs>
              <a:gs pos="100000">
                <a:schemeClr val="hlink">
                  <a:gamma/>
                  <a:shade val="66667"/>
                  <a:invGamma/>
                </a:schemeClr>
              </a:gs>
            </a:gsLst>
            <a:lin ang="5400000" scaled="1"/>
          </a:gradFill>
          <a:ln w="9525">
            <a:solidFill>
              <a:schemeClr val="tx1"/>
            </a:solidFill>
            <a:miter lim="800000"/>
            <a:headEnd/>
            <a:tailEnd/>
          </a:ln>
          <a:effectLst/>
        </p:spPr>
        <p:txBody>
          <a:bodyPr wrap="none" anchor="ctr"/>
          <a:lstStyle/>
          <a:p>
            <a:endParaRPr lang="en-US"/>
          </a:p>
        </p:txBody>
      </p:sp>
      <p:sp>
        <p:nvSpPr>
          <p:cNvPr id="271527" name="Line 167"/>
          <p:cNvSpPr>
            <a:spLocks noChangeShapeType="1"/>
          </p:cNvSpPr>
          <p:nvPr/>
        </p:nvSpPr>
        <p:spPr bwMode="auto">
          <a:xfrm>
            <a:off x="2661138" y="3348038"/>
            <a:ext cx="0" cy="1687512"/>
          </a:xfrm>
          <a:prstGeom prst="line">
            <a:avLst/>
          </a:prstGeom>
          <a:noFill/>
          <a:ln w="3175">
            <a:solidFill>
              <a:schemeClr val="tx1"/>
            </a:solidFill>
            <a:round/>
            <a:headEnd/>
            <a:tailEnd/>
          </a:ln>
          <a:effectLst/>
        </p:spPr>
        <p:txBody>
          <a:bodyPr wrap="none" anchor="ctr"/>
          <a:lstStyle/>
          <a:p>
            <a:endParaRPr lang="en-US"/>
          </a:p>
        </p:txBody>
      </p:sp>
      <p:sp>
        <p:nvSpPr>
          <p:cNvPr id="271528" name="Text Box 168"/>
          <p:cNvSpPr txBox="1">
            <a:spLocks noChangeArrowheads="1"/>
          </p:cNvSpPr>
          <p:nvPr/>
        </p:nvSpPr>
        <p:spPr bwMode="auto">
          <a:xfrm>
            <a:off x="2164374" y="3206750"/>
            <a:ext cx="2929456" cy="276999"/>
          </a:xfrm>
          <a:prstGeom prst="rect">
            <a:avLst/>
          </a:prstGeom>
          <a:solidFill>
            <a:srgbClr val="CCECFF"/>
          </a:solidFill>
          <a:ln w="9525">
            <a:noFill/>
            <a:miter lim="800000"/>
            <a:headEnd/>
            <a:tailEnd/>
          </a:ln>
          <a:effectLst/>
        </p:spPr>
        <p:txBody>
          <a:bodyPr wrap="none">
            <a:spAutoFit/>
          </a:bodyPr>
          <a:lstStyle/>
          <a:p>
            <a:pPr algn="l">
              <a:spcBef>
                <a:spcPct val="0"/>
              </a:spcBef>
              <a:spcAft>
                <a:spcPct val="0"/>
              </a:spcAft>
            </a:pPr>
            <a:r>
              <a:rPr lang="en-US" sz="1200" b="1">
                <a:effectLst/>
                <a:latin typeface="Times New Roman" pitchFamily="18" charset="0"/>
              </a:rPr>
              <a:t>Phase Buffer Segment 2 shortened by 1 tq</a:t>
            </a:r>
            <a:endParaRPr lang="en-US" sz="2400" b="1">
              <a:effectLst/>
              <a:latin typeface="Times New Roman" pitchFamily="18" charset="0"/>
            </a:endParaRPr>
          </a:p>
        </p:txBody>
      </p:sp>
      <p:sp>
        <p:nvSpPr>
          <p:cNvPr id="271529" name="Line 169"/>
          <p:cNvSpPr>
            <a:spLocks noChangeShapeType="1"/>
          </p:cNvSpPr>
          <p:nvPr/>
        </p:nvSpPr>
        <p:spPr bwMode="auto">
          <a:xfrm>
            <a:off x="6632331" y="3511550"/>
            <a:ext cx="0" cy="304800"/>
          </a:xfrm>
          <a:prstGeom prst="line">
            <a:avLst/>
          </a:prstGeom>
          <a:noFill/>
          <a:ln w="9525">
            <a:solidFill>
              <a:srgbClr val="FF3300"/>
            </a:solidFill>
            <a:round/>
            <a:headEnd/>
            <a:tailEnd type="triangle" w="med" len="med"/>
          </a:ln>
          <a:effectLst/>
        </p:spPr>
        <p:txBody>
          <a:bodyPr wrap="none" anchor="ctr"/>
          <a:lstStyle/>
          <a:p>
            <a:endParaRPr lang="en-US"/>
          </a:p>
        </p:txBody>
      </p:sp>
      <p:sp>
        <p:nvSpPr>
          <p:cNvPr id="271530" name="Text Box 170"/>
          <p:cNvSpPr txBox="1">
            <a:spLocks noChangeArrowheads="1"/>
          </p:cNvSpPr>
          <p:nvPr/>
        </p:nvSpPr>
        <p:spPr bwMode="auto">
          <a:xfrm>
            <a:off x="6632331" y="3348038"/>
            <a:ext cx="1236236" cy="461665"/>
          </a:xfrm>
          <a:prstGeom prst="rect">
            <a:avLst/>
          </a:prstGeom>
          <a:noFill/>
          <a:ln w="9525">
            <a:noFill/>
            <a:miter lim="800000"/>
            <a:headEnd/>
            <a:tailEnd/>
          </a:ln>
          <a:effectLst/>
        </p:spPr>
        <p:txBody>
          <a:bodyPr wrap="none">
            <a:spAutoFit/>
          </a:bodyPr>
          <a:lstStyle/>
          <a:p>
            <a:pPr>
              <a:spcBef>
                <a:spcPct val="0"/>
              </a:spcBef>
              <a:spcAft>
                <a:spcPct val="0"/>
              </a:spcAft>
            </a:pPr>
            <a:r>
              <a:rPr lang="en-US" sz="1200" b="1">
                <a:effectLst/>
                <a:latin typeface="Times New Roman" pitchFamily="18" charset="0"/>
              </a:rPr>
              <a:t>Needed Sample </a:t>
            </a:r>
          </a:p>
          <a:p>
            <a:pPr>
              <a:spcBef>
                <a:spcPct val="0"/>
              </a:spcBef>
              <a:spcAft>
                <a:spcPct val="0"/>
              </a:spcAft>
            </a:pPr>
            <a:r>
              <a:rPr lang="en-US" sz="1200" b="1">
                <a:effectLst/>
                <a:latin typeface="Times New Roman" pitchFamily="18" charset="0"/>
              </a:rPr>
              <a:t>Point</a:t>
            </a:r>
            <a:endParaRPr lang="en-US" sz="2400" b="1">
              <a:effectLst/>
              <a:latin typeface="Times New Roman" pitchFamily="18" charset="0"/>
            </a:endParaRPr>
          </a:p>
        </p:txBody>
      </p:sp>
      <p:sp>
        <p:nvSpPr>
          <p:cNvPr id="271531" name="Line 171"/>
          <p:cNvSpPr>
            <a:spLocks noChangeShapeType="1"/>
          </p:cNvSpPr>
          <p:nvPr/>
        </p:nvSpPr>
        <p:spPr bwMode="auto">
          <a:xfrm>
            <a:off x="6600092" y="4883150"/>
            <a:ext cx="0" cy="304800"/>
          </a:xfrm>
          <a:prstGeom prst="line">
            <a:avLst/>
          </a:prstGeom>
          <a:noFill/>
          <a:ln w="9525">
            <a:solidFill>
              <a:srgbClr val="FF3300"/>
            </a:solidFill>
            <a:round/>
            <a:headEnd type="triangle" w="med" len="med"/>
            <a:tailEnd/>
          </a:ln>
          <a:effectLst/>
        </p:spPr>
        <p:txBody>
          <a:bodyPr wrap="none" anchor="ctr"/>
          <a:lstStyle/>
          <a:p>
            <a:endParaRPr lang="en-US"/>
          </a:p>
        </p:txBody>
      </p:sp>
      <p:sp>
        <p:nvSpPr>
          <p:cNvPr id="271532" name="Text Box 172"/>
          <p:cNvSpPr txBox="1">
            <a:spLocks noChangeArrowheads="1"/>
          </p:cNvSpPr>
          <p:nvPr/>
        </p:nvSpPr>
        <p:spPr bwMode="auto">
          <a:xfrm>
            <a:off x="6600092" y="5035550"/>
            <a:ext cx="1236236" cy="461665"/>
          </a:xfrm>
          <a:prstGeom prst="rect">
            <a:avLst/>
          </a:prstGeom>
          <a:noFill/>
          <a:ln w="9525">
            <a:noFill/>
            <a:miter lim="800000"/>
            <a:headEnd/>
            <a:tailEnd/>
          </a:ln>
          <a:effectLst/>
        </p:spPr>
        <p:txBody>
          <a:bodyPr wrap="none">
            <a:spAutoFit/>
          </a:bodyPr>
          <a:lstStyle/>
          <a:p>
            <a:pPr>
              <a:spcBef>
                <a:spcPct val="0"/>
              </a:spcBef>
              <a:spcAft>
                <a:spcPct val="0"/>
              </a:spcAft>
            </a:pPr>
            <a:r>
              <a:rPr lang="en-US" sz="1200" b="1">
                <a:effectLst/>
                <a:latin typeface="Times New Roman" pitchFamily="18" charset="0"/>
              </a:rPr>
              <a:t>Needed Sample </a:t>
            </a:r>
          </a:p>
          <a:p>
            <a:pPr>
              <a:spcBef>
                <a:spcPct val="0"/>
              </a:spcBef>
              <a:spcAft>
                <a:spcPct val="0"/>
              </a:spcAft>
            </a:pPr>
            <a:r>
              <a:rPr lang="en-US" sz="1200" b="1">
                <a:effectLst/>
                <a:latin typeface="Times New Roman" pitchFamily="18" charset="0"/>
              </a:rPr>
              <a:t>Point</a:t>
            </a:r>
            <a:endParaRPr lang="en-US" sz="2400" b="1">
              <a:effectLst/>
              <a:latin typeface="Times New Roman" pitchFamily="18" charset="0"/>
            </a:endParaRPr>
          </a:p>
        </p:txBody>
      </p:sp>
      <p:sp>
        <p:nvSpPr>
          <p:cNvPr id="271535" name="Line 175"/>
          <p:cNvSpPr>
            <a:spLocks noChangeShapeType="1"/>
          </p:cNvSpPr>
          <p:nvPr/>
        </p:nvSpPr>
        <p:spPr bwMode="auto">
          <a:xfrm>
            <a:off x="7757746" y="3206750"/>
            <a:ext cx="0" cy="838200"/>
          </a:xfrm>
          <a:prstGeom prst="line">
            <a:avLst/>
          </a:prstGeom>
          <a:noFill/>
          <a:ln w="9525">
            <a:solidFill>
              <a:schemeClr val="tx1"/>
            </a:solidFill>
            <a:round/>
            <a:headEnd/>
            <a:tailEnd/>
          </a:ln>
          <a:effectLst/>
        </p:spPr>
        <p:txBody>
          <a:bodyPr wrap="none" anchor="ctr"/>
          <a:lstStyle/>
          <a:p>
            <a:endParaRPr lang="en-US"/>
          </a:p>
        </p:txBody>
      </p:sp>
      <p:sp>
        <p:nvSpPr>
          <p:cNvPr id="271536" name="Text Box 176"/>
          <p:cNvSpPr txBox="1">
            <a:spLocks noChangeArrowheads="1"/>
          </p:cNvSpPr>
          <p:nvPr/>
        </p:nvSpPr>
        <p:spPr bwMode="auto">
          <a:xfrm>
            <a:off x="7757746" y="3206750"/>
            <a:ext cx="756938" cy="461665"/>
          </a:xfrm>
          <a:prstGeom prst="rect">
            <a:avLst/>
          </a:prstGeom>
          <a:noFill/>
          <a:ln w="9525">
            <a:noFill/>
            <a:miter lim="800000"/>
            <a:headEnd/>
            <a:tailEnd/>
          </a:ln>
          <a:effectLst/>
        </p:spPr>
        <p:txBody>
          <a:bodyPr wrap="none">
            <a:spAutoFit/>
          </a:bodyPr>
          <a:lstStyle/>
          <a:p>
            <a:pPr algn="l">
              <a:spcBef>
                <a:spcPct val="0"/>
              </a:spcBef>
              <a:spcAft>
                <a:spcPct val="0"/>
              </a:spcAft>
            </a:pPr>
            <a:r>
              <a:rPr lang="en-US" sz="1200" b="1">
                <a:effectLst/>
                <a:latin typeface="Times New Roman" pitchFamily="18" charset="0"/>
              </a:rPr>
              <a:t>Next </a:t>
            </a:r>
          </a:p>
          <a:p>
            <a:pPr algn="l">
              <a:spcBef>
                <a:spcPct val="0"/>
              </a:spcBef>
              <a:spcAft>
                <a:spcPct val="0"/>
              </a:spcAft>
            </a:pPr>
            <a:r>
              <a:rPr lang="en-US" sz="1200" b="1">
                <a:effectLst/>
                <a:latin typeface="Times New Roman" pitchFamily="18" charset="0"/>
              </a:rPr>
              <a:t>sync.seg.</a:t>
            </a:r>
            <a:endParaRPr lang="en-US" sz="2400" b="1">
              <a:effectLst/>
              <a:latin typeface="Times New Roman" pitchFamily="18" charset="0"/>
            </a:endParaRPr>
          </a:p>
        </p:txBody>
      </p:sp>
      <p:sp>
        <p:nvSpPr>
          <p:cNvPr id="271537" name="Text Box 177"/>
          <p:cNvSpPr txBox="1">
            <a:spLocks noChangeArrowheads="1"/>
          </p:cNvSpPr>
          <p:nvPr/>
        </p:nvSpPr>
        <p:spPr bwMode="auto">
          <a:xfrm>
            <a:off x="7795846" y="4197350"/>
            <a:ext cx="984738" cy="457200"/>
          </a:xfrm>
          <a:prstGeom prst="rect">
            <a:avLst/>
          </a:prstGeom>
          <a:noFill/>
          <a:ln w="9525">
            <a:noFill/>
            <a:miter lim="800000"/>
            <a:headEnd/>
            <a:tailEnd/>
          </a:ln>
          <a:effectLst/>
        </p:spPr>
        <p:txBody>
          <a:bodyPr>
            <a:spAutoFit/>
          </a:bodyPr>
          <a:lstStyle/>
          <a:p>
            <a:pPr algn="l">
              <a:spcBef>
                <a:spcPct val="0"/>
              </a:spcBef>
              <a:spcAft>
                <a:spcPct val="0"/>
              </a:spcAft>
            </a:pPr>
            <a:r>
              <a:rPr lang="en-US" sz="1200" b="1">
                <a:effectLst/>
                <a:latin typeface="Times New Roman" pitchFamily="18" charset="0"/>
              </a:rPr>
              <a:t>Next </a:t>
            </a:r>
          </a:p>
          <a:p>
            <a:pPr algn="l">
              <a:spcBef>
                <a:spcPct val="0"/>
              </a:spcBef>
              <a:spcAft>
                <a:spcPct val="0"/>
              </a:spcAft>
            </a:pPr>
            <a:r>
              <a:rPr lang="en-US" sz="1200" b="1">
                <a:effectLst/>
                <a:latin typeface="Times New Roman" pitchFamily="18" charset="0"/>
              </a:rPr>
              <a:t>sync.seg.</a:t>
            </a:r>
            <a:endParaRPr lang="en-US" sz="2400" b="1">
              <a:effectLst/>
              <a:latin typeface="Times New Roman" pitchFamily="18" charset="0"/>
            </a:endParaRPr>
          </a:p>
        </p:txBody>
      </p:sp>
      <p:sp>
        <p:nvSpPr>
          <p:cNvPr id="271540" name="Line 180"/>
          <p:cNvSpPr>
            <a:spLocks noChangeShapeType="1"/>
          </p:cNvSpPr>
          <p:nvPr/>
        </p:nvSpPr>
        <p:spPr bwMode="auto">
          <a:xfrm flipH="1">
            <a:off x="2669931" y="3481388"/>
            <a:ext cx="0" cy="288925"/>
          </a:xfrm>
          <a:prstGeom prst="line">
            <a:avLst/>
          </a:prstGeom>
          <a:noFill/>
          <a:ln w="28575">
            <a:solidFill>
              <a:srgbClr val="FF3300"/>
            </a:solidFill>
            <a:round/>
            <a:headEnd/>
            <a:tailEnd type="triangle" w="med" len="med"/>
          </a:ln>
          <a:effectLst/>
        </p:spPr>
        <p:txBody>
          <a:bodyPr wrap="none" anchor="ctr"/>
          <a:lstStyle/>
          <a:p>
            <a:endParaRPr lang="en-US"/>
          </a:p>
        </p:txBody>
      </p:sp>
      <p:sp>
        <p:nvSpPr>
          <p:cNvPr id="271548" name="Rectangle 188"/>
          <p:cNvSpPr>
            <a:spLocks noChangeArrowheads="1"/>
          </p:cNvSpPr>
          <p:nvPr/>
        </p:nvSpPr>
        <p:spPr bwMode="auto">
          <a:xfrm>
            <a:off x="1528396" y="3816350"/>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49" name="Rectangle 189"/>
          <p:cNvSpPr>
            <a:spLocks noChangeArrowheads="1"/>
          </p:cNvSpPr>
          <p:nvPr/>
        </p:nvSpPr>
        <p:spPr bwMode="auto">
          <a:xfrm>
            <a:off x="965689" y="3816350"/>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51" name="Rectangle 191"/>
          <p:cNvSpPr>
            <a:spLocks noChangeArrowheads="1"/>
          </p:cNvSpPr>
          <p:nvPr/>
        </p:nvSpPr>
        <p:spPr bwMode="auto">
          <a:xfrm>
            <a:off x="2091104" y="3816350"/>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52" name="Rectangle 192"/>
          <p:cNvSpPr>
            <a:spLocks noChangeArrowheads="1"/>
          </p:cNvSpPr>
          <p:nvPr/>
        </p:nvSpPr>
        <p:spPr bwMode="auto">
          <a:xfrm>
            <a:off x="977412" y="4654550"/>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53" name="Rectangle 193"/>
          <p:cNvSpPr>
            <a:spLocks noChangeArrowheads="1"/>
          </p:cNvSpPr>
          <p:nvPr/>
        </p:nvSpPr>
        <p:spPr bwMode="auto">
          <a:xfrm>
            <a:off x="414704" y="4654550"/>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54" name="Rectangle 194"/>
          <p:cNvSpPr>
            <a:spLocks noChangeArrowheads="1"/>
          </p:cNvSpPr>
          <p:nvPr/>
        </p:nvSpPr>
        <p:spPr bwMode="auto">
          <a:xfrm>
            <a:off x="2102827" y="4654550"/>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55" name="Rectangle 195"/>
          <p:cNvSpPr>
            <a:spLocks noChangeArrowheads="1"/>
          </p:cNvSpPr>
          <p:nvPr/>
        </p:nvSpPr>
        <p:spPr bwMode="auto">
          <a:xfrm>
            <a:off x="1540120" y="4654550"/>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62" name="Text Box 202"/>
          <p:cNvSpPr txBox="1">
            <a:spLocks noChangeArrowheads="1"/>
          </p:cNvSpPr>
          <p:nvPr/>
        </p:nvSpPr>
        <p:spPr bwMode="auto">
          <a:xfrm>
            <a:off x="234462" y="3500438"/>
            <a:ext cx="1407501" cy="307777"/>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Times New Roman" pitchFamily="18" charset="0"/>
              </a:rPr>
              <a:t>Receiver-slower</a:t>
            </a:r>
            <a:endParaRPr lang="en-US" sz="2400" b="1">
              <a:effectLst/>
              <a:latin typeface="Times New Roman" pitchFamily="18" charset="0"/>
            </a:endParaRPr>
          </a:p>
        </p:txBody>
      </p:sp>
      <p:sp>
        <p:nvSpPr>
          <p:cNvPr id="271563" name="Text Box 203"/>
          <p:cNvSpPr txBox="1">
            <a:spLocks noChangeArrowheads="1"/>
          </p:cNvSpPr>
          <p:nvPr/>
        </p:nvSpPr>
        <p:spPr bwMode="auto">
          <a:xfrm>
            <a:off x="45427" y="4303713"/>
            <a:ext cx="1600951" cy="307777"/>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Times New Roman" pitchFamily="18" charset="0"/>
              </a:rPr>
              <a:t>Transmitter-faster</a:t>
            </a:r>
            <a:endParaRPr lang="en-US" sz="2400" b="1">
              <a:effectLst/>
              <a:latin typeface="Times New Roman" pitchFamily="18" charset="0"/>
            </a:endParaRPr>
          </a:p>
        </p:txBody>
      </p:sp>
      <p:sp>
        <p:nvSpPr>
          <p:cNvPr id="271468" name="Rectangle 108"/>
          <p:cNvSpPr>
            <a:spLocks noChangeArrowheads="1"/>
          </p:cNvSpPr>
          <p:nvPr/>
        </p:nvSpPr>
        <p:spPr bwMode="auto">
          <a:xfrm>
            <a:off x="3223846" y="1747838"/>
            <a:ext cx="562708" cy="228600"/>
          </a:xfrm>
          <a:prstGeom prst="rect">
            <a:avLst/>
          </a:prstGeom>
          <a:gradFill rotWithShape="0">
            <a:gsLst>
              <a:gs pos="0">
                <a:srgbClr val="FF9900">
                  <a:gamma/>
                  <a:shade val="69804"/>
                  <a:invGamma/>
                </a:srgbClr>
              </a:gs>
              <a:gs pos="50000">
                <a:srgbClr val="FF9900"/>
              </a:gs>
              <a:gs pos="100000">
                <a:srgbClr val="FF9900">
                  <a:gamma/>
                  <a:shade val="69804"/>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69" name="Rectangle 109"/>
          <p:cNvSpPr>
            <a:spLocks noChangeArrowheads="1"/>
          </p:cNvSpPr>
          <p:nvPr/>
        </p:nvSpPr>
        <p:spPr bwMode="auto">
          <a:xfrm>
            <a:off x="3786554" y="1747838"/>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70" name="Rectangle 110"/>
          <p:cNvSpPr>
            <a:spLocks noChangeArrowheads="1"/>
          </p:cNvSpPr>
          <p:nvPr/>
        </p:nvSpPr>
        <p:spPr bwMode="auto">
          <a:xfrm>
            <a:off x="6600092" y="1747838"/>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71" name="Rectangle 111"/>
          <p:cNvSpPr>
            <a:spLocks noChangeArrowheads="1"/>
          </p:cNvSpPr>
          <p:nvPr/>
        </p:nvSpPr>
        <p:spPr bwMode="auto">
          <a:xfrm>
            <a:off x="4349261" y="1747838"/>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72" name="Rectangle 112"/>
          <p:cNvSpPr>
            <a:spLocks noChangeArrowheads="1"/>
          </p:cNvSpPr>
          <p:nvPr/>
        </p:nvSpPr>
        <p:spPr bwMode="auto">
          <a:xfrm>
            <a:off x="4911969" y="1747838"/>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73" name="Rectangle 113"/>
          <p:cNvSpPr>
            <a:spLocks noChangeArrowheads="1"/>
          </p:cNvSpPr>
          <p:nvPr/>
        </p:nvSpPr>
        <p:spPr bwMode="auto">
          <a:xfrm>
            <a:off x="5489331" y="1747838"/>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74" name="Rectangle 114"/>
          <p:cNvSpPr>
            <a:spLocks noChangeArrowheads="1"/>
          </p:cNvSpPr>
          <p:nvPr/>
        </p:nvSpPr>
        <p:spPr bwMode="auto">
          <a:xfrm>
            <a:off x="6037384" y="1747838"/>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75" name="Rectangle 115"/>
          <p:cNvSpPr>
            <a:spLocks noChangeArrowheads="1"/>
          </p:cNvSpPr>
          <p:nvPr/>
        </p:nvSpPr>
        <p:spPr bwMode="auto">
          <a:xfrm>
            <a:off x="7725508" y="1747838"/>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76" name="Rectangle 116"/>
          <p:cNvSpPr>
            <a:spLocks noChangeArrowheads="1"/>
          </p:cNvSpPr>
          <p:nvPr/>
        </p:nvSpPr>
        <p:spPr bwMode="auto">
          <a:xfrm>
            <a:off x="7162800" y="1747838"/>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77" name="Rectangle 117"/>
          <p:cNvSpPr>
            <a:spLocks noChangeArrowheads="1"/>
          </p:cNvSpPr>
          <p:nvPr/>
        </p:nvSpPr>
        <p:spPr bwMode="auto">
          <a:xfrm>
            <a:off x="2661138" y="2433638"/>
            <a:ext cx="562708" cy="228600"/>
          </a:xfrm>
          <a:prstGeom prst="rect">
            <a:avLst/>
          </a:prstGeom>
          <a:gradFill rotWithShape="0">
            <a:gsLst>
              <a:gs pos="0">
                <a:srgbClr val="FF9900">
                  <a:gamma/>
                  <a:shade val="69804"/>
                  <a:invGamma/>
                </a:srgbClr>
              </a:gs>
              <a:gs pos="50000">
                <a:srgbClr val="FF9900"/>
              </a:gs>
              <a:gs pos="100000">
                <a:srgbClr val="FF9900">
                  <a:gamma/>
                  <a:shade val="69804"/>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78" name="Rectangle 118"/>
          <p:cNvSpPr>
            <a:spLocks noChangeArrowheads="1"/>
          </p:cNvSpPr>
          <p:nvPr/>
        </p:nvSpPr>
        <p:spPr bwMode="auto">
          <a:xfrm>
            <a:off x="3223846" y="2433638"/>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79" name="Rectangle 119"/>
          <p:cNvSpPr>
            <a:spLocks noChangeArrowheads="1"/>
          </p:cNvSpPr>
          <p:nvPr/>
        </p:nvSpPr>
        <p:spPr bwMode="auto">
          <a:xfrm>
            <a:off x="6037384" y="2433638"/>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80" name="Rectangle 120"/>
          <p:cNvSpPr>
            <a:spLocks noChangeArrowheads="1"/>
          </p:cNvSpPr>
          <p:nvPr/>
        </p:nvSpPr>
        <p:spPr bwMode="auto">
          <a:xfrm>
            <a:off x="3786554" y="2433638"/>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81" name="Rectangle 121"/>
          <p:cNvSpPr>
            <a:spLocks noChangeArrowheads="1"/>
          </p:cNvSpPr>
          <p:nvPr/>
        </p:nvSpPr>
        <p:spPr bwMode="auto">
          <a:xfrm>
            <a:off x="4349261" y="2433638"/>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82" name="Rectangle 122"/>
          <p:cNvSpPr>
            <a:spLocks noChangeArrowheads="1"/>
          </p:cNvSpPr>
          <p:nvPr/>
        </p:nvSpPr>
        <p:spPr bwMode="auto">
          <a:xfrm>
            <a:off x="4926623" y="2433638"/>
            <a:ext cx="562708" cy="228600"/>
          </a:xfrm>
          <a:prstGeom prst="rect">
            <a:avLst/>
          </a:prstGeom>
          <a:gradFill rotWithShape="0">
            <a:gsLst>
              <a:gs pos="0">
                <a:srgbClr val="FF66FF">
                  <a:gamma/>
                  <a:shade val="54510"/>
                  <a:invGamma/>
                </a:srgbClr>
              </a:gs>
              <a:gs pos="50000">
                <a:srgbClr val="FF66FF"/>
              </a:gs>
              <a:gs pos="100000">
                <a:srgbClr val="FF66FF">
                  <a:gamma/>
                  <a:shade val="54510"/>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83" name="Rectangle 123"/>
          <p:cNvSpPr>
            <a:spLocks noChangeArrowheads="1"/>
          </p:cNvSpPr>
          <p:nvPr/>
        </p:nvSpPr>
        <p:spPr bwMode="auto">
          <a:xfrm>
            <a:off x="5474677" y="2433638"/>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84" name="Rectangle 124"/>
          <p:cNvSpPr>
            <a:spLocks noChangeArrowheads="1"/>
          </p:cNvSpPr>
          <p:nvPr/>
        </p:nvSpPr>
        <p:spPr bwMode="auto">
          <a:xfrm>
            <a:off x="7162800" y="2433638"/>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85" name="Rectangle 125"/>
          <p:cNvSpPr>
            <a:spLocks noChangeArrowheads="1"/>
          </p:cNvSpPr>
          <p:nvPr/>
        </p:nvSpPr>
        <p:spPr bwMode="auto">
          <a:xfrm>
            <a:off x="6600092" y="2433638"/>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486" name="Rectangle 126"/>
          <p:cNvSpPr>
            <a:spLocks noChangeArrowheads="1"/>
          </p:cNvSpPr>
          <p:nvPr/>
        </p:nvSpPr>
        <p:spPr bwMode="auto">
          <a:xfrm>
            <a:off x="8288215" y="1747838"/>
            <a:ext cx="562708" cy="228600"/>
          </a:xfrm>
          <a:prstGeom prst="rect">
            <a:avLst/>
          </a:prstGeom>
          <a:gradFill rotWithShape="0">
            <a:gsLst>
              <a:gs pos="0">
                <a:schemeClr val="hlink">
                  <a:gamma/>
                  <a:shade val="66667"/>
                  <a:invGamma/>
                </a:schemeClr>
              </a:gs>
              <a:gs pos="50000">
                <a:schemeClr val="hlink"/>
              </a:gs>
              <a:gs pos="100000">
                <a:schemeClr val="hlink">
                  <a:gamma/>
                  <a:shade val="66667"/>
                  <a:invGamma/>
                </a:schemeClr>
              </a:gs>
            </a:gsLst>
            <a:lin ang="5400000" scaled="1"/>
          </a:gradFill>
          <a:ln w="9525">
            <a:solidFill>
              <a:schemeClr val="tx1"/>
            </a:solidFill>
            <a:miter lim="800000"/>
            <a:headEnd/>
            <a:tailEnd/>
          </a:ln>
          <a:effectLst/>
        </p:spPr>
        <p:txBody>
          <a:bodyPr wrap="none" anchor="ctr"/>
          <a:lstStyle/>
          <a:p>
            <a:endParaRPr lang="en-US"/>
          </a:p>
        </p:txBody>
      </p:sp>
      <p:sp>
        <p:nvSpPr>
          <p:cNvPr id="271487" name="Rectangle 127"/>
          <p:cNvSpPr>
            <a:spLocks noChangeArrowheads="1"/>
          </p:cNvSpPr>
          <p:nvPr/>
        </p:nvSpPr>
        <p:spPr bwMode="auto">
          <a:xfrm>
            <a:off x="7725508" y="2433638"/>
            <a:ext cx="562708" cy="228600"/>
          </a:xfrm>
          <a:prstGeom prst="rect">
            <a:avLst/>
          </a:prstGeom>
          <a:gradFill rotWithShape="0">
            <a:gsLst>
              <a:gs pos="0">
                <a:schemeClr val="hlink">
                  <a:gamma/>
                  <a:shade val="66667"/>
                  <a:invGamma/>
                </a:schemeClr>
              </a:gs>
              <a:gs pos="50000">
                <a:schemeClr val="hlink"/>
              </a:gs>
              <a:gs pos="100000">
                <a:schemeClr val="hlink">
                  <a:gamma/>
                  <a:shade val="66667"/>
                  <a:invGamma/>
                </a:schemeClr>
              </a:gs>
            </a:gsLst>
            <a:lin ang="5400000" scaled="1"/>
          </a:gradFill>
          <a:ln w="9525">
            <a:solidFill>
              <a:schemeClr val="tx1"/>
            </a:solidFill>
            <a:miter lim="800000"/>
            <a:headEnd/>
            <a:tailEnd/>
          </a:ln>
          <a:effectLst/>
        </p:spPr>
        <p:txBody>
          <a:bodyPr wrap="none" anchor="ctr"/>
          <a:lstStyle/>
          <a:p>
            <a:endParaRPr lang="en-US"/>
          </a:p>
        </p:txBody>
      </p:sp>
      <p:sp>
        <p:nvSpPr>
          <p:cNvPr id="271489" name="Line 129"/>
          <p:cNvSpPr>
            <a:spLocks noChangeShapeType="1"/>
          </p:cNvSpPr>
          <p:nvPr/>
        </p:nvSpPr>
        <p:spPr bwMode="auto">
          <a:xfrm flipH="1">
            <a:off x="2661139" y="1443038"/>
            <a:ext cx="4397" cy="1905000"/>
          </a:xfrm>
          <a:prstGeom prst="line">
            <a:avLst/>
          </a:prstGeom>
          <a:noFill/>
          <a:ln w="3175">
            <a:solidFill>
              <a:schemeClr val="tx1"/>
            </a:solidFill>
            <a:round/>
            <a:headEnd/>
            <a:tailEnd/>
          </a:ln>
          <a:effectLst/>
        </p:spPr>
        <p:txBody>
          <a:bodyPr wrap="none" anchor="ctr"/>
          <a:lstStyle/>
          <a:p>
            <a:endParaRPr lang="en-US"/>
          </a:p>
        </p:txBody>
      </p:sp>
      <p:sp>
        <p:nvSpPr>
          <p:cNvPr id="271492" name="Line 132"/>
          <p:cNvSpPr>
            <a:spLocks noChangeShapeType="1"/>
          </p:cNvSpPr>
          <p:nvPr/>
        </p:nvSpPr>
        <p:spPr bwMode="auto">
          <a:xfrm>
            <a:off x="2159977" y="2082800"/>
            <a:ext cx="501162" cy="0"/>
          </a:xfrm>
          <a:prstGeom prst="line">
            <a:avLst/>
          </a:prstGeom>
          <a:noFill/>
          <a:ln w="28575">
            <a:solidFill>
              <a:schemeClr val="tx1"/>
            </a:solidFill>
            <a:round/>
            <a:headEnd/>
            <a:tailEnd/>
          </a:ln>
          <a:effectLst/>
        </p:spPr>
        <p:txBody>
          <a:bodyPr wrap="none" anchor="ctr"/>
          <a:lstStyle/>
          <a:p>
            <a:endParaRPr lang="en-US"/>
          </a:p>
        </p:txBody>
      </p:sp>
      <p:sp>
        <p:nvSpPr>
          <p:cNvPr id="271493" name="Line 133"/>
          <p:cNvSpPr>
            <a:spLocks noChangeShapeType="1"/>
          </p:cNvSpPr>
          <p:nvPr/>
        </p:nvSpPr>
        <p:spPr bwMode="auto">
          <a:xfrm>
            <a:off x="2661138" y="2082800"/>
            <a:ext cx="0" cy="304800"/>
          </a:xfrm>
          <a:prstGeom prst="line">
            <a:avLst/>
          </a:prstGeom>
          <a:noFill/>
          <a:ln w="28575">
            <a:solidFill>
              <a:schemeClr val="tx1"/>
            </a:solidFill>
            <a:round/>
            <a:headEnd/>
            <a:tailEnd type="triangle" w="med" len="med"/>
          </a:ln>
          <a:effectLst/>
        </p:spPr>
        <p:txBody>
          <a:bodyPr wrap="none" anchor="ctr"/>
          <a:lstStyle/>
          <a:p>
            <a:endParaRPr lang="en-US"/>
          </a:p>
        </p:txBody>
      </p:sp>
      <p:sp>
        <p:nvSpPr>
          <p:cNvPr id="271494" name="Line 134"/>
          <p:cNvSpPr>
            <a:spLocks noChangeShapeType="1"/>
          </p:cNvSpPr>
          <p:nvPr/>
        </p:nvSpPr>
        <p:spPr bwMode="auto">
          <a:xfrm>
            <a:off x="2661138" y="2387600"/>
            <a:ext cx="562708" cy="0"/>
          </a:xfrm>
          <a:prstGeom prst="line">
            <a:avLst/>
          </a:prstGeom>
          <a:noFill/>
          <a:ln w="28575">
            <a:solidFill>
              <a:schemeClr val="tx1"/>
            </a:solidFill>
            <a:round/>
            <a:headEnd/>
            <a:tailEnd/>
          </a:ln>
          <a:effectLst/>
        </p:spPr>
        <p:txBody>
          <a:bodyPr wrap="none" anchor="ctr"/>
          <a:lstStyle/>
          <a:p>
            <a:endParaRPr lang="en-US"/>
          </a:p>
        </p:txBody>
      </p:sp>
      <p:sp>
        <p:nvSpPr>
          <p:cNvPr id="271495" name="Text Box 135"/>
          <p:cNvSpPr txBox="1">
            <a:spLocks noChangeArrowheads="1"/>
          </p:cNvSpPr>
          <p:nvPr/>
        </p:nvSpPr>
        <p:spPr bwMode="auto">
          <a:xfrm>
            <a:off x="3248758" y="2082800"/>
            <a:ext cx="4032771" cy="276999"/>
          </a:xfrm>
          <a:prstGeom prst="rect">
            <a:avLst/>
          </a:prstGeom>
          <a:solidFill>
            <a:srgbClr val="CCECFF"/>
          </a:solidFill>
          <a:ln w="9525">
            <a:noFill/>
            <a:miter lim="800000"/>
            <a:headEnd/>
            <a:tailEnd/>
          </a:ln>
          <a:effectLst/>
        </p:spPr>
        <p:txBody>
          <a:bodyPr wrap="none">
            <a:spAutoFit/>
          </a:bodyPr>
          <a:lstStyle/>
          <a:p>
            <a:pPr algn="l">
              <a:spcBef>
                <a:spcPct val="0"/>
              </a:spcBef>
              <a:spcAft>
                <a:spcPct val="0"/>
              </a:spcAft>
            </a:pPr>
            <a:r>
              <a:rPr lang="en-US" sz="1200" b="1">
                <a:effectLst/>
                <a:latin typeface="Times New Roman" pitchFamily="18" charset="0"/>
              </a:rPr>
              <a:t>Next edge for Re- synchronization delayed by 1tq too early</a:t>
            </a:r>
            <a:endParaRPr lang="en-US" sz="2400" b="1">
              <a:effectLst/>
              <a:latin typeface="Times New Roman" pitchFamily="18" charset="0"/>
            </a:endParaRPr>
          </a:p>
        </p:txBody>
      </p:sp>
      <p:sp>
        <p:nvSpPr>
          <p:cNvPr id="271496" name="Line 136"/>
          <p:cNvSpPr>
            <a:spLocks noChangeShapeType="1"/>
          </p:cNvSpPr>
          <p:nvPr/>
        </p:nvSpPr>
        <p:spPr bwMode="auto">
          <a:xfrm>
            <a:off x="7162800" y="1443038"/>
            <a:ext cx="0" cy="304800"/>
          </a:xfrm>
          <a:prstGeom prst="line">
            <a:avLst/>
          </a:prstGeom>
          <a:noFill/>
          <a:ln w="9525">
            <a:solidFill>
              <a:srgbClr val="FF3300"/>
            </a:solidFill>
            <a:round/>
            <a:headEnd/>
            <a:tailEnd type="triangle" w="med" len="med"/>
          </a:ln>
          <a:effectLst/>
        </p:spPr>
        <p:txBody>
          <a:bodyPr wrap="none" anchor="ctr"/>
          <a:lstStyle/>
          <a:p>
            <a:endParaRPr lang="en-US"/>
          </a:p>
        </p:txBody>
      </p:sp>
      <p:sp>
        <p:nvSpPr>
          <p:cNvPr id="271497" name="Text Box 137"/>
          <p:cNvSpPr txBox="1">
            <a:spLocks noChangeArrowheads="1"/>
          </p:cNvSpPr>
          <p:nvPr/>
        </p:nvSpPr>
        <p:spPr bwMode="auto">
          <a:xfrm>
            <a:off x="7189177" y="1290638"/>
            <a:ext cx="1236236" cy="461665"/>
          </a:xfrm>
          <a:prstGeom prst="rect">
            <a:avLst/>
          </a:prstGeom>
          <a:noFill/>
          <a:ln w="9525">
            <a:noFill/>
            <a:miter lim="800000"/>
            <a:headEnd/>
            <a:tailEnd/>
          </a:ln>
          <a:effectLst/>
        </p:spPr>
        <p:txBody>
          <a:bodyPr wrap="none">
            <a:spAutoFit/>
          </a:bodyPr>
          <a:lstStyle/>
          <a:p>
            <a:pPr>
              <a:spcBef>
                <a:spcPct val="0"/>
              </a:spcBef>
              <a:spcAft>
                <a:spcPct val="0"/>
              </a:spcAft>
            </a:pPr>
            <a:r>
              <a:rPr lang="en-US" sz="1200" b="1">
                <a:effectLst/>
                <a:latin typeface="Times New Roman" pitchFamily="18" charset="0"/>
              </a:rPr>
              <a:t>Needed Sample </a:t>
            </a:r>
          </a:p>
          <a:p>
            <a:pPr>
              <a:spcBef>
                <a:spcPct val="0"/>
              </a:spcBef>
              <a:spcAft>
                <a:spcPct val="0"/>
              </a:spcAft>
            </a:pPr>
            <a:r>
              <a:rPr lang="en-US" sz="1200" b="1">
                <a:effectLst/>
                <a:latin typeface="Times New Roman" pitchFamily="18" charset="0"/>
              </a:rPr>
              <a:t>Point</a:t>
            </a:r>
            <a:endParaRPr lang="en-US" sz="2400" b="1">
              <a:effectLst/>
              <a:latin typeface="Times New Roman" pitchFamily="18" charset="0"/>
            </a:endParaRPr>
          </a:p>
        </p:txBody>
      </p:sp>
      <p:sp>
        <p:nvSpPr>
          <p:cNvPr id="271498" name="Line 138"/>
          <p:cNvSpPr>
            <a:spLocks noChangeShapeType="1"/>
          </p:cNvSpPr>
          <p:nvPr/>
        </p:nvSpPr>
        <p:spPr bwMode="auto">
          <a:xfrm>
            <a:off x="6600092" y="2662238"/>
            <a:ext cx="0" cy="304800"/>
          </a:xfrm>
          <a:prstGeom prst="line">
            <a:avLst/>
          </a:prstGeom>
          <a:noFill/>
          <a:ln w="9525">
            <a:solidFill>
              <a:srgbClr val="FF3300"/>
            </a:solidFill>
            <a:round/>
            <a:headEnd type="triangle" w="med" len="med"/>
            <a:tailEnd/>
          </a:ln>
          <a:effectLst/>
        </p:spPr>
        <p:txBody>
          <a:bodyPr wrap="none" anchor="ctr"/>
          <a:lstStyle/>
          <a:p>
            <a:endParaRPr lang="en-US"/>
          </a:p>
        </p:txBody>
      </p:sp>
      <p:sp>
        <p:nvSpPr>
          <p:cNvPr id="271499" name="Text Box 139"/>
          <p:cNvSpPr txBox="1">
            <a:spLocks noChangeArrowheads="1"/>
          </p:cNvSpPr>
          <p:nvPr/>
        </p:nvSpPr>
        <p:spPr bwMode="auto">
          <a:xfrm>
            <a:off x="6604489" y="2662238"/>
            <a:ext cx="1236236" cy="461665"/>
          </a:xfrm>
          <a:prstGeom prst="rect">
            <a:avLst/>
          </a:prstGeom>
          <a:noFill/>
          <a:ln w="9525">
            <a:noFill/>
            <a:miter lim="800000"/>
            <a:headEnd/>
            <a:tailEnd/>
          </a:ln>
          <a:effectLst/>
        </p:spPr>
        <p:txBody>
          <a:bodyPr wrap="none">
            <a:spAutoFit/>
          </a:bodyPr>
          <a:lstStyle/>
          <a:p>
            <a:pPr>
              <a:spcBef>
                <a:spcPct val="0"/>
              </a:spcBef>
              <a:spcAft>
                <a:spcPct val="0"/>
              </a:spcAft>
            </a:pPr>
            <a:r>
              <a:rPr lang="en-US" sz="1200" b="1">
                <a:effectLst/>
                <a:latin typeface="Times New Roman" pitchFamily="18" charset="0"/>
              </a:rPr>
              <a:t>Needed Sample </a:t>
            </a:r>
          </a:p>
          <a:p>
            <a:pPr>
              <a:spcBef>
                <a:spcPct val="0"/>
              </a:spcBef>
              <a:spcAft>
                <a:spcPct val="0"/>
              </a:spcAft>
            </a:pPr>
            <a:r>
              <a:rPr lang="en-US" sz="1200" b="1">
                <a:effectLst/>
                <a:latin typeface="Times New Roman" pitchFamily="18" charset="0"/>
              </a:rPr>
              <a:t>Point</a:t>
            </a:r>
            <a:endParaRPr lang="en-US" sz="2400" b="1">
              <a:effectLst/>
              <a:latin typeface="Times New Roman" pitchFamily="18" charset="0"/>
            </a:endParaRPr>
          </a:p>
        </p:txBody>
      </p:sp>
      <p:sp>
        <p:nvSpPr>
          <p:cNvPr id="271502" name="Line 142"/>
          <p:cNvSpPr>
            <a:spLocks noChangeShapeType="1"/>
          </p:cNvSpPr>
          <p:nvPr/>
        </p:nvSpPr>
        <p:spPr bwMode="auto">
          <a:xfrm>
            <a:off x="8288215" y="1290638"/>
            <a:ext cx="0" cy="685800"/>
          </a:xfrm>
          <a:prstGeom prst="line">
            <a:avLst/>
          </a:prstGeom>
          <a:noFill/>
          <a:ln w="9525">
            <a:solidFill>
              <a:schemeClr val="tx1"/>
            </a:solidFill>
            <a:round/>
            <a:headEnd/>
            <a:tailEnd/>
          </a:ln>
          <a:effectLst/>
        </p:spPr>
        <p:txBody>
          <a:bodyPr wrap="none" anchor="ctr"/>
          <a:lstStyle/>
          <a:p>
            <a:endParaRPr lang="en-US"/>
          </a:p>
        </p:txBody>
      </p:sp>
      <p:sp>
        <p:nvSpPr>
          <p:cNvPr id="271503" name="Text Box 143"/>
          <p:cNvSpPr txBox="1">
            <a:spLocks noChangeArrowheads="1"/>
          </p:cNvSpPr>
          <p:nvPr/>
        </p:nvSpPr>
        <p:spPr bwMode="auto">
          <a:xfrm>
            <a:off x="8299939" y="1265238"/>
            <a:ext cx="756938" cy="461665"/>
          </a:xfrm>
          <a:prstGeom prst="rect">
            <a:avLst/>
          </a:prstGeom>
          <a:noFill/>
          <a:ln w="9525">
            <a:noFill/>
            <a:miter lim="800000"/>
            <a:headEnd/>
            <a:tailEnd/>
          </a:ln>
          <a:effectLst/>
        </p:spPr>
        <p:txBody>
          <a:bodyPr wrap="none">
            <a:spAutoFit/>
          </a:bodyPr>
          <a:lstStyle/>
          <a:p>
            <a:pPr algn="l">
              <a:spcBef>
                <a:spcPct val="0"/>
              </a:spcBef>
              <a:spcAft>
                <a:spcPct val="0"/>
              </a:spcAft>
            </a:pPr>
            <a:r>
              <a:rPr lang="en-US" sz="1200" b="1">
                <a:effectLst/>
                <a:latin typeface="Times New Roman" pitchFamily="18" charset="0"/>
              </a:rPr>
              <a:t>Next </a:t>
            </a:r>
          </a:p>
          <a:p>
            <a:pPr algn="l">
              <a:spcBef>
                <a:spcPct val="0"/>
              </a:spcBef>
              <a:spcAft>
                <a:spcPct val="0"/>
              </a:spcAft>
            </a:pPr>
            <a:r>
              <a:rPr lang="en-US" sz="1200" b="1">
                <a:effectLst/>
                <a:latin typeface="Times New Roman" pitchFamily="18" charset="0"/>
              </a:rPr>
              <a:t>sync.seg.</a:t>
            </a:r>
            <a:endParaRPr lang="en-US" sz="2400" b="1">
              <a:effectLst/>
              <a:latin typeface="Times New Roman" pitchFamily="18" charset="0"/>
            </a:endParaRPr>
          </a:p>
        </p:txBody>
      </p:sp>
      <p:sp>
        <p:nvSpPr>
          <p:cNvPr id="271504" name="Text Box 144"/>
          <p:cNvSpPr txBox="1">
            <a:spLocks noChangeArrowheads="1"/>
          </p:cNvSpPr>
          <p:nvPr/>
        </p:nvSpPr>
        <p:spPr bwMode="auto">
          <a:xfrm>
            <a:off x="7731369" y="1976438"/>
            <a:ext cx="984738" cy="457200"/>
          </a:xfrm>
          <a:prstGeom prst="rect">
            <a:avLst/>
          </a:prstGeom>
          <a:noFill/>
          <a:ln w="9525">
            <a:noFill/>
            <a:miter lim="800000"/>
            <a:headEnd/>
            <a:tailEnd/>
          </a:ln>
          <a:effectLst/>
        </p:spPr>
        <p:txBody>
          <a:bodyPr>
            <a:spAutoFit/>
          </a:bodyPr>
          <a:lstStyle/>
          <a:p>
            <a:pPr algn="l">
              <a:spcBef>
                <a:spcPct val="0"/>
              </a:spcBef>
              <a:spcAft>
                <a:spcPct val="0"/>
              </a:spcAft>
            </a:pPr>
            <a:r>
              <a:rPr lang="en-US" sz="1200" b="1">
                <a:effectLst/>
                <a:latin typeface="Times New Roman" pitchFamily="18" charset="0"/>
              </a:rPr>
              <a:t>Next </a:t>
            </a:r>
          </a:p>
          <a:p>
            <a:pPr algn="l">
              <a:spcBef>
                <a:spcPct val="0"/>
              </a:spcBef>
              <a:spcAft>
                <a:spcPct val="0"/>
              </a:spcAft>
            </a:pPr>
            <a:r>
              <a:rPr lang="en-US" sz="1200" b="1">
                <a:effectLst/>
                <a:latin typeface="Times New Roman" pitchFamily="18" charset="0"/>
              </a:rPr>
              <a:t>sync.seg.</a:t>
            </a:r>
            <a:endParaRPr lang="en-US" sz="2400" b="1">
              <a:effectLst/>
              <a:latin typeface="Times New Roman" pitchFamily="18" charset="0"/>
            </a:endParaRPr>
          </a:p>
        </p:txBody>
      </p:sp>
      <p:sp>
        <p:nvSpPr>
          <p:cNvPr id="271505" name="Line 145"/>
          <p:cNvSpPr>
            <a:spLocks noChangeShapeType="1"/>
          </p:cNvSpPr>
          <p:nvPr/>
        </p:nvSpPr>
        <p:spPr bwMode="auto">
          <a:xfrm flipV="1">
            <a:off x="7731369" y="2082800"/>
            <a:ext cx="0" cy="350838"/>
          </a:xfrm>
          <a:prstGeom prst="line">
            <a:avLst/>
          </a:prstGeom>
          <a:noFill/>
          <a:ln w="9525">
            <a:solidFill>
              <a:schemeClr val="tx1"/>
            </a:solidFill>
            <a:round/>
            <a:headEnd/>
            <a:tailEnd/>
          </a:ln>
          <a:effectLst/>
        </p:spPr>
        <p:txBody>
          <a:bodyPr wrap="none" anchor="ctr"/>
          <a:lstStyle/>
          <a:p>
            <a:endParaRPr lang="en-US"/>
          </a:p>
        </p:txBody>
      </p:sp>
      <p:sp>
        <p:nvSpPr>
          <p:cNvPr id="271541" name="Rectangle 181"/>
          <p:cNvSpPr>
            <a:spLocks noChangeArrowheads="1"/>
          </p:cNvSpPr>
          <p:nvPr/>
        </p:nvSpPr>
        <p:spPr bwMode="auto">
          <a:xfrm>
            <a:off x="1535723" y="1747838"/>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42" name="Rectangle 182"/>
          <p:cNvSpPr>
            <a:spLocks noChangeArrowheads="1"/>
          </p:cNvSpPr>
          <p:nvPr/>
        </p:nvSpPr>
        <p:spPr bwMode="auto">
          <a:xfrm>
            <a:off x="973015" y="1747838"/>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43" name="Rectangle 183"/>
          <p:cNvSpPr>
            <a:spLocks noChangeArrowheads="1"/>
          </p:cNvSpPr>
          <p:nvPr/>
        </p:nvSpPr>
        <p:spPr bwMode="auto">
          <a:xfrm>
            <a:off x="2661138" y="1747838"/>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44" name="Rectangle 184"/>
          <p:cNvSpPr>
            <a:spLocks noChangeArrowheads="1"/>
          </p:cNvSpPr>
          <p:nvPr/>
        </p:nvSpPr>
        <p:spPr bwMode="auto">
          <a:xfrm>
            <a:off x="2098431" y="1747838"/>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45" name="Rectangle 185"/>
          <p:cNvSpPr>
            <a:spLocks noChangeArrowheads="1"/>
          </p:cNvSpPr>
          <p:nvPr/>
        </p:nvSpPr>
        <p:spPr bwMode="auto">
          <a:xfrm>
            <a:off x="1528396" y="2433638"/>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46" name="Rectangle 186"/>
          <p:cNvSpPr>
            <a:spLocks noChangeArrowheads="1"/>
          </p:cNvSpPr>
          <p:nvPr/>
        </p:nvSpPr>
        <p:spPr bwMode="auto">
          <a:xfrm>
            <a:off x="965689" y="2433638"/>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47" name="Rectangle 187"/>
          <p:cNvSpPr>
            <a:spLocks noChangeArrowheads="1"/>
          </p:cNvSpPr>
          <p:nvPr/>
        </p:nvSpPr>
        <p:spPr bwMode="auto">
          <a:xfrm>
            <a:off x="2091104" y="2433638"/>
            <a:ext cx="562708" cy="228600"/>
          </a:xfrm>
          <a:prstGeom prst="rect">
            <a:avLst/>
          </a:prstGeom>
          <a:gradFill rotWithShape="0">
            <a:gsLst>
              <a:gs pos="0">
                <a:srgbClr val="66FFFF">
                  <a:gamma/>
                  <a:shade val="48627"/>
                  <a:invGamma/>
                </a:srgbClr>
              </a:gs>
              <a:gs pos="50000">
                <a:srgbClr val="66FFFF"/>
              </a:gs>
              <a:gs pos="100000">
                <a:srgbClr val="66FF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
        <p:nvSpPr>
          <p:cNvPr id="271560" name="Text Box 200"/>
          <p:cNvSpPr txBox="1">
            <a:spLocks noChangeArrowheads="1"/>
          </p:cNvSpPr>
          <p:nvPr/>
        </p:nvSpPr>
        <p:spPr bwMode="auto">
          <a:xfrm>
            <a:off x="118697" y="2082800"/>
            <a:ext cx="1600951" cy="307777"/>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Times New Roman" pitchFamily="18" charset="0"/>
              </a:rPr>
              <a:t>Transmitter-faster</a:t>
            </a:r>
            <a:endParaRPr lang="en-US" sz="2400" b="1">
              <a:effectLst/>
              <a:latin typeface="Times New Roman" pitchFamily="18" charset="0"/>
            </a:endParaRPr>
          </a:p>
        </p:txBody>
      </p:sp>
      <p:sp>
        <p:nvSpPr>
          <p:cNvPr id="271561" name="Text Box 201"/>
          <p:cNvSpPr txBox="1">
            <a:spLocks noChangeArrowheads="1"/>
          </p:cNvSpPr>
          <p:nvPr/>
        </p:nvSpPr>
        <p:spPr bwMode="auto">
          <a:xfrm>
            <a:off x="271097" y="1290638"/>
            <a:ext cx="1407501" cy="307777"/>
          </a:xfrm>
          <a:prstGeom prst="rect">
            <a:avLst/>
          </a:prstGeom>
          <a:noFill/>
          <a:ln w="9525">
            <a:noFill/>
            <a:miter lim="800000"/>
            <a:headEnd/>
            <a:tailEnd/>
          </a:ln>
          <a:effectLst/>
        </p:spPr>
        <p:txBody>
          <a:bodyPr wrap="none">
            <a:spAutoFit/>
          </a:bodyPr>
          <a:lstStyle/>
          <a:p>
            <a:pPr algn="l">
              <a:spcBef>
                <a:spcPct val="0"/>
              </a:spcBef>
              <a:spcAft>
                <a:spcPct val="0"/>
              </a:spcAft>
            </a:pPr>
            <a:r>
              <a:rPr lang="en-US" sz="1400" b="1">
                <a:effectLst/>
                <a:latin typeface="Times New Roman" pitchFamily="18" charset="0"/>
              </a:rPr>
              <a:t>Receiver-slower</a:t>
            </a:r>
            <a:endParaRPr lang="en-US" sz="2400" b="1">
              <a:effectLst/>
              <a:latin typeface="Times New Roman" pitchFamily="18" charset="0"/>
            </a:endParaRPr>
          </a:p>
        </p:txBody>
      </p:sp>
      <p:sp>
        <p:nvSpPr>
          <p:cNvPr id="271564" name="Text Box 204"/>
          <p:cNvSpPr txBox="1">
            <a:spLocks noChangeArrowheads="1"/>
          </p:cNvSpPr>
          <p:nvPr/>
        </p:nvSpPr>
        <p:spPr bwMode="auto">
          <a:xfrm>
            <a:off x="1601666" y="1265238"/>
            <a:ext cx="562708" cy="523220"/>
          </a:xfrm>
          <a:prstGeom prst="rect">
            <a:avLst/>
          </a:prstGeom>
          <a:solidFill>
            <a:srgbClr val="CCECFF"/>
          </a:solidFill>
          <a:ln w="9525">
            <a:noFill/>
            <a:miter lim="800000"/>
            <a:headEnd/>
            <a:tailEnd/>
          </a:ln>
          <a:effectLst/>
        </p:spPr>
        <p:txBody>
          <a:bodyPr>
            <a:spAutoFit/>
          </a:bodyPr>
          <a:lstStyle/>
          <a:p>
            <a:pPr algn="l">
              <a:spcBef>
                <a:spcPct val="0"/>
              </a:spcBef>
              <a:spcAft>
                <a:spcPct val="0"/>
              </a:spcAft>
            </a:pPr>
            <a:r>
              <a:rPr lang="en-US" sz="1400" b="1">
                <a:effectLst/>
                <a:latin typeface="Times New Roman" pitchFamily="18" charset="0"/>
              </a:rPr>
              <a:t>Bit N</a:t>
            </a:r>
            <a:endParaRPr lang="en-US" sz="2400" b="1">
              <a:effectLst/>
              <a:latin typeface="Times New Roman" pitchFamily="18" charset="0"/>
            </a:endParaRPr>
          </a:p>
        </p:txBody>
      </p:sp>
      <p:sp>
        <p:nvSpPr>
          <p:cNvPr id="271566" name="Text Box 206"/>
          <p:cNvSpPr txBox="1">
            <a:spLocks noChangeArrowheads="1"/>
          </p:cNvSpPr>
          <p:nvPr/>
        </p:nvSpPr>
        <p:spPr bwMode="auto">
          <a:xfrm>
            <a:off x="5016013" y="1265238"/>
            <a:ext cx="822080" cy="304800"/>
          </a:xfrm>
          <a:prstGeom prst="rect">
            <a:avLst/>
          </a:prstGeom>
          <a:solidFill>
            <a:srgbClr val="CCECFF"/>
          </a:solidFill>
          <a:ln w="9525">
            <a:noFill/>
            <a:miter lim="800000"/>
            <a:headEnd/>
            <a:tailEnd/>
          </a:ln>
          <a:effectLst/>
        </p:spPr>
        <p:txBody>
          <a:bodyPr>
            <a:spAutoFit/>
          </a:bodyPr>
          <a:lstStyle/>
          <a:p>
            <a:pPr algn="l">
              <a:spcBef>
                <a:spcPct val="0"/>
              </a:spcBef>
              <a:spcAft>
                <a:spcPct val="0"/>
              </a:spcAft>
            </a:pPr>
            <a:r>
              <a:rPr lang="en-US" sz="1400" b="1">
                <a:effectLst/>
                <a:latin typeface="Times New Roman" pitchFamily="18" charset="0"/>
              </a:rPr>
              <a:t>Bit N+1</a:t>
            </a:r>
            <a:endParaRPr lang="en-US" sz="2400" b="1">
              <a:effectLst/>
              <a:latin typeface="Times New Roman" pitchFamily="18" charset="0"/>
            </a:endParaRPr>
          </a:p>
        </p:txBody>
      </p:sp>
      <p:sp>
        <p:nvSpPr>
          <p:cNvPr id="271569" name="Rectangle 209"/>
          <p:cNvSpPr>
            <a:spLocks noChangeArrowheads="1"/>
          </p:cNvSpPr>
          <p:nvPr/>
        </p:nvSpPr>
        <p:spPr bwMode="auto">
          <a:xfrm>
            <a:off x="402981" y="2433638"/>
            <a:ext cx="562708" cy="228600"/>
          </a:xfrm>
          <a:prstGeom prst="rect">
            <a:avLst/>
          </a:prstGeom>
          <a:gradFill rotWithShape="0">
            <a:gsLst>
              <a:gs pos="0">
                <a:srgbClr val="6666FF">
                  <a:gamma/>
                  <a:shade val="48627"/>
                  <a:invGamma/>
                </a:srgbClr>
              </a:gs>
              <a:gs pos="50000">
                <a:srgbClr val="6666FF"/>
              </a:gs>
              <a:gs pos="100000">
                <a:srgbClr val="6666FF">
                  <a:gamma/>
                  <a:shade val="48627"/>
                  <a:invGamma/>
                </a:srgbClr>
              </a:gs>
            </a:gsLst>
            <a:lin ang="5400000" scaled="1"/>
          </a:gradFill>
          <a:ln w="9525">
            <a:solidFill>
              <a:schemeClr val="tx1"/>
            </a:solidFill>
            <a:miter lim="800000"/>
            <a:headEnd/>
            <a:tailEnd/>
          </a:ln>
          <a:effectLst/>
        </p:spPr>
        <p:txBody>
          <a:bodyPr wrap="none" anchor="ctr"/>
          <a:lstStyle/>
          <a:p>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Resynchronization</a:t>
            </a:r>
            <a:endParaRPr lang="en-US" dirty="0"/>
          </a:p>
        </p:txBody>
      </p:sp>
      <p:sp>
        <p:nvSpPr>
          <p:cNvPr id="3" name="Content Placeholder 2"/>
          <p:cNvSpPr>
            <a:spLocks noGrp="1"/>
          </p:cNvSpPr>
          <p:nvPr>
            <p:ph idx="1"/>
          </p:nvPr>
        </p:nvSpPr>
        <p:spPr/>
        <p:txBody>
          <a:bodyPr/>
          <a:lstStyle/>
          <a:p>
            <a:r>
              <a:rPr lang="en-US" dirty="0" smtClean="0"/>
              <a:t>Phase error(e) is given by the position of the error with respect to the synchronization segment.</a:t>
            </a:r>
          </a:p>
          <a:p>
            <a:r>
              <a:rPr lang="en-US" dirty="0" smtClean="0"/>
              <a:t>If the edge lies before the sample point, e is positive. If e is positive, Phase Segment 1 is lengthened by the amount equal to resynchronization jump width.</a:t>
            </a:r>
          </a:p>
          <a:p>
            <a:r>
              <a:rPr lang="en-US" dirty="0" smtClean="0"/>
              <a:t>If the edge lies after the sample point, e is negative. If e is negative, Phase Segment 2 is shortened by the amount equal to resynchronization jump width.</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90800"/>
            <a:ext cx="8353425" cy="719137"/>
          </a:xfrm>
        </p:spPr>
        <p:txBody>
          <a:bodyPr/>
          <a:lstStyle/>
          <a:p>
            <a:pPr algn="ctr"/>
            <a:r>
              <a:rPr lang="en-US" dirty="0" smtClean="0"/>
              <a:t>CAN with Flexible Data Rate</a:t>
            </a:r>
            <a:endParaRPr lang="en-US" dirty="0"/>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a:t>
            </a:r>
            <a:endParaRPr lang="en-US" dirty="0"/>
          </a:p>
        </p:txBody>
      </p:sp>
      <p:sp>
        <p:nvSpPr>
          <p:cNvPr id="3" name="Content Placeholder 2"/>
          <p:cNvSpPr>
            <a:spLocks noGrp="1"/>
          </p:cNvSpPr>
          <p:nvPr>
            <p:ph idx="1"/>
          </p:nvPr>
        </p:nvSpPr>
        <p:spPr/>
        <p:txBody>
          <a:bodyPr/>
          <a:lstStyle/>
          <a:p>
            <a:r>
              <a:rPr lang="en-US" dirty="0" smtClean="0"/>
              <a:t>Allows data rate up to 15Mbps.</a:t>
            </a:r>
          </a:p>
          <a:p>
            <a:r>
              <a:rPr lang="en-US" dirty="0" smtClean="0"/>
              <a:t>Allows payloads up to 64 bytes per frame.</a:t>
            </a:r>
          </a:p>
          <a:p>
            <a:r>
              <a:rPr lang="en-US" dirty="0" smtClean="0"/>
              <a:t>It has longer CRC polynomials</a:t>
            </a:r>
          </a:p>
          <a:p>
            <a:r>
              <a:rPr lang="en-US" dirty="0" smtClean="0"/>
              <a:t>It is compatible with CAN 2.0 A and 2.0 B</a:t>
            </a:r>
          </a:p>
          <a:p>
            <a:r>
              <a:rPr lang="en-US" dirty="0" smtClean="0"/>
              <a:t>There is no remote frame. But it can transmit a remote frame in CAN format.</a:t>
            </a:r>
          </a:p>
          <a:p>
            <a:r>
              <a:rPr lang="en-US" dirty="0" smtClean="0"/>
              <a:t>There are two frame formats: CAN FD Base Format-11 bit identifier and CAN FD Extended Format-29 bit identifier. </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FD BASE FRAME STRUCTURE</a:t>
            </a:r>
            <a:endParaRPr lang="en-US" dirty="0"/>
          </a:p>
        </p:txBody>
      </p:sp>
      <p:pic>
        <p:nvPicPr>
          <p:cNvPr id="4" name="Content Placeholder 3" descr="CANFDFRAME.JPG"/>
          <p:cNvPicPr>
            <a:picLocks noGrp="1" noChangeAspect="1"/>
          </p:cNvPicPr>
          <p:nvPr>
            <p:ph idx="1"/>
          </p:nvPr>
        </p:nvPicPr>
        <p:blipFill>
          <a:blip r:embed="rId2" cstate="print"/>
          <a:stretch>
            <a:fillRect/>
          </a:stretch>
        </p:blipFill>
        <p:spPr>
          <a:xfrm>
            <a:off x="2122426" y="1341438"/>
            <a:ext cx="4899149" cy="4535487"/>
          </a:xfr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FD EXTENDED FRAME STRUCTURE</a:t>
            </a:r>
            <a:endParaRPr lang="en-US" dirty="0"/>
          </a:p>
        </p:txBody>
      </p:sp>
      <p:pic>
        <p:nvPicPr>
          <p:cNvPr id="4" name="Content Placeholder 3" descr="CANFDEXTFRAMEFOR.JPG"/>
          <p:cNvPicPr>
            <a:picLocks noGrp="1" noChangeAspect="1"/>
          </p:cNvPicPr>
          <p:nvPr>
            <p:ph idx="1"/>
          </p:nvPr>
        </p:nvPicPr>
        <p:blipFill>
          <a:blip r:embed="rId2" cstate="print"/>
          <a:stretch>
            <a:fillRect/>
          </a:stretch>
        </p:blipFill>
        <p:spPr>
          <a:xfrm>
            <a:off x="531524" y="1341438"/>
            <a:ext cx="8080952" cy="4535487"/>
          </a:xfr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FD CONTROL FIELD</a:t>
            </a:r>
            <a:endParaRPr lang="en-US" dirty="0"/>
          </a:p>
        </p:txBody>
      </p:sp>
      <p:sp>
        <p:nvSpPr>
          <p:cNvPr id="3" name="Content Placeholder 2"/>
          <p:cNvSpPr>
            <a:spLocks noGrp="1"/>
          </p:cNvSpPr>
          <p:nvPr>
            <p:ph idx="1"/>
          </p:nvPr>
        </p:nvSpPr>
        <p:spPr/>
        <p:txBody>
          <a:bodyPr/>
          <a:lstStyle/>
          <a:p>
            <a:r>
              <a:rPr lang="en-US" dirty="0" smtClean="0">
                <a:solidFill>
                  <a:srgbClr val="FF0000"/>
                </a:solidFill>
              </a:rPr>
              <a:t>IDE:</a:t>
            </a:r>
            <a:r>
              <a:rPr lang="en-US" dirty="0" smtClean="0"/>
              <a:t> Identifier Extension</a:t>
            </a:r>
            <a:endParaRPr lang="en-US" dirty="0" smtClean="0">
              <a:solidFill>
                <a:srgbClr val="FF0000"/>
              </a:solidFill>
            </a:endParaRPr>
          </a:p>
          <a:p>
            <a:r>
              <a:rPr lang="en-US" dirty="0" smtClean="0">
                <a:solidFill>
                  <a:srgbClr val="FF0000"/>
                </a:solidFill>
              </a:rPr>
              <a:t>EDL: </a:t>
            </a:r>
            <a:r>
              <a:rPr lang="en-US" dirty="0" smtClean="0"/>
              <a:t>Extended data Length-distinguishes between CAN and CAN FD</a:t>
            </a:r>
            <a:endParaRPr lang="en-US" dirty="0" smtClean="0">
              <a:solidFill>
                <a:srgbClr val="FF0000"/>
              </a:solidFill>
            </a:endParaRPr>
          </a:p>
          <a:p>
            <a:r>
              <a:rPr lang="en-US" dirty="0" smtClean="0">
                <a:solidFill>
                  <a:srgbClr val="FF0000"/>
                </a:solidFill>
              </a:rPr>
              <a:t>BRS: </a:t>
            </a:r>
            <a:r>
              <a:rPr lang="en-US" dirty="0" smtClean="0"/>
              <a:t>Bit Rate Switch.</a:t>
            </a:r>
          </a:p>
          <a:p>
            <a:r>
              <a:rPr lang="en-US" dirty="0" smtClean="0"/>
              <a:t>If it is recessive then bit rate is switched from standard bit rate to preconfigured bit rate.</a:t>
            </a:r>
          </a:p>
          <a:p>
            <a:r>
              <a:rPr lang="en-US" dirty="0" smtClean="0"/>
              <a:t>If it is dominant, bit rate is not switched</a:t>
            </a:r>
          </a:p>
          <a:p>
            <a:r>
              <a:rPr lang="en-US" dirty="0" smtClean="0">
                <a:solidFill>
                  <a:srgbClr val="FF0000"/>
                </a:solidFill>
              </a:rPr>
              <a:t>ESI: </a:t>
            </a:r>
            <a:r>
              <a:rPr lang="en-US" dirty="0" smtClean="0"/>
              <a:t>Error State Indicator. Transmitted dominant by error active nodes and recessive by error passive nodes.</a:t>
            </a:r>
            <a:endParaRPr lang="en-US" dirty="0">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CRC in CAN FD</a:t>
            </a:r>
            <a:endParaRPr lang="en-US" dirty="0"/>
          </a:p>
        </p:txBody>
      </p:sp>
      <p:sp>
        <p:nvSpPr>
          <p:cNvPr id="3" name="Content Placeholder 2"/>
          <p:cNvSpPr>
            <a:spLocks noGrp="1"/>
          </p:cNvSpPr>
          <p:nvPr>
            <p:ph idx="1"/>
          </p:nvPr>
        </p:nvSpPr>
        <p:spPr/>
        <p:txBody>
          <a:bodyPr/>
          <a:lstStyle/>
          <a:p>
            <a:r>
              <a:rPr lang="en-US" dirty="0" smtClean="0"/>
              <a:t> Based on the value of EDL and DLC bits, appropriate CRC polynomial is considered by transmitters and receivers.</a:t>
            </a:r>
          </a:p>
          <a:p>
            <a:endParaRPr lang="en-US" dirty="0"/>
          </a:p>
        </p:txBody>
      </p:sp>
      <p:pic>
        <p:nvPicPr>
          <p:cNvPr id="4" name="Picture 3" descr="crc canfd.JPG"/>
          <p:cNvPicPr>
            <a:picLocks noChangeAspect="1"/>
          </p:cNvPicPr>
          <p:nvPr/>
        </p:nvPicPr>
        <p:blipFill>
          <a:blip r:embed="rId2" cstate="print"/>
          <a:stretch>
            <a:fillRect/>
          </a:stretch>
        </p:blipFill>
        <p:spPr>
          <a:xfrm>
            <a:off x="1947862" y="2395537"/>
            <a:ext cx="6106865" cy="240506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ISO OSI Reference Model</a:t>
            </a:r>
            <a:endParaRPr lang="en-US" dirty="0"/>
          </a:p>
        </p:txBody>
      </p:sp>
      <p:pic>
        <p:nvPicPr>
          <p:cNvPr id="4" name="Content Placeholder 3" descr="CANOSI.JPG"/>
          <p:cNvPicPr>
            <a:picLocks noGrp="1" noChangeAspect="1"/>
          </p:cNvPicPr>
          <p:nvPr>
            <p:ph idx="1"/>
          </p:nvPr>
        </p:nvPicPr>
        <p:blipFill>
          <a:blip r:embed="rId2" cstate="print"/>
          <a:stretch>
            <a:fillRect/>
          </a:stretch>
        </p:blipFill>
        <p:spPr>
          <a:xfrm>
            <a:off x="718200" y="1341438"/>
            <a:ext cx="7707601" cy="4535487"/>
          </a:xfr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ISO OSI Reference Model</a:t>
            </a:r>
            <a:endParaRPr lang="en-US" dirty="0"/>
          </a:p>
        </p:txBody>
      </p:sp>
      <p:pic>
        <p:nvPicPr>
          <p:cNvPr id="4" name="Content Placeholder 3" descr="CANOSI1.JPG"/>
          <p:cNvPicPr>
            <a:picLocks noGrp="1" noChangeAspect="1"/>
          </p:cNvPicPr>
          <p:nvPr>
            <p:ph idx="1"/>
          </p:nvPr>
        </p:nvPicPr>
        <p:blipFill>
          <a:blip r:embed="rId2" cstate="print"/>
          <a:stretch>
            <a:fillRect/>
          </a:stretch>
        </p:blipFill>
        <p:spPr>
          <a:xfrm>
            <a:off x="871538" y="1366044"/>
            <a:ext cx="7400925" cy="4486275"/>
          </a:xfr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353425" cy="719137"/>
          </a:xfrm>
        </p:spPr>
        <p:txBody>
          <a:bodyPr/>
          <a:lstStyle/>
          <a:p>
            <a:r>
              <a:rPr lang="en-US" dirty="0" smtClean="0"/>
              <a:t>Transceiver-</a:t>
            </a:r>
            <a:r>
              <a:rPr lang="en-US" dirty="0" smtClean="0">
                <a:solidFill>
                  <a:srgbClr val="000099"/>
                </a:solidFill>
              </a:rPr>
              <a:t> </a:t>
            </a:r>
            <a:r>
              <a:rPr lang="en-US" dirty="0" smtClean="0"/>
              <a:t>PCA 82C250</a:t>
            </a:r>
            <a:endParaRPr lang="en-US" dirty="0"/>
          </a:p>
        </p:txBody>
      </p:sp>
      <p:pic>
        <p:nvPicPr>
          <p:cNvPr id="6" name="Content Placeholder 5" descr="pca.JPG"/>
          <p:cNvPicPr>
            <a:picLocks noGrp="1" noChangeAspect="1"/>
          </p:cNvPicPr>
          <p:nvPr>
            <p:ph idx="1"/>
          </p:nvPr>
        </p:nvPicPr>
        <p:blipFill>
          <a:blip r:embed="rId2" cstate="print"/>
          <a:stretch>
            <a:fillRect/>
          </a:stretch>
        </p:blipFill>
        <p:spPr>
          <a:xfrm>
            <a:off x="822664" y="1341438"/>
            <a:ext cx="7498672" cy="4535487"/>
          </a:xfr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Signaling levels</a:t>
            </a:r>
            <a:endParaRPr lang="en-US" dirty="0"/>
          </a:p>
        </p:txBody>
      </p:sp>
      <p:pic>
        <p:nvPicPr>
          <p:cNvPr id="4" name="Content Placeholder 3" descr="sig levels.JPG"/>
          <p:cNvPicPr>
            <a:picLocks noGrp="1" noChangeAspect="1"/>
          </p:cNvPicPr>
          <p:nvPr>
            <p:ph idx="1"/>
          </p:nvPr>
        </p:nvPicPr>
        <p:blipFill>
          <a:blip r:embed="rId2" cstate="print"/>
          <a:stretch>
            <a:fillRect/>
          </a:stretch>
        </p:blipFill>
        <p:spPr>
          <a:xfrm>
            <a:off x="581025" y="2375694"/>
            <a:ext cx="7981950" cy="2466975"/>
          </a:xfr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Physical Layer</a:t>
            </a:r>
            <a:endParaRPr lang="en-US" dirty="0"/>
          </a:p>
        </p:txBody>
      </p:sp>
      <p:sp>
        <p:nvSpPr>
          <p:cNvPr id="3" name="Content Placeholder 2"/>
          <p:cNvSpPr>
            <a:spLocks noGrp="1"/>
          </p:cNvSpPr>
          <p:nvPr>
            <p:ph idx="1"/>
          </p:nvPr>
        </p:nvSpPr>
        <p:spPr/>
        <p:txBody>
          <a:bodyPr/>
          <a:lstStyle/>
          <a:p>
            <a:r>
              <a:rPr lang="en-US" dirty="0" smtClean="0"/>
              <a:t>The CAN physical layer is divided into three parts: </a:t>
            </a:r>
          </a:p>
          <a:p>
            <a:r>
              <a:rPr lang="en-US" dirty="0" smtClean="0"/>
              <a:t>The physical coding Signaling (PCS) implemented in the CAN controller chips</a:t>
            </a:r>
          </a:p>
          <a:p>
            <a:r>
              <a:rPr lang="en-US" dirty="0" smtClean="0"/>
              <a:t>The physical medium attachment (PMA) specifying the transceiver characteristics, and </a:t>
            </a:r>
          </a:p>
          <a:p>
            <a:r>
              <a:rPr lang="en-US" dirty="0" smtClean="0"/>
              <a:t>The MDI – specifies the cable and connector characteristics.</a:t>
            </a:r>
          </a:p>
          <a:p>
            <a:endParaRPr lang="en-US" dirty="0" smtClean="0"/>
          </a:p>
          <a:p>
            <a:endParaRPr lang="en-US" dirty="0" smtClean="0"/>
          </a:p>
        </p:txBody>
      </p:sp>
      <p:pic>
        <p:nvPicPr>
          <p:cNvPr id="4" name="Picture 3" descr="play.JPG"/>
          <p:cNvPicPr>
            <a:picLocks noChangeAspect="1"/>
          </p:cNvPicPr>
          <p:nvPr/>
        </p:nvPicPr>
        <p:blipFill>
          <a:blip r:embed="rId2" cstate="print"/>
          <a:stretch>
            <a:fillRect/>
          </a:stretch>
        </p:blipFill>
        <p:spPr>
          <a:xfrm>
            <a:off x="1676400" y="3389350"/>
            <a:ext cx="5105400" cy="1916076"/>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-Physical and Data Link Layer</a:t>
            </a:r>
            <a:endParaRPr lang="en-US" dirty="0"/>
          </a:p>
        </p:txBody>
      </p:sp>
      <p:sp>
        <p:nvSpPr>
          <p:cNvPr id="3" name="Content Placeholder 2"/>
          <p:cNvSpPr>
            <a:spLocks noGrp="1"/>
          </p:cNvSpPr>
          <p:nvPr>
            <p:ph idx="1"/>
          </p:nvPr>
        </p:nvSpPr>
        <p:spPr/>
        <p:txBody>
          <a:bodyPr/>
          <a:lstStyle/>
          <a:p>
            <a:pPr>
              <a:buNone/>
            </a:pPr>
            <a:r>
              <a:rPr lang="en-US" dirty="0" smtClean="0"/>
              <a:t>Physical Layer:</a:t>
            </a:r>
          </a:p>
          <a:p>
            <a:r>
              <a:rPr lang="en-US" dirty="0" smtClean="0"/>
              <a:t>Bit encoding and decoding</a:t>
            </a:r>
          </a:p>
          <a:p>
            <a:r>
              <a:rPr lang="en-US" dirty="0" smtClean="0"/>
              <a:t>Bit timing</a:t>
            </a:r>
          </a:p>
          <a:p>
            <a:r>
              <a:rPr lang="en-US" dirty="0" smtClean="0"/>
              <a:t>Synchronization with CAN Bus</a:t>
            </a:r>
          </a:p>
          <a:p>
            <a:pPr>
              <a:buNone/>
            </a:pPr>
            <a:r>
              <a:rPr lang="en-US" dirty="0" smtClean="0"/>
              <a:t>Data Link layer:</a:t>
            </a:r>
          </a:p>
          <a:p>
            <a:pPr>
              <a:buNone/>
            </a:pPr>
            <a:r>
              <a:rPr lang="en-US" dirty="0" smtClean="0"/>
              <a:t>LLC(logical Link Control):</a:t>
            </a:r>
          </a:p>
          <a:p>
            <a:r>
              <a:rPr lang="en-US" dirty="0" smtClean="0"/>
              <a:t>Message based protocol</a:t>
            </a:r>
          </a:p>
          <a:p>
            <a:r>
              <a:rPr lang="en-US" dirty="0" smtClean="0"/>
              <a:t>Unique ID number</a:t>
            </a:r>
          </a:p>
          <a:p>
            <a:r>
              <a:rPr lang="en-US" dirty="0" smtClean="0"/>
              <a:t>Accepts message by filtering</a:t>
            </a:r>
          </a:p>
          <a:p>
            <a:pPr>
              <a:buNone/>
            </a:pPr>
            <a:r>
              <a:rPr lang="en-US" dirty="0" smtClean="0"/>
              <a:t>MAC Layer</a:t>
            </a:r>
          </a:p>
          <a:p>
            <a:r>
              <a:rPr lang="en-US" dirty="0" smtClean="0"/>
              <a:t>Message framing , arbitration , error detection, acknowledgement</a:t>
            </a:r>
          </a:p>
          <a:p>
            <a:pPr>
              <a:buNone/>
            </a:pP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Physical and Data Link Layer Layer</a:t>
            </a:r>
            <a:endParaRPr lang="en-US" dirty="0"/>
          </a:p>
        </p:txBody>
      </p:sp>
      <p:sp>
        <p:nvSpPr>
          <p:cNvPr id="3" name="Content Placeholder 2"/>
          <p:cNvSpPr>
            <a:spLocks noGrp="1"/>
          </p:cNvSpPr>
          <p:nvPr>
            <p:ph idx="1"/>
          </p:nvPr>
        </p:nvSpPr>
        <p:spPr/>
        <p:txBody>
          <a:bodyPr/>
          <a:lstStyle/>
          <a:p>
            <a:r>
              <a:rPr lang="en-US" dirty="0" smtClean="0"/>
              <a:t> CAN controller incorporate logical link control and MAC medium access control of data link layer. </a:t>
            </a:r>
          </a:p>
          <a:p>
            <a:r>
              <a:rPr lang="en-US" dirty="0" smtClean="0"/>
              <a:t>LLC allows filtering of messages by using unique ID on each message then MAC sub layer frames the message.  </a:t>
            </a:r>
          </a:p>
          <a:p>
            <a:r>
              <a:rPr lang="en-US" dirty="0" smtClean="0"/>
              <a:t>Once, framing is done it is followed by arbitration, error detection and acknowledgement that all comes under MAC sub layer of data link. </a:t>
            </a:r>
          </a:p>
          <a:p>
            <a:r>
              <a:rPr lang="en-US" dirty="0" smtClean="0"/>
              <a:t>The frame is transferred to CAN trans-receiver, for encoding and decoding. </a:t>
            </a:r>
          </a:p>
          <a:p>
            <a:r>
              <a:rPr lang="en-US" dirty="0" smtClean="0"/>
              <a:t>Finally CAN trans-receiver synchronizes with the CAN bus to send the message to another node.</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Medium</a:t>
            </a:r>
            <a:endParaRPr lang="en-US" dirty="0"/>
          </a:p>
        </p:txBody>
      </p:sp>
      <p:sp>
        <p:nvSpPr>
          <p:cNvPr id="3" name="Content Placeholder 2"/>
          <p:cNvSpPr>
            <a:spLocks noGrp="1"/>
          </p:cNvSpPr>
          <p:nvPr>
            <p:ph idx="1"/>
          </p:nvPr>
        </p:nvSpPr>
        <p:spPr/>
        <p:txBody>
          <a:bodyPr/>
          <a:lstStyle/>
          <a:p>
            <a:r>
              <a:rPr lang="en-US" sz="2000" dirty="0" smtClean="0"/>
              <a:t>Wire Medium</a:t>
            </a:r>
          </a:p>
          <a:p>
            <a:pPr>
              <a:buNone/>
            </a:pPr>
            <a:r>
              <a:rPr lang="en-US" sz="2000" dirty="0" smtClean="0"/>
              <a:t>Voltage potential=recessive, grounded= dominant</a:t>
            </a:r>
          </a:p>
          <a:p>
            <a:r>
              <a:rPr lang="en-US" sz="2000" dirty="0" smtClean="0"/>
              <a:t>Optical Medium</a:t>
            </a:r>
          </a:p>
          <a:p>
            <a:pPr>
              <a:buNone/>
            </a:pPr>
            <a:r>
              <a:rPr lang="en-US" sz="2000" dirty="0" smtClean="0"/>
              <a:t>Light present= dominant, light absent=recessive.</a:t>
            </a:r>
          </a:p>
          <a:p>
            <a:r>
              <a:rPr lang="en-US" sz="2000" dirty="0" smtClean="0"/>
              <a:t>Radio Medium</a:t>
            </a:r>
          </a:p>
          <a:p>
            <a:pPr>
              <a:buNone/>
            </a:pPr>
            <a:r>
              <a:rPr lang="en-US" sz="2000" dirty="0" smtClean="0"/>
              <a:t>Carrier present= dominant, carrier absent=recessive</a:t>
            </a:r>
          </a:p>
          <a:p>
            <a:pPr>
              <a:buNone/>
            </a:pP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Bosch, CAN (1991). Specification version 2.0. Published by Robert Bosch GmbH (September 1991)</a:t>
            </a:r>
          </a:p>
          <a:p>
            <a:r>
              <a:rPr lang="en-US" dirty="0" smtClean="0"/>
              <a:t>Bosch, CAN with Flexible Data Rate (2012). Specification version 1.0. Published by Robert Bosch GmbH (April 2012) </a:t>
            </a:r>
          </a:p>
          <a:p>
            <a:r>
              <a:rPr lang="en-US" dirty="0" smtClean="0">
                <a:hlinkClick r:id="rId2"/>
              </a:rPr>
              <a:t>http://www.ieee802.org/1/files/public/docs2013/new-tsn-diarra-osi-layers-in-automotive-networks-0313-v01.pdf</a:t>
            </a:r>
            <a:endParaRPr lang="en-US" dirty="0" smtClean="0"/>
          </a:p>
          <a:p>
            <a:r>
              <a:rPr lang="en-US" dirty="0" smtClean="0">
                <a:hlinkClick r:id="rId3"/>
              </a:rPr>
              <a:t>http://www.can-cia.org/can-knowledge/can/systemdesign-can-physicallayer/</a:t>
            </a:r>
            <a:endParaRPr lang="en-US" dirty="0" smtClean="0"/>
          </a:p>
          <a:p>
            <a:r>
              <a:rPr lang="en-US" dirty="0" smtClean="0">
                <a:hlinkClick r:id="rId4"/>
              </a:rPr>
              <a:t>http://www.eeherald.com/section/design-guide/esmod9.html</a:t>
            </a:r>
            <a:endParaRPr lang="en-US" dirty="0" smtClean="0"/>
          </a:p>
          <a:p>
            <a:r>
              <a:rPr lang="en-US" dirty="0" smtClean="0">
                <a:hlinkClick r:id="rId5"/>
              </a:rPr>
              <a:t>http://www.computer-solutions.co.uk/info/Embedded_tutorials/can_tutorial.htm</a:t>
            </a:r>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IO_USER_INPUT_OPTIONS" val="Public;Internal;Confidential"/>
  <p:tag name="MIO_USER_INPUT_REQUIRED" val="Classification and Control of Information;Please select the level of confidentiality:"/>
</p:tagLst>
</file>

<file path=ppt/tags/tag2.xml><?xml version="1.0" encoding="utf-8"?>
<p:tagLst xmlns:a="http://schemas.openxmlformats.org/drawingml/2006/main" xmlns:r="http://schemas.openxmlformats.org/officeDocument/2006/relationships" xmlns:p="http://schemas.openxmlformats.org/presentationml/2006/main">
  <p:tag name="MIO_USER_INPUT_REQUIRED" val="Sender information;Please enter the sender information:"/>
  <p:tag name="MIO_USER_INPUT_TEXT" val="Text"/>
</p:tagLst>
</file>

<file path=ppt/tags/tag3.xml><?xml version="1.0" encoding="utf-8"?>
<p:tagLst xmlns:a="http://schemas.openxmlformats.org/drawingml/2006/main" xmlns:r="http://schemas.openxmlformats.org/officeDocument/2006/relationships" xmlns:p="http://schemas.openxmlformats.org/presentationml/2006/main">
  <p:tag name="MIO_BULLET_IMAGE_BINARY_DATA" val="R0lGODlh4AHgAeZ/AP+WAf/Mk/2YAP+vOP3guf+rMf716vz///6cAP725f/VqP6aBP2rMP/fvP/Upfz++//nxf7q0P6YBf/69f+yQv+uMP+1TP/8/f+wOP3s0fyYAv6wOv768v/Tqfv//fvVpv6yRfyZAP+YBv388vyqMP6aBv/UqfyaA/+WBeGaAP/fwP/q0/+ZCP+0Rf/6+OKYAv7KkfyuMP/s1P6cBP/29f+4U/6ZAP6ZAf+YAf+aAP/+/////f+aAv+ZAv2aAP7///+YAP+sMP6bAP7+/v6sMP6sMf6aAP6ZA/+YA/2aAf/9/v7+/P+tMP+bAP6bAv/9///+/P7//f7+//7/+v//+/2tMP+bAfybAP/++v//+v+aBP2wOv3++fyaAf+bBP7/+/39/f/+/f2ZBf/n1v79///8///9+P2bBvnXp/v/+v3Xqv/37P39//78//2vOP/Xpv79+//Vqv2bBP+XA/+xOv+aAf/++/+3T/+ZBP2bAPqbAf/Ur//QmP////+ZAP///yH5BAEAAH8ALAAAAADgAeABAAf/gH+Cg4SFhoeIiYqLjI2Oj5CRkpOUlZaXmJmam5ydnp+goaKjpKWmp6ipqqusra6vsLGys7S1tre4ubq7vL2+v8DBwsPExcbHyMnKy8zNzs/Q0dLT1NXW19jZ2tvc3d7f4OHi4+Tl5ufopRQFBUEFRCDs8vP09fb0TAxERen9/v+CiggcOJCJDT85gPDwc6Ohw4cQI0p8iKTHgg1MCugjwoRCkA0AQ4qUxg5DlSJBBhCxwbKljRs9fPDoouWGy5s4c+p06SdJDh9GfPgI8TNHAQpEBrBLOrKpU14MKtTYV6AIjhA4gCDAoRPJkRw4klxZuLOsWZZ+DiK84afHERta//wIwPGThxEeQTDkdfe0r99U74hUJWLET1g/iG8cORJCLeLHfowI6GFDAEMeODJr3sy5s+fNTnLcuPvSDxDGPkRoeMlVy1sgSG5UGRCEY4G/uHNfUhqESRDHkIMLH068uPHjyJMHD8K8wAAGuqNLL4RhaYUbTSrjUM69u/fv3ZsAUbpuwPTzTgVGLfDyRogbQngkAU+/vn3uThD6EZKDSJUgVViA3oDmUBBDAb4Z0cMNom2HWUNc3SfhhBLiYIQQfhzRgxE51MREBUWYR+CI2xTBxBZFvOVDQvxZdgMPNiCBAIMU1mhjdw9mx6ENOPQgxA1AbEBESiQWKU0FBVSBQf8IfmAWF0NAKOaDDRy2FQJlN2appXBNOLGdFUAs0IMfXtwgghYCiBZiBRUIaOSbxgyAwZA4CLAQW6YhZpcNOWQHxHZHOEHUloRuCUQSDTkRY2k2CAFEDgeZycMATGDAD5yY8tJOkjjwACkPQODhxA1OvMWWlzROGRMQJTxZ6KsT3uDDo3HhIJ4IfPqwXQk2ZIfQQUUQQQRImRYrywbMBQHrsswym4MfGBFr7LSAMdfstdhuCR+flppI7behUMoEE/Fla+659y3UA11NGBFEEc6BKy8mHymLGRJdoKvvvspRBukROMzQQ6j+UTDvwY9UkE8QCeVHI78QRxwcEGck4UP/bAjFdGFS0CHssSFEUFBEmqBihsMVeLgq8cr6+oCHH1YAWVMXlAGhhQ3ddvzxwW4wUICXmDHkoh8zsGy0vndpAeqYC4UgxJg2LMBVbUzs/O07RWzgL48H5dcEdgIccfTY2MKIg0x2JoaDCC0ixAMSGRFhdaZMEFGBD2TnrTd3yc5dZIgperr34IQT546Ifk+3DhNATKnFs4VHHrkQQaCYuG6+MeGHFlfOOqbkoO/Npw1FVGDw5U9tMEARQtjAw7ZACIFE6LSTvYAYVuSQw7uIo/4PBky0kINdo2bWpA141648yxYSzRYTRejsOzrsANHrHCw9m/YCkC/v/b6x56Do/3aQUj29ORsUcJ2CNsx3AxJAMI3n9/SfKxNCdDU6PNzvnB8OipqrnwBr1zf/bcMC7WjSABdIu3cZMBsYYMBCpsTACkruXUF4IDWCsA62wKd7Fgxh3sSXvtNpsBntqMKLDpIEGwBBhDAkGw4qwgMQnZAZITrIW7YjhLPF8IcsuwEC/jSeFkjrhsRAShB8cASbjElXVQKiFPl1kJvJYVYYMCESg2ESwySkBz/hkQDQMsUynis+c8hBmsQWIultcRfJMqMcCZedKmjxjbhAyRz3uDcRPKo2dMDjLfIxAD4akmw5mAOTbsAUQc6CAUyA0SEnybImJA9GGHTkK1KCAZuIjf+SoOQXEuCSlSO0rgq30eQqKhCEmPhhAS8MpSzPxSMM9QABfkDCHDKnSlSEqAfvocssh5kt17HkCp9qiB+S1EtSvKMCrkuIH3RFzGouywZXekkO8DAaP4hAABZwYzM5YZLCWPOcLCvgODdRBAoADJ3wXFle1pkJSg1ACF+Lpz4hVgW50bMSeVGQGvdJUH31ACVH/KcjUAIXT/WwoBDNlhqZ0DuFKmIAGNEd/oQY0Y4uKyxiq4pFF6E+I8gKfziYgzk9ylItwciJDLjUSA2xgRiwZZQ2aGKT5tfSnlLIhS1pQhWqNlNC/IeMPk1qs9wBgqL+AV4o8IFllEpVZmVtpkX/IAGknrWAqnqVUHzioEKTVIAchMCh2/mqWm2EAy8VoQr0HJcfUGDMJuZnrXiV0E9i185xWmpKK8rBEazgqLwatj5cSQgOPtJL6CGAMpb5kexAeNjKJqdXyAtNEZrqSAT5wC2IkZoTHsVTy5q2OHjgEVgOUoCE3hBBnSrBaWdLIXZkEIl3qAIPfNAEYNL2t/W5QRJQ8toqDGxd1gOucr3DA0f1RoMIKpkPboCDTy73usfh0LogacBxnc2VusMQdsdLHBH0RFfMOd9fedAEHDCIScAhr3zTEqokDIy4qHNsD0owMGGuaL4AZsgQESKEJMQrcZ4FbWNMOboAz7chNhDB/12oW4GKegy2PJDttbQAhD+9CFIO7mh/iPqx3O62t0xq1op6mIMr+CTEEbUvOz6WpONmJb6vel9OgSAHGIsYAQLw58Giq5DpVvdas0OADXrQNB8XlLpeUMnBvPtZvIX3WnhjcpR06uR9xih2tZHXetv73rSU7Vc2wXGXrWkEsflACwXAwLf0y98/Peu/zfrRAkTAgzHVYc36VJARXGiFKnC2WAkW24JbB+JmiUABUCCArUoDaHiOMj+KOgITXGukKqRFzdlCwgd28AMqEIC6PBCAFqzgIpuYeSGiqbQs+YIpqEoVYj6Iww6U8AQp9GEFPsCe63SFhBxQ5gZzAEJoZP8dyoOm0khZ3eorIWaCKeygD32IwhP6EIGwQKrYPcDDimTiQmaDcj4Z6XRZz5qDh+4rBwqYwg/KUOowDGEI3K6IEWKDsrTM4HXmpmQTwHLbEdGGrjCyK79y4AAdRKEPO9gBvn8QhR/82gmMPsi/lRbwSfIgNBaAK4FqAM3ADraw+7rBHg4QcR3oYAdTGIIOLtAHi4/hCEm4WYe9AOqOT3GUh6pCIAeEgbREFj7F5lcPHHDtH7jc4lHYARR0IAWKT0EGbY3MT3xuyBfmQAM9CBl6aKMW0ZKWX0bQtQ4OAIWIS2HbfVACxK+thB9EgAU8Ki3Xy6iFLuABUjcQyHRM9L7/sd3ABNhOvOIXr4Ql6CALfciACF6kalYzxNUHgbXe987AeeqGOWE0POIXT/rE/8DXT/jBDjIQbJbsdobGfkmyl815GMr0L3Lik5mPdvjSl14HU+jDAbTNBR1w29sxMra461Lu2otQTrlhghHiIljR+570S7C40yEOhXvne0P8fpkN/r155wsQCFWowF9+6Sn3Wv/6it+BDpbwcChQ4QA1r/jFM040HnDc/BbkE0xwaE2RRfwBFmnFe6MHf9gmc0sgdcD3BDE3czXXBzeXcy4EBDwHgBYUEzlweyKRJEfQBALwI3OwEArIgIrnAUpwAKrXB1CQbRBYdVFwdVnHIcnD/4ELhCg4gCROQRjuhwMIYFLvp4JYYHwy1wdDoARvh21yF3FxZ3d45346uEAWggRCMCQjUTqR03sq+IWK13iPF3mTl2qr1moHkXlrUYWEcxArcgTBEhIV1nMpCIZ2WHOop3qsJ2yvB26yp2yUxYZj4xNGUCc8IGT9wBxM1oULeIcMCHzCR3zG120+kXzhNm4wEkuCmDe68joJsQ7/MADAFIh544WOyIDZV3PGJ3XeFwH6Fn7+BnCbmDfG80KKIVLpwAAYMF2aODimeIrXJ3/0B4P3l38WtwIY12Abh4KzODZU0gM1USUWNg7jwhYJSDi/CIyl54AQOAUSKHM0Z3M4p/9zGkiHzbhwWLEdn1UFLYAOEhQ1W1c42aiNpMeCLnhtMRh1U0eDNpgfOHiOY3MVs9MeLyF25ZBDR/BC17g380iPiXeESoiETAh3T0h3Uph3AHk0BxEC1mM91OUH0+gN1lI7DemQjiiGkCd5lHeGl5eGChRrGYku2wGK46AsylOSJnmHp9cHqbd6rTdssHdss0eKMcksjwIErCQOvrE8OJmTXwiJw/cExXd8lQhuy0duvViU11I8AgCC3OAGFOA9TemUqKh9q9h9+OaK4HcD/TZ+sqiV2HIVaqQR4MA4YtmIZHmHwlh/xUhxx5iMILaMcJktN8YSQUCA2uAz3zOWeen/e9w4dd44geFogeOYgRs4mNeCFlxhBF6JDQZhjr6Il40Jhvb4gvk4g1aHdf4Yj5jJLDHyOnThQNtQABaAAObFlKI5mgwIkUm4hE0Yd3MXhXeHka2ZmbrnA+JUDSLTVuXHiLr5nHHneCk5eZP3NTGRPz8hYTBZnDYSZtlQAAoyVbgJnc+5kz2ZAe41JrLiBQJgjXwSO/PBnTaiF9iAAaJ4BUewUiSZm+TpkFApiUsQAXhSfV+CFdbDjPI5ITggZ9cQBIciAgl5l/3ZmKm4fVInd09gADDgBGM0GtUHTKCZoNyRAwxQcNMQLEnwUNa1nxOal3tJjPjXB3DgdAYQAMbj/0TtFqIimhxjhCDU8A4M4gNdFZ83yZ8teoqPGYFSsAMHkAU6AAU/kAAw4BWjtSIIuqOIFRQkFg0VsC6q9h4rSjuMeaSk2YKm6XI68AAwuARKAAdS6gdNsBifg6X2cSFws6XOgBFiwwNMojIsSqYmyZsSSQVDIHUuCAX69wM1yhZESafckRWOInLQYJMLNKaASpZUIIM7oKESlgQAMxpckSva2ZxYyhgNUQQM6gyzUUGWeqk5aXFU8HRLIKXbMSN+gAdEmFjw6ajE0RhG8GzNQAR3ValG6qqNKX/XFpw7kAABwBJzwCAFemNXyquacRBJ2Qxkx6rFaqxkuQMPt4ouh/9vHqChXSBYHio2IMqrwmEZfIoDd5QMILAApFqk3DqhZPCA2dYHaxd31zYEGgoWDLFkOaquwbEQ22EDwsIMvTGv9Fqv5PmAO7AEHhAFOmBx8qcDShBxGkqljTM8BPsY2JQDscEjiIgMRAAqFtSqDnuKFfutShCDP+B4D9cHbCAFbgoDcCqnH5sYVAIWMJJuyVAV2BGm9aOyK6uNbdcHU+B4pAZxxqd9i6ofO5sYiFGIPlCyxUABYOQ62nq0R5upUbepMNCpn1qI2ZMaHMKwWil4xyAkeCAEXEasXruysCqrtOoHtoqr7skiRJqgRoEMRbBaG9K1c1uvyIptULiszWr/A88KsFZgoFy7oz0Ykr4gGNPETWobOkZbuC76rU6rA+JKrubKIejaGFjaEHgaDBSgWi7JQJvLuU55r9f2rfiXsUr4r9uBo62DpS60acSwD2lhSn9CuLB7qRArsRRrsS6XsWLLsVaKpaBiBVjrC3ZZiE1gF8RbvGTasvr6sjUns9hWszebsxqCpfEjAAOgfsEgJE6APZDTtwL0utrrlEm7tC+nvBWoqAHAqLxbiDeQurxAqTEkv/M7oWCrsWNrBJ7qXmYrqmkLkNWlEMgCDKgkRQRcwORZtxU7qzBQq2yht4bxngV2jtYzRB8IDBgwO0B0wRj8nIerrMzqrNAKM5A7/61VSF1A0AQGpr68oBIp9kMs3MKj6a36+rmhCwPl2kSkayU6uncUhEtC4Aa+MACTYcHbKsSXKrv5uq+2668wALC628Rc9xLrsh08vAtFMKdAfMVYTKbHO7EV+7nMu7GB0rE2rIMLIhTCBSCaUgBwa8VtPLfci7EwC740a7NvGqfl24w9ywMvIwbAigtMYF5iLKGBzLn1y7T4C7X7K7Wz+EnZAwTDogsAwhV3nL2XLMQHLLZky8BcgQM/QipCMCocCMCzELjTNUVBnMpkqsExe7d5awROIBN/QhlqXHszhgsroVqAzMtY/MKJG8OMSyOu0xDKtpCclwRnTAvx4DbYHP9Cu+zME0rE4Aq6fTCuSFx9PoAo3oQEOWh+Q2cLBWBKntTM4ozBWky7/Hq7X6whRbYgldxlOZB+tnASPtQj9nzP8/vGySvHGssHaNIDoxI2OogHkjoLAyACOZAEdTAUCa3QxTvI3huzDhe+UqADE/AG7JK5siYrtuwKRJAd1BUjHw3S85vJ9+u0iNsHHPAGIkCF5pcDC0BrsjCSchTONu2w8pcFSzoBDjA7dCEUYJGQTuATkEKEXZYVu0MLAmxGSJ3U9foE1/YEURAFIxAHx4YEsCwTYPETUL1mZ3UDBxYLXV1GXw3WrupwMcuTShAFSkADcSAACoIVSLBGY5Kia/b/IDZw0a7wH3x013h9qTtABUvga31wAUy6BC7w1LPTOjjwtiyBS1ltUjYQya3AAIYE2ZF9pDvwBPSHsfhW0kyY0hgiWM11nYDGOU7wXLBQAanNxqtdvFmgf8b3gE7n1xC3BBNgAhyGPM+iYU7GI2JzBKnaChSA2o8N3MGNyYi7BBAXBVTwADsQBix3bTvAAQpwA6wmAu8MY2yhZFv9CkVwSKq93RmsA3AQrtpHBXQXd7H9AxygBoUtXl3WQku2BaadCgbx2/Zt30vd1E/tRVIdwVWtO1Tiak2SPwHtUSxBXXLtCkjB0imr3Q2eymLNk2V91mm91u3n1oaBGCyy4R41/yt3wRDTewpFYARzwOAlvtp67d1P0Nd/HdiDPUOG3ROtcxAvhFSGxbp8WmGt4GnfrMsk3uNtPNmVjW2YfQCazdn7wSOgbQNA9izSJuMQ9Tlq3RAJXgpCIknZbeWR3dqvrQSx/XCz/Qa1fQS3rSvWsyIpZuYFxUS3BB9NYKKoUFbxw+NwntTDbXHFTWoO94TKzdx9/txy4UKhCugEpWzvsUIvPQoVkHWKvuggHYPJ/d3hPd7lDXHord4CwN54414hoCiavk8lcCVgkQQCQNSnAD0xMuU1TerO7HT5Dbr73d90rq8ALuAl6EJzkQJJkFyH9TguyRU3LgpMMNMijsrC3v/j8kcFEI4ESPACKcAa26FsVn3hlXXtoVAAQNYWo97tPf4DTxDHUfAFI4AGL/AC7CUAw9ziF/Pih5U+gIEQVnAC8S7vDS4FDwcHjqcDHvAEgD0aPZAmhS1Yh03geWUD2zwKICB9KXXMXl3lCi/OPzAES4BvvtZ4fr3Z75OiYJ7kom1YTkC5n1AFaaJkp7zCJF/yvJzfFOdyShhx9MbTCoBLtv001FRZ1U0KRMAgqkbfPe/zlzwF+sd9yBqrZL0Dy93c/wXdhkUBiCkKA2ATXjBJ9U31c7sDZPByyBp1GfvwFHve6b3e7b1WZtWZnzAAVdBe4lbrlqz2221xcKAETyv/BUNAcXG3pPhXsQE+4JWl5qagOWD0IlIv+IL/4Fwf4VG9IhSe7ljtUQLQ9KGQ40UTFzu/xpgv+CdO1maN1i+h1kLA1lH91h7FIK1VCkVAZueb8Ksv7D/O134N2IINTEaO8UjOUht9wqOwARggWLGhEL7/+6SO5Za95V0u7l/+2TLfUgux5pzABKvlA1awW9NP/VYu5xSb7LItBbSNEHqu9MAeTzOCBx3vCRsgsPOhBfMPCH6Cg4SFhoeIiYqLjIg3Jn2RkpOUlZaXmJmam5ydnp+goaJZUT99On1LOz86UUp9O0sTJlpANj45fiWNvL2+v8DBiTc3A3/HyMnKy8zN/0FCfjZneDw2wtfY2YqPot3e3+Dh4uOZUJGxsFFUDzthBzs7sBwKN1YCIj7a+vv8wFY4TogUaUawYDMmN3j0AOLDCI9+ECMOg0SuosWLGDNuYgVHh44hpn5QifdKyZBTPzioQSIAmsSXMLNdQWKNicGbBoMEickzJjeNQIMKHXox3pQ+WKI0EGGjhw8etnAAuSGEWDQbOHpqlZijRw4kFXCKZUZkq1l+P4mqXcu2LSUwfX4MQTWFQI8btprcOCJIQI8mPaydHZyNRw4BSIiMXYyMAuHHwdK6nUy5sjgdB3QoQfUFVpsGPZzYEHLLSQ8cQqbyhcyal48bOWzYZLy4QP/r24skW97Nu3emKKfMwTm5REoDvn9t5LjRY0E03NAP2QAg5AgRCrTH2o7OXZBu3+DDU0Yld9IPLDpU9SGQFUk0IThwNOnevUmOEDySzM5uEMR2+tB9J96ABAYFhRnxwLJKJFHsgIoOO6hwQxM8GOFHbAByZwMefnhhDH8GFZFPhrgJWOCJKIoz1wFzLfHgAUrEAw88P6igHA9HaEEidHqchsB+IDrz0I6tmZjikUh6EgUUqCzByjt9KAFcXJpRAVIDOChHZGs4GOFUMUEWhIFgWz5mZJJopumNUUgpxZRTUGE1VVU3XJVVmfzYYINoPhDxYZjLMDAfnoSdqeahiG7/ApdcdNmFlw16reYXYGQSqg0QeNziFQaAMoOBe5aeZWiipJZ6Smab9dHZDp+FNlppp6W2V6jaOAEECz7wVUWnylAwABC0mjWqqcQeCpwOwhFnHHJNKMecc5UGCwxUAsR2g2K8IlMBftJqNWyx4KZI3kmSnJdePOz54d5o8Q3abTA5HPEUEAVkiwwIOSTxLk/fhuvvgAcmSCODDp4S4YQVXhjtvo1MCBAOAlhg7zE73cmwRP3+q3FvK7b4YowK0mhjDjjqeHEveDThZQ54MDDxH0EYdjLGFG1sM4pLNvkkSVOyooSVP2Cp5cyN5FJdNFX8yesArxENUcY3R10gm0kt/9XUvHJSZZWeFjsdxMREYOg0WjVLbfahi87VR1135TWrH5MGNvYgX9tLAQ4azL0P1Gf3vRtmmnHmGWiikeaDaaippnfdvG5QwD1668O335RTdmyyqSzrR3LLNffc3Ix3GkQuI0aOzeSVp07UuOahp16668In3+J2+6BFCKZng7rqvGsU8DkL9tHggwdTaKHYY4cOKBOxrZa7MLv3Ln1FHaf3sYwz1nhjjrRnS0QIRwD7PPRlT28+WzmnsnOUPVd5ZZa5gG5vEDjw0PX4vkR//v5BUe3m1XGSitbqxDVLBQFbnaoAD0KwMPw1rHz8iyBv0taotkHqbXFrIJEQCCgQyP9Hgw7cBgQlSEK3AC5Vq2pV4WCVuLcRioNhGgAexBfC/I2whDhcy+X6MJzMHWdzzeoctEIFwyBVwAYnKF0NH5jDJrKFdeVyHbra8552ETFbBUjIEm3oxC4O5XcKMoXwCgYhCRlPYVfsVAGYkIQbmGyLjNCfF+eYieq56FQgm9EqRlayNC4PCTkgGRyZSMdCViR9TsIMzyLhM6AJLX4v5FUWCzjI3NzQkJjUiP+WIggt7MUGN2hKEo6QJUHo6zZF5M8ksVJJS2bylUSh4NoIgAcjAMEIFgICDgLpBxzg4Sm4SWV2Vnm/VhZCjrBMJiZOKLgn6AAC8amFFeyXBCQsgJT/kGSNMGlDTGNORJngxMgO4QCHWPwgArFxQhLwwEscKREy22RMN715CGSG855QjIQOpNAHKvQBChngUIWcEBsatiaetQklK+lpCHveE5xgpNEU2CSSIaxgcznIQ1dAaBaEakehxWSoQx+aTDuiop9PcEV6lhCJCIjgPp4MpiRBytCGXpKkOP0Nk9SHGSno4AdR+MgP4NGgJURACxzt6EwpWdNBjDSnUJXER55AhVZkQAJGwMENLFQn2PjhBg2xgS5fUi810rSpTr1pVNcKClVEYQoQGgIVZDAhEeirB3DDBRL4AsqXeFQs80TrV9XK1sJuwkEXWFsfniBGGWTpCL+0/0E1mFONU0YEAwMBVGDR+lTDPlQHHogLLOKyBA9ISQamiUYSvJKlTMEESCDabFM769l7guEJE+1DGMToTCzsIAJz6JAPhOADJHALYy7T7FkFS9vaKvMoQ3DQAYCDBVigYgjvWIEInCAAIByhCSGVHGxVuVzOEta56D1FFE7CjlLMiElTsIMBAuAwPBzBJRLpwV9vItuaNje9mYzRDpQgBShshgpPgEJQDQADJMAGNkbQU50kkoSwKJep5gUwgNHTB7UNgcBPiMQr4HGA6s43B0LIZk+KAAKzYni259UwTk17gKH+c4xMkgJQh5AA+uIAAaU0i/JiW14Yyxi9LdoBfP9xO5fEmmIMTQBAPgRA0PC+RGlB6q9IY3zkcDpoCcCBAhUOEJdS9GEFToAPD1LcEgFYWSLYcfFCmcvlLivTSVSCBRSGcJIIIKEHRnBwYGw5hyBvZcjkfbF/62xnWOrgKNN9AhdQEQEcJCE2gATCV3yQBKYkFSJYJrKit9xoz/6An4zdQQZ8MAc98cAHOEDCQ2wgASGobDDjTfScM1xqtirBRVnoQwZEkBABaMEeX60TZKMi2bOEmj9FSMhWBesdRvf6fBz2MIhFrKAonZMFWJkwgPZ7Eybgwc14pfZ/r30zGtvYHA3KMVCn4Fgn+MEIOXgnd8htkALsyQYCoPZg2V3/yCQveQpNFu0YjpAEpAIBCF74NDx5RQSAu5DXBPfil8M85jKbAs2kwdAMeKCFIY17aSKohYoXnfE54pkVeuZzH/wMaAdfgUM2GLm46cPvghSgCIEJuLqt3XLVPboPkZ70zC2N6a78Mt/VMGh3ei4m97gL40Vv4qkXO9RVt1qysAZkYG4wByAQlERUJ0gQqCFxOK4768X6tQ6CPexiHzvgxLCGNR6yHLRnqwh6EvjA4V65bF9321HqthK+He6LlbVTgG+724lOeFO5Ox7wVvI+513ve+fb8X8PvMDfXnnxGPzRTNaBk/uw8IaLFeKS31HamxF5wZO+9ODZ+D87DtSP/6dZOdYYeckZFoTHA6r2o6c87g/1clQoWeY0D/QNbh4NnRPfXsgf+vLPdvSkU5rpNhD7058i1uuHPvZLvP32ebP1VHvd1WHfKNnNvnJaIRpE2afz+qUmd7oTmwfGhmx59xx8t3PScn/8AQJVkFXJt3+HYngdhngjRhKMp1WRUyE+AAQ9wAM3kGtG1ANCp38OqCaXd2Pxtnlv1Xn4pm8zI1l4cAbWIAQIyB9H5DxYN4JHcnpTkHqr13oOB3uRgwM6cmmBsQETMzroF0Lqh4PjoHtiRma9d2a/J3IkZ3Jj8xRW4ANYkQMeCCJMEIIiyIRH0nwx12d/Jn3Ul3MceIFTsf9XOYABRmgvDPB52ieGR9J9USBp33dp4ed0uEB+Ukc0fjEV8pFZ9jIAyHODdlgg7dd1rAZ/sSZ/ZXd2evMQOjIDRmCI2cIEBWCFRraIKNJ/wvZ/AYh3oUSAF2KATsOBXeEHXWhElqWIoEgU8KBPi8dSAqYqFBgB4GaBxpQDzrFafrArL0ME6RaGs6gWO+BMjAVXDtJx/sRP9AYQnseCSxQYDCECODCDXqiKpJaMa0FgNQYHkfAE/LRYWDASEcBwPxhx3lQtCeEDFRBnE8MA3khPSwiOHbYDVOBbJ6EO5LIDK6BQVDh8xqQneoIHrxgkTGB7yqePobAZ5Ehg0cUKQ6D/Am7mB22UhtZnTEBGE0DwbJCHAQ0IkUNRYD4jBfCgAwQwXLngBHjQA+MXdd5kBMRADJzyMsdQFnVokkHhIh6QUnPRAH6ggQJQJ0glifTnTUiQKQmxkFlWkj4JFD8lCSpgafkBBA9BExiyd6noTfmSA7FGjDr5H7I4lZxQi6eweNflEdEVD6xAADRhP4J3CPaDbxsAlbEllWjpCcuoA80IIaaQBXDJT1BgF1rQI8dVl4SAAz5wGhKjkzvJl33JCeL4A+S4WKhwAFIQVEHTS0U5Q3DDmIVQQJr4MgWwE8hYmZsQXf24A/8oF+RCALERcGKZVQhwjKTZS3chBGQpmap5/5asaQkSGSVSEF2SIJfxMRqhdASBFAKgspsK80vGp5PB+YnDuQkoqRkqCQ/skWI3AD+75AS4YHbSKQjACARFoJdBcp0sl52bAJRCqQOg4QekJFmxUXahlC+kcZ69dGmztxg6sZrwaQlVGQlXeWmh5AQPFg1HoHen6J+BkQPcuDS2IFn140352GVqqRkwNxcfUYtxOZdv5p+GIATwYWGSiQwFsABZEica+pDL95eBuSCEGReGiZiK6Ykmqgi6xAQksKLJ0AKchhU8wCHGtKEydpmZ6UxI15k/RZRZgSnAAoY9qghaWJ0rygRbqCkxWpmu6Y/CI5uRQJsAdyFd8mO6ef+liZAVp7mibkABWDEH/ZmkMop7xUmRCbIeSLCcVWEDznkf0cmmiXBfOSmkyFAEOHAFN7CYlaSkGradBDYj37kc4pkD5JkD5kmoipAETVChmwhrWqAFJYo/kApg8rle9IlX92kYNqCfypEEdcqpiIADMdBiiIoMRFAF1mCTX9qXB9oHCboce9KggAqhSXieOCCSW0oTfmBvdsqEHcqWHeaWIsqSJEqr4pWrysAAeDU0rXSqXsaMP+CMg1mY/6SjPeCo2ioMBaCliEoEC6Av91hD4gpOTFqOmwmlnzmlomml7QoM8IqoRbABuWAh0TqCYQqbYypz61GbaIqbaxqwvwD/qi/DBLjAo1t0r8qUp8e5p8qZJX8aqNBJsdcwsIhaADaZrGPDsckkqd25A5UansoxnuUJrSZbsYfKrcjAAPlQr0p4p0eWqkPJqi+an1MRq7Oas71gscVYBRM7eTgYrMO6oMb6oNEQoUzrC057sV/1q9dmkQJzCtUaonCJrRi6tfogFSVgk05QBG/Ks39QADMAsBsrtDgFBbgVCUxyrjiarj2QmOuqsWr7C5I1iLIht8wwAAWAs4+Ktw9VVaGlBFOQh/vqmVIamlVauNngHuHpBwqpuMxgAaU6Pi4rQUOwBE9AHD8ABWT6sGd6m2rKudggL5tjA1XQtTpZBFc3SKcb/0GYgV0OUgYg26ci25zPOai0+wtZQay6q5MUwABg22tjVos/pQoze6mZuqnLCwxNIAQCUAI2oKKiqwzuKbXsNmAQwkj12apIu5+yyrLLiwfE4AMDEIflqwxFML2lJldOMg+2QqwM2nfHmrXyu7x6IQg7m7/IsAFVEEg9gAS4kH6Q60TI4gGmQC6Z0WGpsAMTNQEKYLsI270wYW84cAQxwMDMoEC1QBoLALRz87tS8wSZgR5hcBIxogp76gIdAEhfBYAk7BN+wANFQI8qrKsPmoEPQbiRI8Nmw1Kp4E9K8AQ7ACNLwMN4JQRaEHBHwMRBXCt1sgVHvAxMICJy48V64//EN6MDaYAsQyUjx9kHsyAAnKYybVQN9ffF+sAhIcCecvsrIQAffmGvFZxD1rO+F+BPOzABHZAEMsMD7iGWyuEcehwRWolZY7wM6+lJU0rInqUZQ3As+8QBHeBmCKAXYIUDIjAVz2q3lVwYAvCbmcyiQwwbyvs8ahw18QBaE/AGExoCp0EVONIh0ZChr9wPWIGyR0wBESYaMNyyhYxDQ7BnTzACbzAHsXHCpbQctjADfkCqSVC6x9wLFEq+s3wMFNCJNuhAuZwmF5zBkbDBxOHBixzC+TDC4/wSQOBJXrUhfhC35zwA0JAD3hy0sETDOmDDOBwLatkHPOzDxZbPMaH/BY8ZntVgAwxgxOeMDMUHZHncxNFcOVC8BFJMxVaMxX6gxVyMxhJ9Oj1wBVBhqea80cjAPCcgzjPTzknCxm5cizsQx3Ncx0Zwx+Da0k+TEF2QBBeaXDStDAMgAAhwwMGi00hyyPGQyLDAyI6cC5CMppNs1FwhFUnAQEQsy039B1vAqyztNFR9hyYhylJAyqaMyrC2ynXCXWAtEYZhCzThx0cMAqLhycm0yx7Qy78czEIwzF5QzGud174gYZJlA4x71syQl8/M1iHdN9M8BNV8zdl8n6nYzd9saTjt2I2QKVkCG8rc1PvrWsvhRoGY05ldKu/MwUh3XR38wfZ8b6b9/xhsliVE4NdjHL2uplVO8UbQLEEIrdBRwtA73MO5ENG9PRhIoBdAIAIzTdnJUAFapak8cAV3AdIlNNIlXcW/htIqbZ+NPd1ooQFIQBpmrd09qydAkARdwIGXLS1tPRk87bo+DdQmQMeeOtQJUdTs3ROBpJVMwKzaXQVFUA0hoNS7JN7A6yKIrMha/ciRDD+UfOBaIQYCMANAEKBHzKUgKUgUzj+gDNdy/WN0rcqsjNcerhX20QQDkN3yzaIDENkKleIRRNiGrRzArFWJzReLbaQzrhU+QL8LnOPLUADE2lo+fj6b3dnYjBWgzc05N9rhnOQ9UQsUgONOfgwDQARmN/+AaTzb4lHbGozbqqDbIuzl3BEbAD3muspKeDHlNrPcOnDDza3DkvDQ0Q3Ecg4dPBAETG3nzFB8NpBVYqDnN0PeUWLS590BWbzF6l3o0JEYit5vuZCImM19bezfcHwSQT3gRP3Rmm4WTCDc2q0TCwrpGmPVfYDVi9zIGu7VwLjqt7HanQ4zCACaac59b30Ko1zKLl6/MH7XrszrWnFAv24QjtO2sr4xQO7LQo7Yis3Yzg4Zz+vkA8CAw242VW7NV67N1qDl3gzOpd3t+6AT0X4TAxAEBaR3OYDc3bLfnBBiP5AqwaqSpnABHPAGmdIEsejut2Gpr3YD3z7mJAk34dz/FSGwCwyj75lwdKvAUhZ5EsTRBwbgABogyV+L8AFiwjxQBbga7wZRAxUQYfgdArZyMRaPCXPxBUH1VkMAF2WwWFywBjDQA0yBIXRI8gkPgtXg6p0+7997A7lpuxWv5kLBKB1xDnIBDwzWJSHwnLEhjER/GwH3cFVA4mOeReEJKlFLKzN/CamyA1EQWj6lAz5/Jy4KBNWiacbc9azBEE2wBb6u8slw4/hRs1IdIFDfPy7iIBCiA/OV9QhQHTagBxfiB2KQEL2L99R9C/Ht9wVBBHVSIQwh84UPFAewgw+AGQkAA1+VKcrRA0bepZFv+ZCRA0YwAE2u+T6nqD0O+qUi/wWl32MakCUUbUH+/KCvWgJnD/s9kRW1b/s+p1VHkN9botP87u9i1AcAnxk9BkpCgKTIDx3A5/i4YwNBwODMvwxl7gespuqEkssY/wMa/xEcnwoeHwDV1Evt3v0x8XliqYG7AAgYf4OEhYaHiImKi4yNjEUMQj1+lJWWl5iZmpucnZk3Jn2io6SlpqeoqalDOl9ROlFTQ2B9ZX1PXGswSDd+NjZCTb2exMXGx8jJysvMzc7ENn4hOTc4TTwVNY7b3N3e3ExJfk7P5c6gqunq66g/rHA6ojvuOzsGMDhGPjk+NkBAOKKZG0iwoMGDCJcJyZHDj48ePgoM+EaxokVHFf8G5BCXsKMldOxCikSlJN6OKB76SNGhQxcOSguMNOkhwUeTIzw86tzJs2fPIzhu+OABhAeTi0iTJmXSzydCkCOjjtyxRMcOllcNBJiGQMgRGzdsaMlBFM8Rp2jTql27yR+OHkB6VCmgtK5dbhYK5GRbDqrUv+oOTHnyQMeBBDD83MDzK0ePr15wCAnBw4cVvpgzazYYokeToVXu3B1NOlGVIJuZ+QXMGpWUwgkCaAio5eENIL/8COiBY46Pt6mDCx/eqQQPHDnoll7OnAhZGzmA7BNIHNPq1uqe9PlRso+OH6OkzDugIzZYIXiqq1/P/pOfJEWKMJ9PukARh0Js5KP/3v46dlQ6TNHHPEtsp8MQQ/SRYIFaJYGEHzi81N6EFAq3AFBAVEDfhndtgdoNSQiBgwAV+vefKay4AosstNiCiy68+AKMMBXWaONaAgjhwwBBcOijUnpV8luJoZyYjjs6wCMPPfbgow8//gDE341UVokQAkAQQcGPXF5kAQNhvTTleiYaOUp3J6W0Ukv4wCQTTTbhZOWcdBKUgyBd5kkRBnrZABGRZqpClVVY6aAVV16BJRZZQJhV56OQJgMEBvLpaWk3FNzwVUMUlhmoYIQZhphijEH3mA2RTVbZZZG26qomFRBx6azbBFGFYpN0WmSgrsEmG2224RbNbr39luur/8i6GsRRtDbLCAa3JsGYH9TcoAUQxHnKjnbcxfNdeOOVF8B56SVr7rmUTAMEP37g6ey7iRTQRBK/HHcDRFpku6tUAQ74Q4E/HJjggn00+GCE6CaM7BHUOJFPFczCK3EhdxTA2w3R8XBFD8MIp206Kb4Syyy13JLLLr38EkzHCrdc5w08HAHEAG5MbHMhGMTwCxBJdMHDDSyn9rEqSCrp7xD13JPPPv38E5DLUM8J3RFO+BDxzTdTUAQPNoSQBECcerxvVGiipBJLLrk5U0037RX12zVGZ4UTW0yE9d1M2ICEP2RVN3Qqg15F6KE5dPVVWGOVdRbcjE/ow4NMtHD35P8S2cB1WGNq9jcqoBZ2WGKLNXZqqpRZ1vjp6+VgAwVVTO56AUyEaUO5Yrf2mriziRVsbsT6BhzqwHucnOvEV0BBEk4Ao68pVID3w1VY9BHFEAEXiDR55t2AXvDcr/eL3k3kIEITfhhPPPFBENEDOcuXkmA8fVzQxxJksCSKHQgaDKGE3fcvHGUB8cEccGO+8xGPAUZwwhzaV4qrxGIHoqACBBU0BK3ESGU08p8GNdMDYORrGlXYkgGJNwAMIIeBZ+LODsIQsHpE4QdR0EW+mBalp23whmzJjYSCIMIREq8IQQhbcK7zAy4ETAoDY0UGEkMUK7yJbXLCoRTRcoONFeX/BrLyoQExwAQUiuIJ9XAeeVbAgnFoSnWIY5SjpshGnjAEAV8hAh20OEIPDYeIA9KBEn4QgR4kgWuKcUhASLeqNhrSI9MSQhDsRkcDoqZ2DTRQBCLkA4f4AQk+EBElemesQ3ryIDBDAhEq1UhHYgAYORDGgzAThx0oYQdTOMAesbCCCO3mk7jUCXSA8ZUQUOIG6SulFplAgegIAQhBS0sT3iAKKARMBysAQD78gAABuC2X2LRTJXOAg7iUAAdEYKQwR5g+ogQDMz7owBME1Icx9AIHIdAk/7JJz3JEYxrVuIYTlDNOLRKhCkQRolqAoAYo9GEFNnDCDYwQs8vlYHH1/4woMxbSkIf8Boj9bCQRnCMEzNjABDKwwREQQC+ivOQ2OeioRFeaDKAIhShGcVdGtcjDzDkFBzmhBg4UCIQZUIIoSBAoS4fKCbfARS78nCkdmYABzDDEBzcgRyZ9gKWXrA9bRM0qJzrzGR6ERqnjfGQO3wIQ7eEhqL/5Cli0ylZNGAcHTEgqWOm4gQL4AjkBoV1b9+pR1SXKl0eASFzn2k8QFCEHVbNBE2zK18b2hF3c9GYPEFCEqxG2lBsIQjdVN0/HerYn99TpNXxQBJleVphaO+Y+PsvanlDUIRCBq2VPK8wqFGGnnW2tbg3i0qEUZbC0VSoFgsjY3Rq3GUaNy/9cgjvXDdznuNAdCFdBIxrmzhUEdo2udp3xVuBat7kVsCYlcqCF4m53t7v8qx8CazW5flepQWiqBPjBzfPal1rb7GYPSjDZyr6XthADixasYN77fja0+axMaf8b3CDYlTcFNrBjX2tR2TKYuVWoQBGSIFQJ67a3MPXuhYNLqQh7eK/JReqI31uBLp74uNP1anVX/N3Mvvi43XUvjYNbABNa8sZZ7VoHMYaHXoQAdlvY8YWJUIFqKMbEQG6j5X5xBdVxrYBKvrBEgOCwSkZZovrp6GQvGYMNZJnGG6ADA77M0r1poZtHEAIRenTmHWOACGyW6Gd+aoMgkLLONB5lnuv/mYM5+BKL4gQ0jQsg1kHjUgTrSt8cFX3mIDTa0YdcbAgprWgiMGFrfjACMAKCBBHlYJWYfltOnEAvuIiDh5zmdHx9IAI/aOGPuDLCsVINNXEI4DaWK8AoYx3rTwtABAH0QjV4YARev+0lOIjJDYqQaGIregNMwHNYwjKHezk7anvLgQBsMIAZW5vYTAhvD0SAWB6Q6NsuC11c/3xuYnPRCL3QdW7hba4mCIECPax3vSlAhAIAB8r8plNEdCxwaw+ACAKYVsLRZWkGNPzihJAIEYLyldoYQa8TV096ewmhbfMgBwygN8YvHtcQ0CgoHAs5eyCr3xJUQw42KMKcV85z/0JgIH2UKAEQroBwmacFwdbgQU6aMIAk9/zpg2AAE7hJDlQbfTgUjq1sLQ71rrsBiL++unpAXJQcfL3raCcED8knduKkeC50TnvaCwCxtg8nxl+Vu94HkdlL2x0zxoEdw/fedQpsoZLItNxCw2QEjvxdGUDQAtAaMjt/iCGh+YhQOAdPeLQzIQgb8MG4RRrzojyeGbXhGE5/ATTkRKMERoBd52dvCAwMoArIyQ9jznl6ZdzrCgGtRr4VgwCJmJb2tLd0D/CAg30ApcO97wTQeNCFr/3CYdCxtJmRz/1CaMk5ELKBqKOPjMgmIQSKx00BGN399hvCuQUQyALJf4yT4/8m3BuNu/v3PwgtFYHL9GcMrDdlAyAR/HeAhuBpeBaAxMAYAXEDIoaAEvgHmTUAyTMMX5EEPUAZvoRVzqYFQvcQNlBJlod5RnBSTVAFwzaBLEgIKhgEC3Ab4fMSTrAuPANvORACTnAW3QQW1aA6fgB7pbV+LViEhTAAIMAEP1NfxzEDtAZvftIZ1CJqw3cDxVdCRpiFhpA+RZBAQREUXoaDVrg3P4N9OaB9WpiGhlAABCcAJeAHk8B2zqYfrZcTPbh++qeGevgHNZBtqNED+QJvfyQENxACQJN/e5iIh1AEEON4vDYiinUDsWKAiliJhlAFPOJ3eRYNRuBg1WaJoDj/CMMVBD0gbsPQfLAFVXoDU+8WZGIiAg+SBFalH92Wc8TEdaGYi4cwF/+EAxy2LtjXUVAiIriWVUjAbEhAdA2BBDWYE0bgaceni9JYCEzwaX5QLgmEBE7DEOOwbxG1Sx3UAwIQEMjxT0UQcNOYjofABJgYBFOmGNwUFtxUdIbEEFVmBPhUBBVQANunjv64CMPFVCBCIjgwA18BUUMVEDkAAFpwB542W/8YkaYxZ0wgAGJAUdBXTz9DbTEgORL5kdzAAHRQAAwQj1kVBPsYjSC5ks9SBRvwcytlaZbGkjRpEQUHMV+BJUBzST4gDtwUFECDBF+IMb5ACdHgbpURENek/xb3Ui8L8GvDEg355gTUwFBrpVjRAITAZB/UVpNeiRQWYGkl9GQcczEYox8+MB1hsS4gEiE5ARc8oAXMlhn7gBxxATQ3oI3UcBxFSS29MAk3IAI8MABMFR9feZh2MQBFUAD7SAcnBFVD4Qf/8GYSwAMcgzFHYC3IdBl4EIZrgQOSdwR/NA3l9T2L9RXvwQ/6QFoDUAEVYAGIGZvLsQEbBUQMhUwaszdUWUk+2RB52ZNn4IFrgRvIEVSSwU1vCCEdhAQ9sADYRpLhJJvSuSEa12IM4ESqpR84FRczgAOb4ieYEW3SoTp6E4VLaFtMwAArOJ3sySV5MZKwwzra01EywYpNk7CUaTEiXiAjXMYArWkfsNaeAuoshOlgn1ZafpVMVAQJTFBC1ZiHAxqhNoNtmfV5MimTB3GhGupgKiehHtpIwrZRIjqiJFqiIzpcsLOYnPehLNqiLvqiMBqjMjqjNFqjNnqjOJqjOrqjPNqjPvqjQBqkQjqkRFqkRnqkSJqkSrqkTNqkTpqjgQAAOw=="/>
  <p:tag name="MIO_HDS" val="True"/>
  <p:tag name="MIO_EK" val="2375"/>
  <p:tag name="MIO_UPDATE" val="True"/>
  <p:tag name="MIO_VERSION" val="30.11.2012 11:40:17"/>
  <p:tag name="MIO_DBID" val="ED9FF2F2-6643-46BA-B685-7D49126FFAFF"/>
</p:tagLst>
</file>

<file path=ppt/tags/tag4.xml><?xml version="1.0" encoding="utf-8"?>
<p:tagLst xmlns:a="http://schemas.openxmlformats.org/drawingml/2006/main" xmlns:r="http://schemas.openxmlformats.org/officeDocument/2006/relationships" xmlns:p="http://schemas.openxmlformats.org/presentationml/2006/main">
  <p:tag name="MIO_USER_INPUT_OPTIONS" val="Public;Internal;Confidential"/>
  <p:tag name="MIO_USER_INPUT_REQUIRED" val="Classification and Control of Information;Please select the level of confidentiality:"/>
</p:tagLst>
</file>

<file path=ppt/tags/tag5.xml><?xml version="1.0" encoding="utf-8"?>
<p:tagLst xmlns:a="http://schemas.openxmlformats.org/drawingml/2006/main" xmlns:r="http://schemas.openxmlformats.org/officeDocument/2006/relationships" xmlns:p="http://schemas.openxmlformats.org/presentationml/2006/main">
  <p:tag name="MIO_USER_INPUT_REQUIRED" val="Sender information;Please enter the sender information:"/>
  <p:tag name="MIO_USER_INPUT_TEXT" val="Text"/>
</p:tagLst>
</file>

<file path=ppt/tags/tag6.xml><?xml version="1.0" encoding="utf-8"?>
<p:tagLst xmlns:a="http://schemas.openxmlformats.org/drawingml/2006/main" xmlns:r="http://schemas.openxmlformats.org/officeDocument/2006/relationships" xmlns:p="http://schemas.openxmlformats.org/presentationml/2006/main">
  <p:tag name="MIO_USER_INPUT_OPTIONS" val="Public;Internal;Confidential"/>
  <p:tag name="MIO_USER_INPUT_REQUIRED" val="Classification and Control of Information;Please select the level of confidentiality:"/>
</p:tagLst>
</file>

<file path=ppt/tags/tag7.xml><?xml version="1.0" encoding="utf-8"?>
<p:tagLst xmlns:a="http://schemas.openxmlformats.org/drawingml/2006/main" xmlns:r="http://schemas.openxmlformats.org/officeDocument/2006/relationships" xmlns:p="http://schemas.openxmlformats.org/presentationml/2006/main">
  <p:tag name="MIO_USER_INPUT_REQUIRED" val="Sender information;Please enter the sender information:"/>
  <p:tag name="MIO_USER_INPUT_TEXT" val="Text"/>
</p:tagLst>
</file>

<file path=ppt/tags/tag8.xml><?xml version="1.0" encoding="utf-8"?>
<p:tagLst xmlns:a="http://schemas.openxmlformats.org/drawingml/2006/main" xmlns:r="http://schemas.openxmlformats.org/officeDocument/2006/relationships" xmlns:p="http://schemas.openxmlformats.org/presentationml/2006/main">
  <p:tag name="MIO_USER_INPUT_OPTIONS" val="Public;Internal;Confidential"/>
  <p:tag name="MIO_USER_INPUT_REQUIRED" val="Classification and Control of Information;Please select the level of confidentiality:"/>
</p:tagLst>
</file>

<file path=ppt/tags/tag9.xml><?xml version="1.0" encoding="utf-8"?>
<p:tagLst xmlns:a="http://schemas.openxmlformats.org/drawingml/2006/main" xmlns:r="http://schemas.openxmlformats.org/officeDocument/2006/relationships" xmlns:p="http://schemas.openxmlformats.org/presentationml/2006/main">
  <p:tag name="MIO_USER_INPUT_REQUIRED" val="Sender information;Please enter the sender information:"/>
  <p:tag name="MIO_USER_INPUT_TEXT" val="Text"/>
</p:tagLst>
</file>

<file path=ppt/tags/tag10.xml><?xml version="1.0" encoding="utf-8"?>
<p:tagLst xmlns:a="http://schemas.openxmlformats.org/drawingml/2006/main" xmlns:r="http://schemas.openxmlformats.org/officeDocument/2006/relationships" xmlns:p="http://schemas.openxmlformats.org/presentationml/2006/main">
  <p:tag name="MIO_USER_INPUT_OPTIONS" val="Public;Internal;Confidential"/>
  <p:tag name="MIO_USER_INPUT_REQUIRED" val="Classification and Control of Information;Please select the level of confidentiality:"/>
</p:tagLst>
</file>

<file path=ppt/tags/tag11.xml><?xml version="1.0" encoding="utf-8"?>
<p:tagLst xmlns:a="http://schemas.openxmlformats.org/drawingml/2006/main" xmlns:r="http://schemas.openxmlformats.org/officeDocument/2006/relationships" xmlns:p="http://schemas.openxmlformats.org/presentationml/2006/main">
  <p:tag name="MIO_USER_INPUT_REQUIRED" val="Sender information;Please enter the sender information:"/>
  <p:tag name="MIO_USER_INPUT_TEXT" val="Text"/>
</p:tagLst>
</file>

<file path=ppt/theme/theme1.xml><?xml version="1.0" encoding="utf-8"?>
<a:theme xmlns:a="http://schemas.openxmlformats.org/drawingml/2006/main" name="ADAS_4x3">
  <a:themeElements>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fontScheme name="Continental AG">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tx1"/>
          </a:solidFill>
        </a:ln>
      </a:spPr>
      <a:bodyPr rtlCol="0" anchor="ctr"/>
      <a:lstStyle>
        <a:defPPr algn="ctr">
          <a:defRPr sz="1600" dirty="0" err="1" smtClean="0">
            <a:solidFill>
              <a:schemeClr val="bg2">
                <a:lumMod val="10000"/>
              </a:schemeClr>
            </a:solidFill>
          </a:defRPr>
        </a:defPPr>
      </a:lstStyle>
      <a:style>
        <a:lnRef idx="1">
          <a:schemeClr val="accent1"/>
        </a:lnRef>
        <a:fillRef idx="0">
          <a:schemeClr val="accent1"/>
        </a:fillRef>
        <a:effectRef idx="0">
          <a:schemeClr val="accent1"/>
        </a:effectRef>
        <a:fontRef idx="minor">
          <a:schemeClr val="tx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Continental Screen">
        <a:dk1>
          <a:srgbClr val="000000"/>
        </a:dk1>
        <a:lt1>
          <a:srgbClr val="FFFFFF"/>
        </a:lt1>
        <a:dk2>
          <a:srgbClr val="FFFFFF"/>
        </a:dk2>
        <a:lt2>
          <a:srgbClr val="EBEBEB"/>
        </a:lt2>
        <a:accent1>
          <a:srgbClr val="FF9900"/>
        </a:accent1>
        <a:accent2>
          <a:srgbClr val="BF7300"/>
        </a:accent2>
        <a:accent3>
          <a:srgbClr val="E28700"/>
        </a:accent3>
        <a:accent4>
          <a:srgbClr val="FFC266"/>
        </a:accent4>
        <a:accent5>
          <a:srgbClr val="5F5F5F"/>
        </a:accent5>
        <a:accent6>
          <a:srgbClr val="262626"/>
        </a:accent6>
        <a:hlink>
          <a:srgbClr val="FF9900"/>
        </a:hlink>
        <a:folHlink>
          <a:srgbClr val="777777"/>
        </a:folHlink>
      </a:clrScheme>
    </a:extraClrScheme>
    <a:extraClrScheme>
      <a:clrScheme name="Continental Print">
        <a:dk1>
          <a:srgbClr val="000000"/>
        </a:dk1>
        <a:lt1>
          <a:srgbClr val="FFFFFF"/>
        </a:lt1>
        <a:dk2>
          <a:srgbClr val="000000"/>
        </a:dk2>
        <a:lt2>
          <a:srgbClr val="FFFFFF"/>
        </a:lt2>
        <a:accent1>
          <a:srgbClr val="FF9900"/>
        </a:accent1>
        <a:accent2>
          <a:srgbClr val="BF7300"/>
        </a:accent2>
        <a:accent3>
          <a:srgbClr val="E28700"/>
        </a:accent3>
        <a:accent4>
          <a:srgbClr val="FFC266"/>
        </a:accent4>
        <a:accent5>
          <a:srgbClr val="5F5F5F"/>
        </a:accent5>
        <a:accent6>
          <a:srgbClr val="262626"/>
        </a:accent6>
        <a:hlink>
          <a:srgbClr val="FF9900"/>
        </a:hlink>
        <a:folHlink>
          <a:srgbClr val="777777"/>
        </a:folHlink>
      </a:clrScheme>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2.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3.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4.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5.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6.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7.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8.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9.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10.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11.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12.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13.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14.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15.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16.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17.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18.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19.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20.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21.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22.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23.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24.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25.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26.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27.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28.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29.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ppt/theme/themeOverride30.xml><?xml version="1.0" encoding="utf-8"?>
<a:themeOverride xmlns:a="http://schemas.openxmlformats.org/drawingml/2006/main">
  <a:clrScheme name="Continental 2013-06-21">
    <a:dk1>
      <a:srgbClr val="000000"/>
    </a:dk1>
    <a:lt1>
      <a:srgbClr val="FFFFFF"/>
    </a:lt1>
    <a:dk2>
      <a:srgbClr val="FFFFFF"/>
    </a:dk2>
    <a:lt2>
      <a:srgbClr val="EBEBEB"/>
    </a:lt2>
    <a:accent1>
      <a:srgbClr val="FFA500"/>
    </a:accent1>
    <a:accent2>
      <a:srgbClr val="BF7300"/>
    </a:accent2>
    <a:accent3>
      <a:srgbClr val="E28700"/>
    </a:accent3>
    <a:accent4>
      <a:srgbClr val="FFC266"/>
    </a:accent4>
    <a:accent5>
      <a:srgbClr val="5F5F5F"/>
    </a:accent5>
    <a:accent6>
      <a:srgbClr val="262626"/>
    </a:accent6>
    <a:hlink>
      <a:srgbClr val="FFA500"/>
    </a:hlink>
    <a:folHlink>
      <a:srgbClr val="777777"/>
    </a:folHlink>
  </a:clrScheme>
</a:themeOverride>
</file>

<file path=docProps/app.xml><?xml version="1.0" encoding="utf-8"?>
<Properties xmlns="http://schemas.openxmlformats.org/officeDocument/2006/extended-properties" xmlns:vt="http://schemas.openxmlformats.org/officeDocument/2006/docPropsVTypes">
  <Template/>
  <TotalTime>0</TotalTime>
  <Words>2680</Words>
  <Application>Microsoft Office PowerPoint</Application>
  <PresentationFormat>On-screen Show (4:3)</PresentationFormat>
  <Paragraphs>477</Paragraphs>
  <Slides>64</Slides>
  <Notes>6</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ADAS_4x3</vt:lpstr>
      <vt:lpstr>Slide 1</vt:lpstr>
      <vt:lpstr>Session Objectives</vt:lpstr>
      <vt:lpstr>Session Topics</vt:lpstr>
      <vt:lpstr>CAN Protocol</vt:lpstr>
      <vt:lpstr>Introduction</vt:lpstr>
      <vt:lpstr>Classification of Vehicle Buses</vt:lpstr>
      <vt:lpstr>Standards Covered</vt:lpstr>
      <vt:lpstr>Properties</vt:lpstr>
      <vt:lpstr>Slide 9</vt:lpstr>
      <vt:lpstr>Slide 10</vt:lpstr>
      <vt:lpstr>CAN FRAME STRUCTURE</vt:lpstr>
      <vt:lpstr>CAN Frame</vt:lpstr>
      <vt:lpstr>CAN Frame</vt:lpstr>
      <vt:lpstr>CAN Frame</vt:lpstr>
      <vt:lpstr>CAN Frame</vt:lpstr>
      <vt:lpstr>DLC for Standard CAN</vt:lpstr>
      <vt:lpstr>CAN Frame</vt:lpstr>
      <vt:lpstr>CAN Frame</vt:lpstr>
      <vt:lpstr>CAN Frame</vt:lpstr>
      <vt:lpstr>CAN Frame</vt:lpstr>
      <vt:lpstr>Types of Frames</vt:lpstr>
      <vt:lpstr>Data Frame</vt:lpstr>
      <vt:lpstr>Remote Frame</vt:lpstr>
      <vt:lpstr>Remote Frame</vt:lpstr>
      <vt:lpstr>Error Frame</vt:lpstr>
      <vt:lpstr>Slide 26</vt:lpstr>
      <vt:lpstr>Bit Stuff and NRZ Coding</vt:lpstr>
      <vt:lpstr>Bit Stuffing- Example</vt:lpstr>
      <vt:lpstr>Types of Errors</vt:lpstr>
      <vt:lpstr>Error Frame</vt:lpstr>
      <vt:lpstr>Overload Frame</vt:lpstr>
      <vt:lpstr>Overload Frame</vt:lpstr>
      <vt:lpstr>Inter Frame Space</vt:lpstr>
      <vt:lpstr>Inter frame Space</vt:lpstr>
      <vt:lpstr>Inter frame Space</vt:lpstr>
      <vt:lpstr>Fault Confinement</vt:lpstr>
      <vt:lpstr>Fault Confinement</vt:lpstr>
      <vt:lpstr>Cont.,</vt:lpstr>
      <vt:lpstr>Fault Confinement</vt:lpstr>
      <vt:lpstr>Bit Timing Requirements</vt:lpstr>
      <vt:lpstr>Slide 41</vt:lpstr>
      <vt:lpstr>Slide 42</vt:lpstr>
      <vt:lpstr>Slide 43</vt:lpstr>
      <vt:lpstr>Bit Timing Requirements</vt:lpstr>
      <vt:lpstr>Synchronization</vt:lpstr>
      <vt:lpstr>Slide 46</vt:lpstr>
      <vt:lpstr>Slide 47</vt:lpstr>
      <vt:lpstr>Slide 48</vt:lpstr>
      <vt:lpstr>Resynchronization</vt:lpstr>
      <vt:lpstr>CAN with Flexible Data Rate</vt:lpstr>
      <vt:lpstr>Characteristics</vt:lpstr>
      <vt:lpstr>CAN FD BASE FRAME STRUCTURE</vt:lpstr>
      <vt:lpstr>CAN FD EXTENDED FRAME STRUCTURE</vt:lpstr>
      <vt:lpstr>CAN FD CONTROL FIELD</vt:lpstr>
      <vt:lpstr>CRC in CAN FD</vt:lpstr>
      <vt:lpstr>CAN- ISO OSI Reference Model</vt:lpstr>
      <vt:lpstr>CAN- ISO OSI Reference Model</vt:lpstr>
      <vt:lpstr>Transceiver- PCA 82C250</vt:lpstr>
      <vt:lpstr>Signaling levels</vt:lpstr>
      <vt:lpstr>CAN Physical Layer</vt:lpstr>
      <vt:lpstr>CAN -Physical and Data Link Layer</vt:lpstr>
      <vt:lpstr>CAN Physical and Data Link Layer Layer</vt:lpstr>
      <vt:lpstr>Medium</vt:lpstr>
      <vt:lpstr>REFERENCES</vt:lpstr>
    </vt:vector>
  </TitlesOfParts>
  <Company>Continental AG</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Protocol</dc:title>
  <dc:creator>Pradeep Chandran</dc:creator>
  <cp:lastModifiedBy>uidu8404</cp:lastModifiedBy>
  <cp:revision>81</cp:revision>
  <dcterms:created xsi:type="dcterms:W3CDTF">2015-11-02T10:39:00Z</dcterms:created>
  <dcterms:modified xsi:type="dcterms:W3CDTF">2015-11-04T02:18:39Z</dcterms:modified>
</cp:coreProperties>
</file>