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 bookmarkIdSeed="3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426" r:id="rId5"/>
    <p:sldId id="291" r:id="rId6"/>
    <p:sldId id="432" r:id="rId7"/>
    <p:sldId id="418" r:id="rId8"/>
    <p:sldId id="429" r:id="rId9"/>
    <p:sldId id="427" r:id="rId10"/>
  </p:sldIdLst>
  <p:sldSz cx="9144000" cy="6858000" type="screen4x3"/>
  <p:notesSz cx="6858000" cy="9926638"/>
  <p:custDataLst>
    <p:tags r:id="rId1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orient="horz" pos="3703" userDrawn="1">
          <p15:clr>
            <a:srgbClr val="A4A3A4"/>
          </p15:clr>
        </p15:guide>
        <p15:guide id="3" orient="horz" pos="2296" userDrawn="1">
          <p15:clr>
            <a:srgbClr val="A4A3A4"/>
          </p15:clr>
        </p15:guide>
        <p15:guide id="4" orient="horz" pos="2251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  <p15:guide id="6" orient="horz" pos="4201" userDrawn="1">
          <p15:clr>
            <a:srgbClr val="A4A3A4"/>
          </p15:clr>
        </p15:guide>
        <p15:guide id="7" orient="horz" pos="2615" userDrawn="1">
          <p15:clr>
            <a:srgbClr val="A4A3A4"/>
          </p15:clr>
        </p15:guide>
        <p15:guide id="8" pos="249" userDrawn="1">
          <p15:clr>
            <a:srgbClr val="A4A3A4"/>
          </p15:clr>
        </p15:guide>
        <p15:guide id="9" pos="2857" userDrawn="1">
          <p15:clr>
            <a:srgbClr val="A4A3A4"/>
          </p15:clr>
        </p15:guide>
        <p15:guide id="10" pos="2903" userDrawn="1">
          <p15:clr>
            <a:srgbClr val="A4A3A4"/>
          </p15:clr>
        </p15:guide>
        <p15:guide id="11" pos="3787" userDrawn="1">
          <p15:clr>
            <a:srgbClr val="A4A3A4"/>
          </p15:clr>
        </p15:guide>
        <p15:guide id="12" pos="3742" userDrawn="1">
          <p15:clr>
            <a:srgbClr val="A4A3A4"/>
          </p15:clr>
        </p15:guide>
        <p15:guide id="13" pos="2018" userDrawn="1">
          <p15:clr>
            <a:srgbClr val="A4A3A4"/>
          </p15:clr>
        </p15:guide>
        <p15:guide id="14" pos="1973" userDrawn="1">
          <p15:clr>
            <a:srgbClr val="A4A3A4"/>
          </p15:clr>
        </p15:guide>
        <p15:guide id="15" pos="5511" userDrawn="1">
          <p15:clr>
            <a:srgbClr val="A4A3A4"/>
          </p15:clr>
        </p15:guide>
        <p15:guide id="16" pos="113" userDrawn="1">
          <p15:clr>
            <a:srgbClr val="A4A3A4"/>
          </p15:clr>
        </p15:guide>
        <p15:guide id="17" pos="5647" userDrawn="1">
          <p15:clr>
            <a:srgbClr val="A4A3A4"/>
          </p15:clr>
        </p15:guide>
        <p15:guide id="18" pos="54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4502"/>
    <a:srgbClr val="FFFF00"/>
    <a:srgbClr val="A5C7F9"/>
    <a:srgbClr val="C1D8FB"/>
    <a:srgbClr val="CBDDF1"/>
    <a:srgbClr val="024ABE"/>
    <a:srgbClr val="8D8AD1"/>
    <a:srgbClr val="6699FF"/>
    <a:srgbClr val="0000D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2" autoAdjust="0"/>
    <p:restoredTop sz="93901" autoAdjust="0"/>
  </p:normalViewPr>
  <p:slideViewPr>
    <p:cSldViewPr snapToObjects="1" showGuides="1">
      <p:cViewPr varScale="1">
        <p:scale>
          <a:sx n="109" d="100"/>
          <a:sy n="109" d="100"/>
        </p:scale>
        <p:origin x="1542" y="138"/>
      </p:cViewPr>
      <p:guideLst>
        <p:guide orient="horz" pos="845"/>
        <p:guide orient="horz" pos="3703"/>
        <p:guide orient="horz" pos="2296"/>
        <p:guide orient="horz" pos="2251"/>
        <p:guide orient="horz" pos="119"/>
        <p:guide orient="horz" pos="4201"/>
        <p:guide orient="horz" pos="2615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-267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27.06.2018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7664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719" y="4714876"/>
            <a:ext cx="5006564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95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24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8269820"/>
              </p:ext>
            </p:extLst>
          </p:nvPr>
        </p:nvGraphicFramePr>
        <p:xfrm>
          <a:off x="1590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7"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90" y="1341438"/>
            <a:ext cx="8353425" cy="4535487"/>
          </a:xfrm>
        </p:spPr>
        <p:txBody>
          <a:bodyPr/>
          <a:lstStyle>
            <a:lvl1pPr marL="177796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25" indent="-18414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16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094" indent="-179384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34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 dirty="0" smtClean="0"/>
              <a:t>Textmasterformate durch Klicken bearbeiten</a:t>
            </a:r>
          </a:p>
          <a:p>
            <a:pPr lvl="1"/>
            <a:r>
              <a:rPr lang="de-DE" noProof="0" dirty="0" smtClean="0"/>
              <a:t>Zweite Ebene</a:t>
            </a:r>
          </a:p>
          <a:p>
            <a:pPr lvl="2"/>
            <a:r>
              <a:rPr lang="de-DE" noProof="0" dirty="0" smtClean="0"/>
              <a:t>Dritte Ebene</a:t>
            </a:r>
          </a:p>
          <a:p>
            <a:pPr lvl="3"/>
            <a:r>
              <a:rPr lang="de-DE" noProof="0" dirty="0" smtClean="0"/>
              <a:t>Vierte Ebene</a:t>
            </a:r>
          </a:p>
          <a:p>
            <a:pPr lvl="4"/>
            <a:r>
              <a:rPr lang="de-DE" noProof="0" dirty="0" smtClean="0"/>
              <a:t>Fünfte 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90" y="296864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 dirty="0" smtClean="0"/>
              <a:t>Titelmasterformat durch Klicken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silver)">
    <p:bg>
      <p:bgPr>
        <a:gradFill>
          <a:gsLst>
            <a:gs pos="15000">
              <a:srgbClr val="747474"/>
            </a:gs>
            <a:gs pos="50000">
              <a:srgbClr val="D9D9D9"/>
            </a:gs>
            <a:gs pos="85000">
              <a:srgbClr val="74747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90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46" indent="-184146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37" indent="-177796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28" indent="-179384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269" indent="-177796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90" y="2456893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90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8" y="6375515"/>
            <a:ext cx="2726779" cy="128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66"/>
            <a:r>
              <a:rPr lang="en-US" sz="700" noProof="0" dirty="0" smtClean="0">
                <a:solidFill>
                  <a:schemeClr val="tx1"/>
                </a:solidFill>
                <a:latin typeface="+mn-lt"/>
              </a:rPr>
              <a:t>internal</a:t>
            </a:r>
            <a:endParaRPr lang="en-US" sz="700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3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66"/>
            <a:r>
              <a:rPr lang="en-US" sz="700" b="1" noProof="0" dirty="0" smtClean="0">
                <a:solidFill>
                  <a:schemeClr val="tx1"/>
                </a:solidFill>
                <a:latin typeface="+mn-lt"/>
              </a:rPr>
              <a:t>Corporate Project Management</a:t>
            </a:r>
            <a:endParaRPr lang="en-US" sz="700" b="1" noProof="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7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7"/>
              <a:ext cx="9144000" cy="1889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1340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gradFill>
          <a:gsLst>
            <a:gs pos="15000">
              <a:srgbClr val="747474"/>
            </a:gs>
            <a:gs pos="50000">
              <a:srgbClr val="D9D9D9"/>
            </a:gs>
            <a:gs pos="85000">
              <a:srgbClr val="74747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3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5"/>
            <a:ext cx="8172140" cy="1138231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3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dirty="0" smtClean="0"/>
              <a:t>Corporate Quality and Environment</a:t>
            </a:r>
          </a:p>
        </p:txBody>
      </p:sp>
      <p:grpSp>
        <p:nvGrpSpPr>
          <p:cNvPr id="4" name="Gruppieren 16"/>
          <p:cNvGrpSpPr/>
          <p:nvPr userDrawn="1"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grpSp>
          <p:nvGrpSpPr>
            <p:cNvPr id="5" name="Gruppieren 15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sp>
            <p:nvSpPr>
              <p:cNvPr id="9" name="Rechteck 8"/>
              <p:cNvSpPr/>
              <p:nvPr userDrawn="1"/>
            </p:nvSpPr>
            <p:spPr>
              <a:xfrm>
                <a:off x="0" y="0"/>
                <a:ext cx="9144000" cy="18891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smtClean="0">
                  <a:solidFill>
                    <a:srgbClr val="EBEBEB">
                      <a:lumMod val="10000"/>
                    </a:srgbClr>
                  </a:solidFill>
                </a:endParaRPr>
              </a:p>
            </p:txBody>
          </p:sp>
          <p:sp>
            <p:nvSpPr>
              <p:cNvPr id="12" name="Rechteck 11"/>
              <p:cNvSpPr/>
              <p:nvPr userDrawn="1"/>
            </p:nvSpPr>
            <p:spPr>
              <a:xfrm>
                <a:off x="0" y="6669087"/>
                <a:ext cx="9144000" cy="18891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smtClean="0">
                  <a:solidFill>
                    <a:srgbClr val="EBEBEB">
                      <a:lumMod val="10000"/>
                    </a:srgbClr>
                  </a:solidFill>
                </a:endParaRPr>
              </a:p>
            </p:txBody>
          </p:sp>
          <p:sp>
            <p:nvSpPr>
              <p:cNvPr id="13" name="Rechteck 12"/>
              <p:cNvSpPr/>
              <p:nvPr userDrawn="1"/>
            </p:nvSpPr>
            <p:spPr>
              <a:xfrm>
                <a:off x="0" y="0"/>
                <a:ext cx="179388" cy="685799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smtClean="0">
                  <a:solidFill>
                    <a:srgbClr val="EBEBEB">
                      <a:lumMod val="10000"/>
                    </a:srgbClr>
                  </a:solidFill>
                </a:endParaRPr>
              </a:p>
            </p:txBody>
          </p:sp>
          <p:sp>
            <p:nvSpPr>
              <p:cNvPr id="15" name="Rechteck 14"/>
              <p:cNvSpPr/>
              <p:nvPr userDrawn="1"/>
            </p:nvSpPr>
            <p:spPr>
              <a:xfrm>
                <a:off x="8964612" y="0"/>
                <a:ext cx="179387" cy="6857999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smtClean="0">
                  <a:solidFill>
                    <a:srgbClr val="EBEBEB">
                      <a:lumMod val="10000"/>
                    </a:srgbClr>
                  </a:solidFill>
                </a:endParaRPr>
              </a:p>
            </p:txBody>
          </p:sp>
        </p:grpSp>
        <p:pic>
          <p:nvPicPr>
            <p:cNvPr id="14" name="Grafik 13"/>
            <p:cNvPicPr>
              <a:picLocks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238" y="-1"/>
              <a:ext cx="2555876" cy="1304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7"/>
          <p:cNvSpPr>
            <a:spLocks noGrp="1"/>
          </p:cNvSpPr>
          <p:nvPr>
            <p:ph type="title"/>
          </p:nvPr>
        </p:nvSpPr>
        <p:spPr>
          <a:xfrm>
            <a:off x="395290" y="296864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95290" y="1341438"/>
            <a:ext cx="8353425" cy="4535487"/>
          </a:xfrm>
        </p:spPr>
        <p:txBody>
          <a:bodyPr/>
          <a:lstStyle>
            <a:lvl1pPr marL="177796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25" indent="-18414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16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094" indent="-179384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34" indent="-177796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 dirty="0" smtClean="0"/>
              <a:t>Textmasterformate durch Klicken bearbeiten</a:t>
            </a:r>
          </a:p>
          <a:p>
            <a:pPr lvl="1"/>
            <a:r>
              <a:rPr lang="de-DE" noProof="0" dirty="0" smtClean="0"/>
              <a:t>Zweite Ebene</a:t>
            </a:r>
          </a:p>
          <a:p>
            <a:pPr lvl="2"/>
            <a:r>
              <a:rPr lang="de-DE" noProof="0" dirty="0" smtClean="0"/>
              <a:t>Dritte Ebene</a:t>
            </a:r>
          </a:p>
          <a:p>
            <a:pPr lvl="3"/>
            <a:r>
              <a:rPr lang="de-DE" noProof="0" dirty="0" smtClean="0"/>
              <a:t>Vierte Ebene</a:t>
            </a:r>
          </a:p>
          <a:p>
            <a:pPr lvl="4"/>
            <a:r>
              <a:rPr lang="de-DE" noProof="0" dirty="0" smtClean="0"/>
              <a:t>Fünfte Ebene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350490" y="6069293"/>
            <a:ext cx="2001935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8388430" y="6220319"/>
            <a:ext cx="360289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>
          <a:xfrm>
            <a:off x="6350491" y="6220319"/>
            <a:ext cx="2001935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392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small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 userDrawn="1"/>
        </p:nvSpPr>
        <p:spPr>
          <a:xfrm>
            <a:off x="179392" y="260351"/>
            <a:ext cx="8785225" cy="364913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bIns="360000" rtlCol="0" anchor="b" anchorCtr="0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7,6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39" y="260352"/>
            <a:ext cx="8783520" cy="364913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149080"/>
            <a:ext cx="8172141" cy="556800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609880"/>
            <a:ext cx="8172140" cy="1123376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smtClean="0"/>
              <a:t>Formatvorlage des Untertitelmasters durch Klicken bearbeiten</a:t>
            </a:r>
            <a:endParaRPr lang="en-US" noProof="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5733256"/>
            <a:ext cx="2628590" cy="489600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dirty="0" smtClean="0"/>
              <a:t>URL</a:t>
            </a:r>
          </a:p>
          <a:p>
            <a:pPr lvl="0"/>
            <a:endParaRPr lang="en-US" noProof="0" dirty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4" y="5733256"/>
            <a:ext cx="5075797" cy="489600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grpSp>
        <p:nvGrpSpPr>
          <p:cNvPr id="14" name="Gruppieren 15"/>
          <p:cNvGrpSpPr/>
          <p:nvPr userDrawn="1"/>
        </p:nvGrpSpPr>
        <p:grpSpPr>
          <a:xfrm>
            <a:off x="0" y="2"/>
            <a:ext cx="9144000" cy="6858001"/>
            <a:chOff x="0" y="0"/>
            <a:chExt cx="9144000" cy="6858001"/>
          </a:xfrm>
        </p:grpSpPr>
        <p:sp>
          <p:nvSpPr>
            <p:cNvPr id="16" name="Rechteck 15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30" name="Textplatzhalter 29"/>
          <p:cNvSpPr>
            <a:spLocks noGrp="1"/>
          </p:cNvSpPr>
          <p:nvPr>
            <p:ph type="body" sz="quarter" idx="12" hasCustomPrompt="1"/>
          </p:nvPr>
        </p:nvSpPr>
        <p:spPr>
          <a:xfrm>
            <a:off x="503242" y="0"/>
            <a:ext cx="2556593" cy="17472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 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/>
          </a:p>
        </p:txBody>
      </p:sp>
      <p:sp>
        <p:nvSpPr>
          <p:cNvPr id="31" name="Rechteck 30"/>
          <p:cNvSpPr/>
          <p:nvPr userDrawn="1"/>
        </p:nvSpPr>
        <p:spPr>
          <a:xfrm>
            <a:off x="503548" y="-567405"/>
            <a:ext cx="8640452" cy="48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dirty="0" err="1" smtClean="0">
                <a:solidFill>
                  <a:schemeClr val="tx1"/>
                </a:solidFill>
              </a:rPr>
              <a:t>Wenn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Sie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ein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neues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Bild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einfügen</a:t>
            </a:r>
            <a:r>
              <a:rPr lang="en-US" sz="900" noProof="0" dirty="0" smtClean="0">
                <a:solidFill>
                  <a:schemeClr val="tx1"/>
                </a:solidFill>
              </a:rPr>
              <a:t>: </a:t>
            </a:r>
            <a:r>
              <a:rPr lang="en-US" sz="900" noProof="0" dirty="0" err="1" smtClean="0">
                <a:solidFill>
                  <a:schemeClr val="tx1"/>
                </a:solidFill>
              </a:rPr>
              <a:t>Klicken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Sie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mit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der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rechten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Maustaste</a:t>
            </a:r>
            <a:r>
              <a:rPr lang="en-US" sz="900" noProof="0" dirty="0" smtClean="0">
                <a:solidFill>
                  <a:schemeClr val="tx1"/>
                </a:solidFill>
              </a:rPr>
              <a:t> auf das </a:t>
            </a:r>
            <a:r>
              <a:rPr lang="en-US" sz="900" noProof="0" dirty="0" err="1" smtClean="0">
                <a:solidFill>
                  <a:schemeClr val="tx1"/>
                </a:solidFill>
              </a:rPr>
              <a:t>Bild</a:t>
            </a:r>
            <a:r>
              <a:rPr lang="en-US" sz="900" noProof="0" dirty="0" smtClean="0">
                <a:solidFill>
                  <a:schemeClr val="tx1"/>
                </a:solidFill>
              </a:rPr>
              <a:t> und </a:t>
            </a:r>
            <a:r>
              <a:rPr lang="en-US" sz="900" noProof="0" dirty="0" err="1" smtClean="0">
                <a:solidFill>
                  <a:schemeClr val="tx1"/>
                </a:solidFill>
              </a:rPr>
              <a:t>wählen</a:t>
            </a:r>
            <a:r>
              <a:rPr lang="en-US" sz="900" noProof="0" dirty="0" smtClean="0">
                <a:solidFill>
                  <a:schemeClr val="tx1"/>
                </a:solidFill>
              </a:rPr>
              <a:t> „In den </a:t>
            </a:r>
            <a:r>
              <a:rPr lang="en-US" sz="900" noProof="0" dirty="0" err="1" smtClean="0">
                <a:solidFill>
                  <a:schemeClr val="tx1"/>
                </a:solidFill>
              </a:rPr>
              <a:t>Hintergrund</a:t>
            </a:r>
            <a:r>
              <a:rPr lang="en-US" sz="900" noProof="0" dirty="0" smtClean="0">
                <a:solidFill>
                  <a:schemeClr val="tx1"/>
                </a:solidFill>
              </a:rPr>
              <a:t>“, um das </a:t>
            </a:r>
            <a:r>
              <a:rPr lang="en-US" sz="900" noProof="0" dirty="0" err="1" smtClean="0">
                <a:solidFill>
                  <a:schemeClr val="tx1"/>
                </a:solidFill>
              </a:rPr>
              <a:t>Bild</a:t>
            </a:r>
            <a:r>
              <a:rPr lang="en-US" sz="900" noProof="0" dirty="0" smtClean="0">
                <a:solidFill>
                  <a:schemeClr val="tx1"/>
                </a:solidFill>
              </a:rPr>
              <a:t> hinter das Quality Seal </a:t>
            </a:r>
            <a:r>
              <a:rPr lang="en-US" sz="900" noProof="0" dirty="0" err="1" smtClean="0">
                <a:solidFill>
                  <a:schemeClr val="tx1"/>
                </a:solidFill>
              </a:rPr>
              <a:t>zu</a:t>
            </a:r>
            <a:r>
              <a:rPr lang="en-US" sz="900" noProof="0" dirty="0" smtClean="0">
                <a:solidFill>
                  <a:schemeClr val="tx1"/>
                </a:solidFill>
              </a:rPr>
              <a:t> </a:t>
            </a:r>
            <a:r>
              <a:rPr lang="en-US" sz="900" noProof="0" dirty="0" err="1" smtClean="0">
                <a:solidFill>
                  <a:schemeClr val="tx1"/>
                </a:solidFill>
              </a:rPr>
              <a:t>bringen</a:t>
            </a:r>
            <a:r>
              <a:rPr lang="en-US" sz="900" noProof="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900" noProof="0" dirty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32" name="Gerade Verbindung 31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 userDrawn="1"/>
        </p:nvCxnSpPr>
        <p:spPr>
          <a:xfrm rot="5400000">
            <a:off x="-103432" y="168028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5439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92" y="1797052"/>
            <a:ext cx="8353425" cy="3744383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46" indent="-184146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37" indent="-177796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28" indent="-179384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269" indent="-177796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en-US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92" y="404283"/>
            <a:ext cx="8353425" cy="96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 smtClean="0"/>
              <a:t>Titelmasterformat durch Klicken bearbeiten</a:t>
            </a:r>
            <a:endParaRPr lang="en-US" noProof="0" dirty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>
          <a:xfrm>
            <a:off x="6350488" y="6069293"/>
            <a:ext cx="2001935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>
          <a:xfrm>
            <a:off x="8388428" y="6220319"/>
            <a:ext cx="360289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>
          <a:xfrm>
            <a:off x="6350489" y="6220319"/>
            <a:ext cx="2001935" cy="150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grpSp>
        <p:nvGrpSpPr>
          <p:cNvPr id="16" name="Gruppieren 15"/>
          <p:cNvGrpSpPr/>
          <p:nvPr userDrawn="1"/>
        </p:nvGrpSpPr>
        <p:grpSpPr>
          <a:xfrm>
            <a:off x="0" y="2"/>
            <a:ext cx="9144000" cy="6858001"/>
            <a:chOff x="0" y="0"/>
            <a:chExt cx="9144000" cy="6858001"/>
          </a:xfrm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9144000" cy="2603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6597652"/>
              <a:ext cx="9144000" cy="260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179388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7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pic>
        <p:nvPicPr>
          <p:cNvPr id="21" name="Bild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1520" y="5842195"/>
            <a:ext cx="1857600" cy="7607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erade Verbindung 21"/>
          <p:cNvCxnSpPr/>
          <p:nvPr userDrawn="1"/>
        </p:nvCxnSpPr>
        <p:spPr>
          <a:xfrm>
            <a:off x="395292" y="5760941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10" y="6220320"/>
            <a:ext cx="2726779" cy="128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66"/>
            <a:r>
              <a:rPr lang="en-US" sz="700" noProof="0" smtClean="0">
                <a:solidFill>
                  <a:schemeClr val="bg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082118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66"/>
            <a:r>
              <a:rPr lang="en-US" sz="700" b="1" noProof="0" dirty="0" smtClean="0">
                <a:solidFill>
                  <a:schemeClr val="bg1"/>
                </a:solidFill>
                <a:latin typeface="+mn-lt"/>
              </a:rPr>
              <a:t>Space for Sender Information</a:t>
            </a:r>
            <a:endParaRPr lang="en-US" sz="700" b="1" noProof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93449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349286396"/>
              </p:ext>
            </p:extLst>
          </p:nvPr>
        </p:nvGraphicFramePr>
        <p:xfrm>
          <a:off x="1590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" name="think-cell Slide" r:id="rId15" imgW="216" imgH="216" progId="TCLayout.ActiveDocument.1">
                  <p:embed/>
                </p:oleObj>
              </mc:Choice>
              <mc:Fallback>
                <p:oleObj name="think-cell Slide" r:id="rId15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Gerade Verbindung 12"/>
          <p:cNvCxnSpPr/>
          <p:nvPr/>
        </p:nvCxnSpPr>
        <p:spPr>
          <a:xfrm>
            <a:off x="395290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252639" y="6095034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90" y="296864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GB" noProof="0" smtClean="0"/>
              <a:t>Titelmasterformat durch Klicken bearbeiten</a:t>
            </a:r>
            <a:endParaRPr lang="en-GB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90" y="1341439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GB" noProof="0" smtClean="0"/>
              <a:t>Textmasterformate durch Klicken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  <a:endParaRPr lang="en-GB" noProof="0" dirty="0"/>
          </a:p>
        </p:txBody>
      </p:sp>
      <p:sp>
        <p:nvSpPr>
          <p:cNvPr id="11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501408" y="6375515"/>
            <a:ext cx="2726779" cy="128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ctr" defTabSz="895866"/>
            <a:r>
              <a:rPr lang="en-GB" sz="700" noProof="0" smtClean="0">
                <a:solidFill>
                  <a:schemeClr val="tx1"/>
                </a:solidFill>
                <a:latin typeface="+mn-lt"/>
              </a:rPr>
              <a:t>Internal</a:t>
            </a:r>
            <a:endParaRPr lang="en-GB" sz="700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501407" y="6237313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ctr" defTabSz="895866"/>
            <a:r>
              <a:rPr lang="en-GB" sz="700" b="1" noProof="0" smtClean="0">
                <a:solidFill>
                  <a:schemeClr val="tx1"/>
                </a:solidFill>
                <a:latin typeface="+mn-lt"/>
              </a:rPr>
              <a:t>Problem Resolution Management</a:t>
            </a:r>
            <a:endParaRPr lang="en-GB" sz="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empower - DO NOT DELETE!!!" hidden="1"/>
          <p:cNvSpPr/>
          <p:nvPr>
            <p:custDataLst>
              <p:tags r:id="rId14"/>
            </p:custDataLst>
          </p:nvPr>
        </p:nvSpPr>
        <p:spPr>
          <a:xfrm>
            <a:off x="-1270000" y="-1270000"/>
            <a:ext cx="1587" cy="1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65" r:id="rId3"/>
    <p:sldLayoutId id="2147483676" r:id="rId4"/>
    <p:sldLayoutId id="2147483677" r:id="rId5"/>
    <p:sldLayoutId id="2147483690" r:id="rId6"/>
    <p:sldLayoutId id="2147483691" r:id="rId7"/>
    <p:sldLayoutId id="2147483692" r:id="rId8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914377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79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25" indent="-184146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094" indent="-179384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34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Resolution Management</a:t>
            </a:r>
            <a:endParaRPr lang="en-US" noProof="0" dirty="0"/>
          </a:p>
        </p:txBody>
      </p:sp>
      <p:sp>
        <p:nvSpPr>
          <p:cNvPr id="47" name="Textplatzhalter 4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ADAS </a:t>
            </a:r>
            <a:r>
              <a:rPr lang="en-US" dirty="0" smtClean="0"/>
              <a:t>2.6 </a:t>
            </a:r>
            <a:r>
              <a:rPr lang="en-US" dirty="0"/>
              <a:t>Process</a:t>
            </a:r>
            <a:r>
              <a:rPr lang="de-DE" dirty="0" smtClean="0"/>
              <a:t>.</a:t>
            </a:r>
            <a:endParaRPr lang="de-DE" dirty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503240" y="5301210"/>
            <a:ext cx="5075797" cy="368813"/>
          </a:xfrm>
        </p:spPr>
        <p:txBody>
          <a:bodyPr>
            <a:normAutofit/>
          </a:bodyPr>
          <a:lstStyle/>
          <a:p>
            <a:pPr algn="l"/>
            <a:r>
              <a:rPr lang="en-US" sz="800" dirty="0"/>
              <a:t>Chassis &amp; Safety</a:t>
            </a:r>
          </a:p>
        </p:txBody>
      </p:sp>
      <p:pic>
        <p:nvPicPr>
          <p:cNvPr id="12" name="Picture 11" descr="SensePlan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92" y="5452456"/>
            <a:ext cx="1189181" cy="280800"/>
          </a:xfrm>
          <a:prstGeom prst="rect">
            <a:avLst/>
          </a:prstGeom>
        </p:spPr>
      </p:pic>
      <p:pic>
        <p:nvPicPr>
          <p:cNvPr id="13" name="Grafik 12" descr="conti_senseplanact_Poster_xs_v25.png"/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512" y="5013176"/>
            <a:ext cx="8748000" cy="56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36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4"/>
          <p:cNvSpPr>
            <a:spLocks noGrp="1"/>
          </p:cNvSpPr>
          <p:nvPr>
            <p:ph type="title"/>
          </p:nvPr>
        </p:nvSpPr>
        <p:spPr>
          <a:xfrm>
            <a:off x="186204" y="162081"/>
            <a:ext cx="8353425" cy="719137"/>
          </a:xfrm>
        </p:spPr>
        <p:txBody>
          <a:bodyPr/>
          <a:lstStyle/>
          <a:p>
            <a:pPr defTabSz="915489" eaLnBrk="0" hangingPunct="0">
              <a:lnSpc>
                <a:spcPts val="2475"/>
              </a:lnSpc>
              <a:defRPr/>
            </a:pPr>
            <a:r>
              <a:rPr lang="en-GB" kern="0" dirty="0" smtClean="0"/>
              <a:t>Problem Resolution Management Workflow</a:t>
            </a:r>
            <a:br>
              <a:rPr lang="en-GB" kern="0" dirty="0" smtClean="0"/>
            </a:br>
            <a:r>
              <a:rPr lang="en-GB" sz="2000" b="0" kern="0" dirty="0">
                <a:solidFill>
                  <a:schemeClr val="tx1"/>
                </a:solidFill>
              </a:rPr>
              <a:t>Overview Issue </a:t>
            </a:r>
            <a:r>
              <a:rPr lang="en-GB" sz="2000" b="0" kern="0" dirty="0" smtClean="0">
                <a:solidFill>
                  <a:schemeClr val="tx1"/>
                </a:solidFill>
              </a:rPr>
              <a:t>Handling Problem Report</a:t>
            </a:r>
            <a:endParaRPr lang="en-GB" b="0" kern="0" dirty="0" smtClean="0">
              <a:solidFill>
                <a:schemeClr val="tx1"/>
              </a:solidFill>
            </a:endParaRPr>
          </a:p>
        </p:txBody>
      </p:sp>
      <p:sp>
        <p:nvSpPr>
          <p:cNvPr id="10" name="Datumsplatzhalter 8"/>
          <p:cNvSpPr txBox="1">
            <a:spLocks/>
          </p:cNvSpPr>
          <p:nvPr/>
        </p:nvSpPr>
        <p:spPr>
          <a:xfrm>
            <a:off x="6542856" y="6021289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2EA6AE20-A4D0-4F48-8392-0B929DE181BA}" type="datetimeFigureOut">
              <a:rPr lang="de-DE"/>
              <a:pPr defTabSz="914354">
                <a:defRPr/>
              </a:pPr>
              <a:t>27.06.2018</a:t>
            </a:fld>
            <a:endParaRPr lang="de-DE" dirty="0"/>
          </a:p>
        </p:txBody>
      </p:sp>
      <p:sp>
        <p:nvSpPr>
          <p:cNvPr id="12" name="Foliennummernplatzhalter 9"/>
          <p:cNvSpPr txBox="1">
            <a:spLocks/>
          </p:cNvSpPr>
          <p:nvPr/>
        </p:nvSpPr>
        <p:spPr>
          <a:xfrm>
            <a:off x="6545885" y="6336352"/>
            <a:ext cx="2133600" cy="210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409A5802-D3CC-4A0B-A3A5-F0A765EAD42A}" type="slidenum">
              <a:rPr lang="de-DE"/>
              <a:pPr defTabSz="914354">
                <a:defRPr/>
              </a:pPr>
              <a:t>2</a:t>
            </a:fld>
            <a:endParaRPr lang="de-D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218"/>
            <a:ext cx="9144000" cy="5140071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5364088" y="4221088"/>
            <a:ext cx="3096344" cy="105434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  <a:effectLst>
            <a:outerShdw blurRad="63500" sx="102000" sy="102000" algn="ctr" rotWithShape="0">
              <a:srgbClr val="FF0000">
                <a:alpha val="40000"/>
              </a:srgbClr>
            </a:outerShdw>
          </a:effectLst>
        </p:spPr>
        <p:txBody>
          <a:bodyPr vert="horz" lIns="0" tIns="18000" rIns="0" bIns="18000" rtlCol="0">
            <a:normAutofit/>
          </a:bodyPr>
          <a:lstStyle/>
          <a:p>
            <a:pPr algn="ctr">
              <a:buClr>
                <a:schemeClr val="accent1"/>
              </a:buClr>
              <a:buSzPct val="125000"/>
            </a:pPr>
            <a:endParaRPr lang="en-US" sz="1100" b="1" dirty="0">
              <a:solidFill>
                <a:schemeClr val="accent2"/>
              </a:solidFill>
              <a:cs typeface="Arial" pitchFamily="34" charset="0"/>
            </a:endParaRPr>
          </a:p>
          <a:p>
            <a:pPr algn="ctr">
              <a:buClr>
                <a:schemeClr val="accent1"/>
              </a:buClr>
              <a:buSzPct val="125000"/>
            </a:pPr>
            <a:r>
              <a:rPr lang="en-US" sz="1100" i="1" dirty="0" smtClean="0">
                <a:solidFill>
                  <a:srgbClr val="FF0000"/>
                </a:solidFill>
                <a:cs typeface="Arial" pitchFamily="34" charset="0"/>
              </a:rPr>
              <a:t>The queries need to be updated for all the roles with ADAS Sub State</a:t>
            </a:r>
          </a:p>
          <a:p>
            <a:pPr algn="ctr">
              <a:buClr>
                <a:schemeClr val="accent1"/>
              </a:buClr>
              <a:buSzPct val="125000"/>
            </a:pPr>
            <a:r>
              <a:rPr lang="en-US" sz="1100" i="1" dirty="0" smtClean="0">
                <a:solidFill>
                  <a:schemeClr val="accent2"/>
                </a:solidFill>
                <a:cs typeface="Arial" pitchFamily="34" charset="0"/>
              </a:rPr>
              <a:t>ADAS Sub State replaces Requested By</a:t>
            </a:r>
          </a:p>
          <a:p>
            <a:pPr algn="ctr">
              <a:buClr>
                <a:schemeClr val="accent1"/>
              </a:buClr>
              <a:buSzPct val="125000"/>
            </a:pPr>
            <a:r>
              <a:rPr lang="en-US" sz="1100" i="1" dirty="0" smtClean="0">
                <a:solidFill>
                  <a:schemeClr val="accent2"/>
                </a:solidFill>
                <a:cs typeface="Arial" pitchFamily="34" charset="0"/>
              </a:rPr>
              <a:t>Tag List shall be used to identify the Test Teams</a:t>
            </a:r>
            <a:endParaRPr lang="en-US" sz="1100" i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4"/>
          <p:cNvSpPr>
            <a:spLocks noGrp="1"/>
          </p:cNvSpPr>
          <p:nvPr>
            <p:ph type="title"/>
          </p:nvPr>
        </p:nvSpPr>
        <p:spPr>
          <a:xfrm>
            <a:off x="395289" y="296864"/>
            <a:ext cx="8353425" cy="719137"/>
          </a:xfrm>
        </p:spPr>
        <p:txBody>
          <a:bodyPr/>
          <a:lstStyle/>
          <a:p>
            <a:pPr defTabSz="915489" eaLnBrk="0" hangingPunct="0">
              <a:lnSpc>
                <a:spcPts val="2475"/>
              </a:lnSpc>
              <a:defRPr/>
            </a:pPr>
            <a:r>
              <a:rPr lang="en-GB" kern="0" dirty="0" smtClean="0"/>
              <a:t>ADAS Sub State </a:t>
            </a:r>
            <a:br>
              <a:rPr lang="en-GB" kern="0" dirty="0" smtClean="0"/>
            </a:br>
            <a:r>
              <a:rPr lang="en-GB" sz="2000" b="0" kern="0" dirty="0" smtClean="0">
                <a:solidFill>
                  <a:schemeClr val="tx1"/>
                </a:solidFill>
              </a:rPr>
              <a:t>Query Examples</a:t>
            </a:r>
            <a:endParaRPr lang="en-GB" b="0" kern="0" dirty="0" smtClean="0">
              <a:solidFill>
                <a:schemeClr val="tx1"/>
              </a:solidFill>
            </a:endParaRPr>
          </a:p>
        </p:txBody>
      </p:sp>
      <p:sp>
        <p:nvSpPr>
          <p:cNvPr id="10" name="Datumsplatzhalter 8"/>
          <p:cNvSpPr txBox="1">
            <a:spLocks/>
          </p:cNvSpPr>
          <p:nvPr/>
        </p:nvSpPr>
        <p:spPr>
          <a:xfrm>
            <a:off x="6542856" y="6021289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2EA6AE20-A4D0-4F48-8392-0B929DE181BA}" type="datetimeFigureOut">
              <a:rPr lang="de-DE"/>
              <a:pPr defTabSz="914354">
                <a:defRPr/>
              </a:pPr>
              <a:t>27.06.2018</a:t>
            </a:fld>
            <a:endParaRPr lang="de-DE" dirty="0"/>
          </a:p>
        </p:txBody>
      </p:sp>
      <p:sp>
        <p:nvSpPr>
          <p:cNvPr id="12" name="Foliennummernplatzhalter 9"/>
          <p:cNvSpPr txBox="1">
            <a:spLocks/>
          </p:cNvSpPr>
          <p:nvPr/>
        </p:nvSpPr>
        <p:spPr>
          <a:xfrm>
            <a:off x="6545885" y="6336352"/>
            <a:ext cx="2133600" cy="210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409A5802-D3CC-4A0B-A3A5-F0A765EAD42A}" type="slidenum">
              <a:rPr lang="de-DE"/>
              <a:pPr defTabSz="914354">
                <a:defRPr/>
              </a:pPr>
              <a:t>3</a:t>
            </a:fld>
            <a:endParaRPr lang="de-DE"/>
          </a:p>
        </p:txBody>
      </p:sp>
      <p:sp>
        <p:nvSpPr>
          <p:cNvPr id="2" name="TextBox 1"/>
          <p:cNvSpPr txBox="1"/>
          <p:nvPr/>
        </p:nvSpPr>
        <p:spPr>
          <a:xfrm>
            <a:off x="229307" y="995553"/>
            <a:ext cx="3672655" cy="284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just" defTabSz="915512" eaLnBrk="0" hangingPunct="0">
              <a:lnSpc>
                <a:spcPts val="1500"/>
              </a:lnSpc>
            </a:pPr>
            <a:r>
              <a:rPr lang="de-DE" sz="1400" b="1" dirty="0" smtClean="0">
                <a:solidFill>
                  <a:schemeClr val="accent2"/>
                </a:solidFill>
              </a:rPr>
              <a:t>Open issues in structure element</a:t>
            </a:r>
            <a:endParaRPr lang="de-DE" sz="1400" b="1" dirty="0">
              <a:solidFill>
                <a:schemeClr val="accent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07" y="1416042"/>
            <a:ext cx="4558717" cy="22955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2040" y="972700"/>
            <a:ext cx="3672655" cy="284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just" defTabSz="915512" eaLnBrk="0" hangingPunct="0">
              <a:lnSpc>
                <a:spcPts val="1500"/>
              </a:lnSpc>
            </a:pPr>
            <a:r>
              <a:rPr lang="de-DE" sz="1400" b="1" dirty="0" smtClean="0">
                <a:solidFill>
                  <a:schemeClr val="accent2"/>
                </a:solidFill>
              </a:rPr>
              <a:t>Open issues in integration</a:t>
            </a:r>
            <a:endParaRPr lang="de-DE" sz="1400" b="1" dirty="0">
              <a:solidFill>
                <a:schemeClr val="accent2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415877"/>
            <a:ext cx="3524250" cy="2190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9307" y="3713802"/>
            <a:ext cx="3672655" cy="28467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just" defTabSz="915512" eaLnBrk="0" hangingPunct="0">
              <a:lnSpc>
                <a:spcPts val="1500"/>
              </a:lnSpc>
            </a:pPr>
            <a:r>
              <a:rPr lang="de-DE" sz="1400" b="1" dirty="0" smtClean="0">
                <a:solidFill>
                  <a:schemeClr val="accent2"/>
                </a:solidFill>
              </a:rPr>
              <a:t>Open issues in verification</a:t>
            </a:r>
            <a:endParaRPr lang="de-DE" sz="1400" b="1" dirty="0">
              <a:solidFill>
                <a:schemeClr val="accent2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07" y="4027513"/>
            <a:ext cx="4029075" cy="1993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21555" y="5362385"/>
            <a:ext cx="3672655" cy="477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just" defTabSz="915512" eaLnBrk="0" hangingPunct="0">
              <a:lnSpc>
                <a:spcPts val="1500"/>
              </a:lnSpc>
            </a:pPr>
            <a:r>
              <a:rPr lang="de-DE" sz="1400" b="1" dirty="0" smtClean="0">
                <a:solidFill>
                  <a:schemeClr val="accent2"/>
                </a:solidFill>
              </a:rPr>
              <a:t>Tag list for all test tags shall remain the same for all projects. </a:t>
            </a:r>
            <a:endParaRPr lang="de-DE" sz="1400" b="1" dirty="0">
              <a:solidFill>
                <a:schemeClr val="accent2"/>
              </a:solidFill>
            </a:endParaRPr>
          </a:p>
        </p:txBody>
      </p:sp>
      <p:cxnSp>
        <p:nvCxnSpPr>
          <p:cNvPr id="20" name="Straight Arrow Connector 19"/>
          <p:cNvCxnSpPr>
            <a:stCxn id="18" idx="1"/>
          </p:cNvCxnSpPr>
          <p:nvPr/>
        </p:nvCxnSpPr>
        <p:spPr>
          <a:xfrm flipH="1">
            <a:off x="4173447" y="5600905"/>
            <a:ext cx="548108" cy="1823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 bwMode="auto">
          <a:xfrm>
            <a:off x="1403648" y="5700325"/>
            <a:ext cx="2804753" cy="17694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algn="l" defTabSz="874713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166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/>
          <p:cNvCxnSpPr/>
          <p:nvPr/>
        </p:nvCxnSpPr>
        <p:spPr>
          <a:xfrm flipH="1">
            <a:off x="1432808" y="5216526"/>
            <a:ext cx="4614897" cy="126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47705" y="4775604"/>
            <a:ext cx="0" cy="100921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2368427" y="4609047"/>
            <a:ext cx="64710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 bwMode="auto">
          <a:xfrm>
            <a:off x="2697673" y="4035179"/>
            <a:ext cx="4248472" cy="106692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A5C7F9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522360" y="4025301"/>
            <a:ext cx="241686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051" b="1" kern="0" dirty="0">
                <a:latin typeface="Arial"/>
                <a:ea typeface="+mj-ea"/>
                <a:cs typeface="+mj-cs"/>
              </a:rPr>
              <a:t>Assigned user – Test Engineer</a:t>
            </a:r>
            <a:endParaRPr lang="en-GB" sz="1051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2647183" y="552061"/>
            <a:ext cx="4248472" cy="110838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A5C7F9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2649561" y="1761247"/>
            <a:ext cx="4248472" cy="176636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C1D8FB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107504" y="260649"/>
            <a:ext cx="2376264" cy="5760641"/>
          </a:xfrm>
          <a:prstGeom prst="rect">
            <a:avLst/>
          </a:prstGeom>
          <a:solidFill>
            <a:srgbClr val="FFFF00">
              <a:alpha val="29000"/>
            </a:srgbClr>
          </a:solidFill>
          <a:ln w="9525">
            <a:solidFill>
              <a:schemeClr val="accent4">
                <a:lumMod val="75000"/>
              </a:schemeClr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cxnSp>
        <p:nvCxnSpPr>
          <p:cNvPr id="68" name="Straight Arrow Connector 67"/>
          <p:cNvCxnSpPr>
            <a:stCxn id="17" idx="2"/>
            <a:endCxn id="14" idx="0"/>
          </p:cNvCxnSpPr>
          <p:nvPr/>
        </p:nvCxnSpPr>
        <p:spPr>
          <a:xfrm>
            <a:off x="1822447" y="733171"/>
            <a:ext cx="14552" cy="4839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4"/>
          <p:cNvSpPr>
            <a:spLocks noGrp="1"/>
          </p:cNvSpPr>
          <p:nvPr>
            <p:ph type="title"/>
          </p:nvPr>
        </p:nvSpPr>
        <p:spPr>
          <a:xfrm>
            <a:off x="107504" y="-14382"/>
            <a:ext cx="8353425" cy="301745"/>
          </a:xfrm>
        </p:spPr>
        <p:txBody>
          <a:bodyPr>
            <a:normAutofit fontScale="90000"/>
          </a:bodyPr>
          <a:lstStyle/>
          <a:p>
            <a:pPr defTabSz="915489" eaLnBrk="0" hangingPunct="0">
              <a:lnSpc>
                <a:spcPts val="2475"/>
              </a:lnSpc>
              <a:defRPr/>
            </a:pPr>
            <a:r>
              <a:rPr lang="en-GB" sz="1800" kern="0" dirty="0"/>
              <a:t>Problem Report Workflow</a:t>
            </a:r>
            <a:endParaRPr lang="en-GB" sz="1800" b="0" kern="0" dirty="0">
              <a:solidFill>
                <a:schemeClr val="tx1"/>
              </a:solidFill>
            </a:endParaRPr>
          </a:p>
        </p:txBody>
      </p:sp>
      <p:sp>
        <p:nvSpPr>
          <p:cNvPr id="10" name="Datumsplatzhalter 8"/>
          <p:cNvSpPr txBox="1">
            <a:spLocks/>
          </p:cNvSpPr>
          <p:nvPr/>
        </p:nvSpPr>
        <p:spPr>
          <a:xfrm>
            <a:off x="6542856" y="6021289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2EA6AE20-A4D0-4F48-8392-0B929DE181BA}" type="datetimeFigureOut">
              <a:rPr lang="de-DE"/>
              <a:pPr defTabSz="914354">
                <a:defRPr/>
              </a:pPr>
              <a:t>27.06.2018</a:t>
            </a:fld>
            <a:endParaRPr lang="de-DE" dirty="0"/>
          </a:p>
        </p:txBody>
      </p:sp>
      <p:sp>
        <p:nvSpPr>
          <p:cNvPr id="12" name="Foliennummernplatzhalter 9"/>
          <p:cNvSpPr txBox="1">
            <a:spLocks/>
          </p:cNvSpPr>
          <p:nvPr/>
        </p:nvSpPr>
        <p:spPr>
          <a:xfrm>
            <a:off x="6545885" y="6336352"/>
            <a:ext cx="2133600" cy="210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409A5802-D3CC-4A0B-A3A5-F0A765EAD42A}" type="slidenum">
              <a:rPr lang="de-DE"/>
              <a:pPr defTabSz="914354">
                <a:defRPr/>
              </a:pPr>
              <a:t>4</a:t>
            </a:fld>
            <a:endParaRPr lang="de-DE"/>
          </a:p>
        </p:txBody>
      </p:sp>
      <p:sp>
        <p:nvSpPr>
          <p:cNvPr id="8" name="Rechteck 4"/>
          <p:cNvSpPr/>
          <p:nvPr/>
        </p:nvSpPr>
        <p:spPr>
          <a:xfrm>
            <a:off x="1340299" y="809155"/>
            <a:ext cx="972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Classified</a:t>
            </a:r>
          </a:p>
        </p:txBody>
      </p:sp>
      <p:sp>
        <p:nvSpPr>
          <p:cNvPr id="9" name="Rechteck 5"/>
          <p:cNvSpPr/>
          <p:nvPr/>
        </p:nvSpPr>
        <p:spPr>
          <a:xfrm>
            <a:off x="1342069" y="1348873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Analyzed</a:t>
            </a:r>
          </a:p>
        </p:txBody>
      </p:sp>
      <p:sp>
        <p:nvSpPr>
          <p:cNvPr id="13" name="Rechteck 6"/>
          <p:cNvSpPr/>
          <p:nvPr/>
        </p:nvSpPr>
        <p:spPr>
          <a:xfrm>
            <a:off x="1331640" y="1959467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</a:t>
            </a:r>
          </a:p>
          <a:p>
            <a:pPr algn="ctr" defTabSz="914377">
              <a:defRPr/>
            </a:pPr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&amp;</a:t>
            </a:r>
            <a:r>
              <a:rPr lang="de-DE" sz="1051" b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blank</a:t>
            </a:r>
          </a:p>
        </p:txBody>
      </p:sp>
      <p:sp>
        <p:nvSpPr>
          <p:cNvPr id="14" name="Rechteck 7"/>
          <p:cNvSpPr/>
          <p:nvPr/>
        </p:nvSpPr>
        <p:spPr>
          <a:xfrm>
            <a:off x="1332999" y="5572347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Realized</a:t>
            </a:r>
          </a:p>
        </p:txBody>
      </p:sp>
      <p:sp>
        <p:nvSpPr>
          <p:cNvPr id="16" name="Rechteck 17"/>
          <p:cNvSpPr/>
          <p:nvPr/>
        </p:nvSpPr>
        <p:spPr>
          <a:xfrm>
            <a:off x="1332999" y="3157848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to </a:t>
            </a:r>
            <a:r>
              <a:rPr lang="de-DE" sz="1000" b="1" kern="1200" baseline="0" noProof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be Integrated</a:t>
            </a:r>
            <a:endParaRPr lang="en-GB" sz="1000" b="1" kern="1200" baseline="0" noProof="0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Rechteck 24"/>
          <p:cNvSpPr/>
          <p:nvPr/>
        </p:nvSpPr>
        <p:spPr>
          <a:xfrm>
            <a:off x="1336447" y="283171"/>
            <a:ext cx="972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sp>
        <p:nvSpPr>
          <p:cNvPr id="18" name="Rechteck 120"/>
          <p:cNvSpPr/>
          <p:nvPr/>
        </p:nvSpPr>
        <p:spPr>
          <a:xfrm>
            <a:off x="1341819" y="4376556"/>
            <a:ext cx="1014896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endParaRPr lang="de-DE" sz="1000" b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to be verified</a:t>
            </a:r>
            <a:endParaRPr lang="de-DE" sz="1000" b="1" kern="1200" baseline="0" dirty="0">
              <a:solidFill>
                <a:sysClr val="windowText" lastClr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Rechteck 17"/>
          <p:cNvSpPr/>
          <p:nvPr/>
        </p:nvSpPr>
        <p:spPr>
          <a:xfrm>
            <a:off x="1332999" y="2464225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r>
              <a:rPr lang="de-DE" sz="1000" b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Planned</a:t>
            </a:r>
          </a:p>
        </p:txBody>
      </p:sp>
      <p:sp>
        <p:nvSpPr>
          <p:cNvPr id="20" name="Rechteck 24"/>
          <p:cNvSpPr/>
          <p:nvPr/>
        </p:nvSpPr>
        <p:spPr>
          <a:xfrm>
            <a:off x="2922656" y="889047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Mainstream*</a:t>
            </a: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54282" y="1164459"/>
            <a:ext cx="5683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4"/>
          <p:cNvSpPr/>
          <p:nvPr/>
        </p:nvSpPr>
        <p:spPr>
          <a:xfrm>
            <a:off x="4192279" y="889047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</a:t>
            </a:r>
            <a:r>
              <a:rPr lang="de-DE" sz="900" i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Mainstream*</a:t>
            </a:r>
            <a:endParaRPr lang="de-DE" sz="900" i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In Clarificaiton</a:t>
            </a:r>
          </a:p>
        </p:txBody>
      </p:sp>
      <p:sp>
        <p:nvSpPr>
          <p:cNvPr id="25" name="Rechteck 24"/>
          <p:cNvSpPr/>
          <p:nvPr/>
        </p:nvSpPr>
        <p:spPr>
          <a:xfrm>
            <a:off x="5509285" y="898875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</a:t>
            </a:r>
            <a:r>
              <a:rPr lang="de-DE" sz="900" i="1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Mainstream*</a:t>
            </a:r>
            <a:endParaRPr lang="de-DE" sz="900" i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27" name="Straight Arrow Connector 26"/>
          <p:cNvCxnSpPr>
            <a:endCxn id="24" idx="1"/>
          </p:cNvCxnSpPr>
          <p:nvPr/>
        </p:nvCxnSpPr>
        <p:spPr>
          <a:xfrm flipV="1">
            <a:off x="4002657" y="1123047"/>
            <a:ext cx="189623" cy="98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3"/>
            <a:endCxn id="25" idx="1"/>
          </p:cNvCxnSpPr>
          <p:nvPr/>
        </p:nvCxnSpPr>
        <p:spPr>
          <a:xfrm>
            <a:off x="5272279" y="1123047"/>
            <a:ext cx="237007" cy="98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3"/>
          </p:cNvCxnSpPr>
          <p:nvPr/>
        </p:nvCxnSpPr>
        <p:spPr>
          <a:xfrm flipH="1" flipV="1">
            <a:off x="2350069" y="1573874"/>
            <a:ext cx="3699219" cy="24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5" idx="2"/>
          </p:cNvCxnSpPr>
          <p:nvPr/>
        </p:nvCxnSpPr>
        <p:spPr>
          <a:xfrm>
            <a:off x="6049285" y="1366875"/>
            <a:ext cx="0" cy="20944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24"/>
          <p:cNvSpPr/>
          <p:nvPr/>
        </p:nvSpPr>
        <p:spPr>
          <a:xfrm>
            <a:off x="2932509" y="1827121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Mainstream*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sp>
        <p:nvSpPr>
          <p:cNvPr id="40" name="Rechteck 24"/>
          <p:cNvSpPr/>
          <p:nvPr/>
        </p:nvSpPr>
        <p:spPr>
          <a:xfrm>
            <a:off x="2933897" y="2458483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sz="90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Planned/In Work</a:t>
            </a:r>
            <a:endParaRPr lang="de-DE" sz="90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hteck 24"/>
          <p:cNvSpPr/>
          <p:nvPr/>
        </p:nvSpPr>
        <p:spPr>
          <a:xfrm>
            <a:off x="4258719" y="2458481"/>
            <a:ext cx="1008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Realized</a:t>
            </a:r>
          </a:p>
        </p:txBody>
      </p:sp>
      <p:sp>
        <p:nvSpPr>
          <p:cNvPr id="42" name="Rechteck 24"/>
          <p:cNvSpPr/>
          <p:nvPr/>
        </p:nvSpPr>
        <p:spPr>
          <a:xfrm>
            <a:off x="5482855" y="2458484"/>
            <a:ext cx="1080000" cy="483155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 -Mainstream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354989" y="2129177"/>
            <a:ext cx="576000" cy="64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3446153" y="2295121"/>
            <a:ext cx="0" cy="1691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0" idx="3"/>
            <a:endCxn id="41" idx="1"/>
          </p:cNvCxnSpPr>
          <p:nvPr/>
        </p:nvCxnSpPr>
        <p:spPr>
          <a:xfrm flipV="1">
            <a:off x="4013898" y="2690681"/>
            <a:ext cx="244821" cy="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5273317" y="2774455"/>
            <a:ext cx="23386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2360937" y="3396927"/>
            <a:ext cx="35792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940152" y="2941640"/>
            <a:ext cx="0" cy="45528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hteck 24"/>
          <p:cNvSpPr/>
          <p:nvPr/>
        </p:nvSpPr>
        <p:spPr>
          <a:xfrm>
            <a:off x="2989115" y="4311203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New, Planned</a:t>
            </a:r>
          </a:p>
        </p:txBody>
      </p:sp>
      <p:sp>
        <p:nvSpPr>
          <p:cNvPr id="74" name="Rechteck 24"/>
          <p:cNvSpPr/>
          <p:nvPr/>
        </p:nvSpPr>
        <p:spPr>
          <a:xfrm>
            <a:off x="4303100" y="4309980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sz="90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In Work/Realized</a:t>
            </a:r>
            <a:endParaRPr lang="de-DE" sz="90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Rechteck 24"/>
          <p:cNvSpPr/>
          <p:nvPr/>
        </p:nvSpPr>
        <p:spPr>
          <a:xfrm>
            <a:off x="5544967" y="4309980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76" name="Straight Arrow Connector 75"/>
          <p:cNvCxnSpPr>
            <a:stCxn id="73" idx="3"/>
            <a:endCxn id="74" idx="1"/>
          </p:cNvCxnSpPr>
          <p:nvPr/>
        </p:nvCxnSpPr>
        <p:spPr>
          <a:xfrm flipV="1">
            <a:off x="4069113" y="4542182"/>
            <a:ext cx="23398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5311101" y="4636806"/>
            <a:ext cx="23386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3904" y="264443"/>
            <a:ext cx="1145120" cy="400095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200"/>
              </a:lnSpc>
            </a:pPr>
            <a:r>
              <a:rPr lang="de-DE" sz="1000" b="1" kern="0" dirty="0">
                <a:latin typeface="Arial"/>
                <a:ea typeface="+mj-ea"/>
                <a:cs typeface="+mj-cs"/>
              </a:rPr>
              <a:t>Issue Assigned User - FDO</a:t>
            </a:r>
            <a:endParaRPr lang="en-GB" sz="1000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200758" y="573725"/>
            <a:ext cx="1745388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b="1" kern="0" dirty="0">
                <a:latin typeface="Arial"/>
                <a:ea typeface="+mj-ea"/>
                <a:cs typeface="+mj-cs"/>
              </a:rPr>
              <a:t>Assigned user - CD</a:t>
            </a:r>
            <a:endParaRPr lang="en-GB" sz="1200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004050" y="1826998"/>
            <a:ext cx="1891607" cy="477040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b="1" kern="0" dirty="0">
                <a:latin typeface="Arial"/>
                <a:ea typeface="+mj-ea"/>
                <a:cs typeface="+mj-cs"/>
              </a:rPr>
              <a:t>Assigned user – CD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000" i="1" kern="0" dirty="0">
                <a:latin typeface="Arial"/>
                <a:ea typeface="+mj-ea"/>
                <a:cs typeface="+mj-cs"/>
              </a:rPr>
              <a:t>RO for code implementation</a:t>
            </a:r>
            <a:endParaRPr lang="en-GB" sz="10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946145" y="541435"/>
            <a:ext cx="2080302" cy="22082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FDO – Funtion Delivery Owner, 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CD – Component Delegate, 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SE – Structure element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AT – Analysis Task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RO – Realization Order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Prj – Project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*Legacy project shall use their own project structure </a:t>
            </a:r>
            <a:r>
              <a:rPr lang="de-DE" sz="1100" i="1" kern="0" dirty="0" smtClean="0">
                <a:latin typeface="Arial"/>
                <a:ea typeface="+mj-ea"/>
                <a:cs typeface="+mj-cs"/>
              </a:rPr>
              <a:t>elements</a:t>
            </a:r>
            <a:endParaRPr lang="de-DE" sz="1100" i="1" kern="0" dirty="0">
              <a:latin typeface="Arial"/>
              <a:ea typeface="+mj-ea"/>
              <a:cs typeface="+mj-cs"/>
            </a:endParaRP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CCB – Change Control Board</a:t>
            </a:r>
            <a:endParaRPr lang="en-GB" sz="11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91" name="Rechteck 17"/>
          <p:cNvSpPr/>
          <p:nvPr/>
        </p:nvSpPr>
        <p:spPr>
          <a:xfrm>
            <a:off x="396713" y="3723397"/>
            <a:ext cx="8774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Integration</a:t>
            </a:r>
            <a:r>
              <a:rPr lang="de-DE" sz="10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 Failed</a:t>
            </a:r>
            <a:endParaRPr lang="en-GB" sz="1000" b="1" kern="1200" baseline="0" noProof="0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92" name="Straight Connector 91"/>
          <p:cNvCxnSpPr>
            <a:stCxn id="91" idx="0"/>
          </p:cNvCxnSpPr>
          <p:nvPr/>
        </p:nvCxnSpPr>
        <p:spPr>
          <a:xfrm flipH="1" flipV="1">
            <a:off x="833691" y="2179663"/>
            <a:ext cx="1722" cy="15437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835413" y="2602040"/>
            <a:ext cx="50312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91" idx="3"/>
          </p:cNvCxnSpPr>
          <p:nvPr/>
        </p:nvCxnSpPr>
        <p:spPr>
          <a:xfrm flipH="1">
            <a:off x="1274113" y="3948397"/>
            <a:ext cx="56288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835413" y="2179663"/>
            <a:ext cx="513277" cy="48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H="1">
            <a:off x="2354283" y="5784823"/>
            <a:ext cx="369500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hteck 120"/>
          <p:cNvSpPr/>
          <p:nvPr/>
        </p:nvSpPr>
        <p:spPr>
          <a:xfrm>
            <a:off x="417911" y="4884045"/>
            <a:ext cx="1014896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endParaRPr lang="de-DE" sz="1000" b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Test Failed</a:t>
            </a:r>
            <a:endParaRPr lang="de-DE" sz="1000" b="1" kern="1200" baseline="0" dirty="0">
              <a:solidFill>
                <a:sysClr val="windowText" lastClr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17" name="Straight Arrow Connector 116"/>
          <p:cNvCxnSpPr/>
          <p:nvPr/>
        </p:nvCxnSpPr>
        <p:spPr>
          <a:xfrm flipV="1">
            <a:off x="280578" y="1028303"/>
            <a:ext cx="1051062" cy="585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280578" y="1024889"/>
            <a:ext cx="6813" cy="408415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504885" y="5216526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i="1" kern="0" dirty="0">
                <a:latin typeface="Arial"/>
                <a:ea typeface="+mj-ea"/>
                <a:cs typeface="+mj-cs"/>
              </a:rPr>
              <a:t>Verification failed</a:t>
            </a:r>
            <a:endParaRPr lang="en-GB" sz="12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665333" y="5530455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i="1" kern="0" dirty="0">
                <a:latin typeface="Arial"/>
                <a:ea typeface="+mj-ea"/>
                <a:cs typeface="+mj-cs"/>
              </a:rPr>
              <a:t>Verification succesful</a:t>
            </a:r>
            <a:endParaRPr lang="en-GB" sz="12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709942" y="4026525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000" i="1" kern="0" dirty="0"/>
              <a:t>RO</a:t>
            </a:r>
            <a:r>
              <a:rPr lang="de-DE" sz="1000" i="1" kern="0" dirty="0">
                <a:latin typeface="Arial"/>
                <a:ea typeface="+mj-ea"/>
                <a:cs typeface="+mj-cs"/>
              </a:rPr>
              <a:t> for Verification</a:t>
            </a:r>
            <a:endParaRPr lang="en-GB" sz="1000" i="1" kern="0" dirty="0">
              <a:latin typeface="Arial"/>
              <a:ea typeface="+mj-ea"/>
              <a:cs typeface="+mj-cs"/>
            </a:endParaRPr>
          </a:p>
        </p:txBody>
      </p:sp>
      <p:cxnSp>
        <p:nvCxnSpPr>
          <p:cNvPr id="130" name="Straight Arrow Connector 129"/>
          <p:cNvCxnSpPr>
            <a:stCxn id="40" idx="1"/>
            <a:endCxn id="19" idx="3"/>
          </p:cNvCxnSpPr>
          <p:nvPr/>
        </p:nvCxnSpPr>
        <p:spPr>
          <a:xfrm flipH="1" flipV="1">
            <a:off x="2340999" y="2689225"/>
            <a:ext cx="592899" cy="1459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78553" y="1740883"/>
            <a:ext cx="641563" cy="2462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ctr" defTabSz="915512" eaLnBrk="0" hangingPunct="0">
              <a:lnSpc>
                <a:spcPts val="1200"/>
              </a:lnSpc>
            </a:pPr>
            <a:r>
              <a:rPr lang="de-DE" sz="1400" b="1" kern="0" dirty="0">
                <a:latin typeface="Arial"/>
                <a:ea typeface="+mj-ea"/>
                <a:cs typeface="+mj-cs"/>
              </a:rPr>
              <a:t>CCB</a:t>
            </a:r>
            <a:endParaRPr lang="en-GB" sz="1400" b="1" kern="0" dirty="0">
              <a:latin typeface="Arial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309" y="3163401"/>
            <a:ext cx="2242138" cy="2828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642446" y="5102102"/>
            <a:ext cx="1056918" cy="89022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algn="l" defTabSz="874713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82727" y="4559182"/>
            <a:ext cx="898439" cy="26737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algn="l" defTabSz="874713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cxnSp>
        <p:nvCxnSpPr>
          <p:cNvPr id="96" name="Straight Arrow Connector 95"/>
          <p:cNvCxnSpPr/>
          <p:nvPr/>
        </p:nvCxnSpPr>
        <p:spPr>
          <a:xfrm flipH="1" flipV="1">
            <a:off x="280578" y="5102102"/>
            <a:ext cx="132686" cy="694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1672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/>
          <p:cNvCxnSpPr/>
          <p:nvPr/>
        </p:nvCxnSpPr>
        <p:spPr>
          <a:xfrm flipH="1">
            <a:off x="2356715" y="5338567"/>
            <a:ext cx="369257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47705" y="4775604"/>
            <a:ext cx="0" cy="100921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2368427" y="4609047"/>
            <a:ext cx="64710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 bwMode="auto">
          <a:xfrm>
            <a:off x="2697673" y="4035179"/>
            <a:ext cx="4248472" cy="106692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A5C7F9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522360" y="4025301"/>
            <a:ext cx="241686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051" b="1" kern="0" dirty="0">
                <a:latin typeface="Arial"/>
                <a:ea typeface="+mj-ea"/>
                <a:cs typeface="+mj-cs"/>
              </a:rPr>
              <a:t>Assigned user – Test Engineer</a:t>
            </a:r>
            <a:endParaRPr lang="en-GB" sz="1051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2647183" y="552061"/>
            <a:ext cx="4248472" cy="110838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A5C7F9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2649561" y="1761247"/>
            <a:ext cx="4248472" cy="1766363"/>
          </a:xfrm>
          <a:prstGeom prst="rect">
            <a:avLst/>
          </a:prstGeom>
          <a:solidFill>
            <a:srgbClr val="CBDDF1">
              <a:alpha val="43000"/>
            </a:srgbClr>
          </a:solidFill>
          <a:ln w="9525">
            <a:solidFill>
              <a:srgbClr val="C1D8FB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107504" y="260649"/>
            <a:ext cx="2376264" cy="5760641"/>
          </a:xfrm>
          <a:prstGeom prst="rect">
            <a:avLst/>
          </a:prstGeom>
          <a:solidFill>
            <a:srgbClr val="FFFF00">
              <a:alpha val="29000"/>
            </a:srgbClr>
          </a:solidFill>
          <a:ln w="9525">
            <a:solidFill>
              <a:schemeClr val="accent4">
                <a:lumMod val="75000"/>
              </a:schemeClr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defTabSz="874691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cxnSp>
        <p:nvCxnSpPr>
          <p:cNvPr id="68" name="Straight Arrow Connector 67"/>
          <p:cNvCxnSpPr>
            <a:stCxn id="17" idx="2"/>
            <a:endCxn id="14" idx="0"/>
          </p:cNvCxnSpPr>
          <p:nvPr/>
        </p:nvCxnSpPr>
        <p:spPr>
          <a:xfrm>
            <a:off x="1822447" y="733171"/>
            <a:ext cx="14552" cy="4839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4"/>
          <p:cNvSpPr>
            <a:spLocks noGrp="1"/>
          </p:cNvSpPr>
          <p:nvPr>
            <p:ph type="title"/>
          </p:nvPr>
        </p:nvSpPr>
        <p:spPr>
          <a:xfrm>
            <a:off x="107504" y="-14382"/>
            <a:ext cx="8353425" cy="301745"/>
          </a:xfrm>
        </p:spPr>
        <p:txBody>
          <a:bodyPr>
            <a:normAutofit fontScale="90000"/>
          </a:bodyPr>
          <a:lstStyle/>
          <a:p>
            <a:pPr defTabSz="915489" eaLnBrk="0" hangingPunct="0">
              <a:lnSpc>
                <a:spcPts val="2475"/>
              </a:lnSpc>
              <a:defRPr/>
            </a:pPr>
            <a:r>
              <a:rPr lang="en-GB" sz="1800" kern="0" dirty="0"/>
              <a:t>Problem Report Workflow</a:t>
            </a:r>
            <a:endParaRPr lang="en-GB" sz="1800" b="0" kern="0" dirty="0">
              <a:solidFill>
                <a:schemeClr val="tx1"/>
              </a:solidFill>
            </a:endParaRPr>
          </a:p>
        </p:txBody>
      </p:sp>
      <p:sp>
        <p:nvSpPr>
          <p:cNvPr id="10" name="Datumsplatzhalter 8"/>
          <p:cNvSpPr txBox="1">
            <a:spLocks/>
          </p:cNvSpPr>
          <p:nvPr/>
        </p:nvSpPr>
        <p:spPr>
          <a:xfrm>
            <a:off x="6542856" y="6021289"/>
            <a:ext cx="2133600" cy="21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2EA6AE20-A4D0-4F48-8392-0B929DE181BA}" type="datetimeFigureOut">
              <a:rPr lang="de-DE"/>
              <a:pPr defTabSz="914354">
                <a:defRPr/>
              </a:pPr>
              <a:t>27.06.2018</a:t>
            </a:fld>
            <a:endParaRPr lang="de-DE" dirty="0"/>
          </a:p>
        </p:txBody>
      </p:sp>
      <p:sp>
        <p:nvSpPr>
          <p:cNvPr id="12" name="Foliennummernplatzhalter 9"/>
          <p:cNvSpPr txBox="1">
            <a:spLocks/>
          </p:cNvSpPr>
          <p:nvPr/>
        </p:nvSpPr>
        <p:spPr>
          <a:xfrm>
            <a:off x="6545885" y="6336352"/>
            <a:ext cx="2133600" cy="210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pPr defTabSz="914354">
              <a:defRPr/>
            </a:pPr>
            <a:fld id="{409A5802-D3CC-4A0B-A3A5-F0A765EAD42A}" type="slidenum">
              <a:rPr lang="de-DE"/>
              <a:pPr defTabSz="914354">
                <a:defRPr/>
              </a:pPr>
              <a:t>5</a:t>
            </a:fld>
            <a:endParaRPr lang="de-DE"/>
          </a:p>
        </p:txBody>
      </p:sp>
      <p:sp>
        <p:nvSpPr>
          <p:cNvPr id="8" name="Rechteck 4"/>
          <p:cNvSpPr/>
          <p:nvPr/>
        </p:nvSpPr>
        <p:spPr>
          <a:xfrm>
            <a:off x="1340299" y="809155"/>
            <a:ext cx="972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Classified</a:t>
            </a:r>
          </a:p>
        </p:txBody>
      </p:sp>
      <p:sp>
        <p:nvSpPr>
          <p:cNvPr id="9" name="Rechteck 5"/>
          <p:cNvSpPr/>
          <p:nvPr/>
        </p:nvSpPr>
        <p:spPr>
          <a:xfrm>
            <a:off x="1342069" y="1348873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Analyzed</a:t>
            </a:r>
          </a:p>
        </p:txBody>
      </p:sp>
      <p:sp>
        <p:nvSpPr>
          <p:cNvPr id="13" name="Rechteck 6"/>
          <p:cNvSpPr/>
          <p:nvPr/>
        </p:nvSpPr>
        <p:spPr>
          <a:xfrm>
            <a:off x="1331640" y="1959467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</a:t>
            </a:r>
          </a:p>
          <a:p>
            <a:pPr algn="ctr" defTabSz="914377">
              <a:defRPr/>
            </a:pPr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&amp;</a:t>
            </a:r>
            <a:r>
              <a:rPr lang="de-DE" sz="1051" b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blank</a:t>
            </a:r>
          </a:p>
        </p:txBody>
      </p:sp>
      <p:sp>
        <p:nvSpPr>
          <p:cNvPr id="14" name="Rechteck 7"/>
          <p:cNvSpPr/>
          <p:nvPr/>
        </p:nvSpPr>
        <p:spPr>
          <a:xfrm>
            <a:off x="1332999" y="5572347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Realized</a:t>
            </a:r>
          </a:p>
        </p:txBody>
      </p:sp>
      <p:sp>
        <p:nvSpPr>
          <p:cNvPr id="16" name="Rechteck 17"/>
          <p:cNvSpPr/>
          <p:nvPr/>
        </p:nvSpPr>
        <p:spPr>
          <a:xfrm>
            <a:off x="1332999" y="3157848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to </a:t>
            </a:r>
            <a:r>
              <a:rPr lang="de-DE" sz="1000" b="1" kern="1200" baseline="0" noProof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be Integrated</a:t>
            </a:r>
            <a:endParaRPr lang="en-GB" sz="1000" b="1" kern="1200" baseline="0" noProof="0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Rechteck 24"/>
          <p:cNvSpPr/>
          <p:nvPr/>
        </p:nvSpPr>
        <p:spPr>
          <a:xfrm>
            <a:off x="1336447" y="283171"/>
            <a:ext cx="972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2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sp>
        <p:nvSpPr>
          <p:cNvPr id="18" name="Rechteck 120"/>
          <p:cNvSpPr/>
          <p:nvPr/>
        </p:nvSpPr>
        <p:spPr>
          <a:xfrm>
            <a:off x="1341819" y="4376556"/>
            <a:ext cx="1014896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endParaRPr lang="de-DE" sz="1000" b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to be verified</a:t>
            </a:r>
            <a:endParaRPr lang="de-DE" sz="1000" b="1" kern="1200" baseline="0" dirty="0">
              <a:solidFill>
                <a:sysClr val="windowText" lastClr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Rechteck 17"/>
          <p:cNvSpPr/>
          <p:nvPr/>
        </p:nvSpPr>
        <p:spPr>
          <a:xfrm>
            <a:off x="1332999" y="2464225"/>
            <a:ext cx="10080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r>
              <a:rPr lang="de-DE" sz="1000" b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Planned</a:t>
            </a:r>
          </a:p>
        </p:txBody>
      </p:sp>
      <p:sp>
        <p:nvSpPr>
          <p:cNvPr id="20" name="Rechteck 24"/>
          <p:cNvSpPr/>
          <p:nvPr/>
        </p:nvSpPr>
        <p:spPr>
          <a:xfrm>
            <a:off x="2922656" y="889047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Mainstream*</a:t>
            </a: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54282" y="1164459"/>
            <a:ext cx="5683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4"/>
          <p:cNvSpPr/>
          <p:nvPr/>
        </p:nvSpPr>
        <p:spPr>
          <a:xfrm>
            <a:off x="4192279" y="889047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In Clarificaiton</a:t>
            </a:r>
          </a:p>
        </p:txBody>
      </p:sp>
      <p:sp>
        <p:nvSpPr>
          <p:cNvPr id="25" name="Rechteck 24"/>
          <p:cNvSpPr/>
          <p:nvPr/>
        </p:nvSpPr>
        <p:spPr>
          <a:xfrm>
            <a:off x="5509285" y="898875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AT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27" name="Straight Arrow Connector 26"/>
          <p:cNvCxnSpPr>
            <a:endCxn id="24" idx="1"/>
          </p:cNvCxnSpPr>
          <p:nvPr/>
        </p:nvCxnSpPr>
        <p:spPr>
          <a:xfrm flipV="1">
            <a:off x="4002657" y="1123047"/>
            <a:ext cx="189623" cy="98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3"/>
            <a:endCxn id="25" idx="1"/>
          </p:cNvCxnSpPr>
          <p:nvPr/>
        </p:nvCxnSpPr>
        <p:spPr>
          <a:xfrm>
            <a:off x="5272279" y="1123047"/>
            <a:ext cx="237007" cy="98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3"/>
          </p:cNvCxnSpPr>
          <p:nvPr/>
        </p:nvCxnSpPr>
        <p:spPr>
          <a:xfrm flipH="1" flipV="1">
            <a:off x="2350069" y="1573874"/>
            <a:ext cx="3699219" cy="24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5" idx="2"/>
          </p:cNvCxnSpPr>
          <p:nvPr/>
        </p:nvCxnSpPr>
        <p:spPr>
          <a:xfrm>
            <a:off x="6049285" y="1366875"/>
            <a:ext cx="0" cy="20944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hteck 24"/>
          <p:cNvSpPr/>
          <p:nvPr/>
        </p:nvSpPr>
        <p:spPr>
          <a:xfrm>
            <a:off x="2932509" y="1827121"/>
            <a:ext cx="1080000" cy="4680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Mainstream*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</a:t>
            </a:r>
          </a:p>
        </p:txBody>
      </p:sp>
      <p:sp>
        <p:nvSpPr>
          <p:cNvPr id="40" name="Rechteck 24"/>
          <p:cNvSpPr/>
          <p:nvPr/>
        </p:nvSpPr>
        <p:spPr>
          <a:xfrm>
            <a:off x="2933897" y="2458483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sz="90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Planned/In Work</a:t>
            </a:r>
            <a:endParaRPr lang="de-DE" sz="90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hteck 24"/>
          <p:cNvSpPr/>
          <p:nvPr/>
        </p:nvSpPr>
        <p:spPr>
          <a:xfrm>
            <a:off x="4258719" y="2458481"/>
            <a:ext cx="1008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Prj- Mainstream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Realized</a:t>
            </a:r>
          </a:p>
        </p:txBody>
      </p:sp>
      <p:sp>
        <p:nvSpPr>
          <p:cNvPr id="42" name="Rechteck 24"/>
          <p:cNvSpPr/>
          <p:nvPr/>
        </p:nvSpPr>
        <p:spPr>
          <a:xfrm>
            <a:off x="5482855" y="2458484"/>
            <a:ext cx="1080000" cy="483155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9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Prj -Mainstream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2354989" y="2129177"/>
            <a:ext cx="576000" cy="64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3446153" y="2295121"/>
            <a:ext cx="0" cy="1691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0" idx="3"/>
            <a:endCxn id="41" idx="1"/>
          </p:cNvCxnSpPr>
          <p:nvPr/>
        </p:nvCxnSpPr>
        <p:spPr>
          <a:xfrm flipV="1">
            <a:off x="4013898" y="2690681"/>
            <a:ext cx="244821" cy="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5273317" y="2774455"/>
            <a:ext cx="23386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2360937" y="3396927"/>
            <a:ext cx="35792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940152" y="2941640"/>
            <a:ext cx="0" cy="45528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hteck 24"/>
          <p:cNvSpPr/>
          <p:nvPr/>
        </p:nvSpPr>
        <p:spPr>
          <a:xfrm>
            <a:off x="2989115" y="4311203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 defTabSz="914377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sz="105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New, Planned</a:t>
            </a:r>
          </a:p>
        </p:txBody>
      </p:sp>
      <p:sp>
        <p:nvSpPr>
          <p:cNvPr id="74" name="Rechteck 24"/>
          <p:cNvSpPr/>
          <p:nvPr/>
        </p:nvSpPr>
        <p:spPr>
          <a:xfrm>
            <a:off x="4303100" y="4309980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sz="900" dirty="0" smtClea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In Work/Realized</a:t>
            </a:r>
            <a:endParaRPr lang="de-DE" sz="900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Rechteck 24"/>
          <p:cNvSpPr/>
          <p:nvPr/>
        </p:nvSpPr>
        <p:spPr>
          <a:xfrm>
            <a:off x="5544967" y="4309980"/>
            <a:ext cx="1080000" cy="464400"/>
          </a:xfrm>
          <a:prstGeom prst="rect">
            <a:avLst/>
          </a:prstGeom>
          <a:solidFill>
            <a:srgbClr val="CBDDF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RO</a:t>
            </a:r>
          </a:p>
          <a:p>
            <a:pPr algn="ctr"/>
            <a:r>
              <a:rPr lang="de-DE" sz="1000" i="1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 – Test Area</a:t>
            </a:r>
          </a:p>
          <a:p>
            <a:pPr algn="ctr" defTabSz="914377"/>
            <a:r>
              <a:rPr lang="de-DE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Closed</a:t>
            </a:r>
          </a:p>
        </p:txBody>
      </p:sp>
      <p:cxnSp>
        <p:nvCxnSpPr>
          <p:cNvPr id="76" name="Straight Arrow Connector 75"/>
          <p:cNvCxnSpPr>
            <a:stCxn id="73" idx="3"/>
            <a:endCxn id="74" idx="1"/>
          </p:cNvCxnSpPr>
          <p:nvPr/>
        </p:nvCxnSpPr>
        <p:spPr>
          <a:xfrm flipV="1">
            <a:off x="4069113" y="4542182"/>
            <a:ext cx="23398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5311101" y="4636806"/>
            <a:ext cx="233867" cy="12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3904" y="264443"/>
            <a:ext cx="1145120" cy="400095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200"/>
              </a:lnSpc>
            </a:pPr>
            <a:r>
              <a:rPr lang="de-DE" sz="1000" b="1" kern="0" dirty="0">
                <a:latin typeface="Arial"/>
                <a:ea typeface="+mj-ea"/>
                <a:cs typeface="+mj-cs"/>
              </a:rPr>
              <a:t>Issue Assigned User - FDO</a:t>
            </a:r>
            <a:endParaRPr lang="en-GB" sz="1000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200758" y="573725"/>
            <a:ext cx="1745388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b="1" kern="0" dirty="0">
                <a:latin typeface="Arial"/>
                <a:ea typeface="+mj-ea"/>
                <a:cs typeface="+mj-cs"/>
              </a:rPr>
              <a:t>Assigned user - CD</a:t>
            </a:r>
            <a:endParaRPr lang="en-GB" sz="1200" b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004050" y="1826998"/>
            <a:ext cx="1891607" cy="477040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b="1" kern="0" dirty="0">
                <a:latin typeface="Arial"/>
                <a:ea typeface="+mj-ea"/>
                <a:cs typeface="+mj-cs"/>
              </a:rPr>
              <a:t>Assigned user – CD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000" i="1" kern="0" dirty="0">
                <a:latin typeface="Arial"/>
                <a:ea typeface="+mj-ea"/>
                <a:cs typeface="+mj-cs"/>
              </a:rPr>
              <a:t>RO for code implementation</a:t>
            </a:r>
            <a:endParaRPr lang="en-GB" sz="10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110499" y="541435"/>
            <a:ext cx="1730311" cy="25930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FDO – Funtion Delivery Owner, 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CD – Component Delegate, 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SE – Structure element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AT – Analysis Task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RO – Realization Order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Prj – Project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*Legacy project shall use their own project structure elements</a:t>
            </a:r>
          </a:p>
          <a:p>
            <a:pPr defTabSz="915512" eaLnBrk="0" hangingPunct="0">
              <a:lnSpc>
                <a:spcPts val="1500"/>
              </a:lnSpc>
            </a:pPr>
            <a:r>
              <a:rPr lang="de-DE" sz="1100" i="1" kern="0" dirty="0">
                <a:latin typeface="Arial"/>
                <a:ea typeface="+mj-ea"/>
                <a:cs typeface="+mj-cs"/>
              </a:rPr>
              <a:t>CCB – Change Control Board</a:t>
            </a:r>
            <a:endParaRPr lang="en-GB" sz="11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91" name="Rechteck 17"/>
          <p:cNvSpPr/>
          <p:nvPr/>
        </p:nvSpPr>
        <p:spPr>
          <a:xfrm>
            <a:off x="396713" y="3723397"/>
            <a:ext cx="877400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Integration</a:t>
            </a:r>
            <a:r>
              <a:rPr lang="de-DE" sz="1000" b="1" kern="1200" baseline="0" noProof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 Failed</a:t>
            </a:r>
            <a:endParaRPr lang="en-GB" sz="1000" b="1" kern="1200" baseline="0" noProof="0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92" name="Straight Connector 91"/>
          <p:cNvCxnSpPr>
            <a:stCxn id="91" idx="0"/>
          </p:cNvCxnSpPr>
          <p:nvPr/>
        </p:nvCxnSpPr>
        <p:spPr>
          <a:xfrm flipH="1" flipV="1">
            <a:off x="833691" y="2179663"/>
            <a:ext cx="1722" cy="15437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833691" y="2703433"/>
            <a:ext cx="48642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91" idx="3"/>
          </p:cNvCxnSpPr>
          <p:nvPr/>
        </p:nvCxnSpPr>
        <p:spPr>
          <a:xfrm flipH="1">
            <a:off x="1274113" y="3948397"/>
            <a:ext cx="56288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835413" y="2179663"/>
            <a:ext cx="513277" cy="48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H="1">
            <a:off x="2354283" y="5784823"/>
            <a:ext cx="369500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hteck 120"/>
          <p:cNvSpPr/>
          <p:nvPr/>
        </p:nvSpPr>
        <p:spPr>
          <a:xfrm>
            <a:off x="417911" y="4884045"/>
            <a:ext cx="1014896" cy="4500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defRPr/>
            </a:pPr>
            <a:r>
              <a:rPr lang="de-DE" sz="100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Accepted &amp;</a:t>
            </a:r>
            <a:endParaRPr lang="de-DE" sz="1000" b="1" dirty="0">
              <a:solidFill>
                <a:sysClr val="windowText" lastClr="00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 kern="1200" baseline="0" dirty="0" smtClean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Test Failed</a:t>
            </a:r>
            <a:endParaRPr lang="de-DE" sz="1000" b="1" kern="1200" baseline="0" dirty="0">
              <a:solidFill>
                <a:sysClr val="windowText" lastClr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16" name="Straight Arrow Connector 115"/>
          <p:cNvCxnSpPr>
            <a:endCxn id="103" idx="3"/>
          </p:cNvCxnSpPr>
          <p:nvPr/>
        </p:nvCxnSpPr>
        <p:spPr>
          <a:xfrm flipH="1">
            <a:off x="1432807" y="5109045"/>
            <a:ext cx="413263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V="1">
            <a:off x="280578" y="1028303"/>
            <a:ext cx="1051062" cy="585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280578" y="1024889"/>
            <a:ext cx="6813" cy="408415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27103" y="5071352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i="1" kern="0" dirty="0">
                <a:latin typeface="Arial"/>
                <a:ea typeface="+mj-ea"/>
                <a:cs typeface="+mj-cs"/>
              </a:rPr>
              <a:t>Verification failed</a:t>
            </a:r>
            <a:endParaRPr lang="en-GB" sz="12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665333" y="5530455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200" i="1" kern="0" dirty="0">
                <a:latin typeface="Arial"/>
                <a:ea typeface="+mj-ea"/>
                <a:cs typeface="+mj-cs"/>
              </a:rPr>
              <a:t>Verification succesful</a:t>
            </a:r>
            <a:endParaRPr lang="en-GB" sz="1200" i="1" kern="0" dirty="0">
              <a:latin typeface="Arial"/>
              <a:ea typeface="+mj-ea"/>
              <a:cs typeface="+mj-cs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709942" y="4026525"/>
            <a:ext cx="1683999" cy="284679"/>
          </a:xfrm>
          <a:prstGeom prst="rect">
            <a:avLst/>
          </a:prstGeom>
        </p:spPr>
        <p:txBody>
          <a:bodyPr wrap="square" lIns="97184" tIns="45713" rIns="97184" bIns="45713" rtlCol="0">
            <a:spAutoFit/>
          </a:bodyPr>
          <a:lstStyle/>
          <a:p>
            <a:pPr defTabSz="915512" eaLnBrk="0" hangingPunct="0">
              <a:lnSpc>
                <a:spcPts val="1500"/>
              </a:lnSpc>
            </a:pPr>
            <a:r>
              <a:rPr lang="de-DE" sz="1000" i="1" kern="0" dirty="0"/>
              <a:t>RO</a:t>
            </a:r>
            <a:r>
              <a:rPr lang="de-DE" sz="1000" i="1" kern="0" dirty="0">
                <a:latin typeface="Arial"/>
                <a:ea typeface="+mj-ea"/>
                <a:cs typeface="+mj-cs"/>
              </a:rPr>
              <a:t> for Verification</a:t>
            </a:r>
            <a:endParaRPr lang="en-GB" sz="1000" i="1" kern="0" dirty="0">
              <a:latin typeface="Arial"/>
              <a:ea typeface="+mj-ea"/>
              <a:cs typeface="+mj-cs"/>
            </a:endParaRPr>
          </a:p>
        </p:txBody>
      </p:sp>
      <p:cxnSp>
        <p:nvCxnSpPr>
          <p:cNvPr id="130" name="Straight Arrow Connector 129"/>
          <p:cNvCxnSpPr>
            <a:stCxn id="40" idx="1"/>
            <a:endCxn id="19" idx="3"/>
          </p:cNvCxnSpPr>
          <p:nvPr/>
        </p:nvCxnSpPr>
        <p:spPr>
          <a:xfrm flipH="1" flipV="1">
            <a:off x="2340999" y="2689225"/>
            <a:ext cx="592899" cy="1459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78553" y="1740883"/>
            <a:ext cx="641563" cy="2462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lIns="97184" tIns="45713" rIns="97184" bIns="45713" rtlCol="0">
            <a:spAutoFit/>
          </a:bodyPr>
          <a:lstStyle/>
          <a:p>
            <a:pPr algn="ctr" defTabSz="915512" eaLnBrk="0" hangingPunct="0">
              <a:lnSpc>
                <a:spcPts val="1200"/>
              </a:lnSpc>
            </a:pPr>
            <a:r>
              <a:rPr lang="de-DE" sz="1400" b="1" kern="0" dirty="0">
                <a:latin typeface="Arial"/>
                <a:ea typeface="+mj-ea"/>
                <a:cs typeface="+mj-cs"/>
              </a:rPr>
              <a:t>CCB</a:t>
            </a:r>
            <a:endParaRPr lang="en-GB" sz="1400" b="1" kern="0" dirty="0">
              <a:latin typeface="Arial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309" y="3163401"/>
            <a:ext cx="2242138" cy="2828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642446" y="5102102"/>
            <a:ext cx="1056918" cy="89022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algn="l" defTabSz="874713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6782727" y="4559182"/>
            <a:ext cx="898439" cy="26737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1445" tIns="45723" rIns="91445" bIns="45723" rtlCol="0" anchor="ctr"/>
          <a:lstStyle/>
          <a:p>
            <a:pPr algn="l" defTabSz="874713">
              <a:lnSpc>
                <a:spcPts val="2363"/>
              </a:lnSpc>
            </a:pPr>
            <a:endParaRPr lang="en-GB" sz="2400" b="1" dirty="0">
              <a:solidFill>
                <a:schemeClr val="accent1"/>
              </a:solidFill>
            </a:endParaRPr>
          </a:p>
        </p:txBody>
      </p:sp>
      <p:cxnSp>
        <p:nvCxnSpPr>
          <p:cNvPr id="96" name="Straight Arrow Connector 95"/>
          <p:cNvCxnSpPr/>
          <p:nvPr/>
        </p:nvCxnSpPr>
        <p:spPr>
          <a:xfrm flipH="1" flipV="1">
            <a:off x="280578" y="5102102"/>
            <a:ext cx="132686" cy="694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329927"/>
              </p:ext>
            </p:extLst>
          </p:nvPr>
        </p:nvGraphicFramePr>
        <p:xfrm>
          <a:off x="2525751" y="264443"/>
          <a:ext cx="6523294" cy="6119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6467"/>
                <a:gridCol w="3056827"/>
              </a:tblGrid>
              <a:tr h="209397">
                <a:tc>
                  <a:txBody>
                    <a:bodyPr/>
                    <a:lstStyle/>
                    <a:p>
                      <a:r>
                        <a:rPr lang="en-US" sz="800" b="0" noProof="0" dirty="0" smtClean="0">
                          <a:solidFill>
                            <a:schemeClr val="tx1"/>
                          </a:solidFill>
                        </a:rPr>
                        <a:t>IMS Fields</a:t>
                      </a:r>
                      <a:endParaRPr lang="en-US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noProof="0" dirty="0" smtClean="0">
                          <a:solidFill>
                            <a:schemeClr val="tx1"/>
                          </a:solidFill>
                        </a:rPr>
                        <a:t>Short Explanation</a:t>
                      </a:r>
                      <a:endParaRPr lang="en-US" sz="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568364"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New</a:t>
                      </a:r>
                    </a:p>
                    <a:p>
                      <a:r>
                        <a:rPr lang="en-US" sz="800" b="0" i="1" baseline="0" noProof="0" dirty="0" smtClean="0"/>
                        <a:t>ADAS Sub State: </a:t>
                      </a:r>
                      <a:r>
                        <a:rPr lang="en-US" sz="800" b="0" i="1" baseline="0" noProof="0" dirty="0" smtClean="0">
                          <a:solidFill>
                            <a:srgbClr val="FF0000"/>
                          </a:solidFill>
                        </a:rPr>
                        <a:t>not editable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Found in Release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Detected by:</a:t>
                      </a:r>
                      <a:endParaRPr lang="en-US" sz="800" kern="1200" baseline="0" noProof="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Issue</a:t>
                      </a:r>
                      <a:r>
                        <a:rPr lang="en-US" sz="800" baseline="0" noProof="0" dirty="0" smtClean="0"/>
                        <a:t> Initiator creates </a:t>
                      </a:r>
                      <a:r>
                        <a:rPr lang="en-US" sz="800" baseline="0" noProof="0" smtClean="0"/>
                        <a:t>an issue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88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Classified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FF0000"/>
                          </a:solidFill>
                        </a:rPr>
                        <a:t>not editable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>
                          <a:solidFill>
                            <a:schemeClr val="accent6"/>
                          </a:solidFill>
                        </a:rPr>
                        <a:t>Analysis Due Date: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>
                          <a:solidFill>
                            <a:schemeClr val="accent6"/>
                          </a:solidFill>
                        </a:rPr>
                        <a:t>Importance: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>
                          <a:solidFill>
                            <a:schemeClr val="accent6"/>
                          </a:solidFill>
                        </a:rPr>
                        <a:t>Urgency: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>
                          <a:solidFill>
                            <a:schemeClr val="accent6"/>
                          </a:solidFill>
                        </a:rPr>
                        <a:t>Analysis Summary:</a:t>
                      </a:r>
                      <a:endParaRPr lang="en-US" sz="800" noProof="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FDO shall provide a due date for the analysis tasks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Analyzed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FF0000"/>
                          </a:solidFill>
                        </a:rPr>
                        <a:t>not editable</a:t>
                      </a:r>
                      <a:endParaRPr lang="en-US" sz="800" noProof="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Issue Analyzed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1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blank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Planned Target Release: SW ‘Planning/Container’ Release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Tag List: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Test Area which shall verify the issue</a:t>
                      </a:r>
                      <a:endParaRPr lang="en-US" sz="800" noProof="0" dirty="0" smtClean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FDO shall create the RO for implementation, test case creation* </a:t>
                      </a:r>
                    </a:p>
                    <a:p>
                      <a:r>
                        <a:rPr lang="en-US" sz="800" noProof="0" dirty="0" smtClean="0"/>
                        <a:t>*in case of Feature</a:t>
                      </a:r>
                      <a:r>
                        <a:rPr lang="en-US" sz="800" baseline="0" noProof="0" dirty="0" smtClean="0"/>
                        <a:t> Requests/Change Requests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1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Planned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Planned Target Release: SW CW Iteration/Cadence Release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Tag List: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Test Area which shall verify the issue</a:t>
                      </a:r>
                      <a:endParaRPr lang="en-US" sz="800" noProof="0" dirty="0" smtClean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FDO shall set</a:t>
                      </a:r>
                      <a:r>
                        <a:rPr lang="en-US" sz="800" baseline="0" noProof="0" dirty="0" smtClean="0"/>
                        <a:t> the issue to Planned when all the RO’s are planned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964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To be integrated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Planned Target Release: SW Cadence Release (update if needed)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Tag List: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Test Area which shall verify the issue</a:t>
                      </a:r>
                      <a:endParaRPr lang="en-US" sz="800" noProof="0" dirty="0" smtClean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All the code implementation RO’s are closed &amp; issue is ready</a:t>
                      </a:r>
                      <a:r>
                        <a:rPr lang="en-US" sz="800" baseline="0" noProof="0" dirty="0" smtClean="0"/>
                        <a:t> to be integrated into a project release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Integrator</a:t>
                      </a:r>
                      <a:r>
                        <a:rPr lang="en-US" sz="800" baseline="0" noProof="0" dirty="0" smtClean="0"/>
                        <a:t> adds the fix integrated in checkpoint information</a:t>
                      </a:r>
                      <a:endParaRPr lang="en-US" sz="800" noProof="0" dirty="0" smtClean="0"/>
                    </a:p>
                    <a:p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3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 smtClean="0"/>
                        <a:t>State:</a:t>
                      </a:r>
                      <a:r>
                        <a:rPr lang="en-US" sz="800" baseline="0" noProof="0" dirty="0" smtClean="0"/>
                        <a:t>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ADAS Sub State: </a:t>
                      </a:r>
                      <a:r>
                        <a:rPr lang="en-US" sz="800" baseline="0" noProof="0" dirty="0" smtClean="0">
                          <a:solidFill>
                            <a:srgbClr val="00B0F0"/>
                          </a:solidFill>
                        </a:rPr>
                        <a:t>Integration Failed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aseline="0" noProof="0" dirty="0" smtClean="0"/>
                        <a:t>Planned Target Release: SW Cadence Release</a:t>
                      </a:r>
                      <a:endParaRPr lang="en-US" sz="800" noProof="0" dirty="0" smtClean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 smtClean="0"/>
                        <a:t>Integrator</a:t>
                      </a:r>
                      <a:r>
                        <a:rPr lang="en-US" sz="800" baseline="0" noProof="0" dirty="0" smtClean="0"/>
                        <a:t> cannot integrate an issue</a:t>
                      </a:r>
                    </a:p>
                    <a:p>
                      <a:r>
                        <a:rPr lang="en-US" sz="800" baseline="0" noProof="0" dirty="0" smtClean="0"/>
                        <a:t>FDO follows up and clarifies the issue</a:t>
                      </a:r>
                      <a:endParaRPr lang="en-US" sz="8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81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State: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ADAS Sub State: </a:t>
                      </a:r>
                      <a:r>
                        <a:rPr lang="en-US" sz="800" kern="1200" baseline="0" noProof="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To be Verified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Planned Target Release: SW Cadence Release (update if needed)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Tag List: Test Area which shall verify the issue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Manager uses the query to filter for issues to be verified in the project. </a:t>
                      </a:r>
                      <a:endParaRPr lang="en-US" sz="8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64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State: Accepted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ADAS Sub State: </a:t>
                      </a:r>
                      <a:r>
                        <a:rPr lang="en-US" sz="800" kern="1200" baseline="0" noProof="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Test Failed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Planned Target Release: SW Cadence Release (update if needed)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Tag List: Test Area which verified the issue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unsuccessful*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Defined to be used only for Problem Reports</a:t>
                      </a:r>
                      <a:endParaRPr lang="en-US" sz="8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64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State: Realized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ADAS Sub State</a:t>
                      </a:r>
                      <a:r>
                        <a:rPr lang="en-US" sz="800" kern="1200" noProof="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: blank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Planned Target Release: SW Cadence Release (update if needed)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Tag List: Test Area which verified the issue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8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Successful </a:t>
                      </a:r>
                      <a:endParaRPr lang="en-US" sz="8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2366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>
          <a:xfrm>
            <a:off x="179832" y="1051560"/>
            <a:ext cx="8784336" cy="4754881"/>
            <a:chOff x="179832" y="194310"/>
            <a:chExt cx="8784336" cy="4754880"/>
          </a:xfrm>
        </p:grpSpPr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32" y="194310"/>
              <a:ext cx="8784336" cy="4754880"/>
            </a:xfrm>
            <a:prstGeom prst="rect">
              <a:avLst/>
            </a:prstGeom>
          </p:spPr>
        </p:pic>
        <p:pic>
          <p:nvPicPr>
            <p:cNvPr id="2" name="Picture 2" descr="P:\Projekte\Continental\Print\Handycleaner_C&amp;S\PPT  Daten gesammelt\Headline_Safe-and-Dynamic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871" y="242894"/>
              <a:ext cx="8112545" cy="1608776"/>
            </a:xfrm>
            <a:prstGeom prst="rect">
              <a:avLst/>
            </a:prstGeom>
            <a:ln>
              <a:noFill/>
            </a:ln>
            <a:effectLst>
              <a:outerShdw blurRad="2921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395536" y="4340593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</a:rPr>
                <a:t>Sense</a:t>
              </a:r>
              <a:r>
                <a:rPr lang="de-DE" b="1" dirty="0">
                  <a:solidFill>
                    <a:schemeClr val="bg1"/>
                  </a:solidFill>
                </a:rPr>
                <a:t>Plan</a:t>
              </a:r>
              <a:r>
                <a:rPr lang="de-DE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Act</a:t>
              </a: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56950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heme/theme1.xml><?xml version="1.0" encoding="utf-8"?>
<a:theme xmlns:a="http://schemas.openxmlformats.org/drawingml/2006/main" name="Continental 4x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 lIns="91445" tIns="45723" rIns="91445" bIns="45723"/>
      <a:lstStyle>
        <a:defPPr algn="l" defTabSz="874713">
          <a:lnSpc>
            <a:spcPts val="2363"/>
          </a:lnSpc>
          <a:defRPr sz="2400" b="1" dirty="0">
            <a:solidFill>
              <a:schemeClr val="accent1"/>
            </a:solidFill>
          </a:defRPr>
        </a:defPPr>
      </a:lst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lIns="97184" tIns="45713" rIns="97184" bIns="45713"/>
      <a:lstStyle>
        <a:defPPr defTabSz="915535" eaLnBrk="0" hangingPunct="0">
          <a:lnSpc>
            <a:spcPts val="2475"/>
          </a:lnSpc>
          <a:defRPr sz="2400" b="1" kern="0" dirty="0" smtClean="0">
            <a:solidFill>
              <a:schemeClr val="accent1"/>
            </a:solidFill>
            <a:latin typeface="Arial"/>
            <a:ea typeface="+mj-ea"/>
            <a:cs typeface="+mj-cs"/>
          </a:defRPr>
        </a:defPPr>
      </a:lstStyle>
    </a:tx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OrgFileExt xmlns="e52f6f62-2c97-4cf6-ba72-b7e173e7ac69">.pptx</OrgFileExt>
    <CurItemExt xmlns="e52f6f62-2c97-4cf6-ba72-b7e173e7ac69">.pptx</CurItemEx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64E7D0A126924CBF42EF38ED79590A" ma:contentTypeVersion="2" ma:contentTypeDescription="Create a new document." ma:contentTypeScope="" ma:versionID="d34f4345b7e3e2aabcdc6b27057aae09">
  <xsd:schema xmlns:xsd="http://www.w3.org/2001/XMLSchema" xmlns:xs="http://www.w3.org/2001/XMLSchema" xmlns:p="http://schemas.microsoft.com/office/2006/metadata/properties" xmlns:ns2="e52f6f62-2c97-4cf6-ba72-b7e173e7ac69" targetNamespace="http://schemas.microsoft.com/office/2006/metadata/properties" ma:root="true" ma:fieldsID="9d3c608f28c0e79a859320772d4618fd" ns2:_="">
    <xsd:import namespace="e52f6f62-2c97-4cf6-ba72-b7e173e7ac69"/>
    <xsd:element name="properties">
      <xsd:complexType>
        <xsd:sequence>
          <xsd:element name="documentManagement">
            <xsd:complexType>
              <xsd:all>
                <xsd:element ref="ns2:OrgFileExt" minOccurs="0"/>
                <xsd:element ref="ns2:CurItemEx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f6f62-2c97-4cf6-ba72-b7e173e7ac69" elementFormDefault="qualified">
    <xsd:import namespace="http://schemas.microsoft.com/office/2006/documentManagement/types"/>
    <xsd:import namespace="http://schemas.microsoft.com/office/infopath/2007/PartnerControls"/>
    <xsd:element name="OrgFileExt" ma:index="8" nillable="true" ma:displayName="Orginal Ext" ma:internalName="OrgFileExt" ma:readOnly="true">
      <xsd:simpleType>
        <xsd:restriction base="dms:Text"/>
      </xsd:simpleType>
    </xsd:element>
    <xsd:element name="CurItemExt" ma:index="9" nillable="true" ma:displayName="Current Ext" ma:internalName="CurItemExt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7F6D33-7E0C-4B4A-8E87-23E47579DD03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e52f6f62-2c97-4cf6-ba72-b7e173e7ac69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F2A9FCB-429A-4A61-AB49-F55F4A4963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A48F99-85C6-44CC-95AC-8EEF4664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f6f62-2c97-4cf6-ba72-b7e173e7ac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Office PowerPoint</Application>
  <PresentationFormat>On-screen Show (4:3)</PresentationFormat>
  <Paragraphs>209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Continental 4x3</vt:lpstr>
      <vt:lpstr>think-cell Slide</vt:lpstr>
      <vt:lpstr>Problem Resolution Management</vt:lpstr>
      <vt:lpstr>Problem Resolution Management Workflow Overview Issue Handling Problem Report</vt:lpstr>
      <vt:lpstr>ADAS Sub State  Query Examples</vt:lpstr>
      <vt:lpstr>Problem Report Workflow</vt:lpstr>
      <vt:lpstr>Problem Report Workflow</vt:lpstr>
      <vt:lpstr>PowerPoint Presentation</vt:lpstr>
    </vt:vector>
  </TitlesOfParts>
  <Company>Continental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Ruthemeyer</dc:creator>
  <cp:lastModifiedBy>Maier, Christian</cp:lastModifiedBy>
  <cp:revision>1631</cp:revision>
  <dcterms:created xsi:type="dcterms:W3CDTF">2013-08-23T13:52:47Z</dcterms:created>
  <dcterms:modified xsi:type="dcterms:W3CDTF">2018-06-27T06:58:09Z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0x0101003E64E7D0A126924CBF42EF38ED79590A</vt:lpwstr>
  </property>
</Properties>
</file>