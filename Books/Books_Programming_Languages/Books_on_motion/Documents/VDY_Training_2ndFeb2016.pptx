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wmf" ContentType="image/x-wmf"/>
  <Default Extension="xls" ContentType="application/vnd.ms-excel"/>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4"/>
  </p:sldMasterIdLst>
  <p:notesMasterIdLst>
    <p:notesMasterId r:id="rId83"/>
  </p:notesMasterIdLst>
  <p:handoutMasterIdLst>
    <p:handoutMasterId r:id="rId84"/>
  </p:handoutMasterIdLst>
  <p:sldIdLst>
    <p:sldId id="309" r:id="rId5"/>
    <p:sldId id="341" r:id="rId6"/>
    <p:sldId id="351" r:id="rId7"/>
    <p:sldId id="421" r:id="rId8"/>
    <p:sldId id="420" r:id="rId9"/>
    <p:sldId id="352" r:id="rId10"/>
    <p:sldId id="353" r:id="rId11"/>
    <p:sldId id="355" r:id="rId12"/>
    <p:sldId id="356" r:id="rId13"/>
    <p:sldId id="354" r:id="rId14"/>
    <p:sldId id="357" r:id="rId15"/>
    <p:sldId id="358" r:id="rId16"/>
    <p:sldId id="359" r:id="rId17"/>
    <p:sldId id="360" r:id="rId18"/>
    <p:sldId id="361" r:id="rId19"/>
    <p:sldId id="362" r:id="rId20"/>
    <p:sldId id="339" r:id="rId21"/>
    <p:sldId id="363" r:id="rId22"/>
    <p:sldId id="377" r:id="rId23"/>
    <p:sldId id="364" r:id="rId24"/>
    <p:sldId id="366" r:id="rId25"/>
    <p:sldId id="367" r:id="rId26"/>
    <p:sldId id="378" r:id="rId27"/>
    <p:sldId id="371" r:id="rId28"/>
    <p:sldId id="368" r:id="rId29"/>
    <p:sldId id="370" r:id="rId30"/>
    <p:sldId id="372" r:id="rId31"/>
    <p:sldId id="369" r:id="rId32"/>
    <p:sldId id="394" r:id="rId33"/>
    <p:sldId id="373" r:id="rId34"/>
    <p:sldId id="379" r:id="rId35"/>
    <p:sldId id="380" r:id="rId36"/>
    <p:sldId id="381" r:id="rId37"/>
    <p:sldId id="382" r:id="rId38"/>
    <p:sldId id="395" r:id="rId39"/>
    <p:sldId id="396" r:id="rId40"/>
    <p:sldId id="397" r:id="rId41"/>
    <p:sldId id="375" r:id="rId42"/>
    <p:sldId id="383" r:id="rId43"/>
    <p:sldId id="384" r:id="rId44"/>
    <p:sldId id="385" r:id="rId45"/>
    <p:sldId id="390" r:id="rId46"/>
    <p:sldId id="388" r:id="rId47"/>
    <p:sldId id="389" r:id="rId48"/>
    <p:sldId id="391" r:id="rId49"/>
    <p:sldId id="392" r:id="rId50"/>
    <p:sldId id="393" r:id="rId51"/>
    <p:sldId id="429" r:id="rId52"/>
    <p:sldId id="399" r:id="rId53"/>
    <p:sldId id="398" r:id="rId54"/>
    <p:sldId id="419" r:id="rId55"/>
    <p:sldId id="400" r:id="rId56"/>
    <p:sldId id="401" r:id="rId57"/>
    <p:sldId id="417" r:id="rId58"/>
    <p:sldId id="418" r:id="rId59"/>
    <p:sldId id="402" r:id="rId60"/>
    <p:sldId id="403" r:id="rId61"/>
    <p:sldId id="404" r:id="rId62"/>
    <p:sldId id="405" r:id="rId63"/>
    <p:sldId id="406" r:id="rId64"/>
    <p:sldId id="407" r:id="rId65"/>
    <p:sldId id="408" r:id="rId66"/>
    <p:sldId id="409" r:id="rId67"/>
    <p:sldId id="410" r:id="rId68"/>
    <p:sldId id="411" r:id="rId69"/>
    <p:sldId id="412" r:id="rId70"/>
    <p:sldId id="413" r:id="rId71"/>
    <p:sldId id="414" r:id="rId72"/>
    <p:sldId id="415" r:id="rId73"/>
    <p:sldId id="416" r:id="rId74"/>
    <p:sldId id="422" r:id="rId75"/>
    <p:sldId id="423" r:id="rId76"/>
    <p:sldId id="424" r:id="rId77"/>
    <p:sldId id="425" r:id="rId78"/>
    <p:sldId id="426" r:id="rId79"/>
    <p:sldId id="427" r:id="rId80"/>
    <p:sldId id="428" r:id="rId81"/>
    <p:sldId id="336" r:id="rId82"/>
  </p:sldIdLst>
  <p:sldSz cx="9144000" cy="6858000" type="screen4x3"/>
  <p:notesSz cx="6797675" cy="9926638"/>
  <p:custDataLst>
    <p:tags r:id="rId85"/>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45">
          <p15:clr>
            <a:srgbClr val="A4A3A4"/>
          </p15:clr>
        </p15:guide>
        <p15:guide id="2" orient="horz" pos="3702">
          <p15:clr>
            <a:srgbClr val="A4A3A4"/>
          </p15:clr>
        </p15:guide>
        <p15:guide id="3" orient="horz" pos="2296">
          <p15:clr>
            <a:srgbClr val="A4A3A4"/>
          </p15:clr>
        </p15:guide>
        <p15:guide id="4" orient="horz" pos="2251">
          <p15:clr>
            <a:srgbClr val="A4A3A4"/>
          </p15:clr>
        </p15:guide>
        <p15:guide id="5" orient="horz" pos="119">
          <p15:clr>
            <a:srgbClr val="A4A3A4"/>
          </p15:clr>
        </p15:guide>
        <p15:guide id="6" orient="horz" pos="4201">
          <p15:clr>
            <a:srgbClr val="A4A3A4"/>
          </p15:clr>
        </p15:guide>
        <p15:guide id="7" orient="horz" pos="2614">
          <p15:clr>
            <a:srgbClr val="A4A3A4"/>
          </p15:clr>
        </p15:guide>
        <p15:guide id="8" pos="249">
          <p15:clr>
            <a:srgbClr val="A4A3A4"/>
          </p15:clr>
        </p15:guide>
        <p15:guide id="9" pos="2857">
          <p15:clr>
            <a:srgbClr val="A4A3A4"/>
          </p15:clr>
        </p15:guide>
        <p15:guide id="10" pos="2903">
          <p15:clr>
            <a:srgbClr val="A4A3A4"/>
          </p15:clr>
        </p15:guide>
        <p15:guide id="11" pos="3787">
          <p15:clr>
            <a:srgbClr val="A4A3A4"/>
          </p15:clr>
        </p15:guide>
        <p15:guide id="12" pos="3742">
          <p15:clr>
            <a:srgbClr val="A4A3A4"/>
          </p15:clr>
        </p15:guide>
        <p15:guide id="13" pos="2018">
          <p15:clr>
            <a:srgbClr val="A4A3A4"/>
          </p15:clr>
        </p15:guide>
        <p15:guide id="14" pos="1973">
          <p15:clr>
            <a:srgbClr val="A4A3A4"/>
          </p15:clr>
        </p15:guide>
        <p15:guide id="15" pos="5511">
          <p15:clr>
            <a:srgbClr val="A4A3A4"/>
          </p15:clr>
        </p15:guide>
        <p15:guide id="16" pos="113">
          <p15:clr>
            <a:srgbClr val="A4A3A4"/>
          </p15:clr>
        </p15:guide>
        <p15:guide id="17" pos="5647">
          <p15:clr>
            <a:srgbClr val="A4A3A4"/>
          </p15:clr>
        </p15:guide>
        <p15:guide id="18" pos="5465">
          <p15:clr>
            <a:srgbClr val="A4A3A4"/>
          </p15:clr>
        </p15:guide>
      </p15:sldGuideLst>
    </p:ext>
    <p:ext uri="{2D200454-40CA-4A62-9FC3-DE9A4176ACB9}">
      <p15:notesGuideLst xmlns:p15="http://schemas.microsoft.com/office/powerpoint/2012/main">
        <p15:guide id="1" orient="horz" pos="3126">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F5F5F"/>
    <a:srgbClr val="747474"/>
    <a:srgbClr val="A6A6A6"/>
    <a:srgbClr val="B2B2B2"/>
    <a:srgbClr val="EAEAEA"/>
    <a:srgbClr val="FFFEFD"/>
    <a:srgbClr val="FFFEFE"/>
    <a:srgbClr val="FFFFFE"/>
    <a:srgbClr val="FFFE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742" autoAdjust="0"/>
    <p:restoredTop sz="94660" autoAdjust="0"/>
  </p:normalViewPr>
  <p:slideViewPr>
    <p:cSldViewPr snapToObjects="1" showGuides="1">
      <p:cViewPr varScale="1">
        <p:scale>
          <a:sx n="122" d="100"/>
          <a:sy n="122" d="100"/>
        </p:scale>
        <p:origin x="1398" y="96"/>
      </p:cViewPr>
      <p:guideLst>
        <p:guide orient="horz" pos="845"/>
        <p:guide orient="horz" pos="3702"/>
        <p:guide orient="horz" pos="2296"/>
        <p:guide orient="horz" pos="2251"/>
        <p:guide orient="horz" pos="119"/>
        <p:guide orient="horz" pos="4201"/>
        <p:guide orient="horz" pos="2614"/>
        <p:guide pos="249"/>
        <p:guide pos="2857"/>
        <p:guide pos="2903"/>
        <p:guide pos="3787"/>
        <p:guide pos="3742"/>
        <p:guide pos="2018"/>
        <p:guide pos="1973"/>
        <p:guide pos="5511"/>
        <p:guide pos="113"/>
        <p:guide pos="5647"/>
        <p:guide pos="5465"/>
      </p:guideLst>
    </p:cSldViewPr>
  </p:slideViewPr>
  <p:outlineViewPr>
    <p:cViewPr>
      <p:scale>
        <a:sx n="33" d="100"/>
        <a:sy n="33" d="100"/>
      </p:scale>
      <p:origin x="0" y="2406"/>
    </p:cViewPr>
  </p:outlineViewPr>
  <p:notesTextViewPr>
    <p:cViewPr>
      <p:scale>
        <a:sx n="100" d="100"/>
        <a:sy n="100" d="100"/>
      </p:scale>
      <p:origin x="0" y="0"/>
    </p:cViewPr>
  </p:notesTextViewPr>
  <p:sorterViewPr>
    <p:cViewPr>
      <p:scale>
        <a:sx n="100" d="100"/>
        <a:sy n="100" d="100"/>
      </p:scale>
      <p:origin x="0" y="0"/>
    </p:cViewPr>
  </p:sorterViewPr>
  <p:notesViewPr>
    <p:cSldViewPr snapToObjects="1" showGuides="1">
      <p:cViewPr varScale="1">
        <p:scale>
          <a:sx n="76" d="100"/>
          <a:sy n="76" d="100"/>
        </p:scale>
        <p:origin x="-2166" y="-84"/>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handoutMaster" Target="handoutMasters/handoutMaster1.xml"/><Relationship Id="rId89"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tags" Target="tags/tag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notesMaster" Target="notesMasters/notesMaster1.xml"/><Relationship Id="rId88"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 Id="rId4" Type="http://schemas.openxmlformats.org/officeDocument/2006/relationships/image" Target="../media/image42.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8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9AD0BAD0-1087-43A9-B1A9-7A9D8A84A638}" type="datetimeFigureOut">
              <a:rPr lang="de-DE" smtClean="0"/>
              <a:pPr/>
              <a:t>09.02.2018</a:t>
            </a:fld>
            <a:endParaRPr lang="de-DE"/>
          </a:p>
        </p:txBody>
      </p:sp>
      <p:sp>
        <p:nvSpPr>
          <p:cNvPr id="4" name="Fußzeilenplatzhalter 3"/>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49688" y="9428163"/>
            <a:ext cx="2946400" cy="496887"/>
          </a:xfrm>
          <a:prstGeom prst="rect">
            <a:avLst/>
          </a:prstGeom>
        </p:spPr>
        <p:txBody>
          <a:bodyPr vert="horz" lIns="91440" tIns="45720" rIns="91440" bIns="45720" rtlCol="0" anchor="b"/>
          <a:lstStyle>
            <a:lvl1pPr algn="r">
              <a:defRPr sz="1200"/>
            </a:lvl1pPr>
          </a:lstStyle>
          <a:p>
            <a:fld id="{46CF6FF2-31AE-4F51-8EE2-6B6790F3B26A}" type="slidenum">
              <a:rPr lang="de-DE" smtClean="0"/>
              <a:pPr/>
              <a:t>‹#›</a:t>
            </a:fld>
            <a:endParaRPr lang="de-DE"/>
          </a:p>
        </p:txBody>
      </p:sp>
    </p:spTree>
    <p:extLst>
      <p:ext uri="{BB962C8B-B14F-4D97-AF65-F5344CB8AC3E}">
        <p14:creationId xmlns:p14="http://schemas.microsoft.com/office/powerpoint/2010/main" val="9257664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F8C568D1-65C2-4CDE-9B8E-4F04E333B056}" type="datetimeFigureOut">
              <a:rPr lang="en-US" smtClean="0"/>
              <a:pPr/>
              <a:t>2/9/2018</a:t>
            </a:fld>
            <a:endParaRPr lang="en-US"/>
          </a:p>
        </p:txBody>
      </p:sp>
      <p:sp>
        <p:nvSpPr>
          <p:cNvPr id="4" name="Folienbildplatzhalt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917575" y="4714875"/>
            <a:ext cx="4962525" cy="4467225"/>
          </a:xfrm>
          <a:prstGeom prst="rect">
            <a:avLst/>
          </a:prstGeom>
        </p:spPr>
        <p:txBody>
          <a:bodyPr vert="horz" lIns="0" tIns="0" rIns="0" bIns="0" rtlCol="0">
            <a:noAutofit/>
          </a:bodyPr>
          <a:lstStyle/>
          <a:p>
            <a:pPr lvl="0"/>
            <a:r>
              <a:rPr lang="de-DE" dirty="0" smtClean="0"/>
              <a:t>Textmasterformate durch Klicken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en-US" dirty="0"/>
          </a:p>
        </p:txBody>
      </p:sp>
      <p:sp>
        <p:nvSpPr>
          <p:cNvPr id="6" name="Fußzeilenplatzhalter 5"/>
          <p:cNvSpPr>
            <a:spLocks noGrp="1"/>
          </p:cNvSpPr>
          <p:nvPr>
            <p:ph type="ftr" sz="quarter" idx="4"/>
          </p:nvPr>
        </p:nvSpPr>
        <p:spPr>
          <a:xfrm>
            <a:off x="0" y="9428163"/>
            <a:ext cx="2946400" cy="496887"/>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49688" y="9428163"/>
            <a:ext cx="2946400" cy="496887"/>
          </a:xfrm>
          <a:prstGeom prst="rect">
            <a:avLst/>
          </a:prstGeom>
        </p:spPr>
        <p:txBody>
          <a:bodyPr vert="horz" lIns="91440" tIns="45720" rIns="91440" bIns="45720" rtlCol="0" anchor="b"/>
          <a:lstStyle>
            <a:lvl1pPr algn="r">
              <a:defRPr sz="1200"/>
            </a:lvl1pPr>
          </a:lstStyle>
          <a:p>
            <a:fld id="{5DCD5AE8-B077-49EA-8F01-5B4042BFABD6}" type="slidenum">
              <a:rPr lang="en-US" smtClean="0"/>
              <a:pPr/>
              <a:t>‹#›</a:t>
            </a:fld>
            <a:endParaRPr lang="en-US"/>
          </a:p>
        </p:txBody>
      </p:sp>
    </p:spTree>
    <p:extLst>
      <p:ext uri="{BB962C8B-B14F-4D97-AF65-F5344CB8AC3E}">
        <p14:creationId xmlns:p14="http://schemas.microsoft.com/office/powerpoint/2010/main" val="3547395618"/>
      </p:ext>
    </p:extLst>
  </p:cSld>
  <p:clrMap bg1="lt1" tx1="dk1" bg2="lt2" tx2="dk2" accent1="accent1" accent2="accent2" accent3="accent3" accent4="accent4" accent5="accent5" accent6="accent6" hlink="hlink" folHlink="folHlink"/>
  <p:notesStyle>
    <a:lvl1pPr marL="171450" indent="-171450" algn="l" defTabSz="914400" rtl="0" eaLnBrk="1" latinLnBrk="0" hangingPunct="1">
      <a:spcAft>
        <a:spcPts val="600"/>
      </a:spcAft>
      <a:buFont typeface="Arial" pitchFamily="34" charset="0"/>
      <a:buChar char="›"/>
      <a:defRPr sz="1400" kern="1200">
        <a:solidFill>
          <a:schemeClr val="tx1"/>
        </a:solidFill>
        <a:latin typeface="+mn-lt"/>
        <a:ea typeface="+mn-ea"/>
        <a:cs typeface="+mn-cs"/>
      </a:defRPr>
    </a:lvl1pPr>
    <a:lvl2pPr marL="534988" indent="-171450" algn="l" defTabSz="914400" rtl="0" eaLnBrk="1" latinLnBrk="0" hangingPunct="1">
      <a:spcAft>
        <a:spcPts val="600"/>
      </a:spcAft>
      <a:buFont typeface="Arial" pitchFamily="34" charset="0"/>
      <a:buChar char="›"/>
      <a:defRPr sz="1400" kern="1200">
        <a:solidFill>
          <a:schemeClr val="tx1"/>
        </a:solidFill>
        <a:latin typeface="+mn-lt"/>
        <a:ea typeface="+mn-ea"/>
        <a:cs typeface="+mn-cs"/>
      </a:defRPr>
    </a:lvl2pPr>
    <a:lvl3pPr marL="896938" indent="-171450" algn="l" defTabSz="914400" rtl="0" eaLnBrk="1" latinLnBrk="0" hangingPunct="1">
      <a:spcAft>
        <a:spcPts val="600"/>
      </a:spcAft>
      <a:buFont typeface="Arial" pitchFamily="34" charset="0"/>
      <a:buChar char="›"/>
      <a:defRPr sz="1400" kern="1200">
        <a:solidFill>
          <a:schemeClr val="tx1"/>
        </a:solidFill>
        <a:latin typeface="+mn-lt"/>
        <a:ea typeface="+mn-ea"/>
        <a:cs typeface="+mn-cs"/>
      </a:defRPr>
    </a:lvl3pPr>
    <a:lvl4pPr marL="1249363" indent="-171450" algn="l" defTabSz="914400" rtl="0" eaLnBrk="1" latinLnBrk="0" hangingPunct="1">
      <a:spcAft>
        <a:spcPts val="600"/>
      </a:spcAft>
      <a:buFont typeface="Arial" pitchFamily="34" charset="0"/>
      <a:buChar char="›"/>
      <a:defRPr sz="1400" kern="1200">
        <a:solidFill>
          <a:schemeClr val="tx1"/>
        </a:solidFill>
        <a:latin typeface="+mn-lt"/>
        <a:ea typeface="+mn-ea"/>
        <a:cs typeface="+mn-cs"/>
      </a:defRPr>
    </a:lvl4pPr>
    <a:lvl5pPr marL="1622425" indent="-171450" algn="l" defTabSz="914400" rtl="0" eaLnBrk="1" latinLnBrk="0" hangingPunct="1">
      <a:spcAft>
        <a:spcPts val="600"/>
      </a:spcAft>
      <a:buFont typeface="Arial" pitchFamily="34" charset="0"/>
      <a:buChar char="›"/>
      <a:defRPr sz="14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tags" Target="../tags/tag5.xml"/><Relationship Id="rId4" Type="http://schemas.openxmlformats.org/officeDocument/2006/relationships/image" Target="../media/image5.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tags" Target="../tags/tag9.xml"/><Relationship Id="rId4" Type="http://schemas.openxmlformats.org/officeDocument/2006/relationships/image" Target="../media/image5.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tags" Target="../tags/tag11.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small Picture">
    <p:spTree>
      <p:nvGrpSpPr>
        <p:cNvPr id="1" name=""/>
        <p:cNvGrpSpPr/>
        <p:nvPr/>
      </p:nvGrpSpPr>
      <p:grpSpPr>
        <a:xfrm>
          <a:off x="0" y="0"/>
          <a:ext cx="0" cy="0"/>
          <a:chOff x="0" y="0"/>
          <a:chExt cx="0" cy="0"/>
        </a:xfrm>
      </p:grpSpPr>
      <p:sp>
        <p:nvSpPr>
          <p:cNvPr id="12" name="Rechteck 11"/>
          <p:cNvSpPr/>
          <p:nvPr userDrawn="1"/>
        </p:nvSpPr>
        <p:spPr>
          <a:xfrm>
            <a:off x="503548" y="-567404"/>
            <a:ext cx="8640452" cy="360000"/>
          </a:xfrm>
          <a:prstGeom prst="rect">
            <a:avLst/>
          </a:prstGeom>
          <a:solidFill>
            <a:schemeClr val="bg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0" tIns="46800" rIns="72000" bIns="46800" rtlCol="0" anchor="t" anchorCtr="0"/>
          <a:lstStyle/>
          <a:p>
            <a:r>
              <a:rPr lang="en-US" sz="900" noProof="0" smtClean="0">
                <a:solidFill>
                  <a:schemeClr val="tx1"/>
                </a:solidFill>
              </a:rPr>
              <a:t>Wenn Sie ein neues Bild einfügen: Klicken Sie mit der rechten Maustaste auf das Bild und wählen „In den Hintergrund“, um das Bild hinter das Quality Seal zu bringen.</a:t>
            </a:r>
          </a:p>
          <a:p>
            <a:r>
              <a:rPr lang="en-US" sz="900" noProof="0" smtClean="0">
                <a:solidFill>
                  <a:schemeClr val="tx1"/>
                </a:solidFill>
              </a:rPr>
              <a:t>If you insert a new picture: Right click on the picture and select “Send to the back” to position it behind the Quality Seal.</a:t>
            </a:r>
          </a:p>
        </p:txBody>
      </p:sp>
      <p:cxnSp>
        <p:nvCxnSpPr>
          <p:cNvPr id="14" name="Gerade Verbindung 13"/>
          <p:cNvCxnSpPr/>
          <p:nvPr userDrawn="1"/>
        </p:nvCxnSpPr>
        <p:spPr>
          <a:xfrm>
            <a:off x="503548" y="-171400"/>
            <a:ext cx="0" cy="13384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Gerade Verbindung 14"/>
          <p:cNvCxnSpPr/>
          <p:nvPr userDrawn="1"/>
        </p:nvCxnSpPr>
        <p:spPr>
          <a:xfrm>
            <a:off x="3059832" y="-171400"/>
            <a:ext cx="0" cy="13384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Gerade Verbindung 15"/>
          <p:cNvCxnSpPr/>
          <p:nvPr userDrawn="1"/>
        </p:nvCxnSpPr>
        <p:spPr>
          <a:xfrm rot="5400000">
            <a:off x="-103432" y="1237844"/>
            <a:ext cx="0" cy="133840"/>
          </a:xfrm>
          <a:prstGeom prst="line">
            <a:avLst/>
          </a:prstGeom>
          <a:ln w="31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Gerade Verbindung 16"/>
          <p:cNvCxnSpPr/>
          <p:nvPr userDrawn="1"/>
        </p:nvCxnSpPr>
        <p:spPr>
          <a:xfrm rot="5400000">
            <a:off x="-113608" y="-66920"/>
            <a:ext cx="0" cy="133840"/>
          </a:xfrm>
          <a:prstGeom prst="line">
            <a:avLst/>
          </a:prstGeom>
          <a:ln w="31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p:nvPr>
        </p:nvSpPr>
        <p:spPr>
          <a:xfrm>
            <a:off x="503547" y="4401108"/>
            <a:ext cx="8172141" cy="418502"/>
          </a:xfrm>
        </p:spPr>
        <p:txBody>
          <a:bodyPr tIns="0" rIns="0" bIns="0" anchor="t" anchorCtr="0">
            <a:normAutofit/>
          </a:bodyPr>
          <a:lstStyle>
            <a:lvl1pPr algn="l">
              <a:defRPr sz="2400">
                <a:solidFill>
                  <a:schemeClr val="accent1"/>
                </a:solidFill>
              </a:defRPr>
            </a:lvl1pPr>
          </a:lstStyle>
          <a:p>
            <a:r>
              <a:rPr lang="de-DE" noProof="0" smtClean="0"/>
              <a:t>Titelmasterformat durch Klicken bearbeiten</a:t>
            </a:r>
            <a:endParaRPr lang="en-US" noProof="0"/>
          </a:p>
        </p:txBody>
      </p:sp>
      <p:sp>
        <p:nvSpPr>
          <p:cNvPr id="3" name="Untertitel 2"/>
          <p:cNvSpPr>
            <a:spLocks noGrp="1"/>
          </p:cNvSpPr>
          <p:nvPr>
            <p:ph type="subTitle" idx="1"/>
          </p:nvPr>
        </p:nvSpPr>
        <p:spPr>
          <a:xfrm>
            <a:off x="503548" y="4746878"/>
            <a:ext cx="8172140" cy="1138230"/>
          </a:xfrm>
        </p:spPr>
        <p:txBody>
          <a:bodyPr tIns="0" rIns="0" bIns="0" anchor="t" anchorCtr="0">
            <a:normAutofit/>
          </a:bodyPr>
          <a:lstStyle>
            <a:lvl1pPr marL="0" indent="0" algn="l">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noProof="0" smtClean="0"/>
              <a:t>Formatvorlage des Untertitelmasters durch Klicken bearbeiten</a:t>
            </a:r>
            <a:endParaRPr lang="en-US" noProof="0"/>
          </a:p>
        </p:txBody>
      </p:sp>
      <p:sp>
        <p:nvSpPr>
          <p:cNvPr id="10" name="Textplatzhalter 9"/>
          <p:cNvSpPr>
            <a:spLocks noGrp="1"/>
          </p:cNvSpPr>
          <p:nvPr>
            <p:ph type="body" sz="quarter" idx="10" hasCustomPrompt="1"/>
          </p:nvPr>
        </p:nvSpPr>
        <p:spPr>
          <a:xfrm>
            <a:off x="503548" y="6021288"/>
            <a:ext cx="2628590" cy="368813"/>
          </a:xfrm>
        </p:spPr>
        <p:txBody>
          <a:bodyPr tIns="0" bIns="0" anchor="b" anchorCtr="0">
            <a:normAutofit/>
          </a:bodyPr>
          <a:lstStyle>
            <a:lvl1pPr marL="0" indent="0">
              <a:spcAft>
                <a:spcPts val="0"/>
              </a:spcAft>
              <a:buNone/>
              <a:defRPr sz="900" b="0"/>
            </a:lvl1pPr>
          </a:lstStyle>
          <a:p>
            <a:pPr lvl="0"/>
            <a:r>
              <a:rPr lang="en-US" noProof="0" smtClean="0"/>
              <a:t>URL</a:t>
            </a:r>
          </a:p>
          <a:p>
            <a:pPr lvl="0"/>
            <a:endParaRPr lang="en-US" noProof="0" smtClean="0"/>
          </a:p>
        </p:txBody>
      </p:sp>
      <p:sp>
        <p:nvSpPr>
          <p:cNvPr id="11" name="Textplatzhalter 9"/>
          <p:cNvSpPr>
            <a:spLocks noGrp="1"/>
          </p:cNvSpPr>
          <p:nvPr>
            <p:ph type="body" sz="quarter" idx="11" hasCustomPrompt="1"/>
          </p:nvPr>
        </p:nvSpPr>
        <p:spPr>
          <a:xfrm>
            <a:off x="3599891" y="6021288"/>
            <a:ext cx="5075797" cy="368813"/>
          </a:xfrm>
        </p:spPr>
        <p:txBody>
          <a:bodyPr tIns="0" bIns="0" anchor="b" anchorCtr="0">
            <a:normAutofit/>
          </a:bodyPr>
          <a:lstStyle>
            <a:lvl1pPr marL="0" indent="0" algn="r">
              <a:spcAft>
                <a:spcPts val="0"/>
              </a:spcAft>
              <a:buNone/>
              <a:defRPr sz="900" b="0"/>
            </a:lvl1pPr>
          </a:lstStyle>
          <a:p>
            <a:pPr lvl="0"/>
            <a:r>
              <a:rPr lang="en-US" noProof="0" smtClean="0"/>
              <a:t>Division Naming</a:t>
            </a:r>
          </a:p>
          <a:p>
            <a:pPr lvl="0"/>
            <a:endParaRPr lang="en-US" noProof="0" smtClean="0"/>
          </a:p>
        </p:txBody>
      </p:sp>
      <p:sp>
        <p:nvSpPr>
          <p:cNvPr id="8" name="Textplatzhalter 7"/>
          <p:cNvSpPr>
            <a:spLocks noGrp="1"/>
          </p:cNvSpPr>
          <p:nvPr>
            <p:ph type="body" sz="quarter" idx="12" hasCustomPrompt="1"/>
          </p:nvPr>
        </p:nvSpPr>
        <p:spPr>
          <a:xfrm>
            <a:off x="503238" y="0"/>
            <a:ext cx="2555875" cy="1304925"/>
          </a:xfrm>
          <a:blipFill dpi="0" rotWithShape="1">
            <a:blip r:embed="rId2"/>
            <a:srcRect/>
            <a:stretch>
              <a:fillRect/>
            </a:stretch>
          </a:blipFill>
        </p:spPr>
        <p:txBody>
          <a:bodyPr>
            <a:noAutofit/>
          </a:bodyPr>
          <a:lstStyle>
            <a:lvl1pPr marL="0" indent="0" algn="ctr">
              <a:spcAft>
                <a:spcPts val="0"/>
              </a:spcAft>
              <a:buNone/>
              <a:defRPr sz="800"/>
            </a:lvl1pPr>
          </a:lstStyle>
          <a:p>
            <a:pPr lvl="0"/>
            <a:r>
              <a:rPr lang="en-US" noProof="0" dirty="0" smtClean="0"/>
              <a:t>Das Quality Seal hat </a:t>
            </a:r>
            <a:r>
              <a:rPr lang="en-US" noProof="0" dirty="0" err="1" smtClean="0"/>
              <a:t>im</a:t>
            </a:r>
            <a:r>
              <a:rPr lang="en-US" noProof="0" dirty="0" smtClean="0"/>
              <a:t> </a:t>
            </a:r>
            <a:r>
              <a:rPr lang="en-US" noProof="0" dirty="0" err="1" smtClean="0"/>
              <a:t>Vordergrund</a:t>
            </a:r>
            <a:r>
              <a:rPr lang="en-US" noProof="0" dirty="0" smtClean="0"/>
              <a:t> </a:t>
            </a:r>
            <a:r>
              <a:rPr lang="en-US" noProof="0" dirty="0" err="1" smtClean="0"/>
              <a:t>zu</a:t>
            </a:r>
            <a:r>
              <a:rPr lang="en-US" noProof="0" dirty="0" smtClean="0"/>
              <a:t> </a:t>
            </a:r>
            <a:r>
              <a:rPr lang="en-US" noProof="0" dirty="0" err="1" smtClean="0"/>
              <a:t>stehen</a:t>
            </a:r>
            <a:r>
              <a:rPr lang="en-US" noProof="0" dirty="0" smtClean="0"/>
              <a:t>.</a:t>
            </a:r>
            <a:br>
              <a:rPr lang="en-US" noProof="0" dirty="0" smtClean="0"/>
            </a:br>
            <a:r>
              <a:rPr lang="en-US" noProof="0" dirty="0" err="1" smtClean="0"/>
              <a:t>Bitte</a:t>
            </a:r>
            <a:r>
              <a:rPr lang="en-US" noProof="0" dirty="0" smtClean="0"/>
              <a:t> </a:t>
            </a:r>
            <a:r>
              <a:rPr lang="en-US" noProof="0" dirty="0" err="1" smtClean="0"/>
              <a:t>ändern</a:t>
            </a:r>
            <a:r>
              <a:rPr lang="en-US" noProof="0" dirty="0" smtClean="0"/>
              <a:t> </a:t>
            </a:r>
            <a:r>
              <a:rPr lang="en-US" noProof="0" dirty="0" err="1" smtClean="0"/>
              <a:t>Sie</a:t>
            </a:r>
            <a:r>
              <a:rPr lang="en-US" noProof="0" dirty="0" smtClean="0"/>
              <a:t> </a:t>
            </a:r>
            <a:r>
              <a:rPr lang="en-US" noProof="0" dirty="0" err="1" smtClean="0"/>
              <a:t>nicht</a:t>
            </a:r>
            <a:r>
              <a:rPr lang="en-US" noProof="0" dirty="0" smtClean="0"/>
              <a:t> die </a:t>
            </a:r>
            <a:r>
              <a:rPr lang="en-US" noProof="0" dirty="0" err="1" smtClean="0"/>
              <a:t>Größe</a:t>
            </a:r>
            <a:r>
              <a:rPr lang="en-US" noProof="0" dirty="0" smtClean="0"/>
              <a:t> </a:t>
            </a:r>
            <a:r>
              <a:rPr lang="en-US" noProof="0" dirty="0" err="1" smtClean="0"/>
              <a:t>oder</a:t>
            </a:r>
            <a:r>
              <a:rPr lang="en-US" noProof="0" dirty="0" smtClean="0"/>
              <a:t> Position.</a:t>
            </a:r>
            <a:br>
              <a:rPr lang="en-US" noProof="0" dirty="0" smtClean="0"/>
            </a:br>
            <a:r>
              <a:rPr lang="en-US" noProof="0" dirty="0" smtClean="0"/>
              <a:t>The Quality Seal has to stay on top.</a:t>
            </a:r>
            <a:br>
              <a:rPr lang="en-US" noProof="0" dirty="0" smtClean="0"/>
            </a:br>
            <a:r>
              <a:rPr lang="en-US" noProof="0" dirty="0" smtClean="0"/>
              <a:t>Please do not change size or position.</a:t>
            </a:r>
          </a:p>
          <a:p>
            <a:pPr lvl="0"/>
            <a:endParaRPr lang="en-US" noProof="0" dirty="0" smtClean="0"/>
          </a:p>
        </p:txBody>
      </p:sp>
      <p:pic>
        <p:nvPicPr>
          <p:cNvPr id="18" name="Picture 4" descr="D:\DSUsers\uidw0282\50 Communication\40 Product &amp; Online\Luchs\ADAS_Luchsaugen_Abgesoftet_800px.jpg"/>
          <p:cNvPicPr>
            <a:picLocks noChangeAspect="1" noChangeArrowheads="1"/>
          </p:cNvPicPr>
          <p:nvPr userDrawn="1"/>
        </p:nvPicPr>
        <p:blipFill>
          <a:blip r:embed="rId3"/>
          <a:srcRect/>
          <a:stretch>
            <a:fillRect/>
          </a:stretch>
        </p:blipFill>
        <p:spPr bwMode="auto">
          <a:xfrm>
            <a:off x="5220072" y="548680"/>
            <a:ext cx="3760787" cy="3168650"/>
          </a:xfrm>
          <a:prstGeom prst="rect">
            <a:avLst/>
          </a:prstGeom>
          <a:noFill/>
          <a:ln w="9525">
            <a:noFill/>
            <a:miter lim="800000"/>
            <a:headEnd/>
            <a:tailEnd/>
          </a:ln>
        </p:spPr>
      </p:pic>
      <p:sp>
        <p:nvSpPr>
          <p:cNvPr id="19" name="Titel 1"/>
          <p:cNvSpPr txBox="1">
            <a:spLocks/>
          </p:cNvSpPr>
          <p:nvPr userDrawn="1"/>
        </p:nvSpPr>
        <p:spPr>
          <a:xfrm>
            <a:off x="504825" y="1917502"/>
            <a:ext cx="8170863" cy="417513"/>
          </a:xfrm>
          <a:prstGeom prst="rect">
            <a:avLst/>
          </a:prstGeom>
        </p:spPr>
        <p:txBody>
          <a:bodyPr lIns="0" tIns="0" rIns="0" bIns="0">
            <a:normAutofit/>
          </a:bodyPr>
          <a:lstStyle>
            <a:lvl1pPr algn="l">
              <a:defRPr sz="2400">
                <a:solidFill>
                  <a:schemeClr val="accent1"/>
                </a:solidFill>
              </a:defRPr>
            </a:lvl1pPr>
          </a:lstStyle>
          <a:p>
            <a:pPr fontAlgn="auto">
              <a:lnSpc>
                <a:spcPct val="95000"/>
              </a:lnSpc>
              <a:spcAft>
                <a:spcPts val="0"/>
              </a:spcAft>
              <a:defRPr/>
            </a:pPr>
            <a:r>
              <a:rPr lang="en-US" sz="2000" b="1" dirty="0" smtClean="0">
                <a:latin typeface="+mj-lt"/>
                <a:ea typeface="+mj-ea"/>
                <a:cs typeface="Arial" pitchFamily="34" charset="0"/>
              </a:rPr>
              <a:t>Senses for Safety.</a:t>
            </a:r>
            <a:endParaRPr lang="en-US" sz="2000" b="1" dirty="0">
              <a:latin typeface="+mj-lt"/>
              <a:ea typeface="+mj-ea"/>
              <a:cs typeface="Arial" pitchFamily="34" charset="0"/>
            </a:endParaRPr>
          </a:p>
        </p:txBody>
      </p:sp>
      <p:sp>
        <p:nvSpPr>
          <p:cNvPr id="20" name="Untertitel 2"/>
          <p:cNvSpPr txBox="1">
            <a:spLocks/>
          </p:cNvSpPr>
          <p:nvPr userDrawn="1"/>
        </p:nvSpPr>
        <p:spPr>
          <a:xfrm>
            <a:off x="504825" y="2204840"/>
            <a:ext cx="8170863" cy="360362"/>
          </a:xfrm>
          <a:prstGeom prst="rect">
            <a:avLst/>
          </a:prstGeom>
        </p:spPr>
        <p:txBody>
          <a:bodyPr lIns="0" tIns="0" rIns="0" bIns="0">
            <a:normAutofit/>
          </a:bodyPr>
          <a:lstStyle>
            <a:lvl1pPr marL="0" indent="0" algn="l">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fontAlgn="auto">
              <a:spcBef>
                <a:spcPts val="0"/>
              </a:spcBef>
              <a:spcAft>
                <a:spcPts val="1200"/>
              </a:spcAft>
              <a:buClr>
                <a:schemeClr val="accent1"/>
              </a:buClr>
              <a:buSzPct val="125000"/>
              <a:buFont typeface="Arial" pitchFamily="34" charset="0"/>
              <a:buNone/>
              <a:defRPr/>
            </a:pPr>
            <a:r>
              <a:rPr lang="en-US" sz="2000" dirty="0" smtClean="0">
                <a:latin typeface="+mn-lt"/>
                <a:cs typeface="Arial" pitchFamily="34" charset="0"/>
              </a:rPr>
              <a:t>Driver assistance systems help save lives.</a:t>
            </a:r>
            <a:endParaRPr lang="en-US" sz="2000" dirty="0">
              <a:latin typeface="+mn-lt"/>
              <a:cs typeface="Arial" pitchFamily="34" charset="0"/>
            </a:endParaRPr>
          </a:p>
        </p:txBody>
      </p:sp>
    </p:spTree>
    <p:extLst>
      <p:ext uri="{BB962C8B-B14F-4D97-AF65-F5344CB8AC3E}">
        <p14:creationId xmlns:p14="http://schemas.microsoft.com/office/powerpoint/2010/main" val="889063258"/>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
    <p:spTree>
      <p:nvGrpSpPr>
        <p:cNvPr id="1" name=""/>
        <p:cNvGrpSpPr/>
        <p:nvPr/>
      </p:nvGrpSpPr>
      <p:grpSpPr>
        <a:xfrm>
          <a:off x="0" y="0"/>
          <a:ext cx="0" cy="0"/>
          <a:chOff x="0" y="0"/>
          <a:chExt cx="0" cy="0"/>
        </a:xfrm>
      </p:grpSpPr>
      <p:sp>
        <p:nvSpPr>
          <p:cNvPr id="3" name="Inhaltsplatzhalter 2"/>
          <p:cNvSpPr>
            <a:spLocks noGrp="1"/>
          </p:cNvSpPr>
          <p:nvPr>
            <p:ph idx="1"/>
          </p:nvPr>
        </p:nvSpPr>
        <p:spPr>
          <a:xfrm>
            <a:off x="395288" y="1341437"/>
            <a:ext cx="8353425" cy="4535487"/>
          </a:xfrm>
        </p:spPr>
        <p:txBody>
          <a:bodyPr/>
          <a:lstStyle>
            <a:lvl1pPr marL="177800" indent="-177800">
              <a:buSzPct val="125000"/>
              <a:buFont typeface="Arial" pitchFamily="34" charset="0"/>
              <a:buChar char="›"/>
              <a:defRPr>
                <a:solidFill>
                  <a:schemeClr val="tx1"/>
                </a:solidFill>
              </a:defRPr>
            </a:lvl1pPr>
            <a:lvl2pPr marL="541338" indent="-184150">
              <a:buSzPct val="125000"/>
              <a:buFont typeface="Arial" pitchFamily="34" charset="0"/>
              <a:buChar char="›"/>
              <a:defRPr>
                <a:solidFill>
                  <a:schemeClr val="tx1"/>
                </a:solidFill>
              </a:defRPr>
            </a:lvl2pPr>
            <a:lvl3pPr marL="896938" indent="-177800">
              <a:buSzPct val="125000"/>
              <a:buFont typeface="Arial" pitchFamily="34" charset="0"/>
              <a:buChar char="›"/>
              <a:defRPr>
                <a:solidFill>
                  <a:schemeClr val="tx1"/>
                </a:solidFill>
              </a:defRPr>
            </a:lvl3pPr>
            <a:lvl4pPr marL="1254125" indent="-179388">
              <a:buSzPct val="125000"/>
              <a:buFont typeface="Arial" pitchFamily="34" charset="0"/>
              <a:buChar char="›"/>
              <a:defRPr>
                <a:solidFill>
                  <a:schemeClr val="tx1"/>
                </a:solidFill>
              </a:defRPr>
            </a:lvl4pPr>
            <a:lvl5pPr marL="1616075" indent="-177800">
              <a:buSzPct val="125000"/>
              <a:buFont typeface="Arial" pitchFamily="34" charset="0"/>
              <a:buChar char="›"/>
              <a:defRPr>
                <a:solidFill>
                  <a:schemeClr val="tx1"/>
                </a:solidFill>
              </a:defRPr>
            </a:lvl5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a:p>
            <a:pPr lvl="4"/>
            <a:r>
              <a:rPr lang="de-DE" noProof="0" smtClean="0"/>
              <a:t>Fünfte Ebene</a:t>
            </a:r>
            <a:endParaRPr lang="en-US" noProof="0"/>
          </a:p>
        </p:txBody>
      </p:sp>
      <p:sp>
        <p:nvSpPr>
          <p:cNvPr id="8" name="Titel 7"/>
          <p:cNvSpPr>
            <a:spLocks noGrp="1"/>
          </p:cNvSpPr>
          <p:nvPr>
            <p:ph type="title"/>
          </p:nvPr>
        </p:nvSpPr>
        <p:spPr>
          <a:xfrm>
            <a:off x="395288" y="296862"/>
            <a:ext cx="8353425" cy="719137"/>
          </a:xfrm>
        </p:spPr>
        <p:txBody>
          <a:bodyPr/>
          <a:lstStyle>
            <a:lvl1pPr>
              <a:defRPr>
                <a:solidFill>
                  <a:schemeClr val="accent1"/>
                </a:solidFill>
              </a:defRPr>
            </a:lvl1pPr>
          </a:lstStyle>
          <a:p>
            <a:r>
              <a:rPr lang="de-DE" noProof="0" smtClean="0"/>
              <a:t>Titelmasterformat durch Klicken bearbeiten</a:t>
            </a:r>
            <a:endParaRPr lang="en-US" noProof="0"/>
          </a:p>
        </p:txBody>
      </p:sp>
      <p:sp>
        <p:nvSpPr>
          <p:cNvPr id="9" name="Datumsplatzhalter 8"/>
          <p:cNvSpPr>
            <a:spLocks noGrp="1"/>
          </p:cNvSpPr>
          <p:nvPr>
            <p:ph type="dt" sz="half" idx="10"/>
          </p:nvPr>
        </p:nvSpPr>
        <p:spPr/>
        <p:txBody>
          <a:bodyPr/>
          <a:lstStyle>
            <a:lvl1pPr>
              <a:defRPr>
                <a:solidFill>
                  <a:schemeClr val="tx1"/>
                </a:solidFill>
              </a:defRPr>
            </a:lvl1pPr>
          </a:lstStyle>
          <a:p>
            <a:fld id="{599AB9BC-EC3C-4486-9684-3F656F14D41E}" type="datetime3">
              <a:rPr lang="en-US" noProof="0" smtClean="0"/>
              <a:pPr/>
              <a:t>9 February 2018</a:t>
            </a:fld>
            <a:endParaRPr lang="en-US" noProof="0"/>
          </a:p>
        </p:txBody>
      </p:sp>
      <p:sp>
        <p:nvSpPr>
          <p:cNvPr id="10" name="Foliennummernplatzhalter 9"/>
          <p:cNvSpPr>
            <a:spLocks noGrp="1"/>
          </p:cNvSpPr>
          <p:nvPr>
            <p:ph type="sldNum" sz="quarter" idx="11"/>
          </p:nvPr>
        </p:nvSpPr>
        <p:spPr/>
        <p:txBody>
          <a:bodyPr/>
          <a:lstStyle>
            <a:lvl1pPr>
              <a:defRPr>
                <a:solidFill>
                  <a:schemeClr val="tx1"/>
                </a:solidFill>
              </a:defRPr>
            </a:lvl1pPr>
          </a:lstStyle>
          <a:p>
            <a:fld id="{ADA48181-2C78-49CB-8C52-912A07842C2E}" type="slidenum">
              <a:rPr lang="en-US" noProof="0" smtClean="0"/>
              <a:pPr/>
              <a:t>‹#›</a:t>
            </a:fld>
            <a:endParaRPr lang="en-US" noProof="0"/>
          </a:p>
        </p:txBody>
      </p:sp>
      <p:sp>
        <p:nvSpPr>
          <p:cNvPr id="11" name="Fußzeilenplatzhalter 10"/>
          <p:cNvSpPr>
            <a:spLocks noGrp="1"/>
          </p:cNvSpPr>
          <p:nvPr>
            <p:ph type="ftr" sz="quarter" idx="12"/>
          </p:nvPr>
        </p:nvSpPr>
        <p:spPr/>
        <p:txBody>
          <a:bodyPr/>
          <a:lstStyle>
            <a:lvl1pPr>
              <a:defRPr>
                <a:solidFill>
                  <a:schemeClr val="tx1"/>
                </a:solidFill>
              </a:defRPr>
            </a:lvl1pPr>
          </a:lstStyle>
          <a:p>
            <a:r>
              <a:rPr lang="en-US" noProof="0" smtClean="0"/>
              <a:t>Author, © Continental AG</a:t>
            </a:r>
            <a:endParaRPr lang="en-US" noProof="0"/>
          </a:p>
        </p:txBody>
      </p:sp>
    </p:spTree>
    <p:extLst>
      <p:ext uri="{BB962C8B-B14F-4D97-AF65-F5344CB8AC3E}">
        <p14:creationId xmlns:p14="http://schemas.microsoft.com/office/powerpoint/2010/main" val="2351567284"/>
      </p:ext>
    </p:extLst>
  </p:cSld>
  <p:clrMapOvr>
    <a:masterClrMapping/>
  </p:clrMapOvr>
  <p:transition>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p:bg>
      <p:bgPr>
        <a:solidFill>
          <a:schemeClr val="bg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503548" y="3839314"/>
            <a:ext cx="8172140" cy="418502"/>
          </a:xfrm>
        </p:spPr>
        <p:txBody>
          <a:bodyPr tIns="0" rIns="0" bIns="0" anchor="t" anchorCtr="0">
            <a:normAutofit/>
          </a:bodyPr>
          <a:lstStyle>
            <a:lvl1pPr algn="l">
              <a:defRPr sz="2400">
                <a:solidFill>
                  <a:schemeClr val="accent1"/>
                </a:solidFill>
              </a:defRPr>
            </a:lvl1pPr>
          </a:lstStyle>
          <a:p>
            <a:r>
              <a:rPr lang="de-DE" noProof="0" smtClean="0"/>
              <a:t>Titelmasterformat durch Klicken bearbeiten</a:t>
            </a:r>
            <a:endParaRPr lang="en-US" noProof="0"/>
          </a:p>
        </p:txBody>
      </p:sp>
      <p:sp>
        <p:nvSpPr>
          <p:cNvPr id="3" name="Untertitel 2"/>
          <p:cNvSpPr>
            <a:spLocks noGrp="1"/>
          </p:cNvSpPr>
          <p:nvPr>
            <p:ph type="subTitle" idx="1"/>
          </p:nvPr>
        </p:nvSpPr>
        <p:spPr>
          <a:xfrm>
            <a:off x="503548" y="4185084"/>
            <a:ext cx="8172140" cy="1138230"/>
          </a:xfrm>
        </p:spPr>
        <p:txBody>
          <a:bodyPr tIns="0" rIns="0" bIns="0" anchor="t" anchorCtr="0">
            <a:normAutofit/>
          </a:bodyPr>
          <a:lstStyle>
            <a:lvl1pPr marL="0" indent="0" algn="l">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noProof="0" smtClean="0"/>
              <a:t>Formatvorlage des Untertitelmasters durch Klicken bearbeiten</a:t>
            </a:r>
            <a:endParaRPr lang="en-US" noProof="0"/>
          </a:p>
        </p:txBody>
      </p:sp>
      <p:sp>
        <p:nvSpPr>
          <p:cNvPr id="10" name="Textplatzhalter 9"/>
          <p:cNvSpPr>
            <a:spLocks noGrp="1"/>
          </p:cNvSpPr>
          <p:nvPr>
            <p:ph type="body" sz="quarter" idx="10" hasCustomPrompt="1"/>
          </p:nvPr>
        </p:nvSpPr>
        <p:spPr>
          <a:xfrm>
            <a:off x="503548" y="6021288"/>
            <a:ext cx="2628590" cy="368813"/>
          </a:xfrm>
        </p:spPr>
        <p:txBody>
          <a:bodyPr tIns="0" bIns="0" anchor="b" anchorCtr="0">
            <a:normAutofit/>
          </a:bodyPr>
          <a:lstStyle>
            <a:lvl1pPr marL="0" indent="0">
              <a:spcAft>
                <a:spcPts val="0"/>
              </a:spcAft>
              <a:buNone/>
              <a:defRPr sz="900" b="0"/>
            </a:lvl1pPr>
          </a:lstStyle>
          <a:p>
            <a:pPr lvl="0"/>
            <a:r>
              <a:rPr lang="en-US" noProof="0" smtClean="0"/>
              <a:t>URL</a:t>
            </a:r>
          </a:p>
          <a:p>
            <a:pPr lvl="0"/>
            <a:endParaRPr lang="en-US" noProof="0" smtClean="0"/>
          </a:p>
        </p:txBody>
      </p:sp>
      <p:sp>
        <p:nvSpPr>
          <p:cNvPr id="11" name="Textplatzhalter 9"/>
          <p:cNvSpPr>
            <a:spLocks noGrp="1"/>
          </p:cNvSpPr>
          <p:nvPr>
            <p:ph type="body" sz="quarter" idx="11" hasCustomPrompt="1"/>
          </p:nvPr>
        </p:nvSpPr>
        <p:spPr>
          <a:xfrm>
            <a:off x="3599891" y="6021288"/>
            <a:ext cx="5075797" cy="368813"/>
          </a:xfrm>
        </p:spPr>
        <p:txBody>
          <a:bodyPr tIns="0" bIns="0" anchor="b" anchorCtr="0">
            <a:normAutofit/>
          </a:bodyPr>
          <a:lstStyle>
            <a:lvl1pPr marL="0" indent="0" algn="r">
              <a:spcAft>
                <a:spcPts val="0"/>
              </a:spcAft>
              <a:buNone/>
              <a:defRPr sz="900" b="0"/>
            </a:lvl1pPr>
          </a:lstStyle>
          <a:p>
            <a:pPr lvl="0"/>
            <a:r>
              <a:rPr lang="en-US" noProof="0" smtClean="0"/>
              <a:t>Division Naming</a:t>
            </a:r>
          </a:p>
          <a:p>
            <a:pPr lvl="0"/>
            <a:endParaRPr lang="en-US" noProof="0" smtClean="0"/>
          </a:p>
        </p:txBody>
      </p:sp>
      <p:pic>
        <p:nvPicPr>
          <p:cNvPr id="14" name="Grafik 13"/>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503238" y="-1"/>
            <a:ext cx="2555876" cy="1304925"/>
          </a:xfrm>
          <a:prstGeom prst="rect">
            <a:avLst/>
          </a:prstGeom>
        </p:spPr>
      </p:pic>
    </p:spTree>
    <p:extLst>
      <p:ext uri="{BB962C8B-B14F-4D97-AF65-F5344CB8AC3E}">
        <p14:creationId xmlns:p14="http://schemas.microsoft.com/office/powerpoint/2010/main" val="229962605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big Picture">
    <p:spTree>
      <p:nvGrpSpPr>
        <p:cNvPr id="1" name=""/>
        <p:cNvGrpSpPr/>
        <p:nvPr/>
      </p:nvGrpSpPr>
      <p:grpSpPr>
        <a:xfrm>
          <a:off x="0" y="0"/>
          <a:ext cx="0" cy="0"/>
          <a:chOff x="0" y="0"/>
          <a:chExt cx="0" cy="0"/>
        </a:xfrm>
      </p:grpSpPr>
      <p:pic>
        <p:nvPicPr>
          <p:cNvPr id="13" name="Grafik 12" descr="Bild10.jpg"/>
          <p:cNvPicPr>
            <a:picLocks noChangeAspect="1"/>
          </p:cNvPicPr>
          <p:nvPr userDrawn="1"/>
        </p:nvPicPr>
        <p:blipFill>
          <a:blip r:embed="rId2"/>
          <a:stretch>
            <a:fillRect/>
          </a:stretch>
        </p:blipFill>
        <p:spPr>
          <a:xfrm>
            <a:off x="0" y="98928"/>
            <a:ext cx="9144000" cy="6660144"/>
          </a:xfrm>
          <a:prstGeom prst="rect">
            <a:avLst/>
          </a:prstGeom>
        </p:spPr>
      </p:pic>
      <p:sp>
        <p:nvSpPr>
          <p:cNvPr id="12" name="Rechteck 11"/>
          <p:cNvSpPr/>
          <p:nvPr userDrawn="1"/>
        </p:nvSpPr>
        <p:spPr>
          <a:xfrm>
            <a:off x="503548" y="-567404"/>
            <a:ext cx="8640452" cy="360000"/>
          </a:xfrm>
          <a:prstGeom prst="rect">
            <a:avLst/>
          </a:prstGeom>
          <a:solidFill>
            <a:schemeClr val="bg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0" tIns="46800" rIns="72000" bIns="46800" rtlCol="0" anchor="t" anchorCtr="0"/>
          <a:lstStyle/>
          <a:p>
            <a:r>
              <a:rPr lang="en-US" sz="900" noProof="0" smtClean="0">
                <a:solidFill>
                  <a:schemeClr val="tx1"/>
                </a:solidFill>
              </a:rPr>
              <a:t>Wenn Sie ein neues Bild einfügen: Klicken Sie mit der rechten Maustaste auf das Bild und wählen „In den Hintergrund“, um das Bild hinter das Quality Seal zu bringen.</a:t>
            </a:r>
          </a:p>
          <a:p>
            <a:r>
              <a:rPr lang="en-US" sz="900" noProof="0" smtClean="0">
                <a:solidFill>
                  <a:schemeClr val="tx1"/>
                </a:solidFill>
              </a:rPr>
              <a:t>If you insert a new picture: Right click on the picture and select “Send to the back” to position it behind the Quality Seal.</a:t>
            </a:r>
          </a:p>
        </p:txBody>
      </p:sp>
      <p:cxnSp>
        <p:nvCxnSpPr>
          <p:cNvPr id="14" name="Gerade Verbindung 13"/>
          <p:cNvCxnSpPr/>
          <p:nvPr userDrawn="1"/>
        </p:nvCxnSpPr>
        <p:spPr>
          <a:xfrm>
            <a:off x="503548" y="-171400"/>
            <a:ext cx="0" cy="13384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Gerade Verbindung 14"/>
          <p:cNvCxnSpPr/>
          <p:nvPr userDrawn="1"/>
        </p:nvCxnSpPr>
        <p:spPr>
          <a:xfrm>
            <a:off x="3059832" y="-171400"/>
            <a:ext cx="0" cy="13384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Gerade Verbindung 15"/>
          <p:cNvCxnSpPr/>
          <p:nvPr userDrawn="1"/>
        </p:nvCxnSpPr>
        <p:spPr>
          <a:xfrm rot="5400000">
            <a:off x="-103432" y="1237844"/>
            <a:ext cx="0" cy="133840"/>
          </a:xfrm>
          <a:prstGeom prst="line">
            <a:avLst/>
          </a:prstGeom>
          <a:ln w="31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Gerade Verbindung 16"/>
          <p:cNvCxnSpPr/>
          <p:nvPr userDrawn="1"/>
        </p:nvCxnSpPr>
        <p:spPr>
          <a:xfrm rot="5400000">
            <a:off x="-113608" y="-66920"/>
            <a:ext cx="0" cy="133840"/>
          </a:xfrm>
          <a:prstGeom prst="line">
            <a:avLst/>
          </a:prstGeom>
          <a:ln w="31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p:nvPr>
        </p:nvSpPr>
        <p:spPr>
          <a:xfrm>
            <a:off x="503547" y="4401108"/>
            <a:ext cx="8172141" cy="418502"/>
          </a:xfrm>
        </p:spPr>
        <p:txBody>
          <a:bodyPr tIns="0" rIns="0" bIns="0" anchor="t" anchorCtr="0">
            <a:normAutofit/>
          </a:bodyPr>
          <a:lstStyle>
            <a:lvl1pPr algn="l">
              <a:defRPr sz="2400">
                <a:solidFill>
                  <a:schemeClr val="accent1"/>
                </a:solidFill>
              </a:defRPr>
            </a:lvl1pPr>
          </a:lstStyle>
          <a:p>
            <a:r>
              <a:rPr lang="de-DE" noProof="0" smtClean="0"/>
              <a:t>Titelmasterformat durch Klicken bearbeiten</a:t>
            </a:r>
            <a:endParaRPr lang="en-US" noProof="0"/>
          </a:p>
        </p:txBody>
      </p:sp>
      <p:sp>
        <p:nvSpPr>
          <p:cNvPr id="3" name="Untertitel 2"/>
          <p:cNvSpPr>
            <a:spLocks noGrp="1"/>
          </p:cNvSpPr>
          <p:nvPr>
            <p:ph type="subTitle" idx="1"/>
          </p:nvPr>
        </p:nvSpPr>
        <p:spPr>
          <a:xfrm>
            <a:off x="503548" y="4746878"/>
            <a:ext cx="8172140" cy="1138230"/>
          </a:xfrm>
        </p:spPr>
        <p:txBody>
          <a:bodyPr tIns="0" rIns="0" bIns="0" anchor="t" anchorCtr="0">
            <a:normAutofit/>
          </a:bodyPr>
          <a:lstStyle>
            <a:lvl1pPr marL="0" indent="0" algn="l">
              <a:buNone/>
              <a:defRPr sz="2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noProof="0" smtClean="0"/>
              <a:t>Formatvorlage des Untertitelmasters durch Klicken bearbeiten</a:t>
            </a:r>
            <a:endParaRPr lang="en-US" noProof="0"/>
          </a:p>
        </p:txBody>
      </p:sp>
      <p:sp>
        <p:nvSpPr>
          <p:cNvPr id="10" name="Textplatzhalter 9"/>
          <p:cNvSpPr>
            <a:spLocks noGrp="1"/>
          </p:cNvSpPr>
          <p:nvPr>
            <p:ph type="body" sz="quarter" idx="10" hasCustomPrompt="1"/>
          </p:nvPr>
        </p:nvSpPr>
        <p:spPr>
          <a:xfrm>
            <a:off x="503548" y="6021288"/>
            <a:ext cx="2628590" cy="368813"/>
          </a:xfrm>
        </p:spPr>
        <p:txBody>
          <a:bodyPr tIns="0" bIns="0" anchor="b" anchorCtr="0">
            <a:normAutofit/>
          </a:bodyPr>
          <a:lstStyle>
            <a:lvl1pPr marL="0" indent="0">
              <a:spcAft>
                <a:spcPts val="0"/>
              </a:spcAft>
              <a:buNone/>
              <a:defRPr sz="900" b="0">
                <a:solidFill>
                  <a:schemeClr val="bg1"/>
                </a:solidFill>
              </a:defRPr>
            </a:lvl1pPr>
          </a:lstStyle>
          <a:p>
            <a:pPr lvl="0"/>
            <a:r>
              <a:rPr lang="en-US" noProof="0" smtClean="0"/>
              <a:t>URL</a:t>
            </a:r>
          </a:p>
          <a:p>
            <a:pPr lvl="0"/>
            <a:endParaRPr lang="en-US" noProof="0" smtClean="0"/>
          </a:p>
        </p:txBody>
      </p:sp>
      <p:sp>
        <p:nvSpPr>
          <p:cNvPr id="11" name="Textplatzhalter 9"/>
          <p:cNvSpPr>
            <a:spLocks noGrp="1"/>
          </p:cNvSpPr>
          <p:nvPr>
            <p:ph type="body" sz="quarter" idx="11" hasCustomPrompt="1"/>
          </p:nvPr>
        </p:nvSpPr>
        <p:spPr>
          <a:xfrm>
            <a:off x="3599891" y="6021288"/>
            <a:ext cx="5075797" cy="368813"/>
          </a:xfrm>
        </p:spPr>
        <p:txBody>
          <a:bodyPr tIns="0" bIns="0" anchor="b" anchorCtr="0">
            <a:normAutofit/>
          </a:bodyPr>
          <a:lstStyle>
            <a:lvl1pPr marL="0" indent="0" algn="r">
              <a:spcAft>
                <a:spcPts val="0"/>
              </a:spcAft>
              <a:buNone/>
              <a:defRPr sz="900" b="0">
                <a:solidFill>
                  <a:schemeClr val="bg1"/>
                </a:solidFill>
              </a:defRPr>
            </a:lvl1pPr>
          </a:lstStyle>
          <a:p>
            <a:pPr lvl="0"/>
            <a:r>
              <a:rPr lang="en-US" noProof="0" smtClean="0"/>
              <a:t>Division Naming</a:t>
            </a:r>
          </a:p>
          <a:p>
            <a:pPr lvl="0"/>
            <a:endParaRPr lang="en-US" noProof="0" smtClean="0"/>
          </a:p>
        </p:txBody>
      </p:sp>
      <p:sp>
        <p:nvSpPr>
          <p:cNvPr id="8" name="Textplatzhalter 7"/>
          <p:cNvSpPr>
            <a:spLocks noGrp="1"/>
          </p:cNvSpPr>
          <p:nvPr>
            <p:ph type="body" sz="quarter" idx="12" hasCustomPrompt="1"/>
          </p:nvPr>
        </p:nvSpPr>
        <p:spPr>
          <a:xfrm>
            <a:off x="503238" y="0"/>
            <a:ext cx="2555875" cy="1304925"/>
          </a:xfrm>
          <a:blipFill>
            <a:blip r:embed="rId3"/>
            <a:stretch>
              <a:fillRect/>
            </a:stretch>
          </a:blipFill>
        </p:spPr>
        <p:txBody>
          <a:bodyPr>
            <a:noAutofit/>
          </a:bodyPr>
          <a:lstStyle>
            <a:lvl1pPr marL="0" indent="0" algn="ctr">
              <a:spcAft>
                <a:spcPts val="0"/>
              </a:spcAft>
              <a:buNone/>
              <a:defRPr sz="800"/>
            </a:lvl1pPr>
          </a:lstStyle>
          <a:p>
            <a:pPr lvl="0"/>
            <a:r>
              <a:rPr lang="en-US" noProof="0" smtClean="0"/>
              <a:t>Das Quality Seal hat im Vordergrund zu stehen.</a:t>
            </a:r>
            <a:br>
              <a:rPr lang="en-US" noProof="0" smtClean="0"/>
            </a:br>
            <a:r>
              <a:rPr lang="en-US" noProof="0" smtClean="0"/>
              <a:t>Bitte ändern Sie nicht die Größe oder Position.</a:t>
            </a:r>
            <a:br>
              <a:rPr lang="en-US" noProof="0" smtClean="0"/>
            </a:br>
            <a:r>
              <a:rPr lang="en-US" noProof="0" smtClean="0"/>
              <a:t>The Quality Seal has to stay on top.</a:t>
            </a:r>
            <a:br>
              <a:rPr lang="en-US" noProof="0" smtClean="0"/>
            </a:br>
            <a:r>
              <a:rPr lang="en-US" noProof="0" smtClean="0"/>
              <a:t>Please do not change size or position.</a:t>
            </a:r>
          </a:p>
          <a:p>
            <a:pPr lvl="0"/>
            <a:endParaRPr lang="en-US" noProof="0" smtClean="0"/>
          </a:p>
        </p:txBody>
      </p:sp>
    </p:spTree>
    <p:extLst>
      <p:ext uri="{BB962C8B-B14F-4D97-AF65-F5344CB8AC3E}">
        <p14:creationId xmlns:p14="http://schemas.microsoft.com/office/powerpoint/2010/main" val="889063258"/>
      </p:ext>
    </p:extLst>
  </p:cSld>
  <p:clrMapOvr>
    <a:masterClrMapping/>
  </p:clrMapOvr>
  <p:transition>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Chapter (orange)">
    <p:bg>
      <p:bgPr>
        <a:solidFill>
          <a:schemeClr val="accent1"/>
        </a:solidFill>
        <a:effectLst/>
      </p:bgPr>
    </p:bg>
    <p:spTree>
      <p:nvGrpSpPr>
        <p:cNvPr id="1" name=""/>
        <p:cNvGrpSpPr/>
        <p:nvPr/>
      </p:nvGrpSpPr>
      <p:grpSpPr>
        <a:xfrm>
          <a:off x="0" y="0"/>
          <a:ext cx="0" cy="0"/>
          <a:chOff x="0" y="0"/>
          <a:chExt cx="0" cy="0"/>
        </a:xfrm>
      </p:grpSpPr>
      <p:sp>
        <p:nvSpPr>
          <p:cNvPr id="3" name="Inhaltsplatzhalter 2"/>
          <p:cNvSpPr>
            <a:spLocks noGrp="1"/>
          </p:cNvSpPr>
          <p:nvPr>
            <p:ph idx="1"/>
          </p:nvPr>
        </p:nvSpPr>
        <p:spPr>
          <a:xfrm>
            <a:off x="395288" y="1341437"/>
            <a:ext cx="8353425" cy="4535487"/>
          </a:xfrm>
        </p:spPr>
        <p:txBody>
          <a:bodyPr/>
          <a:lstStyle>
            <a:lvl1pPr marL="0" indent="0">
              <a:lnSpc>
                <a:spcPct val="113000"/>
              </a:lnSpc>
              <a:buSzPct val="125000"/>
              <a:buFont typeface="Arial" pitchFamily="34" charset="0"/>
              <a:buNone/>
              <a:defRPr>
                <a:solidFill>
                  <a:schemeClr val="bg1"/>
                </a:solidFill>
              </a:defRPr>
            </a:lvl1pPr>
            <a:lvl2pPr marL="184150" indent="-184150">
              <a:lnSpc>
                <a:spcPct val="113000"/>
              </a:lnSpc>
              <a:buClr>
                <a:schemeClr val="bg1"/>
              </a:buClr>
              <a:buSzPct val="125000"/>
              <a:buFont typeface="Arial" pitchFamily="34" charset="0"/>
              <a:buChar char="›"/>
              <a:defRPr>
                <a:solidFill>
                  <a:schemeClr val="bg1"/>
                </a:solidFill>
              </a:defRPr>
            </a:lvl2pPr>
            <a:lvl3pPr marL="539750" indent="-177800">
              <a:lnSpc>
                <a:spcPct val="113000"/>
              </a:lnSpc>
              <a:buClr>
                <a:schemeClr val="bg1"/>
              </a:buClr>
              <a:buSzPct val="125000"/>
              <a:buFont typeface="Arial" pitchFamily="34" charset="0"/>
              <a:buChar char="›"/>
              <a:defRPr>
                <a:solidFill>
                  <a:schemeClr val="bg1"/>
                </a:solidFill>
              </a:defRPr>
            </a:lvl3pPr>
            <a:lvl4pPr marL="895350" indent="-179388">
              <a:lnSpc>
                <a:spcPct val="113000"/>
              </a:lnSpc>
              <a:buClr>
                <a:schemeClr val="bg1"/>
              </a:buClr>
              <a:buSzPct val="125000"/>
              <a:buFont typeface="Arial" pitchFamily="34" charset="0"/>
              <a:buChar char="›"/>
              <a:defRPr>
                <a:solidFill>
                  <a:schemeClr val="bg1"/>
                </a:solidFill>
              </a:defRPr>
            </a:lvl4pPr>
            <a:lvl5pPr marL="1257300" indent="-177800">
              <a:lnSpc>
                <a:spcPct val="113000"/>
              </a:lnSpc>
              <a:buClr>
                <a:schemeClr val="bg1"/>
              </a:buClr>
              <a:buSzPct val="125000"/>
              <a:buFont typeface="Arial" pitchFamily="34" charset="0"/>
              <a:buChar char="›"/>
              <a:defRPr>
                <a:solidFill>
                  <a:schemeClr val="bg1"/>
                </a:solidFill>
              </a:defRPr>
            </a:lvl5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a:p>
            <a:pPr lvl="4"/>
            <a:r>
              <a:rPr lang="de-DE" noProof="0" smtClean="0"/>
              <a:t>Fünfte Ebene</a:t>
            </a:r>
            <a:endParaRPr lang="en-US" noProof="0"/>
          </a:p>
        </p:txBody>
      </p:sp>
      <p:sp>
        <p:nvSpPr>
          <p:cNvPr id="8" name="Titel 7"/>
          <p:cNvSpPr>
            <a:spLocks noGrp="1"/>
          </p:cNvSpPr>
          <p:nvPr>
            <p:ph type="title"/>
          </p:nvPr>
        </p:nvSpPr>
        <p:spPr>
          <a:xfrm>
            <a:off x="395288" y="296862"/>
            <a:ext cx="8353425" cy="719137"/>
          </a:xfrm>
        </p:spPr>
        <p:txBody>
          <a:bodyPr/>
          <a:lstStyle>
            <a:lvl1pPr>
              <a:defRPr>
                <a:solidFill>
                  <a:schemeClr val="bg1"/>
                </a:solidFill>
              </a:defRPr>
            </a:lvl1pPr>
          </a:lstStyle>
          <a:p>
            <a:r>
              <a:rPr lang="de-DE" noProof="0" smtClean="0"/>
              <a:t>Titelmasterformat durch Klicken bearbeiten</a:t>
            </a:r>
            <a:endParaRPr lang="en-US" noProof="0"/>
          </a:p>
        </p:txBody>
      </p:sp>
      <p:sp>
        <p:nvSpPr>
          <p:cNvPr id="9" name="Datumsplatzhalter 8"/>
          <p:cNvSpPr>
            <a:spLocks noGrp="1"/>
          </p:cNvSpPr>
          <p:nvPr>
            <p:ph type="dt" sz="half" idx="10"/>
          </p:nvPr>
        </p:nvSpPr>
        <p:spPr/>
        <p:txBody>
          <a:bodyPr/>
          <a:lstStyle>
            <a:lvl1pPr>
              <a:defRPr>
                <a:solidFill>
                  <a:schemeClr val="tx1"/>
                </a:solidFill>
              </a:defRPr>
            </a:lvl1pPr>
          </a:lstStyle>
          <a:p>
            <a:fld id="{D29BA927-74AC-44FA-B689-85192AFC28A3}" type="datetime3">
              <a:rPr lang="en-US" noProof="0" smtClean="0"/>
              <a:pPr/>
              <a:t>9 February 2018</a:t>
            </a:fld>
            <a:endParaRPr lang="en-US" noProof="0"/>
          </a:p>
        </p:txBody>
      </p:sp>
      <p:sp>
        <p:nvSpPr>
          <p:cNvPr id="10" name="Foliennummernplatzhalter 9"/>
          <p:cNvSpPr>
            <a:spLocks noGrp="1"/>
          </p:cNvSpPr>
          <p:nvPr>
            <p:ph type="sldNum" sz="quarter" idx="11"/>
          </p:nvPr>
        </p:nvSpPr>
        <p:spPr/>
        <p:txBody>
          <a:bodyPr/>
          <a:lstStyle>
            <a:lvl1pPr>
              <a:defRPr>
                <a:solidFill>
                  <a:schemeClr val="tx1"/>
                </a:solidFill>
              </a:defRPr>
            </a:lvl1pPr>
          </a:lstStyle>
          <a:p>
            <a:fld id="{ADA48181-2C78-49CB-8C52-912A07842C2E}" type="slidenum">
              <a:rPr lang="en-US" noProof="0" smtClean="0"/>
              <a:pPr/>
              <a:t>‹#›</a:t>
            </a:fld>
            <a:endParaRPr lang="en-US" noProof="0"/>
          </a:p>
        </p:txBody>
      </p:sp>
      <p:sp>
        <p:nvSpPr>
          <p:cNvPr id="11" name="Fußzeilenplatzhalter 10"/>
          <p:cNvSpPr>
            <a:spLocks noGrp="1"/>
          </p:cNvSpPr>
          <p:nvPr>
            <p:ph type="ftr" sz="quarter" idx="12"/>
          </p:nvPr>
        </p:nvSpPr>
        <p:spPr/>
        <p:txBody>
          <a:bodyPr/>
          <a:lstStyle>
            <a:lvl1pPr>
              <a:defRPr>
                <a:solidFill>
                  <a:schemeClr val="tx1"/>
                </a:solidFill>
              </a:defRPr>
            </a:lvl1pPr>
          </a:lstStyle>
          <a:p>
            <a:r>
              <a:rPr lang="en-US" noProof="0" smtClean="0"/>
              <a:t>Author, © Continental AG</a:t>
            </a:r>
            <a:endParaRPr lang="en-US" noProof="0"/>
          </a:p>
        </p:txBody>
      </p:sp>
      <p:pic>
        <p:nvPicPr>
          <p:cNvPr id="15" name="Bild 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52412" y="6094965"/>
            <a:ext cx="1857600" cy="570154"/>
          </a:xfrm>
          <a:prstGeom prst="rect">
            <a:avLst/>
          </a:prstGeom>
          <a:noFill/>
          <a:ln>
            <a:noFill/>
          </a:ln>
        </p:spPr>
      </p:pic>
      <p:cxnSp>
        <p:nvCxnSpPr>
          <p:cNvPr id="16" name="Gerade Verbindung 15"/>
          <p:cNvCxnSpPr/>
          <p:nvPr userDrawn="1"/>
        </p:nvCxnSpPr>
        <p:spPr>
          <a:xfrm>
            <a:off x="395288" y="6044592"/>
            <a:ext cx="8353425" cy="0"/>
          </a:xfrm>
          <a:prstGeom prst="line">
            <a:avLst/>
          </a:prstGeom>
          <a:ln w="444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 Box 23"/>
          <p:cNvSpPr txBox="1">
            <a:spLocks noChangeArrowheads="1"/>
          </p:cNvSpPr>
          <p:nvPr userDrawn="1">
            <p:custDataLst>
              <p:tags r:id="rId1"/>
            </p:custDataLst>
          </p:nvPr>
        </p:nvSpPr>
        <p:spPr bwMode="auto">
          <a:xfrm>
            <a:off x="3501406" y="6375515"/>
            <a:ext cx="2726779" cy="128114"/>
          </a:xfrm>
          <a:prstGeom prst="rect">
            <a:avLst/>
          </a:prstGeom>
          <a:noFill/>
          <a:ln w="9525">
            <a:noFill/>
            <a:miter lim="800000"/>
            <a:headEnd/>
            <a:tailEnd/>
          </a:ln>
          <a:effectLst/>
        </p:spPr>
        <p:txBody>
          <a:bodyPr lIns="0" tIns="0" rIns="0" bIns="0" anchor="t" anchorCtr="0"/>
          <a:lstStyle/>
          <a:p>
            <a:pPr algn="l" defTabSz="895888"/>
            <a:r>
              <a:rPr lang="en-US" sz="700" noProof="0" smtClean="0">
                <a:solidFill>
                  <a:schemeClr val="tx1"/>
                </a:solidFill>
                <a:latin typeface="+mn-lt"/>
              </a:rPr>
              <a:t>Confidential</a:t>
            </a:r>
            <a:endParaRPr lang="en-US" sz="700" noProof="0">
              <a:solidFill>
                <a:schemeClr val="tx1"/>
              </a:solidFill>
              <a:latin typeface="+mn-lt"/>
            </a:endParaRPr>
          </a:p>
        </p:txBody>
      </p:sp>
      <p:sp>
        <p:nvSpPr>
          <p:cNvPr id="18" name="Text Box 23"/>
          <p:cNvSpPr txBox="1">
            <a:spLocks noChangeArrowheads="1"/>
          </p:cNvSpPr>
          <p:nvPr userDrawn="1">
            <p:custDataLst>
              <p:tags r:id="rId2"/>
            </p:custDataLst>
          </p:nvPr>
        </p:nvSpPr>
        <p:spPr bwMode="auto">
          <a:xfrm>
            <a:off x="3501407" y="6237312"/>
            <a:ext cx="2726778" cy="137617"/>
          </a:xfrm>
          <a:prstGeom prst="rect">
            <a:avLst/>
          </a:prstGeom>
          <a:noFill/>
          <a:ln w="9525">
            <a:noFill/>
            <a:miter lim="800000"/>
            <a:headEnd/>
            <a:tailEnd/>
          </a:ln>
          <a:effectLst/>
        </p:spPr>
        <p:txBody>
          <a:bodyPr lIns="0" tIns="0" rIns="0" bIns="0" anchor="b"/>
          <a:lstStyle/>
          <a:p>
            <a:pPr algn="l" defTabSz="895888"/>
            <a:r>
              <a:rPr lang="en-US" sz="700" b="1" noProof="0" smtClean="0">
                <a:solidFill>
                  <a:schemeClr val="tx1"/>
                </a:solidFill>
                <a:latin typeface="+mn-lt"/>
              </a:rPr>
              <a:t>Space for Sender Information</a:t>
            </a:r>
            <a:endParaRPr lang="en-US" sz="700" b="1" noProof="0">
              <a:solidFill>
                <a:schemeClr val="tx1"/>
              </a:solidFill>
              <a:latin typeface="+mn-lt"/>
            </a:endParaRPr>
          </a:p>
        </p:txBody>
      </p:sp>
      <p:grpSp>
        <p:nvGrpSpPr>
          <p:cNvPr id="13" name="Gruppieren 12"/>
          <p:cNvGrpSpPr/>
          <p:nvPr userDrawn="1"/>
        </p:nvGrpSpPr>
        <p:grpSpPr>
          <a:xfrm>
            <a:off x="0" y="0"/>
            <a:ext cx="9144000" cy="6858000"/>
            <a:chOff x="0" y="0"/>
            <a:chExt cx="9144000" cy="6858000"/>
          </a:xfrm>
          <a:solidFill>
            <a:schemeClr val="bg1"/>
          </a:solidFill>
        </p:grpSpPr>
        <p:sp>
          <p:nvSpPr>
            <p:cNvPr id="14" name="Rechteck 13"/>
            <p:cNvSpPr/>
            <p:nvPr userDrawn="1"/>
          </p:nvSpPr>
          <p:spPr>
            <a:xfrm>
              <a:off x="0" y="0"/>
              <a:ext cx="179388" cy="6858000"/>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19" name="Rechteck 18"/>
            <p:cNvSpPr/>
            <p:nvPr userDrawn="1"/>
          </p:nvSpPr>
          <p:spPr>
            <a:xfrm>
              <a:off x="0" y="0"/>
              <a:ext cx="9144000" cy="188913"/>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20" name="Rechteck 19"/>
            <p:cNvSpPr/>
            <p:nvPr userDrawn="1"/>
          </p:nvSpPr>
          <p:spPr>
            <a:xfrm>
              <a:off x="0" y="6669088"/>
              <a:ext cx="9107488" cy="188912"/>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21" name="Rechteck 20"/>
            <p:cNvSpPr/>
            <p:nvPr userDrawn="1"/>
          </p:nvSpPr>
          <p:spPr>
            <a:xfrm>
              <a:off x="8964612" y="0"/>
              <a:ext cx="179387" cy="6858000"/>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grpSp>
    </p:spTree>
    <p:extLst>
      <p:ext uri="{BB962C8B-B14F-4D97-AF65-F5344CB8AC3E}">
        <p14:creationId xmlns:p14="http://schemas.microsoft.com/office/powerpoint/2010/main" val="883389295"/>
      </p:ext>
    </p:extLst>
  </p:cSld>
  <p:clrMapOvr>
    <a:masterClrMapping/>
  </p:clrMapOvr>
  <p:transition>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apter (white)">
    <p:spTree>
      <p:nvGrpSpPr>
        <p:cNvPr id="1" name=""/>
        <p:cNvGrpSpPr/>
        <p:nvPr/>
      </p:nvGrpSpPr>
      <p:grpSpPr>
        <a:xfrm>
          <a:off x="0" y="0"/>
          <a:ext cx="0" cy="0"/>
          <a:chOff x="0" y="0"/>
          <a:chExt cx="0" cy="0"/>
        </a:xfrm>
      </p:grpSpPr>
      <p:sp>
        <p:nvSpPr>
          <p:cNvPr id="3" name="Inhaltsplatzhalter 2"/>
          <p:cNvSpPr>
            <a:spLocks noGrp="1"/>
          </p:cNvSpPr>
          <p:nvPr>
            <p:ph idx="1"/>
          </p:nvPr>
        </p:nvSpPr>
        <p:spPr>
          <a:xfrm>
            <a:off x="395288" y="1341437"/>
            <a:ext cx="8353425" cy="4535487"/>
          </a:xfrm>
        </p:spPr>
        <p:txBody>
          <a:bodyPr/>
          <a:lstStyle>
            <a:lvl1pPr marL="0" indent="0">
              <a:lnSpc>
                <a:spcPct val="113000"/>
              </a:lnSpc>
              <a:buSzPct val="125000"/>
              <a:buFont typeface="Arial" pitchFamily="34" charset="0"/>
              <a:buNone/>
              <a:defRPr>
                <a:solidFill>
                  <a:schemeClr val="tx1"/>
                </a:solidFill>
              </a:defRPr>
            </a:lvl1pPr>
            <a:lvl2pPr marL="184150" indent="-184150">
              <a:lnSpc>
                <a:spcPct val="113000"/>
              </a:lnSpc>
              <a:buSzPct val="125000"/>
              <a:buFont typeface="Arial" pitchFamily="34" charset="0"/>
              <a:buChar char="›"/>
              <a:defRPr>
                <a:solidFill>
                  <a:schemeClr val="tx1"/>
                </a:solidFill>
              </a:defRPr>
            </a:lvl2pPr>
            <a:lvl3pPr marL="539750" indent="-177800">
              <a:lnSpc>
                <a:spcPct val="113000"/>
              </a:lnSpc>
              <a:buSzPct val="125000"/>
              <a:buFont typeface="Arial" pitchFamily="34" charset="0"/>
              <a:buChar char="›"/>
              <a:defRPr>
                <a:solidFill>
                  <a:schemeClr val="tx1"/>
                </a:solidFill>
              </a:defRPr>
            </a:lvl3pPr>
            <a:lvl4pPr marL="895350" indent="-179388">
              <a:lnSpc>
                <a:spcPct val="113000"/>
              </a:lnSpc>
              <a:buSzPct val="125000"/>
              <a:buFont typeface="Arial" pitchFamily="34" charset="0"/>
              <a:buChar char="›"/>
              <a:defRPr>
                <a:solidFill>
                  <a:schemeClr val="tx1"/>
                </a:solidFill>
              </a:defRPr>
            </a:lvl4pPr>
            <a:lvl5pPr marL="1257300" indent="-177800">
              <a:lnSpc>
                <a:spcPct val="113000"/>
              </a:lnSpc>
              <a:buSzPct val="125000"/>
              <a:buFont typeface="Arial" pitchFamily="34" charset="0"/>
              <a:buChar char="›"/>
              <a:defRPr>
                <a:solidFill>
                  <a:schemeClr val="tx1"/>
                </a:solidFill>
              </a:defRPr>
            </a:lvl5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a:p>
            <a:pPr lvl="4"/>
            <a:r>
              <a:rPr lang="de-DE" noProof="0" smtClean="0"/>
              <a:t>Fünfte Ebene</a:t>
            </a:r>
            <a:endParaRPr lang="en-US" noProof="0"/>
          </a:p>
        </p:txBody>
      </p:sp>
      <p:sp>
        <p:nvSpPr>
          <p:cNvPr id="8" name="Titel 7"/>
          <p:cNvSpPr>
            <a:spLocks noGrp="1"/>
          </p:cNvSpPr>
          <p:nvPr>
            <p:ph type="title"/>
          </p:nvPr>
        </p:nvSpPr>
        <p:spPr>
          <a:xfrm>
            <a:off x="395288" y="296862"/>
            <a:ext cx="8353425" cy="719137"/>
          </a:xfrm>
        </p:spPr>
        <p:txBody>
          <a:bodyPr/>
          <a:lstStyle>
            <a:lvl1pPr>
              <a:defRPr>
                <a:solidFill>
                  <a:schemeClr val="accent1"/>
                </a:solidFill>
              </a:defRPr>
            </a:lvl1pPr>
          </a:lstStyle>
          <a:p>
            <a:r>
              <a:rPr lang="de-DE" noProof="0" smtClean="0"/>
              <a:t>Titelmasterformat durch Klicken bearbeiten</a:t>
            </a:r>
            <a:endParaRPr lang="en-US" noProof="0"/>
          </a:p>
        </p:txBody>
      </p:sp>
      <p:sp>
        <p:nvSpPr>
          <p:cNvPr id="9" name="Datumsplatzhalter 8"/>
          <p:cNvSpPr>
            <a:spLocks noGrp="1"/>
          </p:cNvSpPr>
          <p:nvPr>
            <p:ph type="dt" sz="half" idx="10"/>
          </p:nvPr>
        </p:nvSpPr>
        <p:spPr/>
        <p:txBody>
          <a:bodyPr/>
          <a:lstStyle>
            <a:lvl1pPr>
              <a:defRPr>
                <a:solidFill>
                  <a:schemeClr val="tx1"/>
                </a:solidFill>
              </a:defRPr>
            </a:lvl1pPr>
          </a:lstStyle>
          <a:p>
            <a:fld id="{88A8C40B-9933-4842-925C-1685AB340677}" type="datetime3">
              <a:rPr lang="en-US" noProof="0" smtClean="0"/>
              <a:pPr/>
              <a:t>9 February 2018</a:t>
            </a:fld>
            <a:endParaRPr lang="en-US" noProof="0"/>
          </a:p>
        </p:txBody>
      </p:sp>
      <p:sp>
        <p:nvSpPr>
          <p:cNvPr id="10" name="Foliennummernplatzhalter 9"/>
          <p:cNvSpPr>
            <a:spLocks noGrp="1"/>
          </p:cNvSpPr>
          <p:nvPr>
            <p:ph type="sldNum" sz="quarter" idx="11"/>
          </p:nvPr>
        </p:nvSpPr>
        <p:spPr/>
        <p:txBody>
          <a:bodyPr/>
          <a:lstStyle>
            <a:lvl1pPr>
              <a:defRPr>
                <a:solidFill>
                  <a:schemeClr val="tx1"/>
                </a:solidFill>
              </a:defRPr>
            </a:lvl1pPr>
          </a:lstStyle>
          <a:p>
            <a:fld id="{ADA48181-2C78-49CB-8C52-912A07842C2E}" type="slidenum">
              <a:rPr lang="en-US" noProof="0" smtClean="0"/>
              <a:pPr/>
              <a:t>‹#›</a:t>
            </a:fld>
            <a:endParaRPr lang="en-US" noProof="0"/>
          </a:p>
        </p:txBody>
      </p:sp>
      <p:sp>
        <p:nvSpPr>
          <p:cNvPr id="11" name="Fußzeilenplatzhalter 10"/>
          <p:cNvSpPr>
            <a:spLocks noGrp="1"/>
          </p:cNvSpPr>
          <p:nvPr>
            <p:ph type="ftr" sz="quarter" idx="12"/>
          </p:nvPr>
        </p:nvSpPr>
        <p:spPr/>
        <p:txBody>
          <a:bodyPr/>
          <a:lstStyle>
            <a:lvl1pPr>
              <a:defRPr>
                <a:solidFill>
                  <a:schemeClr val="tx1"/>
                </a:solidFill>
              </a:defRPr>
            </a:lvl1pPr>
          </a:lstStyle>
          <a:p>
            <a:r>
              <a:rPr lang="en-US" noProof="0" smtClean="0"/>
              <a:t>Author, © Continental AG</a:t>
            </a:r>
            <a:endParaRPr lang="en-US" noProof="0"/>
          </a:p>
        </p:txBody>
      </p:sp>
    </p:spTree>
    <p:extLst>
      <p:ext uri="{BB962C8B-B14F-4D97-AF65-F5344CB8AC3E}">
        <p14:creationId xmlns:p14="http://schemas.microsoft.com/office/powerpoint/2010/main" val="1810824959"/>
      </p:ext>
    </p:extLst>
  </p:cSld>
  <p:clrMapOvr>
    <a:masterClrMapping/>
  </p:clrMapOvr>
  <p:transition>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Chapter (black)">
    <p:bg>
      <p:bgPr>
        <a:solidFill>
          <a:schemeClr val="tx1"/>
        </a:solidFill>
        <a:effectLst/>
      </p:bgPr>
    </p:bg>
    <p:spTree>
      <p:nvGrpSpPr>
        <p:cNvPr id="1" name=""/>
        <p:cNvGrpSpPr/>
        <p:nvPr/>
      </p:nvGrpSpPr>
      <p:grpSpPr>
        <a:xfrm>
          <a:off x="0" y="0"/>
          <a:ext cx="0" cy="0"/>
          <a:chOff x="0" y="0"/>
          <a:chExt cx="0" cy="0"/>
        </a:xfrm>
      </p:grpSpPr>
      <p:sp>
        <p:nvSpPr>
          <p:cNvPr id="3" name="Inhaltsplatzhalter 2"/>
          <p:cNvSpPr>
            <a:spLocks noGrp="1"/>
          </p:cNvSpPr>
          <p:nvPr>
            <p:ph idx="1"/>
          </p:nvPr>
        </p:nvSpPr>
        <p:spPr>
          <a:xfrm>
            <a:off x="395288" y="1341437"/>
            <a:ext cx="8353425" cy="4535487"/>
          </a:xfrm>
        </p:spPr>
        <p:txBody>
          <a:bodyPr/>
          <a:lstStyle>
            <a:lvl1pPr marL="0" indent="0">
              <a:lnSpc>
                <a:spcPct val="113000"/>
              </a:lnSpc>
              <a:buSzPct val="125000"/>
              <a:buFont typeface="Arial" pitchFamily="34" charset="0"/>
              <a:buNone/>
              <a:defRPr>
                <a:solidFill>
                  <a:schemeClr val="bg1"/>
                </a:solidFill>
              </a:defRPr>
            </a:lvl1pPr>
            <a:lvl2pPr marL="184150" indent="-184150">
              <a:lnSpc>
                <a:spcPct val="113000"/>
              </a:lnSpc>
              <a:buSzPct val="125000"/>
              <a:buFont typeface="Arial" pitchFamily="34" charset="0"/>
              <a:buChar char="›"/>
              <a:defRPr>
                <a:solidFill>
                  <a:schemeClr val="bg1"/>
                </a:solidFill>
              </a:defRPr>
            </a:lvl2pPr>
            <a:lvl3pPr marL="539750" indent="-177800">
              <a:lnSpc>
                <a:spcPct val="113000"/>
              </a:lnSpc>
              <a:buSzPct val="125000"/>
              <a:buFont typeface="Arial" pitchFamily="34" charset="0"/>
              <a:buChar char="›"/>
              <a:defRPr>
                <a:solidFill>
                  <a:schemeClr val="bg1"/>
                </a:solidFill>
              </a:defRPr>
            </a:lvl3pPr>
            <a:lvl4pPr marL="895350" indent="-179388">
              <a:lnSpc>
                <a:spcPct val="113000"/>
              </a:lnSpc>
              <a:buSzPct val="125000"/>
              <a:buFont typeface="Arial" pitchFamily="34" charset="0"/>
              <a:buChar char="›"/>
              <a:defRPr>
                <a:solidFill>
                  <a:schemeClr val="bg1"/>
                </a:solidFill>
              </a:defRPr>
            </a:lvl4pPr>
            <a:lvl5pPr marL="1257300" indent="-177800">
              <a:lnSpc>
                <a:spcPct val="113000"/>
              </a:lnSpc>
              <a:buSzPct val="125000"/>
              <a:buFont typeface="Arial" pitchFamily="34" charset="0"/>
              <a:buChar char="›"/>
              <a:defRPr>
                <a:solidFill>
                  <a:schemeClr val="bg1"/>
                </a:solidFill>
              </a:defRPr>
            </a:lvl5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a:p>
            <a:pPr lvl="4"/>
            <a:r>
              <a:rPr lang="de-DE" noProof="0" smtClean="0"/>
              <a:t>Fünfte Ebene</a:t>
            </a:r>
            <a:endParaRPr lang="en-US" noProof="0"/>
          </a:p>
        </p:txBody>
      </p:sp>
      <p:sp>
        <p:nvSpPr>
          <p:cNvPr id="8" name="Titel 7"/>
          <p:cNvSpPr>
            <a:spLocks noGrp="1"/>
          </p:cNvSpPr>
          <p:nvPr>
            <p:ph type="title"/>
          </p:nvPr>
        </p:nvSpPr>
        <p:spPr>
          <a:xfrm>
            <a:off x="395288" y="296862"/>
            <a:ext cx="8353425" cy="719137"/>
          </a:xfrm>
        </p:spPr>
        <p:txBody>
          <a:bodyPr/>
          <a:lstStyle>
            <a:lvl1pPr>
              <a:defRPr>
                <a:solidFill>
                  <a:schemeClr val="accent1"/>
                </a:solidFill>
              </a:defRPr>
            </a:lvl1pPr>
          </a:lstStyle>
          <a:p>
            <a:r>
              <a:rPr lang="de-DE" noProof="0" smtClean="0"/>
              <a:t>Titelmasterformat durch Klicken bearbeiten</a:t>
            </a:r>
            <a:endParaRPr lang="en-US" noProof="0"/>
          </a:p>
        </p:txBody>
      </p:sp>
      <p:sp>
        <p:nvSpPr>
          <p:cNvPr id="9" name="Datumsplatzhalter 8"/>
          <p:cNvSpPr>
            <a:spLocks noGrp="1"/>
          </p:cNvSpPr>
          <p:nvPr>
            <p:ph type="dt" sz="half" idx="10"/>
          </p:nvPr>
        </p:nvSpPr>
        <p:spPr/>
        <p:txBody>
          <a:bodyPr/>
          <a:lstStyle>
            <a:lvl1pPr>
              <a:defRPr>
                <a:solidFill>
                  <a:schemeClr val="bg1"/>
                </a:solidFill>
              </a:defRPr>
            </a:lvl1pPr>
          </a:lstStyle>
          <a:p>
            <a:fld id="{64ABC62B-E05F-4A50-AD1A-E270866CD9D7}" type="datetime3">
              <a:rPr lang="en-US" noProof="0" smtClean="0"/>
              <a:pPr/>
              <a:t>9 February 2018</a:t>
            </a:fld>
            <a:endParaRPr lang="en-US" noProof="0"/>
          </a:p>
        </p:txBody>
      </p:sp>
      <p:sp>
        <p:nvSpPr>
          <p:cNvPr id="10" name="Foliennummernplatzhalter 9"/>
          <p:cNvSpPr>
            <a:spLocks noGrp="1"/>
          </p:cNvSpPr>
          <p:nvPr>
            <p:ph type="sldNum" sz="quarter" idx="11"/>
          </p:nvPr>
        </p:nvSpPr>
        <p:spPr/>
        <p:txBody>
          <a:bodyPr/>
          <a:lstStyle>
            <a:lvl1pPr>
              <a:defRPr>
                <a:solidFill>
                  <a:schemeClr val="bg1"/>
                </a:solidFill>
              </a:defRPr>
            </a:lvl1pPr>
          </a:lstStyle>
          <a:p>
            <a:fld id="{ADA48181-2C78-49CB-8C52-912A07842C2E}" type="slidenum">
              <a:rPr lang="en-US" noProof="0" smtClean="0"/>
              <a:pPr/>
              <a:t>‹#›</a:t>
            </a:fld>
            <a:endParaRPr lang="en-US" noProof="0"/>
          </a:p>
        </p:txBody>
      </p:sp>
      <p:sp>
        <p:nvSpPr>
          <p:cNvPr id="11" name="Fußzeilenplatzhalter 10"/>
          <p:cNvSpPr>
            <a:spLocks noGrp="1"/>
          </p:cNvSpPr>
          <p:nvPr>
            <p:ph type="ftr" sz="quarter" idx="12"/>
          </p:nvPr>
        </p:nvSpPr>
        <p:spPr/>
        <p:txBody>
          <a:bodyPr/>
          <a:lstStyle>
            <a:lvl1pPr>
              <a:defRPr>
                <a:solidFill>
                  <a:schemeClr val="bg1"/>
                </a:solidFill>
              </a:defRPr>
            </a:lvl1pPr>
          </a:lstStyle>
          <a:p>
            <a:r>
              <a:rPr lang="en-US" noProof="0" smtClean="0"/>
              <a:t>Author, © Continental AG</a:t>
            </a:r>
            <a:endParaRPr lang="en-US" noProof="0"/>
          </a:p>
        </p:txBody>
      </p:sp>
      <p:cxnSp>
        <p:nvCxnSpPr>
          <p:cNvPr id="7" name="Gerade Verbindung 6"/>
          <p:cNvCxnSpPr/>
          <p:nvPr userDrawn="1"/>
        </p:nvCxnSpPr>
        <p:spPr>
          <a:xfrm>
            <a:off x="395288" y="6044592"/>
            <a:ext cx="8353425" cy="0"/>
          </a:xfrm>
          <a:prstGeom prst="line">
            <a:avLst/>
          </a:prstGeom>
          <a:ln w="4445">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ext Box 23"/>
          <p:cNvSpPr txBox="1">
            <a:spLocks noChangeArrowheads="1"/>
          </p:cNvSpPr>
          <p:nvPr userDrawn="1">
            <p:custDataLst>
              <p:tags r:id="rId1"/>
            </p:custDataLst>
          </p:nvPr>
        </p:nvSpPr>
        <p:spPr bwMode="auto">
          <a:xfrm>
            <a:off x="3501406" y="6375515"/>
            <a:ext cx="2726779" cy="128114"/>
          </a:xfrm>
          <a:prstGeom prst="rect">
            <a:avLst/>
          </a:prstGeom>
          <a:noFill/>
          <a:ln w="9525">
            <a:noFill/>
            <a:miter lim="800000"/>
            <a:headEnd/>
            <a:tailEnd/>
          </a:ln>
          <a:effectLst/>
        </p:spPr>
        <p:txBody>
          <a:bodyPr lIns="0" tIns="0" rIns="0" bIns="0" anchor="t" anchorCtr="0"/>
          <a:lstStyle/>
          <a:p>
            <a:pPr algn="l" defTabSz="895888"/>
            <a:r>
              <a:rPr lang="en-US" sz="700" noProof="0" smtClean="0">
                <a:solidFill>
                  <a:schemeClr val="bg1"/>
                </a:solidFill>
                <a:latin typeface="+mn-lt"/>
              </a:rPr>
              <a:t>Confidential</a:t>
            </a:r>
            <a:endParaRPr lang="en-US" sz="700" noProof="0">
              <a:solidFill>
                <a:schemeClr val="bg1"/>
              </a:solidFill>
              <a:latin typeface="+mn-lt"/>
            </a:endParaRPr>
          </a:p>
        </p:txBody>
      </p:sp>
      <p:sp>
        <p:nvSpPr>
          <p:cNvPr id="14" name="Text Box 23"/>
          <p:cNvSpPr txBox="1">
            <a:spLocks noChangeArrowheads="1"/>
          </p:cNvSpPr>
          <p:nvPr userDrawn="1">
            <p:custDataLst>
              <p:tags r:id="rId2"/>
            </p:custDataLst>
          </p:nvPr>
        </p:nvSpPr>
        <p:spPr bwMode="auto">
          <a:xfrm>
            <a:off x="3501407" y="6237312"/>
            <a:ext cx="2726778" cy="137617"/>
          </a:xfrm>
          <a:prstGeom prst="rect">
            <a:avLst/>
          </a:prstGeom>
          <a:noFill/>
          <a:ln w="9525">
            <a:noFill/>
            <a:miter lim="800000"/>
            <a:headEnd/>
            <a:tailEnd/>
          </a:ln>
          <a:effectLst/>
        </p:spPr>
        <p:txBody>
          <a:bodyPr lIns="0" tIns="0" rIns="0" bIns="0" anchor="b"/>
          <a:lstStyle/>
          <a:p>
            <a:pPr algn="l" defTabSz="895888"/>
            <a:r>
              <a:rPr lang="en-US" sz="700" b="1" noProof="0" smtClean="0">
                <a:solidFill>
                  <a:schemeClr val="bg1"/>
                </a:solidFill>
                <a:latin typeface="+mn-lt"/>
              </a:rPr>
              <a:t>Space for Sender Information</a:t>
            </a:r>
            <a:endParaRPr lang="en-US" sz="700" b="1" noProof="0">
              <a:solidFill>
                <a:schemeClr val="bg1"/>
              </a:solidFill>
              <a:latin typeface="+mn-lt"/>
            </a:endParaRPr>
          </a:p>
        </p:txBody>
      </p:sp>
      <p:pic>
        <p:nvPicPr>
          <p:cNvPr id="15" name="Bild 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bwMode="black">
          <a:xfrm>
            <a:off x="252637" y="6095032"/>
            <a:ext cx="1857375" cy="570087"/>
          </a:xfrm>
          <a:prstGeom prst="rect">
            <a:avLst/>
          </a:prstGeom>
          <a:noFill/>
          <a:ln>
            <a:noFill/>
          </a:ln>
        </p:spPr>
      </p:pic>
      <p:grpSp>
        <p:nvGrpSpPr>
          <p:cNvPr id="16" name="Gruppieren 15"/>
          <p:cNvGrpSpPr/>
          <p:nvPr userDrawn="1"/>
        </p:nvGrpSpPr>
        <p:grpSpPr>
          <a:xfrm>
            <a:off x="0" y="0"/>
            <a:ext cx="9144000" cy="6858000"/>
            <a:chOff x="0" y="0"/>
            <a:chExt cx="9144000" cy="6858000"/>
          </a:xfrm>
          <a:solidFill>
            <a:schemeClr val="bg1"/>
          </a:solidFill>
        </p:grpSpPr>
        <p:sp>
          <p:nvSpPr>
            <p:cNvPr id="17" name="Rechteck 16"/>
            <p:cNvSpPr/>
            <p:nvPr userDrawn="1"/>
          </p:nvSpPr>
          <p:spPr>
            <a:xfrm>
              <a:off x="0" y="0"/>
              <a:ext cx="179388" cy="6858000"/>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18" name="Rechteck 17"/>
            <p:cNvSpPr/>
            <p:nvPr userDrawn="1"/>
          </p:nvSpPr>
          <p:spPr>
            <a:xfrm>
              <a:off x="0" y="0"/>
              <a:ext cx="9144000" cy="188913"/>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19" name="Rechteck 18"/>
            <p:cNvSpPr/>
            <p:nvPr userDrawn="1"/>
          </p:nvSpPr>
          <p:spPr>
            <a:xfrm>
              <a:off x="0" y="6669088"/>
              <a:ext cx="9107488" cy="188912"/>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20" name="Rechteck 19"/>
            <p:cNvSpPr/>
            <p:nvPr userDrawn="1"/>
          </p:nvSpPr>
          <p:spPr>
            <a:xfrm>
              <a:off x="8964612" y="0"/>
              <a:ext cx="179387" cy="6858000"/>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grpSp>
    </p:spTree>
    <p:extLst>
      <p:ext uri="{BB962C8B-B14F-4D97-AF65-F5344CB8AC3E}">
        <p14:creationId xmlns:p14="http://schemas.microsoft.com/office/powerpoint/2010/main" val="319594708"/>
      </p:ext>
    </p:extLst>
  </p:cSld>
  <p:clrMapOvr>
    <a:masterClrMapping/>
  </p:clrMapOvr>
  <p:transition>
    <p:fad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Top Content Area">
    <p:spTree>
      <p:nvGrpSpPr>
        <p:cNvPr id="1" name=""/>
        <p:cNvGrpSpPr/>
        <p:nvPr/>
      </p:nvGrpSpPr>
      <p:grpSpPr>
        <a:xfrm>
          <a:off x="0" y="0"/>
          <a:ext cx="0" cy="0"/>
          <a:chOff x="0" y="0"/>
          <a:chExt cx="0" cy="0"/>
        </a:xfrm>
      </p:grpSpPr>
      <p:sp>
        <p:nvSpPr>
          <p:cNvPr id="3" name="Inhaltsplatzhalter 2"/>
          <p:cNvSpPr>
            <a:spLocks noGrp="1"/>
          </p:cNvSpPr>
          <p:nvPr>
            <p:ph idx="1"/>
          </p:nvPr>
        </p:nvSpPr>
        <p:spPr>
          <a:xfrm>
            <a:off x="395288" y="1341437"/>
            <a:ext cx="8353425" cy="2232025"/>
          </a:xfrm>
        </p:spPr>
        <p:txBody>
          <a:bodyPr/>
          <a:lstStyle>
            <a:lvl1pPr marL="177800" indent="-177800">
              <a:buClr>
                <a:schemeClr val="accent1"/>
              </a:buClr>
              <a:buSzPct val="125000"/>
              <a:buFont typeface="Arial" pitchFamily="34" charset="0"/>
              <a:buChar char="›"/>
              <a:defRPr>
                <a:solidFill>
                  <a:schemeClr val="tx1"/>
                </a:solidFill>
              </a:defRPr>
            </a:lvl1pPr>
            <a:lvl2pPr marL="541338" indent="-184150">
              <a:buClr>
                <a:schemeClr val="accent1"/>
              </a:buClr>
              <a:buSzPct val="125000"/>
              <a:buFont typeface="Arial" pitchFamily="34" charset="0"/>
              <a:buChar char="›"/>
              <a:defRPr>
                <a:solidFill>
                  <a:schemeClr val="tx1"/>
                </a:solidFill>
              </a:defRPr>
            </a:lvl2pPr>
            <a:lvl3pPr marL="896938" indent="-177800">
              <a:buClr>
                <a:schemeClr val="accent1"/>
              </a:buClr>
              <a:buSzPct val="125000"/>
              <a:buFont typeface="Arial" pitchFamily="34" charset="0"/>
              <a:buChar char="›"/>
              <a:defRPr>
                <a:solidFill>
                  <a:schemeClr val="tx1"/>
                </a:solidFill>
              </a:defRPr>
            </a:lvl3pPr>
            <a:lvl4pPr marL="1254125" indent="-179388">
              <a:buClr>
                <a:schemeClr val="accent1"/>
              </a:buClr>
              <a:buSzPct val="125000"/>
              <a:buFont typeface="Arial" pitchFamily="34" charset="0"/>
              <a:buChar char="›"/>
              <a:defRPr>
                <a:solidFill>
                  <a:schemeClr val="tx1"/>
                </a:solidFill>
              </a:defRPr>
            </a:lvl4pPr>
            <a:lvl5pPr marL="1616075" indent="-177800">
              <a:buClr>
                <a:schemeClr val="accent1"/>
              </a:buClr>
              <a:buSzPct val="125000"/>
              <a:buFont typeface="Arial" pitchFamily="34" charset="0"/>
              <a:buChar char="›"/>
              <a:defRPr>
                <a:solidFill>
                  <a:schemeClr val="tx1"/>
                </a:solidFill>
              </a:defRPr>
            </a:lvl5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a:p>
            <a:pPr lvl="4"/>
            <a:r>
              <a:rPr lang="de-DE" noProof="0" smtClean="0"/>
              <a:t>Fünfte Ebene</a:t>
            </a:r>
            <a:endParaRPr lang="en-US" noProof="0"/>
          </a:p>
        </p:txBody>
      </p:sp>
      <p:sp>
        <p:nvSpPr>
          <p:cNvPr id="8" name="Titel 7"/>
          <p:cNvSpPr>
            <a:spLocks noGrp="1"/>
          </p:cNvSpPr>
          <p:nvPr>
            <p:ph type="title"/>
          </p:nvPr>
        </p:nvSpPr>
        <p:spPr/>
        <p:txBody>
          <a:bodyPr/>
          <a:lstStyle>
            <a:lvl1pPr>
              <a:defRPr>
                <a:solidFill>
                  <a:schemeClr val="accent1"/>
                </a:solidFill>
              </a:defRPr>
            </a:lvl1pPr>
          </a:lstStyle>
          <a:p>
            <a:r>
              <a:rPr lang="de-DE" noProof="0" smtClean="0"/>
              <a:t>Titelmasterformat durch Klicken bearbeiten</a:t>
            </a:r>
            <a:endParaRPr lang="en-US" noProof="0"/>
          </a:p>
        </p:txBody>
      </p:sp>
      <p:sp>
        <p:nvSpPr>
          <p:cNvPr id="9" name="Datumsplatzhalter 8"/>
          <p:cNvSpPr>
            <a:spLocks noGrp="1"/>
          </p:cNvSpPr>
          <p:nvPr>
            <p:ph type="dt" sz="half" idx="10"/>
          </p:nvPr>
        </p:nvSpPr>
        <p:spPr/>
        <p:txBody>
          <a:bodyPr/>
          <a:lstStyle>
            <a:lvl1pPr>
              <a:defRPr>
                <a:solidFill>
                  <a:schemeClr val="tx1"/>
                </a:solidFill>
              </a:defRPr>
            </a:lvl1pPr>
          </a:lstStyle>
          <a:p>
            <a:fld id="{0C9DF746-0B7F-4BA1-8DC7-A666D91D719E}" type="datetime3">
              <a:rPr lang="en-US" noProof="0" smtClean="0"/>
              <a:pPr/>
              <a:t>9 February 2018</a:t>
            </a:fld>
            <a:endParaRPr lang="en-US" noProof="0"/>
          </a:p>
        </p:txBody>
      </p:sp>
      <p:sp>
        <p:nvSpPr>
          <p:cNvPr id="10" name="Foliennummernplatzhalter 9"/>
          <p:cNvSpPr>
            <a:spLocks noGrp="1"/>
          </p:cNvSpPr>
          <p:nvPr>
            <p:ph type="sldNum" sz="quarter" idx="11"/>
          </p:nvPr>
        </p:nvSpPr>
        <p:spPr/>
        <p:txBody>
          <a:bodyPr/>
          <a:lstStyle>
            <a:lvl1pPr>
              <a:defRPr>
                <a:solidFill>
                  <a:schemeClr val="tx1"/>
                </a:solidFill>
              </a:defRPr>
            </a:lvl1pPr>
          </a:lstStyle>
          <a:p>
            <a:fld id="{ADA48181-2C78-49CB-8C52-912A07842C2E}" type="slidenum">
              <a:rPr lang="en-US" noProof="0" smtClean="0"/>
              <a:pPr/>
              <a:t>‹#›</a:t>
            </a:fld>
            <a:endParaRPr lang="en-US" noProof="0"/>
          </a:p>
        </p:txBody>
      </p:sp>
      <p:sp>
        <p:nvSpPr>
          <p:cNvPr id="11" name="Fußzeilenplatzhalter 10"/>
          <p:cNvSpPr>
            <a:spLocks noGrp="1"/>
          </p:cNvSpPr>
          <p:nvPr>
            <p:ph type="ftr" sz="quarter" idx="12"/>
          </p:nvPr>
        </p:nvSpPr>
        <p:spPr/>
        <p:txBody>
          <a:bodyPr/>
          <a:lstStyle>
            <a:lvl1pPr>
              <a:defRPr>
                <a:solidFill>
                  <a:schemeClr val="tx1"/>
                </a:solidFill>
              </a:defRPr>
            </a:lvl1pPr>
          </a:lstStyle>
          <a:p>
            <a:r>
              <a:rPr lang="en-US" noProof="0" smtClean="0"/>
              <a:t>Author, © Continental AG</a:t>
            </a:r>
            <a:endParaRPr lang="en-US" noProof="0"/>
          </a:p>
        </p:txBody>
      </p:sp>
    </p:spTree>
    <p:extLst>
      <p:ext uri="{BB962C8B-B14F-4D97-AF65-F5344CB8AC3E}">
        <p14:creationId xmlns:p14="http://schemas.microsoft.com/office/powerpoint/2010/main" val="3546124696"/>
      </p:ext>
    </p:extLst>
  </p:cSld>
  <p:clrMapOvr>
    <a:masterClrMapping/>
  </p:clrMapOvr>
  <p:transition>
    <p:fad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Bottom Content Area">
    <p:spTree>
      <p:nvGrpSpPr>
        <p:cNvPr id="1" name=""/>
        <p:cNvGrpSpPr/>
        <p:nvPr/>
      </p:nvGrpSpPr>
      <p:grpSpPr>
        <a:xfrm>
          <a:off x="0" y="0"/>
          <a:ext cx="0" cy="0"/>
          <a:chOff x="0" y="0"/>
          <a:chExt cx="0" cy="0"/>
        </a:xfrm>
      </p:grpSpPr>
      <p:sp>
        <p:nvSpPr>
          <p:cNvPr id="3" name="Inhaltsplatzhalter 2"/>
          <p:cNvSpPr>
            <a:spLocks noGrp="1"/>
          </p:cNvSpPr>
          <p:nvPr>
            <p:ph idx="1"/>
          </p:nvPr>
        </p:nvSpPr>
        <p:spPr>
          <a:xfrm>
            <a:off x="395288" y="3644900"/>
            <a:ext cx="8353425" cy="2232024"/>
          </a:xfrm>
        </p:spPr>
        <p:txBody>
          <a:bodyPr/>
          <a:lstStyle>
            <a:lvl1pPr marL="177800" indent="-177800">
              <a:buClr>
                <a:schemeClr val="accent1"/>
              </a:buClr>
              <a:buSzPct val="125000"/>
              <a:buFont typeface="Arial" pitchFamily="34" charset="0"/>
              <a:buChar char="›"/>
              <a:defRPr>
                <a:solidFill>
                  <a:schemeClr val="tx1"/>
                </a:solidFill>
              </a:defRPr>
            </a:lvl1pPr>
            <a:lvl2pPr marL="541338" indent="-184150">
              <a:buClr>
                <a:schemeClr val="accent1"/>
              </a:buClr>
              <a:buSzPct val="125000"/>
              <a:buFont typeface="Arial" pitchFamily="34" charset="0"/>
              <a:buChar char="›"/>
              <a:defRPr>
                <a:solidFill>
                  <a:schemeClr val="tx1"/>
                </a:solidFill>
              </a:defRPr>
            </a:lvl2pPr>
            <a:lvl3pPr marL="896938" indent="-177800">
              <a:buClr>
                <a:schemeClr val="accent1"/>
              </a:buClr>
              <a:buSzPct val="125000"/>
              <a:buFont typeface="Arial" pitchFamily="34" charset="0"/>
              <a:buChar char="›"/>
              <a:defRPr>
                <a:solidFill>
                  <a:schemeClr val="tx1"/>
                </a:solidFill>
              </a:defRPr>
            </a:lvl3pPr>
            <a:lvl4pPr marL="1254125" indent="-179388">
              <a:buClr>
                <a:schemeClr val="accent1"/>
              </a:buClr>
              <a:buSzPct val="125000"/>
              <a:buFont typeface="Arial" pitchFamily="34" charset="0"/>
              <a:buChar char="›"/>
              <a:defRPr>
                <a:solidFill>
                  <a:schemeClr val="tx1"/>
                </a:solidFill>
              </a:defRPr>
            </a:lvl4pPr>
            <a:lvl5pPr marL="1616075" indent="-177800">
              <a:buClr>
                <a:schemeClr val="accent1"/>
              </a:buClr>
              <a:buSzPct val="125000"/>
              <a:buFont typeface="Arial" pitchFamily="34" charset="0"/>
              <a:buChar char="›"/>
              <a:defRPr>
                <a:solidFill>
                  <a:schemeClr val="tx1"/>
                </a:solidFill>
              </a:defRPr>
            </a:lvl5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a:p>
            <a:pPr lvl="4"/>
            <a:r>
              <a:rPr lang="de-DE" noProof="0" smtClean="0"/>
              <a:t>Fünfte Ebene</a:t>
            </a:r>
            <a:endParaRPr lang="en-US" noProof="0"/>
          </a:p>
        </p:txBody>
      </p:sp>
      <p:sp>
        <p:nvSpPr>
          <p:cNvPr id="8" name="Titel 7"/>
          <p:cNvSpPr>
            <a:spLocks noGrp="1"/>
          </p:cNvSpPr>
          <p:nvPr>
            <p:ph type="title"/>
          </p:nvPr>
        </p:nvSpPr>
        <p:spPr/>
        <p:txBody>
          <a:bodyPr/>
          <a:lstStyle>
            <a:lvl1pPr>
              <a:defRPr>
                <a:solidFill>
                  <a:schemeClr val="accent1"/>
                </a:solidFill>
              </a:defRPr>
            </a:lvl1pPr>
          </a:lstStyle>
          <a:p>
            <a:r>
              <a:rPr lang="de-DE" noProof="0" smtClean="0"/>
              <a:t>Titelmasterformat durch Klicken bearbeiten</a:t>
            </a:r>
            <a:endParaRPr lang="en-US" noProof="0"/>
          </a:p>
        </p:txBody>
      </p:sp>
      <p:sp>
        <p:nvSpPr>
          <p:cNvPr id="9" name="Datumsplatzhalter 8"/>
          <p:cNvSpPr>
            <a:spLocks noGrp="1"/>
          </p:cNvSpPr>
          <p:nvPr>
            <p:ph type="dt" sz="half" idx="10"/>
          </p:nvPr>
        </p:nvSpPr>
        <p:spPr/>
        <p:txBody>
          <a:bodyPr/>
          <a:lstStyle>
            <a:lvl1pPr>
              <a:defRPr>
                <a:solidFill>
                  <a:schemeClr val="tx1"/>
                </a:solidFill>
              </a:defRPr>
            </a:lvl1pPr>
          </a:lstStyle>
          <a:p>
            <a:fld id="{177A3C5F-7711-4FF6-AE0A-2DB239087D2E}" type="datetime3">
              <a:rPr lang="en-US" noProof="0" smtClean="0"/>
              <a:pPr/>
              <a:t>9 February 2018</a:t>
            </a:fld>
            <a:endParaRPr lang="en-US" noProof="0"/>
          </a:p>
        </p:txBody>
      </p:sp>
      <p:sp>
        <p:nvSpPr>
          <p:cNvPr id="10" name="Foliennummernplatzhalter 9"/>
          <p:cNvSpPr>
            <a:spLocks noGrp="1"/>
          </p:cNvSpPr>
          <p:nvPr>
            <p:ph type="sldNum" sz="quarter" idx="11"/>
          </p:nvPr>
        </p:nvSpPr>
        <p:spPr/>
        <p:txBody>
          <a:bodyPr/>
          <a:lstStyle>
            <a:lvl1pPr>
              <a:defRPr>
                <a:solidFill>
                  <a:schemeClr val="tx1"/>
                </a:solidFill>
              </a:defRPr>
            </a:lvl1pPr>
          </a:lstStyle>
          <a:p>
            <a:fld id="{ADA48181-2C78-49CB-8C52-912A07842C2E}" type="slidenum">
              <a:rPr lang="en-US" noProof="0" smtClean="0"/>
              <a:pPr/>
              <a:t>‹#›</a:t>
            </a:fld>
            <a:endParaRPr lang="en-US" noProof="0"/>
          </a:p>
        </p:txBody>
      </p:sp>
      <p:sp>
        <p:nvSpPr>
          <p:cNvPr id="11" name="Fußzeilenplatzhalter 10"/>
          <p:cNvSpPr>
            <a:spLocks noGrp="1"/>
          </p:cNvSpPr>
          <p:nvPr>
            <p:ph type="ftr" sz="quarter" idx="12"/>
          </p:nvPr>
        </p:nvSpPr>
        <p:spPr/>
        <p:txBody>
          <a:bodyPr/>
          <a:lstStyle>
            <a:lvl1pPr>
              <a:defRPr>
                <a:solidFill>
                  <a:schemeClr val="tx1"/>
                </a:solidFill>
              </a:defRPr>
            </a:lvl1pPr>
          </a:lstStyle>
          <a:p>
            <a:r>
              <a:rPr lang="en-US" noProof="0" smtClean="0"/>
              <a:t>Author, © Continental AG</a:t>
            </a:r>
            <a:endParaRPr lang="en-US" noProof="0"/>
          </a:p>
        </p:txBody>
      </p:sp>
    </p:spTree>
    <p:extLst>
      <p:ext uri="{BB962C8B-B14F-4D97-AF65-F5344CB8AC3E}">
        <p14:creationId xmlns:p14="http://schemas.microsoft.com/office/powerpoint/2010/main" val="4069862711"/>
      </p:ext>
    </p:extLst>
  </p:cSld>
  <p:clrMapOvr>
    <a:masterClrMapping/>
  </p:clrMapOvr>
  <p:transition>
    <p:fad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Two Content Areas">
    <p:spTree>
      <p:nvGrpSpPr>
        <p:cNvPr id="1" name=""/>
        <p:cNvGrpSpPr/>
        <p:nvPr/>
      </p:nvGrpSpPr>
      <p:grpSpPr>
        <a:xfrm>
          <a:off x="0" y="0"/>
          <a:ext cx="0" cy="0"/>
          <a:chOff x="0" y="0"/>
          <a:chExt cx="0" cy="0"/>
        </a:xfrm>
      </p:grpSpPr>
      <p:sp>
        <p:nvSpPr>
          <p:cNvPr id="3" name="Inhaltsplatzhalter 2"/>
          <p:cNvSpPr>
            <a:spLocks noGrp="1"/>
          </p:cNvSpPr>
          <p:nvPr>
            <p:ph sz="half" idx="1"/>
          </p:nvPr>
        </p:nvSpPr>
        <p:spPr>
          <a:xfrm>
            <a:off x="395289" y="1341437"/>
            <a:ext cx="4140200" cy="4535487"/>
          </a:xfrm>
        </p:spPr>
        <p:txBody>
          <a:bodyPr vert="horz" lIns="0" tIns="18000" rIns="0" bIns="18000" rtlCol="0">
            <a:normAutofit/>
          </a:bodyPr>
          <a:lstStyle>
            <a:lvl1pPr marL="177800"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1pPr>
            <a:lvl2pPr marL="541338" indent="-18415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2pPr>
            <a:lvl3pPr marL="896938"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3pPr>
            <a:lvl4pPr marL="1254125" indent="-179388"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4pPr>
            <a:lvl5pPr algn="l" defTabSz="914400" rtl="0" eaLnBrk="1" latinLnBrk="0" hangingPunct="1">
              <a:lnSpc>
                <a:spcPct val="100000"/>
              </a:lnSpc>
              <a:spcBef>
                <a:spcPts val="0"/>
              </a:spcBef>
              <a:spcAft>
                <a:spcPts val="1200"/>
              </a:spcAft>
              <a:buSzPct val="100000"/>
              <a:buFontTx/>
              <a:buNone/>
              <a:defRPr lang="de-DE" sz="1600" b="0" kern="1200" dirty="0">
                <a:solidFill>
                  <a:schemeClr val="tx1"/>
                </a:solidFill>
                <a:latin typeface="Arial" pitchFamily="34" charset="0"/>
                <a:ea typeface="+mn-ea"/>
                <a:cs typeface="Arial" pitchFamily="34" charset="0"/>
              </a:defRPr>
            </a:lvl5pPr>
            <a:lvl6pPr>
              <a:defRPr sz="1800"/>
            </a:lvl6pPr>
            <a:lvl7pPr>
              <a:defRPr sz="1800"/>
            </a:lvl7pPr>
            <a:lvl8pPr>
              <a:defRPr sz="1800"/>
            </a:lvl8pPr>
            <a:lvl9pPr>
              <a:defRPr sz="1800"/>
            </a:lvl9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4" name="Inhaltsplatzhalter 3"/>
          <p:cNvSpPr>
            <a:spLocks noGrp="1"/>
          </p:cNvSpPr>
          <p:nvPr>
            <p:ph sz="half" idx="2"/>
          </p:nvPr>
        </p:nvSpPr>
        <p:spPr>
          <a:xfrm>
            <a:off x="4606926" y="1341437"/>
            <a:ext cx="4141788" cy="4535487"/>
          </a:xfrm>
        </p:spPr>
        <p:txBody>
          <a:bodyPr vert="horz" lIns="0" tIns="18000" rIns="0" bIns="18000" rtlCol="0">
            <a:normAutofit/>
          </a:bodyPr>
          <a:lstStyle>
            <a:lvl1pPr marL="177800"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1pPr>
            <a:lvl2pPr marL="541338" indent="-184150"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2pPr>
            <a:lvl3pPr marL="896938"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3pPr>
            <a:lvl4pPr marL="1254125" indent="-179388"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4pPr>
            <a:lvl5pPr algn="l" defTabSz="914400" rtl="0" eaLnBrk="1" latinLnBrk="0" hangingPunct="1">
              <a:lnSpc>
                <a:spcPct val="100000"/>
              </a:lnSpc>
              <a:spcBef>
                <a:spcPts val="0"/>
              </a:spcBef>
              <a:spcAft>
                <a:spcPts val="1200"/>
              </a:spcAft>
              <a:buSzPct val="100000"/>
              <a:buFontTx/>
              <a:buNone/>
              <a:defRPr lang="de-DE" sz="1600" b="0" kern="1200" dirty="0">
                <a:solidFill>
                  <a:schemeClr val="tx1"/>
                </a:solidFill>
                <a:latin typeface="Arial" pitchFamily="34" charset="0"/>
                <a:ea typeface="+mn-ea"/>
                <a:cs typeface="Arial" pitchFamily="34" charset="0"/>
              </a:defRPr>
            </a:lvl5pPr>
            <a:lvl6pPr>
              <a:defRPr sz="1800"/>
            </a:lvl6pPr>
            <a:lvl7pPr>
              <a:defRPr sz="1800"/>
            </a:lvl7pPr>
            <a:lvl8pPr>
              <a:defRPr sz="1800"/>
            </a:lvl8pPr>
            <a:lvl9pPr>
              <a:defRPr sz="1800"/>
            </a:lvl9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12" name="Titel 11"/>
          <p:cNvSpPr>
            <a:spLocks noGrp="1"/>
          </p:cNvSpPr>
          <p:nvPr>
            <p:ph type="title"/>
          </p:nvPr>
        </p:nvSpPr>
        <p:spPr>
          <a:xfrm>
            <a:off x="395289" y="296862"/>
            <a:ext cx="8353424" cy="719137"/>
          </a:xfrm>
        </p:spPr>
        <p:txBody>
          <a:bodyPr/>
          <a:lstStyle>
            <a:lvl1pPr>
              <a:defRPr>
                <a:solidFill>
                  <a:schemeClr val="accent1"/>
                </a:solidFill>
                <a:latin typeface="+mj-lt"/>
              </a:defRPr>
            </a:lvl1pPr>
          </a:lstStyle>
          <a:p>
            <a:r>
              <a:rPr lang="de-DE" noProof="0" smtClean="0"/>
              <a:t>Titelmasterformat durch Klicken bearbeiten</a:t>
            </a:r>
            <a:endParaRPr lang="en-US" noProof="0"/>
          </a:p>
        </p:txBody>
      </p:sp>
      <p:sp>
        <p:nvSpPr>
          <p:cNvPr id="13" name="Datumsplatzhalter 12"/>
          <p:cNvSpPr>
            <a:spLocks noGrp="1"/>
          </p:cNvSpPr>
          <p:nvPr>
            <p:ph type="dt" sz="half" idx="10"/>
          </p:nvPr>
        </p:nvSpPr>
        <p:spPr/>
        <p:txBody>
          <a:bodyPr/>
          <a:lstStyle>
            <a:lvl1pPr>
              <a:defRPr>
                <a:solidFill>
                  <a:schemeClr val="tx1"/>
                </a:solidFill>
                <a:latin typeface="+mn-lt"/>
              </a:defRPr>
            </a:lvl1pPr>
          </a:lstStyle>
          <a:p>
            <a:fld id="{F1258F60-48FC-489A-91BC-6E0B464E8D2C}" type="datetime3">
              <a:rPr lang="en-US" noProof="0" smtClean="0"/>
              <a:pPr/>
              <a:t>9 February 2018</a:t>
            </a:fld>
            <a:endParaRPr lang="en-US" noProof="0"/>
          </a:p>
        </p:txBody>
      </p:sp>
      <p:sp>
        <p:nvSpPr>
          <p:cNvPr id="14" name="Foliennummernplatzhalter 13"/>
          <p:cNvSpPr>
            <a:spLocks noGrp="1"/>
          </p:cNvSpPr>
          <p:nvPr>
            <p:ph type="sldNum" sz="quarter" idx="11"/>
          </p:nvPr>
        </p:nvSpPr>
        <p:spPr/>
        <p:txBody>
          <a:bodyPr/>
          <a:lstStyle>
            <a:lvl1pPr>
              <a:defRPr>
                <a:solidFill>
                  <a:schemeClr val="tx1"/>
                </a:solidFill>
                <a:latin typeface="+mn-lt"/>
              </a:defRPr>
            </a:lvl1pPr>
          </a:lstStyle>
          <a:p>
            <a:fld id="{ADA48181-2C78-49CB-8C52-912A07842C2E}" type="slidenum">
              <a:rPr lang="en-US" noProof="0" smtClean="0"/>
              <a:pPr/>
              <a:t>‹#›</a:t>
            </a:fld>
            <a:endParaRPr lang="en-US" noProof="0"/>
          </a:p>
        </p:txBody>
      </p:sp>
      <p:sp>
        <p:nvSpPr>
          <p:cNvPr id="15" name="Fußzeilenplatzhalter 14"/>
          <p:cNvSpPr>
            <a:spLocks noGrp="1"/>
          </p:cNvSpPr>
          <p:nvPr>
            <p:ph type="ftr" sz="quarter" idx="12"/>
          </p:nvPr>
        </p:nvSpPr>
        <p:spPr/>
        <p:txBody>
          <a:bodyPr/>
          <a:lstStyle>
            <a:lvl1pPr>
              <a:defRPr>
                <a:solidFill>
                  <a:schemeClr val="tx1"/>
                </a:solidFill>
                <a:latin typeface="+mn-lt"/>
              </a:defRPr>
            </a:lvl1pPr>
          </a:lstStyle>
          <a:p>
            <a:r>
              <a:rPr lang="en-US" noProof="0" smtClean="0"/>
              <a:t>Author, © Continental AG</a:t>
            </a:r>
            <a:endParaRPr lang="en-US" noProof="0"/>
          </a:p>
        </p:txBody>
      </p:sp>
    </p:spTree>
    <p:extLst>
      <p:ext uri="{BB962C8B-B14F-4D97-AF65-F5344CB8AC3E}">
        <p14:creationId xmlns:p14="http://schemas.microsoft.com/office/powerpoint/2010/main" val="617936291"/>
      </p:ext>
    </p:extLst>
  </p:cSld>
  <p:clrMapOvr>
    <a:masterClrMapping/>
  </p:clrMapOvr>
  <p:transition>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Left Content Area">
    <p:spTree>
      <p:nvGrpSpPr>
        <p:cNvPr id="1" name=""/>
        <p:cNvGrpSpPr/>
        <p:nvPr/>
      </p:nvGrpSpPr>
      <p:grpSpPr>
        <a:xfrm>
          <a:off x="0" y="0"/>
          <a:ext cx="0" cy="0"/>
          <a:chOff x="0" y="0"/>
          <a:chExt cx="0" cy="0"/>
        </a:xfrm>
      </p:grpSpPr>
      <p:sp>
        <p:nvSpPr>
          <p:cNvPr id="3" name="Inhaltsplatzhalter 2"/>
          <p:cNvSpPr>
            <a:spLocks noGrp="1"/>
          </p:cNvSpPr>
          <p:nvPr>
            <p:ph sz="half" idx="1"/>
          </p:nvPr>
        </p:nvSpPr>
        <p:spPr>
          <a:xfrm>
            <a:off x="395289" y="1341437"/>
            <a:ext cx="4140200" cy="4535488"/>
          </a:xfrm>
        </p:spPr>
        <p:txBody>
          <a:bodyPr vert="horz" lIns="0" tIns="18000" rIns="0" bIns="18000" rtlCol="0">
            <a:normAutofit/>
          </a:bodyPr>
          <a:lstStyle>
            <a:lvl1pPr marL="177800"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1pPr>
            <a:lvl2pPr marL="541338" indent="-18415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2pPr>
            <a:lvl3pPr marL="896938"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3pPr>
            <a:lvl4pPr marL="1254125" indent="-179388"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4pPr>
            <a:lvl5pPr algn="l" defTabSz="914400" rtl="0" eaLnBrk="1" latinLnBrk="0" hangingPunct="1">
              <a:lnSpc>
                <a:spcPct val="100000"/>
              </a:lnSpc>
              <a:spcBef>
                <a:spcPts val="0"/>
              </a:spcBef>
              <a:spcAft>
                <a:spcPts val="1200"/>
              </a:spcAft>
              <a:buSzPct val="100000"/>
              <a:buFontTx/>
              <a:buNone/>
              <a:defRPr lang="de-DE" sz="1600" b="0" kern="1200" dirty="0">
                <a:solidFill>
                  <a:schemeClr val="tx1"/>
                </a:solidFill>
                <a:latin typeface="Arial" pitchFamily="34" charset="0"/>
                <a:ea typeface="+mn-ea"/>
                <a:cs typeface="Arial" pitchFamily="34" charset="0"/>
              </a:defRPr>
            </a:lvl5pPr>
            <a:lvl6pPr>
              <a:defRPr sz="1800"/>
            </a:lvl6pPr>
            <a:lvl7pPr>
              <a:defRPr sz="1800"/>
            </a:lvl7pPr>
            <a:lvl8pPr>
              <a:defRPr sz="1800"/>
            </a:lvl8pPr>
            <a:lvl9pPr>
              <a:defRPr sz="1800"/>
            </a:lvl9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12" name="Titel 11"/>
          <p:cNvSpPr>
            <a:spLocks noGrp="1"/>
          </p:cNvSpPr>
          <p:nvPr>
            <p:ph type="title"/>
          </p:nvPr>
        </p:nvSpPr>
        <p:spPr/>
        <p:txBody>
          <a:bodyPr/>
          <a:lstStyle>
            <a:lvl1pPr>
              <a:defRPr>
                <a:solidFill>
                  <a:schemeClr val="accent1"/>
                </a:solidFill>
                <a:latin typeface="+mj-lt"/>
              </a:defRPr>
            </a:lvl1pPr>
          </a:lstStyle>
          <a:p>
            <a:r>
              <a:rPr lang="de-DE" noProof="0" smtClean="0"/>
              <a:t>Titelmasterformat durch Klicken bearbeiten</a:t>
            </a:r>
            <a:endParaRPr lang="en-US" noProof="0"/>
          </a:p>
        </p:txBody>
      </p:sp>
      <p:sp>
        <p:nvSpPr>
          <p:cNvPr id="13" name="Datumsplatzhalter 12"/>
          <p:cNvSpPr>
            <a:spLocks noGrp="1"/>
          </p:cNvSpPr>
          <p:nvPr>
            <p:ph type="dt" sz="half" idx="10"/>
          </p:nvPr>
        </p:nvSpPr>
        <p:spPr/>
        <p:txBody>
          <a:bodyPr/>
          <a:lstStyle>
            <a:lvl1pPr>
              <a:defRPr>
                <a:solidFill>
                  <a:schemeClr val="tx1"/>
                </a:solidFill>
                <a:latin typeface="+mn-lt"/>
              </a:defRPr>
            </a:lvl1pPr>
          </a:lstStyle>
          <a:p>
            <a:fld id="{D8E2632B-7ABB-47FF-88A0-4A9B8B63F9DA}" type="datetime3">
              <a:rPr lang="en-US" noProof="0" smtClean="0"/>
              <a:pPr/>
              <a:t>9 February 2018</a:t>
            </a:fld>
            <a:endParaRPr lang="en-US" noProof="0"/>
          </a:p>
        </p:txBody>
      </p:sp>
      <p:sp>
        <p:nvSpPr>
          <p:cNvPr id="14" name="Foliennummernplatzhalter 13"/>
          <p:cNvSpPr>
            <a:spLocks noGrp="1"/>
          </p:cNvSpPr>
          <p:nvPr>
            <p:ph type="sldNum" sz="quarter" idx="11"/>
          </p:nvPr>
        </p:nvSpPr>
        <p:spPr/>
        <p:txBody>
          <a:bodyPr/>
          <a:lstStyle>
            <a:lvl1pPr>
              <a:defRPr>
                <a:solidFill>
                  <a:schemeClr val="tx1"/>
                </a:solidFill>
                <a:latin typeface="+mn-lt"/>
              </a:defRPr>
            </a:lvl1pPr>
          </a:lstStyle>
          <a:p>
            <a:fld id="{ADA48181-2C78-49CB-8C52-912A07842C2E}" type="slidenum">
              <a:rPr lang="en-US" noProof="0" smtClean="0"/>
              <a:pPr/>
              <a:t>‹#›</a:t>
            </a:fld>
            <a:endParaRPr lang="en-US" noProof="0"/>
          </a:p>
        </p:txBody>
      </p:sp>
      <p:sp>
        <p:nvSpPr>
          <p:cNvPr id="15" name="Fußzeilenplatzhalter 14"/>
          <p:cNvSpPr>
            <a:spLocks noGrp="1"/>
          </p:cNvSpPr>
          <p:nvPr>
            <p:ph type="ftr" sz="quarter" idx="12"/>
          </p:nvPr>
        </p:nvSpPr>
        <p:spPr/>
        <p:txBody>
          <a:bodyPr/>
          <a:lstStyle>
            <a:lvl1pPr>
              <a:defRPr>
                <a:solidFill>
                  <a:schemeClr val="tx1"/>
                </a:solidFill>
                <a:latin typeface="+mn-lt"/>
              </a:defRPr>
            </a:lvl1pPr>
          </a:lstStyle>
          <a:p>
            <a:r>
              <a:rPr lang="en-US" noProof="0" smtClean="0"/>
              <a:t>Author, © Continental AG</a:t>
            </a:r>
            <a:endParaRPr lang="en-US" noProof="0"/>
          </a:p>
        </p:txBody>
      </p:sp>
    </p:spTree>
    <p:extLst>
      <p:ext uri="{BB962C8B-B14F-4D97-AF65-F5344CB8AC3E}">
        <p14:creationId xmlns:p14="http://schemas.microsoft.com/office/powerpoint/2010/main" val="3833559880"/>
      </p:ext>
    </p:extLst>
  </p:cSld>
  <p:clrMapOvr>
    <a:masterClrMapping/>
  </p:clrMapOvr>
  <p:transition>
    <p:fad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Three Content Areas">
    <p:spTree>
      <p:nvGrpSpPr>
        <p:cNvPr id="1" name=""/>
        <p:cNvGrpSpPr/>
        <p:nvPr/>
      </p:nvGrpSpPr>
      <p:grpSpPr>
        <a:xfrm>
          <a:off x="0" y="0"/>
          <a:ext cx="0" cy="0"/>
          <a:chOff x="0" y="0"/>
          <a:chExt cx="0" cy="0"/>
        </a:xfrm>
      </p:grpSpPr>
      <p:sp>
        <p:nvSpPr>
          <p:cNvPr id="3" name="Inhaltsplatzhalter 2"/>
          <p:cNvSpPr>
            <a:spLocks noGrp="1"/>
          </p:cNvSpPr>
          <p:nvPr>
            <p:ph sz="half" idx="1"/>
          </p:nvPr>
        </p:nvSpPr>
        <p:spPr>
          <a:xfrm>
            <a:off x="395288" y="1341437"/>
            <a:ext cx="2736850" cy="4535488"/>
          </a:xfrm>
        </p:spPr>
        <p:txBody>
          <a:bodyPr vert="horz" lIns="0" tIns="18000" rIns="0" bIns="18000" rtlCol="0">
            <a:normAutofit/>
          </a:bodyPr>
          <a:lstStyle>
            <a:lvl1pPr marL="177800"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1pPr>
            <a:lvl2pPr marL="541338" indent="-18415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2pPr>
            <a:lvl3pPr marL="896938"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3pPr>
            <a:lvl4pPr marL="1254125" indent="-179388"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4pPr>
            <a:lvl5pPr>
              <a:buNone/>
              <a:defRPr sz="1200"/>
            </a:lvl5pPr>
            <a:lvl6pPr>
              <a:defRPr sz="1800"/>
            </a:lvl6pPr>
            <a:lvl7pPr>
              <a:defRPr sz="1800"/>
            </a:lvl7pPr>
            <a:lvl8pPr>
              <a:defRPr sz="1800"/>
            </a:lvl8pPr>
            <a:lvl9pPr>
              <a:defRPr sz="1800"/>
            </a:lvl9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4" name="Inhaltsplatzhalter 3"/>
          <p:cNvSpPr>
            <a:spLocks noGrp="1"/>
          </p:cNvSpPr>
          <p:nvPr>
            <p:ph sz="half" idx="2"/>
          </p:nvPr>
        </p:nvSpPr>
        <p:spPr>
          <a:xfrm>
            <a:off x="3203575" y="1341437"/>
            <a:ext cx="2736850" cy="4535487"/>
          </a:xfrm>
        </p:spPr>
        <p:txBody>
          <a:bodyPr vert="horz" lIns="0" tIns="18000" rIns="0" bIns="18000" rtlCol="0">
            <a:normAutofit/>
          </a:bodyPr>
          <a:lstStyle>
            <a:lvl1pPr marL="177800"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1pPr>
            <a:lvl2pPr marL="541338" indent="-184150"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2pPr>
            <a:lvl3pPr marL="896938"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3pPr>
            <a:lvl4pPr marL="1254125" indent="-179388"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4pPr>
            <a:lvl5pPr>
              <a:buNone/>
              <a:defRPr sz="1200"/>
            </a:lvl5pPr>
            <a:lvl6pPr>
              <a:defRPr sz="1800"/>
            </a:lvl6pPr>
            <a:lvl7pPr>
              <a:defRPr sz="1800"/>
            </a:lvl7pPr>
            <a:lvl8pPr>
              <a:defRPr sz="1800"/>
            </a:lvl8pPr>
            <a:lvl9pPr>
              <a:defRPr sz="1800"/>
            </a:lvl9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8" name="Inhaltsplatzhalter 3"/>
          <p:cNvSpPr>
            <a:spLocks noGrp="1"/>
          </p:cNvSpPr>
          <p:nvPr>
            <p:ph sz="half" idx="13"/>
          </p:nvPr>
        </p:nvSpPr>
        <p:spPr>
          <a:xfrm>
            <a:off x="6011863" y="1341437"/>
            <a:ext cx="2736850" cy="4535487"/>
          </a:xfrm>
        </p:spPr>
        <p:txBody>
          <a:bodyPr vert="horz" lIns="0" tIns="18000" rIns="0" bIns="18000" rtlCol="0">
            <a:normAutofit/>
          </a:bodyPr>
          <a:lstStyle>
            <a:lvl1pPr marL="177800"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1pPr>
            <a:lvl2pPr marL="541338" indent="-18415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2pPr>
            <a:lvl3pPr marL="896938"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3pPr>
            <a:lvl4pPr marL="1254125" indent="-179388"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4pPr>
            <a:lvl5pPr>
              <a:buNone/>
              <a:defRPr sz="1200"/>
            </a:lvl5pPr>
            <a:lvl6pPr>
              <a:defRPr sz="1800"/>
            </a:lvl6pPr>
            <a:lvl7pPr>
              <a:defRPr sz="1800"/>
            </a:lvl7pPr>
            <a:lvl8pPr>
              <a:defRPr sz="1800"/>
            </a:lvl8pPr>
            <a:lvl9pPr>
              <a:defRPr sz="1800"/>
            </a:lvl9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9" name="Titel 8"/>
          <p:cNvSpPr>
            <a:spLocks noGrp="1"/>
          </p:cNvSpPr>
          <p:nvPr>
            <p:ph type="title"/>
          </p:nvPr>
        </p:nvSpPr>
        <p:spPr/>
        <p:txBody>
          <a:bodyPr/>
          <a:lstStyle>
            <a:lvl1pPr>
              <a:defRPr>
                <a:solidFill>
                  <a:schemeClr val="accent1"/>
                </a:solidFill>
                <a:latin typeface="+mj-lt"/>
              </a:defRPr>
            </a:lvl1pPr>
          </a:lstStyle>
          <a:p>
            <a:r>
              <a:rPr lang="de-DE" noProof="0" smtClean="0"/>
              <a:t>Titelmasterformat durch Klicken bearbeiten</a:t>
            </a:r>
            <a:endParaRPr lang="en-US" noProof="0"/>
          </a:p>
        </p:txBody>
      </p:sp>
      <p:sp>
        <p:nvSpPr>
          <p:cNvPr id="10" name="Datumsplatzhalter 9"/>
          <p:cNvSpPr>
            <a:spLocks noGrp="1"/>
          </p:cNvSpPr>
          <p:nvPr>
            <p:ph type="dt" sz="half" idx="14"/>
          </p:nvPr>
        </p:nvSpPr>
        <p:spPr/>
        <p:txBody>
          <a:bodyPr/>
          <a:lstStyle>
            <a:lvl1pPr>
              <a:defRPr>
                <a:solidFill>
                  <a:schemeClr val="tx1"/>
                </a:solidFill>
                <a:latin typeface="+mn-lt"/>
              </a:defRPr>
            </a:lvl1pPr>
          </a:lstStyle>
          <a:p>
            <a:fld id="{2055C603-2F96-4C80-BB05-9921AB8672CA}" type="datetime3">
              <a:rPr lang="en-US" noProof="0" smtClean="0"/>
              <a:pPr/>
              <a:t>9 February 2018</a:t>
            </a:fld>
            <a:endParaRPr lang="en-US" noProof="0"/>
          </a:p>
        </p:txBody>
      </p:sp>
      <p:sp>
        <p:nvSpPr>
          <p:cNvPr id="11" name="Foliennummernplatzhalter 10"/>
          <p:cNvSpPr>
            <a:spLocks noGrp="1"/>
          </p:cNvSpPr>
          <p:nvPr>
            <p:ph type="sldNum" sz="quarter" idx="15"/>
          </p:nvPr>
        </p:nvSpPr>
        <p:spPr/>
        <p:txBody>
          <a:bodyPr/>
          <a:lstStyle>
            <a:lvl1pPr>
              <a:defRPr>
                <a:solidFill>
                  <a:schemeClr val="tx1"/>
                </a:solidFill>
                <a:latin typeface="+mn-lt"/>
              </a:defRPr>
            </a:lvl1pPr>
          </a:lstStyle>
          <a:p>
            <a:fld id="{ADA48181-2C78-49CB-8C52-912A07842C2E}" type="slidenum">
              <a:rPr lang="en-US" noProof="0" smtClean="0"/>
              <a:pPr/>
              <a:t>‹#›</a:t>
            </a:fld>
            <a:endParaRPr lang="en-US" noProof="0"/>
          </a:p>
        </p:txBody>
      </p:sp>
      <p:sp>
        <p:nvSpPr>
          <p:cNvPr id="12" name="Fußzeilenplatzhalter 11"/>
          <p:cNvSpPr>
            <a:spLocks noGrp="1"/>
          </p:cNvSpPr>
          <p:nvPr>
            <p:ph type="ftr" sz="quarter" idx="16"/>
          </p:nvPr>
        </p:nvSpPr>
        <p:spPr/>
        <p:txBody>
          <a:bodyPr/>
          <a:lstStyle>
            <a:lvl1pPr>
              <a:defRPr>
                <a:solidFill>
                  <a:schemeClr val="tx1"/>
                </a:solidFill>
                <a:latin typeface="+mn-lt"/>
              </a:defRPr>
            </a:lvl1pPr>
          </a:lstStyle>
          <a:p>
            <a:r>
              <a:rPr lang="en-US" noProof="0" smtClean="0"/>
              <a:t>Author, © Continental AG</a:t>
            </a:r>
            <a:endParaRPr lang="en-US" noProof="0"/>
          </a:p>
        </p:txBody>
      </p:sp>
    </p:spTree>
    <p:extLst>
      <p:ext uri="{BB962C8B-B14F-4D97-AF65-F5344CB8AC3E}">
        <p14:creationId xmlns:p14="http://schemas.microsoft.com/office/powerpoint/2010/main" val="2791453275"/>
      </p:ext>
    </p:extLst>
  </p:cSld>
  <p:clrMapOvr>
    <a:masterClrMapping/>
  </p:clrMapOvr>
  <p:transition>
    <p:fade/>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Four Content Areas">
    <p:spTree>
      <p:nvGrpSpPr>
        <p:cNvPr id="1" name=""/>
        <p:cNvGrpSpPr/>
        <p:nvPr/>
      </p:nvGrpSpPr>
      <p:grpSpPr>
        <a:xfrm>
          <a:off x="0" y="0"/>
          <a:ext cx="0" cy="0"/>
          <a:chOff x="0" y="0"/>
          <a:chExt cx="0" cy="0"/>
        </a:xfrm>
      </p:grpSpPr>
      <p:sp>
        <p:nvSpPr>
          <p:cNvPr id="3" name="Inhaltsplatzhalter 2"/>
          <p:cNvSpPr>
            <a:spLocks noGrp="1"/>
          </p:cNvSpPr>
          <p:nvPr>
            <p:ph sz="half" idx="1"/>
          </p:nvPr>
        </p:nvSpPr>
        <p:spPr>
          <a:xfrm>
            <a:off x="395289" y="1341437"/>
            <a:ext cx="4140200" cy="2232025"/>
          </a:xfrm>
        </p:spPr>
        <p:txBody>
          <a:bodyPr vert="horz" lIns="0" tIns="18000" rIns="0" bIns="18000" rtlCol="0">
            <a:normAutofit/>
          </a:bodyPr>
          <a:lstStyle>
            <a:lvl1pPr marL="177800"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1pPr>
            <a:lvl2pPr marL="541338" indent="-18415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2pPr>
            <a:lvl3pPr marL="896938"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3pPr>
            <a:lvl4pPr marL="1254125" indent="-179388"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4pPr>
            <a:lvl5pPr algn="l" defTabSz="914400" rtl="0" eaLnBrk="1" latinLnBrk="0" hangingPunct="1">
              <a:lnSpc>
                <a:spcPct val="100000"/>
              </a:lnSpc>
              <a:spcBef>
                <a:spcPts val="0"/>
              </a:spcBef>
              <a:spcAft>
                <a:spcPts val="1200"/>
              </a:spcAft>
              <a:buSzPct val="100000"/>
              <a:buFontTx/>
              <a:buNone/>
              <a:defRPr lang="de-DE" sz="1600" b="0" kern="1200" dirty="0">
                <a:solidFill>
                  <a:schemeClr val="tx1"/>
                </a:solidFill>
                <a:latin typeface="Arial" pitchFamily="34" charset="0"/>
                <a:ea typeface="+mn-ea"/>
                <a:cs typeface="Arial" pitchFamily="34" charset="0"/>
              </a:defRPr>
            </a:lvl5pPr>
            <a:lvl6pPr>
              <a:defRPr sz="1800"/>
            </a:lvl6pPr>
            <a:lvl7pPr>
              <a:defRPr sz="1800"/>
            </a:lvl7pPr>
            <a:lvl8pPr>
              <a:defRPr sz="1800"/>
            </a:lvl8pPr>
            <a:lvl9pPr>
              <a:defRPr sz="1800"/>
            </a:lvl9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4" name="Inhaltsplatzhalter 3"/>
          <p:cNvSpPr>
            <a:spLocks noGrp="1"/>
          </p:cNvSpPr>
          <p:nvPr>
            <p:ph sz="half" idx="2"/>
          </p:nvPr>
        </p:nvSpPr>
        <p:spPr>
          <a:xfrm>
            <a:off x="4606926" y="1341437"/>
            <a:ext cx="4141787" cy="2232025"/>
          </a:xfrm>
        </p:spPr>
        <p:txBody>
          <a:bodyPr vert="horz" lIns="0" tIns="18000" rIns="0" bIns="18000" rtlCol="0">
            <a:normAutofit/>
          </a:bodyPr>
          <a:lstStyle>
            <a:lvl1pPr marL="177800"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1pPr>
            <a:lvl2pPr marL="541338" indent="-184150"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2pPr>
            <a:lvl3pPr marL="896938"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3pPr>
            <a:lvl4pPr marL="1254125" indent="-179388"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4pPr>
            <a:lvl5pPr algn="l" defTabSz="914400" rtl="0" eaLnBrk="1" latinLnBrk="0" hangingPunct="1">
              <a:lnSpc>
                <a:spcPct val="100000"/>
              </a:lnSpc>
              <a:spcBef>
                <a:spcPts val="0"/>
              </a:spcBef>
              <a:spcAft>
                <a:spcPts val="1200"/>
              </a:spcAft>
              <a:buSzPct val="100000"/>
              <a:buFontTx/>
              <a:buNone/>
              <a:defRPr lang="de-DE" sz="1600" b="0" kern="1200" dirty="0">
                <a:solidFill>
                  <a:schemeClr val="tx1"/>
                </a:solidFill>
                <a:latin typeface="Arial" pitchFamily="34" charset="0"/>
                <a:ea typeface="+mn-ea"/>
                <a:cs typeface="Arial" pitchFamily="34" charset="0"/>
              </a:defRPr>
            </a:lvl5pPr>
            <a:lvl6pPr>
              <a:defRPr sz="1800"/>
            </a:lvl6pPr>
            <a:lvl7pPr>
              <a:defRPr sz="1800"/>
            </a:lvl7pPr>
            <a:lvl8pPr>
              <a:defRPr sz="1800"/>
            </a:lvl8pPr>
            <a:lvl9pPr>
              <a:defRPr sz="1800"/>
            </a:lvl9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12" name="Titel 11"/>
          <p:cNvSpPr>
            <a:spLocks noGrp="1"/>
          </p:cNvSpPr>
          <p:nvPr>
            <p:ph type="title"/>
          </p:nvPr>
        </p:nvSpPr>
        <p:spPr/>
        <p:txBody>
          <a:bodyPr/>
          <a:lstStyle>
            <a:lvl1pPr>
              <a:defRPr>
                <a:solidFill>
                  <a:schemeClr val="accent1"/>
                </a:solidFill>
                <a:latin typeface="+mj-lt"/>
              </a:defRPr>
            </a:lvl1pPr>
          </a:lstStyle>
          <a:p>
            <a:r>
              <a:rPr lang="de-DE" noProof="0" smtClean="0"/>
              <a:t>Titelmasterformat durch Klicken bearbeiten</a:t>
            </a:r>
            <a:endParaRPr lang="en-US" noProof="0"/>
          </a:p>
        </p:txBody>
      </p:sp>
      <p:sp>
        <p:nvSpPr>
          <p:cNvPr id="13" name="Datumsplatzhalter 12"/>
          <p:cNvSpPr>
            <a:spLocks noGrp="1"/>
          </p:cNvSpPr>
          <p:nvPr>
            <p:ph type="dt" sz="half" idx="10"/>
          </p:nvPr>
        </p:nvSpPr>
        <p:spPr/>
        <p:txBody>
          <a:bodyPr/>
          <a:lstStyle>
            <a:lvl1pPr>
              <a:defRPr>
                <a:solidFill>
                  <a:schemeClr val="tx1"/>
                </a:solidFill>
                <a:latin typeface="+mn-lt"/>
              </a:defRPr>
            </a:lvl1pPr>
          </a:lstStyle>
          <a:p>
            <a:fld id="{386431E5-9C6C-4E09-861E-07FDAE421A63}" type="datetime3">
              <a:rPr lang="en-US" noProof="0" smtClean="0"/>
              <a:pPr/>
              <a:t>9 February 2018</a:t>
            </a:fld>
            <a:endParaRPr lang="en-US" noProof="0"/>
          </a:p>
        </p:txBody>
      </p:sp>
      <p:sp>
        <p:nvSpPr>
          <p:cNvPr id="14" name="Foliennummernplatzhalter 13"/>
          <p:cNvSpPr>
            <a:spLocks noGrp="1"/>
          </p:cNvSpPr>
          <p:nvPr>
            <p:ph type="sldNum" sz="quarter" idx="11"/>
          </p:nvPr>
        </p:nvSpPr>
        <p:spPr/>
        <p:txBody>
          <a:bodyPr/>
          <a:lstStyle>
            <a:lvl1pPr>
              <a:defRPr>
                <a:solidFill>
                  <a:schemeClr val="tx1"/>
                </a:solidFill>
                <a:latin typeface="+mn-lt"/>
              </a:defRPr>
            </a:lvl1pPr>
          </a:lstStyle>
          <a:p>
            <a:fld id="{ADA48181-2C78-49CB-8C52-912A07842C2E}" type="slidenum">
              <a:rPr lang="en-US" noProof="0" smtClean="0"/>
              <a:pPr/>
              <a:t>‹#›</a:t>
            </a:fld>
            <a:endParaRPr lang="en-US" noProof="0"/>
          </a:p>
        </p:txBody>
      </p:sp>
      <p:sp>
        <p:nvSpPr>
          <p:cNvPr id="15" name="Fußzeilenplatzhalter 14"/>
          <p:cNvSpPr>
            <a:spLocks noGrp="1"/>
          </p:cNvSpPr>
          <p:nvPr>
            <p:ph type="ftr" sz="quarter" idx="12"/>
          </p:nvPr>
        </p:nvSpPr>
        <p:spPr/>
        <p:txBody>
          <a:bodyPr/>
          <a:lstStyle>
            <a:lvl1pPr>
              <a:defRPr>
                <a:solidFill>
                  <a:schemeClr val="tx1"/>
                </a:solidFill>
                <a:latin typeface="+mn-lt"/>
              </a:defRPr>
            </a:lvl1pPr>
          </a:lstStyle>
          <a:p>
            <a:r>
              <a:rPr lang="en-US" noProof="0" smtClean="0"/>
              <a:t>Author, © Continental AG</a:t>
            </a:r>
            <a:endParaRPr lang="en-US" noProof="0"/>
          </a:p>
        </p:txBody>
      </p:sp>
      <p:sp>
        <p:nvSpPr>
          <p:cNvPr id="18" name="Inhaltsplatzhalter 2"/>
          <p:cNvSpPr>
            <a:spLocks noGrp="1"/>
          </p:cNvSpPr>
          <p:nvPr>
            <p:ph sz="half" idx="13"/>
          </p:nvPr>
        </p:nvSpPr>
        <p:spPr>
          <a:xfrm>
            <a:off x="395289" y="3644900"/>
            <a:ext cx="4140199" cy="2232025"/>
          </a:xfrm>
        </p:spPr>
        <p:txBody>
          <a:bodyPr vert="horz" lIns="0" tIns="18000" rIns="0" bIns="18000" rtlCol="0">
            <a:normAutofit/>
          </a:bodyPr>
          <a:lstStyle>
            <a:lvl1pPr marL="177800"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1pPr>
            <a:lvl2pPr marL="541338" indent="-18415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2pPr>
            <a:lvl3pPr marL="896938"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3pPr>
            <a:lvl4pPr marL="1254125" indent="-179388"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4pPr>
            <a:lvl5pPr algn="l" defTabSz="914400" rtl="0" eaLnBrk="1" latinLnBrk="0" hangingPunct="1">
              <a:lnSpc>
                <a:spcPct val="100000"/>
              </a:lnSpc>
              <a:spcBef>
                <a:spcPts val="0"/>
              </a:spcBef>
              <a:spcAft>
                <a:spcPts val="1200"/>
              </a:spcAft>
              <a:buSzPct val="100000"/>
              <a:buFontTx/>
              <a:buNone/>
              <a:defRPr lang="de-DE" sz="1600" b="0" kern="1200" dirty="0">
                <a:solidFill>
                  <a:schemeClr val="tx1"/>
                </a:solidFill>
                <a:latin typeface="Arial" pitchFamily="34" charset="0"/>
                <a:ea typeface="+mn-ea"/>
                <a:cs typeface="Arial" pitchFamily="34" charset="0"/>
              </a:defRPr>
            </a:lvl5pPr>
            <a:lvl6pPr>
              <a:defRPr sz="1800"/>
            </a:lvl6pPr>
            <a:lvl7pPr>
              <a:defRPr sz="1800"/>
            </a:lvl7pPr>
            <a:lvl8pPr>
              <a:defRPr sz="1800"/>
            </a:lvl8pPr>
            <a:lvl9pPr>
              <a:defRPr sz="1800"/>
            </a:lvl9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19" name="Inhaltsplatzhalter 3"/>
          <p:cNvSpPr>
            <a:spLocks noGrp="1"/>
          </p:cNvSpPr>
          <p:nvPr>
            <p:ph sz="half" idx="14"/>
          </p:nvPr>
        </p:nvSpPr>
        <p:spPr>
          <a:xfrm>
            <a:off x="4606926" y="3644900"/>
            <a:ext cx="4141788" cy="2232025"/>
          </a:xfrm>
        </p:spPr>
        <p:txBody>
          <a:bodyPr vert="horz" lIns="0" tIns="18000" rIns="0" bIns="18000" rtlCol="0">
            <a:normAutofit/>
          </a:bodyPr>
          <a:lstStyle>
            <a:lvl1pPr marL="177800"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1pPr>
            <a:lvl2pPr marL="541338" indent="-184150"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2pPr>
            <a:lvl3pPr marL="896938"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3pPr>
            <a:lvl4pPr marL="1254125" indent="-179388"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4pPr>
            <a:lvl5pPr algn="l" defTabSz="914400" rtl="0" eaLnBrk="1" latinLnBrk="0" hangingPunct="1">
              <a:lnSpc>
                <a:spcPct val="100000"/>
              </a:lnSpc>
              <a:spcBef>
                <a:spcPts val="0"/>
              </a:spcBef>
              <a:spcAft>
                <a:spcPts val="1200"/>
              </a:spcAft>
              <a:buSzPct val="100000"/>
              <a:buFontTx/>
              <a:buNone/>
              <a:defRPr lang="de-DE" sz="1600" b="0" kern="1200" dirty="0">
                <a:solidFill>
                  <a:schemeClr val="tx1"/>
                </a:solidFill>
                <a:latin typeface="Arial" pitchFamily="34" charset="0"/>
                <a:ea typeface="+mn-ea"/>
                <a:cs typeface="Arial" pitchFamily="34" charset="0"/>
              </a:defRPr>
            </a:lvl5pPr>
            <a:lvl6pPr>
              <a:defRPr sz="1800"/>
            </a:lvl6pPr>
            <a:lvl7pPr>
              <a:defRPr sz="1800"/>
            </a:lvl7pPr>
            <a:lvl8pPr>
              <a:defRPr sz="1800"/>
            </a:lvl8pPr>
            <a:lvl9pPr>
              <a:defRPr sz="1800"/>
            </a:lvl9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Tree>
    <p:extLst>
      <p:ext uri="{BB962C8B-B14F-4D97-AF65-F5344CB8AC3E}">
        <p14:creationId xmlns:p14="http://schemas.microsoft.com/office/powerpoint/2010/main" val="632796906"/>
      </p:ext>
    </p:extLst>
  </p:cSld>
  <p:clrMapOvr>
    <a:masterClrMapping/>
  </p:clrMapOvr>
  <p:transition>
    <p:fade/>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el 5"/>
          <p:cNvSpPr>
            <a:spLocks noGrp="1"/>
          </p:cNvSpPr>
          <p:nvPr>
            <p:ph type="title"/>
          </p:nvPr>
        </p:nvSpPr>
        <p:spPr/>
        <p:txBody>
          <a:bodyPr/>
          <a:lstStyle>
            <a:lvl1pPr>
              <a:defRPr>
                <a:solidFill>
                  <a:schemeClr val="accent1"/>
                </a:solidFill>
                <a:latin typeface="+mj-lt"/>
              </a:defRPr>
            </a:lvl1pPr>
          </a:lstStyle>
          <a:p>
            <a:r>
              <a:rPr lang="de-DE" noProof="0" smtClean="0"/>
              <a:t>Titelmasterformat durch Klicken bearbeiten</a:t>
            </a:r>
            <a:endParaRPr lang="en-US" noProof="0"/>
          </a:p>
        </p:txBody>
      </p:sp>
      <p:sp>
        <p:nvSpPr>
          <p:cNvPr id="7" name="Datumsplatzhalter 6"/>
          <p:cNvSpPr>
            <a:spLocks noGrp="1"/>
          </p:cNvSpPr>
          <p:nvPr>
            <p:ph type="dt" sz="half" idx="10"/>
          </p:nvPr>
        </p:nvSpPr>
        <p:spPr/>
        <p:txBody>
          <a:bodyPr/>
          <a:lstStyle>
            <a:lvl1pPr>
              <a:defRPr>
                <a:solidFill>
                  <a:schemeClr val="tx1"/>
                </a:solidFill>
              </a:defRPr>
            </a:lvl1pPr>
          </a:lstStyle>
          <a:p>
            <a:fld id="{AE3BD817-D861-487F-9A35-4AAF951B7B3B}" type="datetime3">
              <a:rPr lang="en-US" noProof="0" smtClean="0"/>
              <a:pPr/>
              <a:t>9 February 2018</a:t>
            </a:fld>
            <a:endParaRPr lang="en-US" noProof="0"/>
          </a:p>
        </p:txBody>
      </p:sp>
      <p:sp>
        <p:nvSpPr>
          <p:cNvPr id="8" name="Foliennummernplatzhalter 7"/>
          <p:cNvSpPr>
            <a:spLocks noGrp="1"/>
          </p:cNvSpPr>
          <p:nvPr>
            <p:ph type="sldNum" sz="quarter" idx="11"/>
          </p:nvPr>
        </p:nvSpPr>
        <p:spPr/>
        <p:txBody>
          <a:bodyPr/>
          <a:lstStyle>
            <a:lvl1pPr>
              <a:defRPr>
                <a:solidFill>
                  <a:schemeClr val="tx1"/>
                </a:solidFill>
              </a:defRPr>
            </a:lvl1pPr>
          </a:lstStyle>
          <a:p>
            <a:fld id="{ADA48181-2C78-49CB-8C52-912A07842C2E}" type="slidenum">
              <a:rPr lang="en-US" noProof="0" smtClean="0"/>
              <a:pPr/>
              <a:t>‹#›</a:t>
            </a:fld>
            <a:endParaRPr lang="en-US" noProof="0"/>
          </a:p>
        </p:txBody>
      </p:sp>
      <p:sp>
        <p:nvSpPr>
          <p:cNvPr id="9" name="Fußzeilenplatzhalter 8"/>
          <p:cNvSpPr>
            <a:spLocks noGrp="1"/>
          </p:cNvSpPr>
          <p:nvPr>
            <p:ph type="ftr" sz="quarter" idx="12"/>
          </p:nvPr>
        </p:nvSpPr>
        <p:spPr/>
        <p:txBody>
          <a:bodyPr/>
          <a:lstStyle>
            <a:lvl1pPr>
              <a:defRPr>
                <a:solidFill>
                  <a:schemeClr val="tx1"/>
                </a:solidFill>
              </a:defRPr>
            </a:lvl1pPr>
          </a:lstStyle>
          <a:p>
            <a:r>
              <a:rPr lang="en-US" noProof="0" smtClean="0"/>
              <a:t>Author, © Continental AG</a:t>
            </a:r>
            <a:endParaRPr lang="en-US" noProof="0"/>
          </a:p>
        </p:txBody>
      </p:sp>
    </p:spTree>
    <p:extLst>
      <p:ext uri="{BB962C8B-B14F-4D97-AF65-F5344CB8AC3E}">
        <p14:creationId xmlns:p14="http://schemas.microsoft.com/office/powerpoint/2010/main" val="3648201249"/>
      </p:ext>
    </p:extLst>
  </p:cSld>
  <p:clrMapOvr>
    <a:masterClrMapping/>
  </p:clrMapOvr>
  <p:transition>
    <p:fade/>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
    <p:spTree>
      <p:nvGrpSpPr>
        <p:cNvPr id="1" name=""/>
        <p:cNvGrpSpPr/>
        <p:nvPr/>
      </p:nvGrpSpPr>
      <p:grpSpPr>
        <a:xfrm>
          <a:off x="0" y="0"/>
          <a:ext cx="0" cy="0"/>
          <a:chOff x="0" y="0"/>
          <a:chExt cx="0" cy="0"/>
        </a:xfrm>
      </p:grpSpPr>
      <p:sp>
        <p:nvSpPr>
          <p:cNvPr id="5" name="Datumsplatzhalter 4"/>
          <p:cNvSpPr>
            <a:spLocks noGrp="1"/>
          </p:cNvSpPr>
          <p:nvPr>
            <p:ph type="dt" sz="half" idx="10"/>
          </p:nvPr>
        </p:nvSpPr>
        <p:spPr/>
        <p:txBody>
          <a:bodyPr/>
          <a:lstStyle>
            <a:lvl1pPr>
              <a:defRPr>
                <a:solidFill>
                  <a:schemeClr val="tx1"/>
                </a:solidFill>
              </a:defRPr>
            </a:lvl1pPr>
          </a:lstStyle>
          <a:p>
            <a:fld id="{F04E68C6-1DBC-42CC-9C2B-187673C3493C}" type="datetime3">
              <a:rPr lang="en-US" noProof="0" smtClean="0"/>
              <a:pPr/>
              <a:t>9 February 2018</a:t>
            </a:fld>
            <a:endParaRPr lang="en-US" noProof="0"/>
          </a:p>
        </p:txBody>
      </p:sp>
      <p:sp>
        <p:nvSpPr>
          <p:cNvPr id="6" name="Foliennummernplatzhalter 5"/>
          <p:cNvSpPr>
            <a:spLocks noGrp="1"/>
          </p:cNvSpPr>
          <p:nvPr>
            <p:ph type="sldNum" sz="quarter" idx="11"/>
          </p:nvPr>
        </p:nvSpPr>
        <p:spPr/>
        <p:txBody>
          <a:bodyPr/>
          <a:lstStyle>
            <a:lvl1pPr>
              <a:defRPr>
                <a:solidFill>
                  <a:schemeClr val="tx1"/>
                </a:solidFill>
              </a:defRPr>
            </a:lvl1pPr>
          </a:lstStyle>
          <a:p>
            <a:fld id="{ADA48181-2C78-49CB-8C52-912A07842C2E}" type="slidenum">
              <a:rPr lang="en-US" noProof="0" smtClean="0"/>
              <a:pPr/>
              <a:t>‹#›</a:t>
            </a:fld>
            <a:endParaRPr lang="en-US" noProof="0"/>
          </a:p>
        </p:txBody>
      </p:sp>
      <p:sp>
        <p:nvSpPr>
          <p:cNvPr id="7" name="Fußzeilenplatzhalter 6"/>
          <p:cNvSpPr>
            <a:spLocks noGrp="1"/>
          </p:cNvSpPr>
          <p:nvPr>
            <p:ph type="ftr" sz="quarter" idx="12"/>
          </p:nvPr>
        </p:nvSpPr>
        <p:spPr/>
        <p:txBody>
          <a:bodyPr/>
          <a:lstStyle>
            <a:lvl1pPr>
              <a:defRPr>
                <a:solidFill>
                  <a:schemeClr val="tx1"/>
                </a:solidFill>
              </a:defRPr>
            </a:lvl1pPr>
          </a:lstStyle>
          <a:p>
            <a:r>
              <a:rPr lang="en-US" noProof="0" smtClean="0"/>
              <a:t>Author, © Continental AG</a:t>
            </a:r>
            <a:endParaRPr lang="en-US" noProof="0"/>
          </a:p>
        </p:txBody>
      </p:sp>
    </p:spTree>
    <p:extLst>
      <p:ext uri="{BB962C8B-B14F-4D97-AF65-F5344CB8AC3E}">
        <p14:creationId xmlns:p14="http://schemas.microsoft.com/office/powerpoint/2010/main" val="891307712"/>
      </p:ext>
    </p:extLst>
  </p:cSld>
  <p:clrMapOvr>
    <a:masterClrMapping/>
  </p:clrMapOvr>
  <p:transition>
    <p:fade/>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End (orange)">
    <p:bg>
      <p:bgPr>
        <a:solidFill>
          <a:schemeClr val="accent1"/>
        </a:solidFill>
        <a:effectLst/>
      </p:bgPr>
    </p:bg>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95288" y="3114488"/>
            <a:ext cx="8353425" cy="2762437"/>
          </a:xfrm>
        </p:spPr>
        <p:txBody>
          <a:bodyPr>
            <a:noAutofit/>
          </a:bodyPr>
          <a:lstStyle>
            <a:lvl1pPr marL="0" indent="0">
              <a:lnSpc>
                <a:spcPct val="113000"/>
              </a:lnSpc>
              <a:buSzPct val="125000"/>
              <a:buFont typeface="Arial" pitchFamily="34" charset="0"/>
              <a:buNone/>
              <a:defRPr sz="2400">
                <a:solidFill>
                  <a:schemeClr val="bg1"/>
                </a:solidFill>
              </a:defRPr>
            </a:lvl1pPr>
            <a:lvl2pPr marL="184150" indent="-184150">
              <a:lnSpc>
                <a:spcPct val="113000"/>
              </a:lnSpc>
              <a:buClr>
                <a:schemeClr val="accent1"/>
              </a:buClr>
              <a:buSzPct val="125000"/>
              <a:buFont typeface="Arial" pitchFamily="34" charset="0"/>
              <a:buChar char="›"/>
              <a:defRPr sz="2400">
                <a:solidFill>
                  <a:schemeClr val="tx1"/>
                </a:solidFill>
              </a:defRPr>
            </a:lvl2pPr>
            <a:lvl3pPr marL="539750" indent="-177800">
              <a:lnSpc>
                <a:spcPct val="113000"/>
              </a:lnSpc>
              <a:buClr>
                <a:schemeClr val="accent1"/>
              </a:buClr>
              <a:buSzPct val="125000"/>
              <a:buFont typeface="Arial" pitchFamily="34" charset="0"/>
              <a:buChar char="›"/>
              <a:defRPr sz="2400">
                <a:solidFill>
                  <a:schemeClr val="tx1"/>
                </a:solidFill>
              </a:defRPr>
            </a:lvl3pPr>
            <a:lvl4pPr marL="895350" indent="-179388">
              <a:lnSpc>
                <a:spcPct val="113000"/>
              </a:lnSpc>
              <a:buClr>
                <a:schemeClr val="accent1"/>
              </a:buClr>
              <a:buSzPct val="125000"/>
              <a:buFont typeface="Arial" pitchFamily="34" charset="0"/>
              <a:buChar char="›"/>
              <a:defRPr sz="2400">
                <a:solidFill>
                  <a:schemeClr val="tx1"/>
                </a:solidFill>
              </a:defRPr>
            </a:lvl4pPr>
            <a:lvl5pPr marL="1257300" indent="-177800">
              <a:lnSpc>
                <a:spcPct val="113000"/>
              </a:lnSpc>
              <a:buClr>
                <a:schemeClr val="accent1"/>
              </a:buClr>
              <a:buSzPct val="125000"/>
              <a:buFont typeface="Arial" pitchFamily="34" charset="0"/>
              <a:buChar char="›"/>
              <a:defRPr sz="2400">
                <a:solidFill>
                  <a:schemeClr val="tx1"/>
                </a:solidFill>
              </a:defRPr>
            </a:lvl5pPr>
          </a:lstStyle>
          <a:p>
            <a:pPr lvl="0"/>
            <a:r>
              <a:rPr lang="en-US" noProof="0" smtClean="0"/>
              <a:t>Textmasterformate durch Klicken bearbeiten</a:t>
            </a:r>
          </a:p>
        </p:txBody>
      </p:sp>
      <p:sp>
        <p:nvSpPr>
          <p:cNvPr id="8" name="Titel 7"/>
          <p:cNvSpPr>
            <a:spLocks noGrp="1"/>
          </p:cNvSpPr>
          <p:nvPr>
            <p:ph type="title"/>
          </p:nvPr>
        </p:nvSpPr>
        <p:spPr>
          <a:xfrm>
            <a:off x="395288" y="2456892"/>
            <a:ext cx="8353425" cy="719137"/>
          </a:xfrm>
        </p:spPr>
        <p:txBody>
          <a:bodyPr/>
          <a:lstStyle>
            <a:lvl1pPr>
              <a:defRPr>
                <a:solidFill>
                  <a:schemeClr val="bg1"/>
                </a:solidFill>
              </a:defRPr>
            </a:lvl1pPr>
          </a:lstStyle>
          <a:p>
            <a:r>
              <a:rPr lang="de-DE" noProof="0" smtClean="0"/>
              <a:t>Titelmasterformat durch Klicken bearbeiten</a:t>
            </a:r>
            <a:endParaRPr lang="en-US" noProof="0"/>
          </a:p>
        </p:txBody>
      </p:sp>
      <p:sp>
        <p:nvSpPr>
          <p:cNvPr id="9" name="Datumsplatzhalter 8"/>
          <p:cNvSpPr>
            <a:spLocks noGrp="1"/>
          </p:cNvSpPr>
          <p:nvPr>
            <p:ph type="dt" sz="half" idx="10"/>
          </p:nvPr>
        </p:nvSpPr>
        <p:spPr/>
        <p:txBody>
          <a:bodyPr/>
          <a:lstStyle>
            <a:lvl1pPr>
              <a:defRPr>
                <a:solidFill>
                  <a:schemeClr val="tx1"/>
                </a:solidFill>
              </a:defRPr>
            </a:lvl1pPr>
          </a:lstStyle>
          <a:p>
            <a:fld id="{8B8A56C3-BECE-480A-867A-E0EECFE868EB}" type="datetime3">
              <a:rPr lang="en-US" noProof="0" smtClean="0"/>
              <a:pPr/>
              <a:t>9 February 2018</a:t>
            </a:fld>
            <a:endParaRPr lang="en-US" noProof="0"/>
          </a:p>
        </p:txBody>
      </p:sp>
      <p:sp>
        <p:nvSpPr>
          <p:cNvPr id="10" name="Foliennummernplatzhalter 9"/>
          <p:cNvSpPr>
            <a:spLocks noGrp="1"/>
          </p:cNvSpPr>
          <p:nvPr>
            <p:ph type="sldNum" sz="quarter" idx="11"/>
          </p:nvPr>
        </p:nvSpPr>
        <p:spPr/>
        <p:txBody>
          <a:bodyPr/>
          <a:lstStyle>
            <a:lvl1pPr>
              <a:defRPr>
                <a:solidFill>
                  <a:schemeClr val="tx1"/>
                </a:solidFill>
              </a:defRPr>
            </a:lvl1pPr>
          </a:lstStyle>
          <a:p>
            <a:fld id="{ADA48181-2C78-49CB-8C52-912A07842C2E}" type="slidenum">
              <a:rPr lang="en-US" noProof="0" smtClean="0"/>
              <a:pPr/>
              <a:t>‹#›</a:t>
            </a:fld>
            <a:endParaRPr lang="en-US" noProof="0"/>
          </a:p>
        </p:txBody>
      </p:sp>
      <p:sp>
        <p:nvSpPr>
          <p:cNvPr id="11" name="Fußzeilenplatzhalter 10"/>
          <p:cNvSpPr>
            <a:spLocks noGrp="1"/>
          </p:cNvSpPr>
          <p:nvPr>
            <p:ph type="ftr" sz="quarter" idx="12"/>
          </p:nvPr>
        </p:nvSpPr>
        <p:spPr/>
        <p:txBody>
          <a:bodyPr/>
          <a:lstStyle>
            <a:lvl1pPr>
              <a:defRPr>
                <a:solidFill>
                  <a:schemeClr val="tx1"/>
                </a:solidFill>
              </a:defRPr>
            </a:lvl1pPr>
          </a:lstStyle>
          <a:p>
            <a:r>
              <a:rPr lang="en-US" noProof="0" smtClean="0"/>
              <a:t>Author, © Continental AG</a:t>
            </a:r>
            <a:endParaRPr lang="en-US" noProof="0"/>
          </a:p>
        </p:txBody>
      </p:sp>
      <p:pic>
        <p:nvPicPr>
          <p:cNvPr id="15" name="Bild 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52412" y="6094965"/>
            <a:ext cx="1857600" cy="570154"/>
          </a:xfrm>
          <a:prstGeom prst="rect">
            <a:avLst/>
          </a:prstGeom>
          <a:noFill/>
          <a:ln>
            <a:noFill/>
          </a:ln>
        </p:spPr>
      </p:pic>
      <p:cxnSp>
        <p:nvCxnSpPr>
          <p:cNvPr id="13" name="Gerade Verbindung 12"/>
          <p:cNvCxnSpPr/>
          <p:nvPr userDrawn="1"/>
        </p:nvCxnSpPr>
        <p:spPr>
          <a:xfrm>
            <a:off x="395288" y="6044592"/>
            <a:ext cx="8353425" cy="0"/>
          </a:xfrm>
          <a:prstGeom prst="line">
            <a:avLst/>
          </a:prstGeom>
          <a:ln w="444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Box 23"/>
          <p:cNvSpPr txBox="1">
            <a:spLocks noChangeArrowheads="1"/>
          </p:cNvSpPr>
          <p:nvPr userDrawn="1">
            <p:custDataLst>
              <p:tags r:id="rId1"/>
            </p:custDataLst>
          </p:nvPr>
        </p:nvSpPr>
        <p:spPr bwMode="auto">
          <a:xfrm>
            <a:off x="3501406" y="6375515"/>
            <a:ext cx="2726779" cy="128114"/>
          </a:xfrm>
          <a:prstGeom prst="rect">
            <a:avLst/>
          </a:prstGeom>
          <a:noFill/>
          <a:ln w="9525">
            <a:noFill/>
            <a:miter lim="800000"/>
            <a:headEnd/>
            <a:tailEnd/>
          </a:ln>
          <a:effectLst/>
        </p:spPr>
        <p:txBody>
          <a:bodyPr lIns="0" tIns="0" rIns="0" bIns="0" anchor="t" anchorCtr="0"/>
          <a:lstStyle/>
          <a:p>
            <a:pPr algn="l" defTabSz="895888"/>
            <a:r>
              <a:rPr lang="en-US" sz="700" noProof="0" smtClean="0">
                <a:solidFill>
                  <a:schemeClr val="tx1"/>
                </a:solidFill>
                <a:latin typeface="+mn-lt"/>
              </a:rPr>
              <a:t>Confidential</a:t>
            </a:r>
            <a:endParaRPr lang="en-US" sz="700" noProof="0">
              <a:solidFill>
                <a:schemeClr val="tx1"/>
              </a:solidFill>
              <a:latin typeface="+mn-lt"/>
            </a:endParaRPr>
          </a:p>
        </p:txBody>
      </p:sp>
      <p:sp>
        <p:nvSpPr>
          <p:cNvPr id="16" name="Text Box 23"/>
          <p:cNvSpPr txBox="1">
            <a:spLocks noChangeArrowheads="1"/>
          </p:cNvSpPr>
          <p:nvPr userDrawn="1">
            <p:custDataLst>
              <p:tags r:id="rId2"/>
            </p:custDataLst>
          </p:nvPr>
        </p:nvSpPr>
        <p:spPr bwMode="auto">
          <a:xfrm>
            <a:off x="3501407" y="6237312"/>
            <a:ext cx="2726778" cy="137617"/>
          </a:xfrm>
          <a:prstGeom prst="rect">
            <a:avLst/>
          </a:prstGeom>
          <a:noFill/>
          <a:ln w="9525">
            <a:noFill/>
            <a:miter lim="800000"/>
            <a:headEnd/>
            <a:tailEnd/>
          </a:ln>
          <a:effectLst/>
        </p:spPr>
        <p:txBody>
          <a:bodyPr lIns="0" tIns="0" rIns="0" bIns="0" anchor="b"/>
          <a:lstStyle/>
          <a:p>
            <a:pPr algn="l" defTabSz="895888"/>
            <a:r>
              <a:rPr lang="en-US" sz="700" b="1" noProof="0" smtClean="0">
                <a:solidFill>
                  <a:schemeClr val="tx1"/>
                </a:solidFill>
                <a:latin typeface="+mn-lt"/>
              </a:rPr>
              <a:t>Space for Sender Information</a:t>
            </a:r>
            <a:endParaRPr lang="en-US" sz="700" b="1" noProof="0">
              <a:solidFill>
                <a:schemeClr val="tx1"/>
              </a:solidFill>
              <a:latin typeface="+mn-lt"/>
            </a:endParaRPr>
          </a:p>
        </p:txBody>
      </p:sp>
      <p:grpSp>
        <p:nvGrpSpPr>
          <p:cNvPr id="17" name="Gruppieren 16"/>
          <p:cNvGrpSpPr/>
          <p:nvPr userDrawn="1"/>
        </p:nvGrpSpPr>
        <p:grpSpPr>
          <a:xfrm>
            <a:off x="0" y="0"/>
            <a:ext cx="9144000" cy="6858000"/>
            <a:chOff x="0" y="0"/>
            <a:chExt cx="9144000" cy="6858000"/>
          </a:xfrm>
          <a:solidFill>
            <a:schemeClr val="bg1"/>
          </a:solidFill>
        </p:grpSpPr>
        <p:sp>
          <p:nvSpPr>
            <p:cNvPr id="18" name="Rechteck 17"/>
            <p:cNvSpPr/>
            <p:nvPr userDrawn="1"/>
          </p:nvSpPr>
          <p:spPr>
            <a:xfrm>
              <a:off x="0" y="0"/>
              <a:ext cx="179388" cy="6858000"/>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19" name="Rechteck 18"/>
            <p:cNvSpPr/>
            <p:nvPr userDrawn="1"/>
          </p:nvSpPr>
          <p:spPr>
            <a:xfrm>
              <a:off x="0" y="0"/>
              <a:ext cx="9144000" cy="188913"/>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20" name="Rechteck 19"/>
            <p:cNvSpPr/>
            <p:nvPr userDrawn="1"/>
          </p:nvSpPr>
          <p:spPr>
            <a:xfrm>
              <a:off x="0" y="6669088"/>
              <a:ext cx="9107488" cy="188912"/>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21" name="Rechteck 20"/>
            <p:cNvSpPr/>
            <p:nvPr userDrawn="1"/>
          </p:nvSpPr>
          <p:spPr>
            <a:xfrm>
              <a:off x="8964612" y="0"/>
              <a:ext cx="179387" cy="6858000"/>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grpSp>
    </p:spTree>
    <p:extLst>
      <p:ext uri="{BB962C8B-B14F-4D97-AF65-F5344CB8AC3E}">
        <p14:creationId xmlns:p14="http://schemas.microsoft.com/office/powerpoint/2010/main" val="2229844481"/>
      </p:ext>
    </p:extLst>
  </p:cSld>
  <p:clrMapOvr>
    <a:masterClrMapping/>
  </p:clrMapOvr>
  <p:transition>
    <p:fade/>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End (white)">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95288" y="3114488"/>
            <a:ext cx="8353425" cy="2762437"/>
          </a:xfrm>
        </p:spPr>
        <p:txBody>
          <a:bodyPr>
            <a:noAutofit/>
          </a:bodyPr>
          <a:lstStyle>
            <a:lvl1pPr marL="0" indent="0">
              <a:lnSpc>
                <a:spcPct val="113000"/>
              </a:lnSpc>
              <a:buSzPct val="125000"/>
              <a:buFont typeface="Arial" pitchFamily="34" charset="0"/>
              <a:buNone/>
              <a:defRPr sz="2400">
                <a:solidFill>
                  <a:schemeClr val="tx1"/>
                </a:solidFill>
              </a:defRPr>
            </a:lvl1pPr>
            <a:lvl2pPr marL="184150" indent="-184150">
              <a:lnSpc>
                <a:spcPct val="113000"/>
              </a:lnSpc>
              <a:buClr>
                <a:schemeClr val="accent1"/>
              </a:buClr>
              <a:buSzPct val="125000"/>
              <a:buFont typeface="Arial" pitchFamily="34" charset="0"/>
              <a:buChar char="›"/>
              <a:defRPr sz="2400">
                <a:solidFill>
                  <a:schemeClr val="tx1"/>
                </a:solidFill>
              </a:defRPr>
            </a:lvl2pPr>
            <a:lvl3pPr marL="539750" indent="-177800">
              <a:lnSpc>
                <a:spcPct val="113000"/>
              </a:lnSpc>
              <a:buClr>
                <a:schemeClr val="accent1"/>
              </a:buClr>
              <a:buSzPct val="125000"/>
              <a:buFont typeface="Arial" pitchFamily="34" charset="0"/>
              <a:buChar char="›"/>
              <a:defRPr sz="2400">
                <a:solidFill>
                  <a:schemeClr val="tx1"/>
                </a:solidFill>
              </a:defRPr>
            </a:lvl3pPr>
            <a:lvl4pPr marL="895350" indent="-179388">
              <a:lnSpc>
                <a:spcPct val="113000"/>
              </a:lnSpc>
              <a:buClr>
                <a:schemeClr val="accent1"/>
              </a:buClr>
              <a:buSzPct val="125000"/>
              <a:buFont typeface="Arial" pitchFamily="34" charset="0"/>
              <a:buChar char="›"/>
              <a:defRPr sz="2400">
                <a:solidFill>
                  <a:schemeClr val="tx1"/>
                </a:solidFill>
              </a:defRPr>
            </a:lvl4pPr>
            <a:lvl5pPr marL="1257300" indent="-177800">
              <a:lnSpc>
                <a:spcPct val="113000"/>
              </a:lnSpc>
              <a:buClr>
                <a:schemeClr val="accent1"/>
              </a:buClr>
              <a:buSzPct val="125000"/>
              <a:buFont typeface="Arial" pitchFamily="34" charset="0"/>
              <a:buChar char="›"/>
              <a:defRPr sz="2400">
                <a:solidFill>
                  <a:schemeClr val="tx1"/>
                </a:solidFill>
              </a:defRPr>
            </a:lvl5pPr>
          </a:lstStyle>
          <a:p>
            <a:pPr lvl="0"/>
            <a:r>
              <a:rPr lang="en-US" noProof="0" smtClean="0"/>
              <a:t>Textmasterformate durch Klicken bearbeiten</a:t>
            </a:r>
          </a:p>
        </p:txBody>
      </p:sp>
      <p:sp>
        <p:nvSpPr>
          <p:cNvPr id="8" name="Titel 7"/>
          <p:cNvSpPr>
            <a:spLocks noGrp="1"/>
          </p:cNvSpPr>
          <p:nvPr>
            <p:ph type="title"/>
          </p:nvPr>
        </p:nvSpPr>
        <p:spPr>
          <a:xfrm>
            <a:off x="395288" y="2456892"/>
            <a:ext cx="8353425" cy="719137"/>
          </a:xfrm>
        </p:spPr>
        <p:txBody>
          <a:bodyPr/>
          <a:lstStyle>
            <a:lvl1pPr>
              <a:defRPr>
                <a:solidFill>
                  <a:schemeClr val="accent1"/>
                </a:solidFill>
              </a:defRPr>
            </a:lvl1pPr>
          </a:lstStyle>
          <a:p>
            <a:r>
              <a:rPr lang="de-DE" noProof="0" smtClean="0"/>
              <a:t>Titelmasterformat durch Klicken bearbeiten</a:t>
            </a:r>
            <a:endParaRPr lang="en-US" noProof="0"/>
          </a:p>
        </p:txBody>
      </p:sp>
      <p:sp>
        <p:nvSpPr>
          <p:cNvPr id="9" name="Datumsplatzhalter 8"/>
          <p:cNvSpPr>
            <a:spLocks noGrp="1"/>
          </p:cNvSpPr>
          <p:nvPr>
            <p:ph type="dt" sz="half" idx="10"/>
          </p:nvPr>
        </p:nvSpPr>
        <p:spPr/>
        <p:txBody>
          <a:bodyPr/>
          <a:lstStyle>
            <a:lvl1pPr>
              <a:defRPr>
                <a:solidFill>
                  <a:schemeClr val="tx1"/>
                </a:solidFill>
              </a:defRPr>
            </a:lvl1pPr>
          </a:lstStyle>
          <a:p>
            <a:fld id="{010F3D0A-07C8-47D7-A4F0-C3B4D82D7BAF}" type="datetime3">
              <a:rPr lang="en-US" noProof="0" smtClean="0"/>
              <a:pPr/>
              <a:t>9 February 2018</a:t>
            </a:fld>
            <a:endParaRPr lang="en-US" noProof="0"/>
          </a:p>
        </p:txBody>
      </p:sp>
      <p:sp>
        <p:nvSpPr>
          <p:cNvPr id="10" name="Foliennummernplatzhalter 9"/>
          <p:cNvSpPr>
            <a:spLocks noGrp="1"/>
          </p:cNvSpPr>
          <p:nvPr>
            <p:ph type="sldNum" sz="quarter" idx="11"/>
          </p:nvPr>
        </p:nvSpPr>
        <p:spPr/>
        <p:txBody>
          <a:bodyPr/>
          <a:lstStyle>
            <a:lvl1pPr>
              <a:defRPr>
                <a:solidFill>
                  <a:schemeClr val="tx1"/>
                </a:solidFill>
              </a:defRPr>
            </a:lvl1pPr>
          </a:lstStyle>
          <a:p>
            <a:fld id="{ADA48181-2C78-49CB-8C52-912A07842C2E}" type="slidenum">
              <a:rPr lang="en-US" noProof="0" smtClean="0"/>
              <a:pPr/>
              <a:t>‹#›</a:t>
            </a:fld>
            <a:endParaRPr lang="en-US" noProof="0"/>
          </a:p>
        </p:txBody>
      </p:sp>
      <p:sp>
        <p:nvSpPr>
          <p:cNvPr id="11" name="Fußzeilenplatzhalter 10"/>
          <p:cNvSpPr>
            <a:spLocks noGrp="1"/>
          </p:cNvSpPr>
          <p:nvPr>
            <p:ph type="ftr" sz="quarter" idx="12"/>
          </p:nvPr>
        </p:nvSpPr>
        <p:spPr/>
        <p:txBody>
          <a:bodyPr/>
          <a:lstStyle>
            <a:lvl1pPr>
              <a:defRPr>
                <a:solidFill>
                  <a:schemeClr val="tx1"/>
                </a:solidFill>
              </a:defRPr>
            </a:lvl1pPr>
          </a:lstStyle>
          <a:p>
            <a:r>
              <a:rPr lang="en-US" noProof="0" smtClean="0"/>
              <a:t>Author, © Continental AG</a:t>
            </a:r>
            <a:endParaRPr lang="en-US" noProof="0"/>
          </a:p>
        </p:txBody>
      </p:sp>
      <p:grpSp>
        <p:nvGrpSpPr>
          <p:cNvPr id="13" name="Gruppieren 12"/>
          <p:cNvGrpSpPr/>
          <p:nvPr userDrawn="1"/>
        </p:nvGrpSpPr>
        <p:grpSpPr>
          <a:xfrm>
            <a:off x="0" y="0"/>
            <a:ext cx="9144000" cy="6858000"/>
            <a:chOff x="0" y="0"/>
            <a:chExt cx="9144000" cy="6858000"/>
          </a:xfrm>
          <a:solidFill>
            <a:schemeClr val="bg1"/>
          </a:solidFill>
        </p:grpSpPr>
        <p:sp>
          <p:nvSpPr>
            <p:cNvPr id="14" name="Rechteck 13"/>
            <p:cNvSpPr/>
            <p:nvPr userDrawn="1"/>
          </p:nvSpPr>
          <p:spPr>
            <a:xfrm>
              <a:off x="0" y="0"/>
              <a:ext cx="179388" cy="6858000"/>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15" name="Rechteck 14"/>
            <p:cNvSpPr/>
            <p:nvPr userDrawn="1"/>
          </p:nvSpPr>
          <p:spPr>
            <a:xfrm>
              <a:off x="0" y="0"/>
              <a:ext cx="9144000" cy="188913"/>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16" name="Rechteck 15"/>
            <p:cNvSpPr/>
            <p:nvPr userDrawn="1"/>
          </p:nvSpPr>
          <p:spPr>
            <a:xfrm>
              <a:off x="0" y="6669088"/>
              <a:ext cx="9107488" cy="188912"/>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17" name="Rechteck 16"/>
            <p:cNvSpPr/>
            <p:nvPr userDrawn="1"/>
          </p:nvSpPr>
          <p:spPr>
            <a:xfrm>
              <a:off x="8964612" y="0"/>
              <a:ext cx="179387" cy="6858000"/>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grpSp>
    </p:spTree>
    <p:extLst>
      <p:ext uri="{BB962C8B-B14F-4D97-AF65-F5344CB8AC3E}">
        <p14:creationId xmlns:p14="http://schemas.microsoft.com/office/powerpoint/2010/main" val="1416911951"/>
      </p:ext>
    </p:extLst>
  </p:cSld>
  <p:clrMapOvr>
    <a:masterClrMapping/>
  </p:clrMapOvr>
  <p:transition>
    <p:fade/>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End (black)">
    <p:bg>
      <p:bgPr>
        <a:solidFill>
          <a:schemeClr val="tx1"/>
        </a:solidFill>
        <a:effectLst/>
      </p:bgPr>
    </p:bg>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95288" y="3114488"/>
            <a:ext cx="8353425" cy="2762437"/>
          </a:xfrm>
        </p:spPr>
        <p:txBody>
          <a:bodyPr>
            <a:noAutofit/>
          </a:bodyPr>
          <a:lstStyle>
            <a:lvl1pPr marL="0" indent="0">
              <a:lnSpc>
                <a:spcPct val="113000"/>
              </a:lnSpc>
              <a:buSzPct val="125000"/>
              <a:buFont typeface="Arial" pitchFamily="34" charset="0"/>
              <a:buNone/>
              <a:defRPr sz="2400">
                <a:solidFill>
                  <a:schemeClr val="bg1"/>
                </a:solidFill>
              </a:defRPr>
            </a:lvl1pPr>
            <a:lvl2pPr marL="184150" indent="-184150">
              <a:lnSpc>
                <a:spcPct val="113000"/>
              </a:lnSpc>
              <a:buClr>
                <a:schemeClr val="accent1"/>
              </a:buClr>
              <a:buSzPct val="125000"/>
              <a:buFont typeface="Arial" pitchFamily="34" charset="0"/>
              <a:buChar char="›"/>
              <a:defRPr sz="2400">
                <a:solidFill>
                  <a:schemeClr val="tx1"/>
                </a:solidFill>
              </a:defRPr>
            </a:lvl2pPr>
            <a:lvl3pPr marL="539750" indent="-177800">
              <a:lnSpc>
                <a:spcPct val="113000"/>
              </a:lnSpc>
              <a:buClr>
                <a:schemeClr val="accent1"/>
              </a:buClr>
              <a:buSzPct val="125000"/>
              <a:buFont typeface="Arial" pitchFamily="34" charset="0"/>
              <a:buChar char="›"/>
              <a:defRPr sz="2400">
                <a:solidFill>
                  <a:schemeClr val="tx1"/>
                </a:solidFill>
              </a:defRPr>
            </a:lvl3pPr>
            <a:lvl4pPr marL="895350" indent="-179388">
              <a:lnSpc>
                <a:spcPct val="113000"/>
              </a:lnSpc>
              <a:buClr>
                <a:schemeClr val="accent1"/>
              </a:buClr>
              <a:buSzPct val="125000"/>
              <a:buFont typeface="Arial" pitchFamily="34" charset="0"/>
              <a:buChar char="›"/>
              <a:defRPr sz="2400">
                <a:solidFill>
                  <a:schemeClr val="tx1"/>
                </a:solidFill>
              </a:defRPr>
            </a:lvl4pPr>
            <a:lvl5pPr marL="1257300" indent="-177800">
              <a:lnSpc>
                <a:spcPct val="113000"/>
              </a:lnSpc>
              <a:buClr>
                <a:schemeClr val="accent1"/>
              </a:buClr>
              <a:buSzPct val="125000"/>
              <a:buFont typeface="Arial" pitchFamily="34" charset="0"/>
              <a:buChar char="›"/>
              <a:defRPr sz="2400">
                <a:solidFill>
                  <a:schemeClr val="tx1"/>
                </a:solidFill>
              </a:defRPr>
            </a:lvl5pPr>
          </a:lstStyle>
          <a:p>
            <a:pPr lvl="0"/>
            <a:r>
              <a:rPr lang="en-US" noProof="0" smtClean="0"/>
              <a:t>Textmasterformate durch Klicken bearbeiten</a:t>
            </a:r>
          </a:p>
        </p:txBody>
      </p:sp>
      <p:sp>
        <p:nvSpPr>
          <p:cNvPr id="8" name="Titel 7"/>
          <p:cNvSpPr>
            <a:spLocks noGrp="1"/>
          </p:cNvSpPr>
          <p:nvPr>
            <p:ph type="title"/>
          </p:nvPr>
        </p:nvSpPr>
        <p:spPr>
          <a:xfrm>
            <a:off x="395288" y="2456892"/>
            <a:ext cx="8353425" cy="719137"/>
          </a:xfrm>
        </p:spPr>
        <p:txBody>
          <a:bodyPr/>
          <a:lstStyle>
            <a:lvl1pPr>
              <a:defRPr>
                <a:solidFill>
                  <a:schemeClr val="accent1"/>
                </a:solidFill>
              </a:defRPr>
            </a:lvl1pPr>
          </a:lstStyle>
          <a:p>
            <a:r>
              <a:rPr lang="de-DE" noProof="0" smtClean="0"/>
              <a:t>Titelmasterformat durch Klicken bearbeiten</a:t>
            </a:r>
            <a:endParaRPr lang="en-US" noProof="0"/>
          </a:p>
        </p:txBody>
      </p:sp>
      <p:sp>
        <p:nvSpPr>
          <p:cNvPr id="9" name="Datumsplatzhalter 8"/>
          <p:cNvSpPr>
            <a:spLocks noGrp="1"/>
          </p:cNvSpPr>
          <p:nvPr>
            <p:ph type="dt" sz="half" idx="10"/>
          </p:nvPr>
        </p:nvSpPr>
        <p:spPr/>
        <p:txBody>
          <a:bodyPr/>
          <a:lstStyle>
            <a:lvl1pPr>
              <a:defRPr>
                <a:solidFill>
                  <a:schemeClr val="bg1"/>
                </a:solidFill>
              </a:defRPr>
            </a:lvl1pPr>
          </a:lstStyle>
          <a:p>
            <a:fld id="{87296541-F995-4EE2-B425-B080F77F2E11}" type="datetime3">
              <a:rPr lang="en-US" noProof="0" smtClean="0"/>
              <a:pPr/>
              <a:t>9 February 2018</a:t>
            </a:fld>
            <a:endParaRPr lang="en-US" noProof="0"/>
          </a:p>
        </p:txBody>
      </p:sp>
      <p:sp>
        <p:nvSpPr>
          <p:cNvPr id="10" name="Foliennummernplatzhalter 9"/>
          <p:cNvSpPr>
            <a:spLocks noGrp="1"/>
          </p:cNvSpPr>
          <p:nvPr>
            <p:ph type="sldNum" sz="quarter" idx="11"/>
          </p:nvPr>
        </p:nvSpPr>
        <p:spPr/>
        <p:txBody>
          <a:bodyPr/>
          <a:lstStyle>
            <a:lvl1pPr>
              <a:defRPr>
                <a:solidFill>
                  <a:schemeClr val="bg1"/>
                </a:solidFill>
              </a:defRPr>
            </a:lvl1pPr>
          </a:lstStyle>
          <a:p>
            <a:fld id="{ADA48181-2C78-49CB-8C52-912A07842C2E}" type="slidenum">
              <a:rPr lang="en-US" noProof="0" smtClean="0"/>
              <a:pPr/>
              <a:t>‹#›</a:t>
            </a:fld>
            <a:endParaRPr lang="en-US" noProof="0"/>
          </a:p>
        </p:txBody>
      </p:sp>
      <p:sp>
        <p:nvSpPr>
          <p:cNvPr id="11" name="Fußzeilenplatzhalter 10"/>
          <p:cNvSpPr>
            <a:spLocks noGrp="1"/>
          </p:cNvSpPr>
          <p:nvPr>
            <p:ph type="ftr" sz="quarter" idx="12"/>
          </p:nvPr>
        </p:nvSpPr>
        <p:spPr/>
        <p:txBody>
          <a:bodyPr/>
          <a:lstStyle>
            <a:lvl1pPr>
              <a:defRPr>
                <a:solidFill>
                  <a:schemeClr val="bg1"/>
                </a:solidFill>
              </a:defRPr>
            </a:lvl1pPr>
          </a:lstStyle>
          <a:p>
            <a:r>
              <a:rPr lang="en-US" noProof="0" smtClean="0"/>
              <a:t>Author, © Continental AG</a:t>
            </a:r>
            <a:endParaRPr lang="en-US" noProof="0"/>
          </a:p>
        </p:txBody>
      </p:sp>
      <p:cxnSp>
        <p:nvCxnSpPr>
          <p:cNvPr id="13" name="Gerade Verbindung 12"/>
          <p:cNvCxnSpPr/>
          <p:nvPr userDrawn="1"/>
        </p:nvCxnSpPr>
        <p:spPr>
          <a:xfrm>
            <a:off x="395288" y="6044592"/>
            <a:ext cx="8353425" cy="0"/>
          </a:xfrm>
          <a:prstGeom prst="line">
            <a:avLst/>
          </a:prstGeom>
          <a:ln w="4445">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 Box 23"/>
          <p:cNvSpPr txBox="1">
            <a:spLocks noChangeArrowheads="1"/>
          </p:cNvSpPr>
          <p:nvPr userDrawn="1">
            <p:custDataLst>
              <p:tags r:id="rId1"/>
            </p:custDataLst>
          </p:nvPr>
        </p:nvSpPr>
        <p:spPr bwMode="auto">
          <a:xfrm>
            <a:off x="3501406" y="6375515"/>
            <a:ext cx="2726779" cy="128114"/>
          </a:xfrm>
          <a:prstGeom prst="rect">
            <a:avLst/>
          </a:prstGeom>
          <a:noFill/>
          <a:ln w="9525">
            <a:noFill/>
            <a:miter lim="800000"/>
            <a:headEnd/>
            <a:tailEnd/>
          </a:ln>
          <a:effectLst/>
        </p:spPr>
        <p:txBody>
          <a:bodyPr lIns="0" tIns="0" rIns="0" bIns="0" anchor="t" anchorCtr="0"/>
          <a:lstStyle/>
          <a:p>
            <a:pPr algn="l" defTabSz="895888"/>
            <a:r>
              <a:rPr lang="en-US" sz="700" noProof="0" smtClean="0">
                <a:solidFill>
                  <a:schemeClr val="bg1"/>
                </a:solidFill>
                <a:latin typeface="+mn-lt"/>
              </a:rPr>
              <a:t>Confidential</a:t>
            </a:r>
            <a:endParaRPr lang="en-US" sz="700" noProof="0">
              <a:solidFill>
                <a:schemeClr val="bg1"/>
              </a:solidFill>
              <a:latin typeface="+mn-lt"/>
            </a:endParaRPr>
          </a:p>
        </p:txBody>
      </p:sp>
      <p:sp>
        <p:nvSpPr>
          <p:cNvPr id="16" name="Text Box 23"/>
          <p:cNvSpPr txBox="1">
            <a:spLocks noChangeArrowheads="1"/>
          </p:cNvSpPr>
          <p:nvPr userDrawn="1">
            <p:custDataLst>
              <p:tags r:id="rId2"/>
            </p:custDataLst>
          </p:nvPr>
        </p:nvSpPr>
        <p:spPr bwMode="auto">
          <a:xfrm>
            <a:off x="3501407" y="6237312"/>
            <a:ext cx="2726778" cy="137617"/>
          </a:xfrm>
          <a:prstGeom prst="rect">
            <a:avLst/>
          </a:prstGeom>
          <a:noFill/>
          <a:ln w="9525">
            <a:noFill/>
            <a:miter lim="800000"/>
            <a:headEnd/>
            <a:tailEnd/>
          </a:ln>
          <a:effectLst/>
        </p:spPr>
        <p:txBody>
          <a:bodyPr lIns="0" tIns="0" rIns="0" bIns="0" anchor="b"/>
          <a:lstStyle/>
          <a:p>
            <a:pPr algn="l" defTabSz="895888"/>
            <a:r>
              <a:rPr lang="en-US" sz="700" b="1" noProof="0" smtClean="0">
                <a:solidFill>
                  <a:schemeClr val="bg1"/>
                </a:solidFill>
                <a:latin typeface="+mn-lt"/>
              </a:rPr>
              <a:t>Space for Sender Information</a:t>
            </a:r>
            <a:endParaRPr lang="en-US" sz="700" b="1" noProof="0">
              <a:solidFill>
                <a:schemeClr val="bg1"/>
              </a:solidFill>
              <a:latin typeface="+mn-lt"/>
            </a:endParaRPr>
          </a:p>
        </p:txBody>
      </p:sp>
      <p:pic>
        <p:nvPicPr>
          <p:cNvPr id="17" name="Bild 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bwMode="black">
          <a:xfrm>
            <a:off x="252637" y="6095032"/>
            <a:ext cx="1857375" cy="570087"/>
          </a:xfrm>
          <a:prstGeom prst="rect">
            <a:avLst/>
          </a:prstGeom>
          <a:noFill/>
          <a:ln>
            <a:noFill/>
          </a:ln>
        </p:spPr>
      </p:pic>
      <p:grpSp>
        <p:nvGrpSpPr>
          <p:cNvPr id="15" name="Gruppieren 14"/>
          <p:cNvGrpSpPr/>
          <p:nvPr userDrawn="1"/>
        </p:nvGrpSpPr>
        <p:grpSpPr>
          <a:xfrm>
            <a:off x="0" y="0"/>
            <a:ext cx="9144000" cy="6858000"/>
            <a:chOff x="0" y="0"/>
            <a:chExt cx="9144000" cy="6858000"/>
          </a:xfrm>
          <a:solidFill>
            <a:schemeClr val="bg1"/>
          </a:solidFill>
        </p:grpSpPr>
        <p:sp>
          <p:nvSpPr>
            <p:cNvPr id="18" name="Rechteck 17"/>
            <p:cNvSpPr/>
            <p:nvPr userDrawn="1"/>
          </p:nvSpPr>
          <p:spPr>
            <a:xfrm>
              <a:off x="0" y="0"/>
              <a:ext cx="179388" cy="6858000"/>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19" name="Rechteck 18"/>
            <p:cNvSpPr/>
            <p:nvPr userDrawn="1"/>
          </p:nvSpPr>
          <p:spPr>
            <a:xfrm>
              <a:off x="0" y="0"/>
              <a:ext cx="9144000" cy="188913"/>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20" name="Rechteck 19"/>
            <p:cNvSpPr/>
            <p:nvPr userDrawn="1"/>
          </p:nvSpPr>
          <p:spPr>
            <a:xfrm>
              <a:off x="0" y="6669088"/>
              <a:ext cx="9107488" cy="188912"/>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21" name="Rechteck 20"/>
            <p:cNvSpPr/>
            <p:nvPr userDrawn="1"/>
          </p:nvSpPr>
          <p:spPr>
            <a:xfrm>
              <a:off x="8964612" y="0"/>
              <a:ext cx="179387" cy="6858000"/>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grpSp>
    </p:spTree>
    <p:extLst>
      <p:ext uri="{BB962C8B-B14F-4D97-AF65-F5344CB8AC3E}">
        <p14:creationId xmlns:p14="http://schemas.microsoft.com/office/powerpoint/2010/main" val="3974988766"/>
      </p:ext>
    </p:extLst>
  </p:cSld>
  <p:clrMapOvr>
    <a:masterClrMapping/>
  </p:clrMapOvr>
  <p:transition>
    <p:fade/>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IO_EK=2375;MIO_UPDATE=True;MIO_VERSION=30.11.2012 11:40:17;MIO_DBID=ED9FF2F2-6643-46BA-B685-7D49126FFAFF">
    <p:bg>
      <p:bgRef idx="1001">
        <a:schemeClr val="bg1"/>
      </p:bgRef>
    </p:bg>
    <p:spTree>
      <p:nvGrpSpPr>
        <p:cNvPr id="1" name=""/>
        <p:cNvGrpSpPr/>
        <p:nvPr/>
      </p:nvGrpSpPr>
      <p:grpSpPr>
        <a:xfrm>
          <a:off x="0" y="0"/>
          <a:ext cx="0" cy="0"/>
          <a:chOff x="0" y="0"/>
          <a:chExt cx="0" cy="0"/>
        </a:xfrm>
      </p:grpSpPr>
      <p:cxnSp>
        <p:nvCxnSpPr>
          <p:cNvPr id="13" name="Gerade Verbindung 12"/>
          <p:cNvCxnSpPr/>
          <p:nvPr/>
        </p:nvCxnSpPr>
        <p:spPr>
          <a:xfrm>
            <a:off x="395288" y="6044592"/>
            <a:ext cx="8353425" cy="0"/>
          </a:xfrm>
          <a:prstGeom prst="line">
            <a:avLst/>
          </a:prstGeom>
          <a:ln w="4445">
            <a:solidFill>
              <a:schemeClr val="tx1"/>
            </a:solidFill>
          </a:ln>
        </p:spPr>
        <p:style>
          <a:lnRef idx="1">
            <a:schemeClr val="accent1"/>
          </a:lnRef>
          <a:fillRef idx="0">
            <a:schemeClr val="accent1"/>
          </a:fillRef>
          <a:effectRef idx="0">
            <a:schemeClr val="accent1"/>
          </a:effectRef>
          <a:fontRef idx="minor">
            <a:schemeClr val="tx1"/>
          </a:fontRef>
        </p:style>
      </p:cxnSp>
      <p:pic>
        <p:nvPicPr>
          <p:cNvPr id="14" name="Bild 4"/>
          <p:cNvPicPr>
            <a:picLocks noChangeAspect="1"/>
          </p:cNvPicPr>
          <p:nvPr/>
        </p:nvPicPr>
        <p:blipFill>
          <a:blip r:embed="rId24">
            <a:extLst>
              <a:ext uri="{28A0092B-C50C-407E-A947-70E740481C1C}">
                <a14:useLocalDpi xmlns:a14="http://schemas.microsoft.com/office/drawing/2010/main" val="0"/>
              </a:ext>
            </a:extLst>
          </a:blip>
          <a:stretch>
            <a:fillRect/>
          </a:stretch>
        </p:blipFill>
        <p:spPr bwMode="black">
          <a:xfrm>
            <a:off x="252637" y="6095032"/>
            <a:ext cx="1857375" cy="570087"/>
          </a:xfrm>
          <a:prstGeom prst="rect">
            <a:avLst/>
          </a:prstGeom>
          <a:noFill/>
          <a:ln>
            <a:noFill/>
          </a:ln>
        </p:spPr>
      </p:pic>
      <p:sp>
        <p:nvSpPr>
          <p:cNvPr id="2" name="Titelplatzhalter 1"/>
          <p:cNvSpPr>
            <a:spLocks noGrp="1"/>
          </p:cNvSpPr>
          <p:nvPr>
            <p:ph type="title"/>
          </p:nvPr>
        </p:nvSpPr>
        <p:spPr>
          <a:xfrm>
            <a:off x="395288" y="296862"/>
            <a:ext cx="8353425" cy="719137"/>
          </a:xfrm>
          <a:prstGeom prst="rect">
            <a:avLst/>
          </a:prstGeom>
        </p:spPr>
        <p:txBody>
          <a:bodyPr vert="horz" lIns="0" tIns="0" rIns="91440" bIns="0" rtlCol="0" anchor="b" anchorCtr="0">
            <a:normAutofit/>
          </a:bodyPr>
          <a:lstStyle/>
          <a:p>
            <a:r>
              <a:rPr lang="en-US" noProof="0" smtClean="0"/>
              <a:t>Titelmasterformat durch Klicken bearbeiten</a:t>
            </a:r>
            <a:endParaRPr lang="en-US" noProof="0"/>
          </a:p>
        </p:txBody>
      </p:sp>
      <p:sp>
        <p:nvSpPr>
          <p:cNvPr id="3" name="Textplatzhalter 2"/>
          <p:cNvSpPr>
            <a:spLocks noGrp="1"/>
          </p:cNvSpPr>
          <p:nvPr>
            <p:ph type="body" idx="1"/>
          </p:nvPr>
        </p:nvSpPr>
        <p:spPr>
          <a:xfrm>
            <a:off x="395288" y="1341438"/>
            <a:ext cx="8353425" cy="4535487"/>
          </a:xfrm>
          <a:prstGeom prst="rect">
            <a:avLst/>
          </a:prstGeom>
        </p:spPr>
        <p:txBody>
          <a:bodyPr vert="horz" lIns="0" tIns="18000" rIns="0" bIns="18000" rtlCol="0">
            <a:normAutofit/>
          </a:bodyPr>
          <a:lstStyle/>
          <a:p>
            <a:pPr lvl="0"/>
            <a:r>
              <a:rPr lang="en-US" noProof="0" smtClean="0"/>
              <a:t>Textmasterformate durch Klicken bearbeiten</a:t>
            </a:r>
          </a:p>
          <a:p>
            <a:pPr lvl="1"/>
            <a:r>
              <a:rPr lang="en-US" noProof="0" smtClean="0"/>
              <a:t>Zweite Ebene</a:t>
            </a:r>
          </a:p>
          <a:p>
            <a:pPr lvl="2"/>
            <a:r>
              <a:rPr lang="en-US" noProof="0" smtClean="0"/>
              <a:t>Dritte Ebene</a:t>
            </a:r>
          </a:p>
          <a:p>
            <a:pPr lvl="3"/>
            <a:r>
              <a:rPr lang="en-US" noProof="0" smtClean="0"/>
              <a:t>Vierte Ebene</a:t>
            </a:r>
          </a:p>
          <a:p>
            <a:pPr lvl="4"/>
            <a:r>
              <a:rPr lang="en-US" noProof="0" smtClean="0"/>
              <a:t>Fünfte Ebene</a:t>
            </a:r>
            <a:endParaRPr lang="en-US" noProof="0"/>
          </a:p>
        </p:txBody>
      </p:sp>
      <p:sp>
        <p:nvSpPr>
          <p:cNvPr id="24" name="Datumsplatzhalter 23"/>
          <p:cNvSpPr>
            <a:spLocks noGrp="1"/>
          </p:cNvSpPr>
          <p:nvPr>
            <p:ph type="dt" sz="half" idx="2"/>
          </p:nvPr>
        </p:nvSpPr>
        <p:spPr>
          <a:xfrm>
            <a:off x="6350484" y="6224489"/>
            <a:ext cx="2001935" cy="150440"/>
          </a:xfrm>
          <a:prstGeom prst="rect">
            <a:avLst/>
          </a:prstGeom>
        </p:spPr>
        <p:txBody>
          <a:bodyPr vert="horz" wrap="none" lIns="0" tIns="0" rIns="0" bIns="0" rtlCol="0" anchor="b" anchorCtr="0"/>
          <a:lstStyle>
            <a:lvl1pPr algn="l">
              <a:defRPr sz="700">
                <a:solidFill>
                  <a:schemeClr val="tx1"/>
                </a:solidFill>
                <a:latin typeface="+mn-lt"/>
              </a:defRPr>
            </a:lvl1pPr>
          </a:lstStyle>
          <a:p>
            <a:fld id="{DD0B995C-0DC4-4194-BBD7-8C3812C84D11}" type="datetime3">
              <a:rPr lang="en-US" noProof="0" smtClean="0"/>
              <a:pPr/>
              <a:t>9 February 2018</a:t>
            </a:fld>
            <a:endParaRPr lang="en-US" noProof="0"/>
          </a:p>
        </p:txBody>
      </p:sp>
      <p:sp>
        <p:nvSpPr>
          <p:cNvPr id="25" name="Fußzeilenplatzhalter 24"/>
          <p:cNvSpPr>
            <a:spLocks noGrp="1"/>
          </p:cNvSpPr>
          <p:nvPr>
            <p:ph type="ftr" sz="quarter" idx="3"/>
          </p:nvPr>
        </p:nvSpPr>
        <p:spPr>
          <a:xfrm>
            <a:off x="6350485" y="6375515"/>
            <a:ext cx="2001935" cy="150440"/>
          </a:xfrm>
          <a:prstGeom prst="rect">
            <a:avLst/>
          </a:prstGeom>
        </p:spPr>
        <p:txBody>
          <a:bodyPr vert="horz" wrap="none" lIns="0" tIns="0" rIns="0" bIns="0" rtlCol="0" anchor="t" anchorCtr="0"/>
          <a:lstStyle>
            <a:lvl1pPr algn="l">
              <a:defRPr sz="700">
                <a:solidFill>
                  <a:schemeClr val="tx1"/>
                </a:solidFill>
                <a:latin typeface="+mn-lt"/>
              </a:defRPr>
            </a:lvl1pPr>
          </a:lstStyle>
          <a:p>
            <a:r>
              <a:rPr lang="en-US" dirty="0" smtClean="0"/>
              <a:t>Mr. </a:t>
            </a:r>
            <a:r>
              <a:rPr lang="en-US" dirty="0" err="1" smtClean="0"/>
              <a:t>Ganesh</a:t>
            </a:r>
            <a:r>
              <a:rPr lang="en-US" dirty="0" smtClean="0"/>
              <a:t> </a:t>
            </a:r>
            <a:r>
              <a:rPr lang="en-US" dirty="0" err="1" smtClean="0"/>
              <a:t>Rao</a:t>
            </a:r>
            <a:r>
              <a:rPr lang="en-US" dirty="0" smtClean="0"/>
              <a:t>, © Continental AG</a:t>
            </a:r>
            <a:endParaRPr lang="en-US" dirty="0"/>
          </a:p>
        </p:txBody>
      </p:sp>
      <p:sp>
        <p:nvSpPr>
          <p:cNvPr id="26" name="Foliennummernplatzhalter 25"/>
          <p:cNvSpPr>
            <a:spLocks noGrp="1"/>
          </p:cNvSpPr>
          <p:nvPr>
            <p:ph type="sldNum" sz="quarter" idx="4"/>
          </p:nvPr>
        </p:nvSpPr>
        <p:spPr>
          <a:xfrm>
            <a:off x="8388424" y="6375515"/>
            <a:ext cx="360289" cy="150440"/>
          </a:xfrm>
          <a:prstGeom prst="rect">
            <a:avLst/>
          </a:prstGeom>
        </p:spPr>
        <p:txBody>
          <a:bodyPr vert="horz" wrap="none" lIns="0" tIns="0" rIns="0" bIns="0" rtlCol="0" anchor="t" anchorCtr="0"/>
          <a:lstStyle>
            <a:lvl1pPr algn="r">
              <a:defRPr sz="700" b="1">
                <a:solidFill>
                  <a:schemeClr val="tx1"/>
                </a:solidFill>
                <a:latin typeface="+mn-lt"/>
              </a:defRPr>
            </a:lvl1pPr>
          </a:lstStyle>
          <a:p>
            <a:fld id="{ADA48181-2C78-49CB-8C52-912A07842C2E}" type="slidenum">
              <a:rPr lang="en-US" noProof="0" smtClean="0"/>
              <a:pPr/>
              <a:t>‹#›</a:t>
            </a:fld>
            <a:endParaRPr lang="en-US" noProof="0"/>
          </a:p>
        </p:txBody>
      </p:sp>
      <p:sp>
        <p:nvSpPr>
          <p:cNvPr id="11" name="Text Box 23"/>
          <p:cNvSpPr txBox="1">
            <a:spLocks noChangeArrowheads="1"/>
          </p:cNvSpPr>
          <p:nvPr>
            <p:custDataLst>
              <p:tags r:id="rId21"/>
            </p:custDataLst>
          </p:nvPr>
        </p:nvSpPr>
        <p:spPr bwMode="auto">
          <a:xfrm>
            <a:off x="3501406" y="6375515"/>
            <a:ext cx="2726779" cy="128114"/>
          </a:xfrm>
          <a:prstGeom prst="rect">
            <a:avLst/>
          </a:prstGeom>
          <a:noFill/>
          <a:ln w="9525">
            <a:noFill/>
            <a:miter lim="800000"/>
            <a:headEnd/>
            <a:tailEnd/>
          </a:ln>
          <a:effectLst/>
        </p:spPr>
        <p:txBody>
          <a:bodyPr lIns="0" tIns="0" rIns="0" bIns="0" anchor="t" anchorCtr="0"/>
          <a:lstStyle/>
          <a:p>
            <a:pPr algn="l" defTabSz="895888"/>
            <a:r>
              <a:rPr lang="en-US" sz="700" noProof="0" smtClean="0">
                <a:solidFill>
                  <a:schemeClr val="tx1"/>
                </a:solidFill>
                <a:latin typeface="+mn-lt"/>
              </a:rPr>
              <a:t>Confidential</a:t>
            </a:r>
            <a:endParaRPr lang="en-US" sz="700" noProof="0">
              <a:solidFill>
                <a:schemeClr val="tx1"/>
              </a:solidFill>
              <a:latin typeface="+mn-lt"/>
            </a:endParaRPr>
          </a:p>
        </p:txBody>
      </p:sp>
      <p:sp>
        <p:nvSpPr>
          <p:cNvPr id="12" name="Text Box 23"/>
          <p:cNvSpPr txBox="1">
            <a:spLocks noChangeArrowheads="1"/>
          </p:cNvSpPr>
          <p:nvPr>
            <p:custDataLst>
              <p:tags r:id="rId22"/>
            </p:custDataLst>
          </p:nvPr>
        </p:nvSpPr>
        <p:spPr bwMode="auto">
          <a:xfrm>
            <a:off x="3501407" y="6237312"/>
            <a:ext cx="2726778" cy="137617"/>
          </a:xfrm>
          <a:prstGeom prst="rect">
            <a:avLst/>
          </a:prstGeom>
          <a:noFill/>
          <a:ln w="9525">
            <a:noFill/>
            <a:miter lim="800000"/>
            <a:headEnd/>
            <a:tailEnd/>
          </a:ln>
          <a:effectLst/>
        </p:spPr>
        <p:txBody>
          <a:bodyPr lIns="0" tIns="0" rIns="0" bIns="0" anchor="b"/>
          <a:lstStyle/>
          <a:p>
            <a:pPr algn="l" defTabSz="895888"/>
            <a:r>
              <a:rPr lang="en-US" sz="700" b="1" noProof="0" dirty="0" smtClean="0">
                <a:solidFill>
                  <a:schemeClr val="tx1"/>
                </a:solidFill>
                <a:latin typeface="+mn-lt"/>
              </a:rPr>
              <a:t>BU ADAS</a:t>
            </a:r>
            <a:endParaRPr lang="en-US" sz="700" b="1" noProof="0" dirty="0">
              <a:solidFill>
                <a:schemeClr val="tx1"/>
              </a:solidFill>
              <a:latin typeface="+mn-lt"/>
            </a:endParaRPr>
          </a:p>
        </p:txBody>
      </p:sp>
      <p:sp>
        <p:nvSpPr>
          <p:cNvPr id="4" name="Ellipse 3" hidden="1"/>
          <p:cNvSpPr/>
          <p:nvPr>
            <p:custDataLst>
              <p:tags r:id="rId23"/>
            </p:custDataLst>
          </p:nvPr>
        </p:nvSpPr>
        <p:spPr>
          <a:xfrm>
            <a:off x="-1270000" y="-1270000"/>
            <a:ext cx="0" cy="0"/>
          </a:xfrm>
          <a:prstGeom prst="ellipse">
            <a:avLst/>
          </a:prstGeom>
          <a:solidFill>
            <a:schemeClr val="accent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sz="1600" dirty="0" err="1" smtClean="0">
              <a:solidFill>
                <a:schemeClr val="bg2">
                  <a:lumMod val="10000"/>
                </a:schemeClr>
              </a:solidFill>
            </a:endParaRPr>
          </a:p>
        </p:txBody>
      </p:sp>
    </p:spTree>
    <p:extLst>
      <p:ext uri="{BB962C8B-B14F-4D97-AF65-F5344CB8AC3E}">
        <p14:creationId xmlns:p14="http://schemas.microsoft.com/office/powerpoint/2010/main" val="839108957"/>
      </p:ext>
    </p:extLst>
  </p:cSld>
  <p:clrMap bg1="lt1" tx1="dk1" bg2="lt2" tx2="dk2" accent1="accent1" accent2="accent2" accent3="accent3" accent4="accent4" accent5="accent5" accent6="accent6" hlink="hlink" folHlink="folHlink"/>
  <p:sldLayoutIdLst>
    <p:sldLayoutId id="2147483669" r:id="rId1"/>
    <p:sldLayoutId id="2147483650" r:id="rId2"/>
    <p:sldLayoutId id="2147483649" r:id="rId3"/>
    <p:sldLayoutId id="2147483670" r:id="rId4"/>
    <p:sldLayoutId id="2147483661" r:id="rId5"/>
    <p:sldLayoutId id="2147483659" r:id="rId6"/>
    <p:sldLayoutId id="2147483660" r:id="rId7"/>
    <p:sldLayoutId id="2147483651" r:id="rId8"/>
    <p:sldLayoutId id="2147483652" r:id="rId9"/>
    <p:sldLayoutId id="2147483653" r:id="rId10"/>
    <p:sldLayoutId id="2147483654" r:id="rId11"/>
    <p:sldLayoutId id="2147483655" r:id="rId12"/>
    <p:sldLayoutId id="2147483656" r:id="rId13"/>
    <p:sldLayoutId id="2147483657" r:id="rId14"/>
    <p:sldLayoutId id="2147483658" r:id="rId15"/>
    <p:sldLayoutId id="2147483666" r:id="rId16"/>
    <p:sldLayoutId id="2147483667" r:id="rId17"/>
    <p:sldLayoutId id="2147483668" r:id="rId18"/>
    <p:sldLayoutId id="2147483671" r:id="rId19"/>
  </p:sldLayoutIdLst>
  <p:transition>
    <p:fade/>
  </p:transition>
  <p:timing>
    <p:tnLst>
      <p:par>
        <p:cTn id="1" dur="indefinite" restart="never" nodeType="tmRoot"/>
      </p:par>
    </p:tnLst>
  </p:timing>
  <p:hf hdr="0"/>
  <p:txStyles>
    <p:titleStyle>
      <a:lvl1pPr algn="l" defTabSz="914400" rtl="0" eaLnBrk="1" latinLnBrk="0" hangingPunct="1">
        <a:lnSpc>
          <a:spcPct val="95000"/>
        </a:lnSpc>
        <a:spcBef>
          <a:spcPct val="0"/>
        </a:spcBef>
        <a:buNone/>
        <a:defRPr sz="2400" b="1" kern="1200">
          <a:solidFill>
            <a:schemeClr val="accent1"/>
          </a:solidFill>
          <a:latin typeface="+mj-lt"/>
          <a:ea typeface="+mj-ea"/>
          <a:cs typeface="Arial" pitchFamily="34" charset="0"/>
        </a:defRPr>
      </a:lvl1pPr>
    </p:titleStyle>
    <p:bodyStyle>
      <a:lvl1pPr marL="177800" indent="-177800" algn="l" defTabSz="914400" rtl="0" eaLnBrk="1" latinLnBrk="0" hangingPunct="1">
        <a:lnSpc>
          <a:spcPct val="100000"/>
        </a:lnSpc>
        <a:spcBef>
          <a:spcPts val="0"/>
        </a:spcBef>
        <a:spcAft>
          <a:spcPts val="1200"/>
        </a:spcAft>
        <a:buClr>
          <a:schemeClr val="accent1"/>
        </a:buClr>
        <a:buSzPct val="125000"/>
        <a:buFont typeface="Arial" pitchFamily="34" charset="0"/>
        <a:buChar char="›"/>
        <a:defRPr sz="1600" b="0" kern="1200">
          <a:solidFill>
            <a:schemeClr val="tx1"/>
          </a:solidFill>
          <a:latin typeface="+mn-lt"/>
          <a:ea typeface="+mn-ea"/>
          <a:cs typeface="Arial" pitchFamily="34" charset="0"/>
        </a:defRPr>
      </a:lvl1pPr>
      <a:lvl2pPr marL="541338" indent="-184150" algn="l" defTabSz="914400" rtl="0" eaLnBrk="1" latinLnBrk="0" hangingPunct="1">
        <a:lnSpc>
          <a:spcPct val="100000"/>
        </a:lnSpc>
        <a:spcBef>
          <a:spcPts val="0"/>
        </a:spcBef>
        <a:spcAft>
          <a:spcPts val="1200"/>
        </a:spcAft>
        <a:buClr>
          <a:schemeClr val="accent1"/>
        </a:buClr>
        <a:buSzPct val="125000"/>
        <a:buFont typeface="Arial" pitchFamily="34" charset="0"/>
        <a:buChar char="›"/>
        <a:defRPr sz="1600" b="0" kern="1200">
          <a:solidFill>
            <a:schemeClr val="tx1"/>
          </a:solidFill>
          <a:latin typeface="+mn-lt"/>
          <a:ea typeface="+mn-ea"/>
          <a:cs typeface="Arial" pitchFamily="34" charset="0"/>
        </a:defRPr>
      </a:lvl2pPr>
      <a:lvl3pPr marL="896938" indent="-177800" algn="l" defTabSz="914400" rtl="0" eaLnBrk="1" latinLnBrk="0" hangingPunct="1">
        <a:lnSpc>
          <a:spcPct val="100000"/>
        </a:lnSpc>
        <a:spcBef>
          <a:spcPts val="0"/>
        </a:spcBef>
        <a:spcAft>
          <a:spcPts val="1200"/>
        </a:spcAft>
        <a:buClr>
          <a:schemeClr val="accent1"/>
        </a:buClr>
        <a:buSzPct val="125000"/>
        <a:buFont typeface="Arial" pitchFamily="34" charset="0"/>
        <a:buChar char="›"/>
        <a:defRPr sz="1600" b="0" kern="1200">
          <a:solidFill>
            <a:schemeClr val="tx1"/>
          </a:solidFill>
          <a:latin typeface="+mn-lt"/>
          <a:ea typeface="+mn-ea"/>
          <a:cs typeface="Arial" pitchFamily="34" charset="0"/>
        </a:defRPr>
      </a:lvl3pPr>
      <a:lvl4pPr marL="1254125" indent="-179388" algn="l" defTabSz="914400" rtl="0" eaLnBrk="1" latinLnBrk="0" hangingPunct="1">
        <a:lnSpc>
          <a:spcPct val="100000"/>
        </a:lnSpc>
        <a:spcBef>
          <a:spcPts val="0"/>
        </a:spcBef>
        <a:spcAft>
          <a:spcPts val="1200"/>
        </a:spcAft>
        <a:buClr>
          <a:schemeClr val="accent1"/>
        </a:buClr>
        <a:buSzPct val="125000"/>
        <a:buFont typeface="Arial" pitchFamily="34" charset="0"/>
        <a:buChar char="›"/>
        <a:defRPr sz="1600" b="0" kern="1200">
          <a:solidFill>
            <a:schemeClr val="tx1"/>
          </a:solidFill>
          <a:latin typeface="+mn-lt"/>
          <a:ea typeface="+mn-ea"/>
          <a:cs typeface="Arial" pitchFamily="34" charset="0"/>
        </a:defRPr>
      </a:lvl4pPr>
      <a:lvl5pPr marL="1616075" indent="-177800" algn="l" defTabSz="914400" rtl="0" eaLnBrk="1" latinLnBrk="0" hangingPunct="1">
        <a:lnSpc>
          <a:spcPct val="100000"/>
        </a:lnSpc>
        <a:spcBef>
          <a:spcPts val="0"/>
        </a:spcBef>
        <a:spcAft>
          <a:spcPts val="1200"/>
        </a:spcAft>
        <a:buClr>
          <a:schemeClr val="accent1"/>
        </a:buClr>
        <a:buSzPct val="125000"/>
        <a:buFont typeface="Arial" pitchFamily="34" charset="0"/>
        <a:buChar char="›"/>
        <a:defRPr sz="1600" b="0" kern="1200">
          <a:solidFill>
            <a:schemeClr val="tx1"/>
          </a:solidFill>
          <a:latin typeface="+mn-lt"/>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8.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oleObject" Target="../embeddings/Microsoft_Excel_97-2003_Worksheet1.xls"/><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9.wmf"/></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4.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5.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6.wmf"/></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25.wmf"/></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36.wmf"/></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37.wmf"/><Relationship Id="rId4" Type="http://schemas.openxmlformats.org/officeDocument/2006/relationships/package" Target="../embeddings/Microsoft_Excel_Worksheet2.xlsx"/></Relationships>
</file>

<file path=ppt/slides/_rels/slide33.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image" Target="../media/image43.png"/><Relationship Id="rId7" Type="http://schemas.openxmlformats.org/officeDocument/2006/relationships/oleObject" Target="../embeddings/oleObject7.bin"/><Relationship Id="rId12" Type="http://schemas.openxmlformats.org/officeDocument/2006/relationships/image" Target="../media/image42.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39.wmf"/><Relationship Id="rId11" Type="http://schemas.openxmlformats.org/officeDocument/2006/relationships/oleObject" Target="../embeddings/oleObject9.bin"/><Relationship Id="rId5" Type="http://schemas.openxmlformats.org/officeDocument/2006/relationships/oleObject" Target="../embeddings/oleObject6.bin"/><Relationship Id="rId10" Type="http://schemas.openxmlformats.org/officeDocument/2006/relationships/image" Target="../media/image41.wmf"/><Relationship Id="rId4" Type="http://schemas.openxmlformats.org/officeDocument/2006/relationships/image" Target="../media/image44.png"/><Relationship Id="rId9" Type="http://schemas.openxmlformats.org/officeDocument/2006/relationships/oleObject" Target="../embeddings/oleObject8.bin"/></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9.xml"/><Relationship Id="rId4" Type="http://schemas.openxmlformats.org/officeDocument/2006/relationships/image" Target="../media/image57.png"/></Relationships>
</file>

<file path=ppt/slides/_rels/slide4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19.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4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9.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4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9.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4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19.xml"/><Relationship Id="rId4" Type="http://schemas.openxmlformats.org/officeDocument/2006/relationships/image" Target="../media/image77.png"/></Relationships>
</file>

<file path=ppt/slides/_rels/slide4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9.xml"/><Relationship Id="rId4" Type="http://schemas.openxmlformats.org/officeDocument/2006/relationships/image" Target="../media/image80.png"/></Relationships>
</file>

<file path=ppt/slides/_rels/slide48.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openxmlformats.org/officeDocument/2006/relationships/slideLayout" Target="../slideLayouts/slideLayout19.xml"/><Relationship Id="rId1" Type="http://schemas.openxmlformats.org/officeDocument/2006/relationships/vmlDrawing" Target="../drawings/vmlDrawing10.vml"/><Relationship Id="rId4" Type="http://schemas.openxmlformats.org/officeDocument/2006/relationships/image" Target="../media/image81.w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3" Type="http://schemas.openxmlformats.org/officeDocument/2006/relationships/image" Target="../media/image84.emf"/><Relationship Id="rId2" Type="http://schemas.openxmlformats.org/officeDocument/2006/relationships/image" Target="../media/image83.emf"/><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2" Type="http://schemas.openxmlformats.org/officeDocument/2006/relationships/image" Target="../media/image87.emf"/><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19.xml"/></Relationships>
</file>

<file path=ppt/slides/_rels/slide59.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19.xml"/><Relationship Id="rId4" Type="http://schemas.openxmlformats.org/officeDocument/2006/relationships/image" Target="../media/image93.png"/></Relationships>
</file>

<file path=ppt/slides/_rels/slide60.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19.xml"/><Relationship Id="rId5" Type="http://schemas.openxmlformats.org/officeDocument/2006/relationships/image" Target="../media/image97.png"/><Relationship Id="rId4" Type="http://schemas.openxmlformats.org/officeDocument/2006/relationships/image" Target="../media/image96.png"/></Relationships>
</file>

<file path=ppt/slides/_rels/slide6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19.xml"/><Relationship Id="rId5" Type="http://schemas.openxmlformats.org/officeDocument/2006/relationships/image" Target="../media/image97.png"/><Relationship Id="rId4" Type="http://schemas.openxmlformats.org/officeDocument/2006/relationships/image" Target="../media/image96.png"/></Relationships>
</file>

<file path=ppt/slides/_rels/slide6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19.xml"/><Relationship Id="rId4" Type="http://schemas.openxmlformats.org/officeDocument/2006/relationships/image" Target="../media/image10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4.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19.xml"/><Relationship Id="rId4" Type="http://schemas.openxmlformats.org/officeDocument/2006/relationships/image" Target="../media/image103.png"/></Relationships>
</file>

<file path=ppt/slides/_rels/slide65.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19.xml"/></Relationships>
</file>

<file path=ppt/slides/_rels/slide66.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8.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19.xml"/><Relationship Id="rId4" Type="http://schemas.openxmlformats.org/officeDocument/2006/relationships/image" Target="../media/image108.png"/></Relationships>
</file>

<file path=ppt/slides/_rels/slide6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19.xml"/><Relationship Id="rId5" Type="http://schemas.openxmlformats.org/officeDocument/2006/relationships/image" Target="../media/image112.png"/><Relationship Id="rId4" Type="http://schemas.openxmlformats.org/officeDocument/2006/relationships/image" Target="../media/image11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1.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19.xml"/></Relationships>
</file>

<file path=ppt/slides/_rels/slide72.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9.xml"/></Relationships>
</file>

<file path=ppt/slides/_rels/slide73.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1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6.xml.rels><?xml version="1.0" encoding="UTF-8" standalone="yes"?>
<Relationships xmlns="http://schemas.openxmlformats.org/package/2006/relationships"><Relationship Id="rId3" Type="http://schemas.openxmlformats.org/officeDocument/2006/relationships/image" Target="../media/image117.png"/><Relationship Id="rId7" Type="http://schemas.openxmlformats.org/officeDocument/2006/relationships/image" Target="../media/image121.png"/><Relationship Id="rId2" Type="http://schemas.openxmlformats.org/officeDocument/2006/relationships/image" Target="../media/image116.png"/><Relationship Id="rId1" Type="http://schemas.openxmlformats.org/officeDocument/2006/relationships/slideLayout" Target="../slideLayouts/slideLayout19.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s>
</file>

<file path=ppt/slides/_rels/slide77.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1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platzhalter 7"/>
          <p:cNvSpPr>
            <a:spLocks noGrp="1"/>
          </p:cNvSpPr>
          <p:nvPr>
            <p:ph type="body" sz="quarter" idx="12"/>
          </p:nvPr>
        </p:nvSpPr>
        <p:spPr/>
        <p:txBody>
          <a:bodyPr/>
          <a:lstStyle/>
          <a:p>
            <a:endParaRPr lang="de-DE" dirty="0"/>
          </a:p>
        </p:txBody>
      </p:sp>
      <p:sp>
        <p:nvSpPr>
          <p:cNvPr id="13" name="Textplatzhalter 9"/>
          <p:cNvSpPr>
            <a:spLocks noGrp="1"/>
          </p:cNvSpPr>
          <p:nvPr>
            <p:ph type="body" sz="quarter" idx="11"/>
          </p:nvPr>
        </p:nvSpPr>
        <p:spPr>
          <a:xfrm>
            <a:off x="504315" y="6021288"/>
            <a:ext cx="5075797" cy="368813"/>
          </a:xfrm>
        </p:spPr>
        <p:txBody>
          <a:bodyPr>
            <a:normAutofit/>
          </a:bodyPr>
          <a:lstStyle/>
          <a:p>
            <a:pPr algn="l"/>
            <a:r>
              <a:rPr lang="en-US" sz="800" noProof="0" dirty="0" smtClean="0"/>
              <a:t>Chassis &amp; Safety | Advanced Driver Assistance Systems</a:t>
            </a:r>
            <a:endParaRPr lang="en-US" sz="800" noProof="0" dirty="0"/>
          </a:p>
        </p:txBody>
      </p:sp>
      <p:pic>
        <p:nvPicPr>
          <p:cNvPr id="14" name="Picture 11" descr="SensePlanAct.png"/>
          <p:cNvPicPr>
            <a:picLocks noChangeAspect="1"/>
          </p:cNvPicPr>
          <p:nvPr/>
        </p:nvPicPr>
        <p:blipFill>
          <a:blip r:embed="rId2"/>
          <a:stretch>
            <a:fillRect/>
          </a:stretch>
        </p:blipFill>
        <p:spPr>
          <a:xfrm>
            <a:off x="7185390" y="6163017"/>
            <a:ext cx="1189181" cy="280800"/>
          </a:xfrm>
          <a:prstGeom prst="rect">
            <a:avLst/>
          </a:prstGeom>
        </p:spPr>
      </p:pic>
      <p:pic>
        <p:nvPicPr>
          <p:cNvPr id="10" name="Grafik 9" descr="conti_senseplanact_Poster_xs_v25.png"/>
          <p:cNvPicPr>
            <a:picLocks noChangeAspect="1"/>
          </p:cNvPicPr>
          <p:nvPr/>
        </p:nvPicPr>
        <p:blipFill>
          <a:blip r:embed="rId3">
            <a:duotone>
              <a:schemeClr val="accent1">
                <a:shade val="45000"/>
                <a:satMod val="135000"/>
              </a:schemeClr>
              <a:prstClr val="white"/>
            </a:duotone>
          </a:blip>
          <a:stretch>
            <a:fillRect/>
          </a:stretch>
        </p:blipFill>
        <p:spPr>
          <a:xfrm>
            <a:off x="198562" y="5733256"/>
            <a:ext cx="8748000" cy="567370"/>
          </a:xfrm>
          <a:prstGeom prst="rect">
            <a:avLst/>
          </a:prstGeom>
        </p:spPr>
      </p:pic>
      <p:sp>
        <p:nvSpPr>
          <p:cNvPr id="9" name="Title 1"/>
          <p:cNvSpPr>
            <a:spLocks noGrp="1"/>
          </p:cNvSpPr>
          <p:nvPr>
            <p:ph type="ctrTitle"/>
          </p:nvPr>
        </p:nvSpPr>
        <p:spPr>
          <a:xfrm>
            <a:off x="503548" y="3839314"/>
            <a:ext cx="8172140" cy="418502"/>
          </a:xfrm>
        </p:spPr>
        <p:txBody>
          <a:bodyPr/>
          <a:lstStyle/>
          <a:p>
            <a:r>
              <a:rPr lang="en-US" dirty="0" smtClean="0"/>
              <a:t>VDY Component</a:t>
            </a:r>
            <a:endParaRPr lang="de-DE" dirty="0"/>
          </a:p>
        </p:txBody>
      </p:sp>
    </p:spTree>
    <p:extLst>
      <p:ext uri="{BB962C8B-B14F-4D97-AF65-F5344CB8AC3E}">
        <p14:creationId xmlns:p14="http://schemas.microsoft.com/office/powerpoint/2010/main" val="2263366998"/>
      </p:ext>
    </p:extLst>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95288" y="1011814"/>
            <a:ext cx="8353425" cy="4535487"/>
          </a:xfrm>
        </p:spPr>
        <p:txBody>
          <a:bodyPr>
            <a:normAutofit/>
          </a:bodyPr>
          <a:lstStyle/>
          <a:p>
            <a:pPr marL="342900" indent="-342900">
              <a:buAutoNum type="arabicPeriod"/>
            </a:pPr>
            <a:r>
              <a:rPr lang="en-IN" dirty="0" smtClean="0"/>
              <a:t>Estimate vehicle dynamic signals like Longitudinal velocity , Long Accel, Yaw rate and Lateral Accel by Offset compensation, Filtering and Plausibilization.</a:t>
            </a:r>
          </a:p>
          <a:p>
            <a:pPr marL="342900" indent="-342900"/>
            <a:endParaRPr lang="en-IN" dirty="0" smtClean="0"/>
          </a:p>
          <a:p>
            <a:pPr marL="342900" indent="-342900">
              <a:buAutoNum type="arabicPeriod" startAt="2"/>
            </a:pPr>
            <a:r>
              <a:rPr lang="en-IN" dirty="0" smtClean="0"/>
              <a:t>Vehicle path prediction by providing Curvature estimation &amp; Motion State detection</a:t>
            </a:r>
          </a:p>
          <a:p>
            <a:pPr marL="342900" indent="-342900">
              <a:buAutoNum type="arabicPeriod" startAt="2"/>
            </a:pPr>
            <a:endParaRPr lang="en-IN" dirty="0" smtClean="0"/>
          </a:p>
          <a:p>
            <a:pPr marL="342900" indent="-342900">
              <a:buAutoNum type="arabicPeriod" startAt="2"/>
            </a:pPr>
            <a:r>
              <a:rPr lang="en-IN" dirty="0" smtClean="0"/>
              <a:t>Set the DEMs/Errors in case of </a:t>
            </a:r>
          </a:p>
          <a:p>
            <a:pPr marL="342900" indent="-342900">
              <a:buNone/>
            </a:pPr>
            <a:r>
              <a:rPr lang="en-IN" dirty="0" smtClean="0"/>
              <a:t>		a. Invalid inputs</a:t>
            </a:r>
          </a:p>
          <a:p>
            <a:pPr marL="342900" indent="-342900">
              <a:buNone/>
            </a:pPr>
            <a:r>
              <a:rPr lang="en-IN" dirty="0" smtClean="0"/>
              <a:t>		b. Estimated signal / Variance is crossing threshold</a:t>
            </a:r>
          </a:p>
          <a:p>
            <a:pPr marL="342900" indent="-342900">
              <a:buNone/>
            </a:pPr>
            <a:r>
              <a:rPr lang="en-IN" dirty="0" smtClean="0"/>
              <a:t>                c. Input parameters out of range</a:t>
            </a:r>
          </a:p>
          <a:p>
            <a:pPr marL="342900" indent="-342900">
              <a:buNone/>
            </a:pPr>
            <a:r>
              <a:rPr lang="en-IN" dirty="0" smtClean="0"/>
              <a:t>                d. Input signals out of range</a:t>
            </a:r>
          </a:p>
          <a:p>
            <a:pPr marL="342900" indent="-342900">
              <a:buNone/>
            </a:pPr>
            <a:r>
              <a:rPr lang="en-IN" dirty="0" smtClean="0"/>
              <a:t>                e. NVM data out of range</a:t>
            </a:r>
          </a:p>
          <a:p>
            <a:endParaRPr lang="en-US" dirty="0"/>
          </a:p>
        </p:txBody>
      </p:sp>
      <p:sp>
        <p:nvSpPr>
          <p:cNvPr id="3" name="Title 2"/>
          <p:cNvSpPr>
            <a:spLocks noGrp="1"/>
          </p:cNvSpPr>
          <p:nvPr>
            <p:ph type="title"/>
          </p:nvPr>
        </p:nvSpPr>
        <p:spPr/>
        <p:txBody>
          <a:bodyPr/>
          <a:lstStyle/>
          <a:p>
            <a:r>
              <a:rPr lang="en-US" dirty="0" smtClean="0"/>
              <a:t>Objective : </a:t>
            </a:r>
            <a:br>
              <a:rPr lang="en-US" dirty="0" smtClean="0"/>
            </a:b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2</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65918" y="98498"/>
            <a:ext cx="8353425" cy="719137"/>
          </a:xfrm>
        </p:spPr>
        <p:txBody>
          <a:bodyPr/>
          <a:lstStyle/>
          <a:p>
            <a:r>
              <a:rPr lang="en-US" dirty="0" smtClean="0"/>
              <a:t>VDY I/Os</a:t>
            </a:r>
            <a:endParaRPr lang="en-US" dirty="0"/>
          </a:p>
        </p:txBody>
      </p:sp>
      <p:sp>
        <p:nvSpPr>
          <p:cNvPr id="4" name="Date Placeholder 3"/>
          <p:cNvSpPr>
            <a:spLocks noGrp="1"/>
          </p:cNvSpPr>
          <p:nvPr>
            <p:ph type="dt" sz="half" idx="10"/>
          </p:nvPr>
        </p:nvSpPr>
        <p:spPr>
          <a:xfrm>
            <a:off x="6350484" y="6107526"/>
            <a:ext cx="2001935" cy="150440"/>
          </a:xfrm>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a:xfrm>
            <a:off x="8388424" y="6258552"/>
            <a:ext cx="360289" cy="150440"/>
          </a:xfrm>
        </p:spPr>
        <p:txBody>
          <a:bodyPr/>
          <a:lstStyle/>
          <a:p>
            <a:fld id="{ADA48181-2C78-49CB-8C52-912A07842C2E}" type="slidenum">
              <a:rPr lang="en-US" noProof="0" smtClean="0"/>
              <a:pPr/>
              <a:t>3</a:t>
            </a:fld>
            <a:endParaRPr lang="en-US" noProof="0"/>
          </a:p>
        </p:txBody>
      </p:sp>
      <p:sp>
        <p:nvSpPr>
          <p:cNvPr id="6" name="Footer Placeholder 5"/>
          <p:cNvSpPr>
            <a:spLocks noGrp="1"/>
          </p:cNvSpPr>
          <p:nvPr>
            <p:ph type="ftr" sz="quarter" idx="12"/>
          </p:nvPr>
        </p:nvSpPr>
        <p:spPr>
          <a:xfrm>
            <a:off x="6350485" y="6258552"/>
            <a:ext cx="2001935" cy="150440"/>
          </a:xfrm>
        </p:spPr>
        <p:txBody>
          <a:bodyPr/>
          <a:lstStyle/>
          <a:p>
            <a:r>
              <a:rPr lang="en-US" noProof="0" smtClean="0"/>
              <a:t>Author, © Continental AG</a:t>
            </a:r>
            <a:endParaRPr lang="en-US" noProof="0"/>
          </a:p>
        </p:txBody>
      </p:sp>
      <p:grpSp>
        <p:nvGrpSpPr>
          <p:cNvPr id="7" name="Group 6"/>
          <p:cNvGrpSpPr/>
          <p:nvPr/>
        </p:nvGrpSpPr>
        <p:grpSpPr>
          <a:xfrm>
            <a:off x="1992482" y="789499"/>
            <a:ext cx="5258535" cy="1664732"/>
            <a:chOff x="1233268" y="1524000"/>
            <a:chExt cx="5258535" cy="1664732"/>
          </a:xfrm>
        </p:grpSpPr>
        <p:sp>
          <p:nvSpPr>
            <p:cNvPr id="8" name="Right Arrow 7"/>
            <p:cNvSpPr/>
            <p:nvPr/>
          </p:nvSpPr>
          <p:spPr>
            <a:xfrm>
              <a:off x="2223868" y="1842868"/>
              <a:ext cx="990600" cy="304800"/>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1233268" y="1552136"/>
              <a:ext cx="917624" cy="923330"/>
            </a:xfrm>
            <a:prstGeom prst="rect">
              <a:avLst/>
            </a:prstGeom>
            <a:noFill/>
          </p:spPr>
          <p:txBody>
            <a:bodyPr wrap="none" rtlCol="0">
              <a:spAutoFit/>
            </a:bodyPr>
            <a:lstStyle/>
            <a:p>
              <a:r>
                <a:rPr lang="en-IN" b="1" dirty="0" smtClean="0"/>
                <a:t>Inputs</a:t>
              </a:r>
            </a:p>
            <a:p>
              <a:r>
                <a:rPr lang="en-IN" b="1" dirty="0" smtClean="0"/>
                <a:t>From  </a:t>
              </a:r>
            </a:p>
            <a:p>
              <a:r>
                <a:rPr lang="en-IN" b="1" dirty="0" smtClean="0"/>
                <a:t>Sensors</a:t>
              </a:r>
              <a:endParaRPr lang="en-IN" b="1" dirty="0"/>
            </a:p>
          </p:txBody>
        </p:sp>
        <p:sp>
          <p:nvSpPr>
            <p:cNvPr id="10" name="TextBox 9"/>
            <p:cNvSpPr txBox="1"/>
            <p:nvPr/>
          </p:nvSpPr>
          <p:spPr>
            <a:xfrm>
              <a:off x="3234396" y="1656472"/>
              <a:ext cx="1116011" cy="646331"/>
            </a:xfrm>
            <a:prstGeom prst="rect">
              <a:avLst/>
            </a:prstGeom>
            <a:solidFill>
              <a:srgbClr val="00B0F0"/>
            </a:solidFill>
          </p:spPr>
          <p:txBody>
            <a:bodyPr wrap="none" rtlCol="0">
              <a:spAutoFit/>
            </a:bodyPr>
            <a:lstStyle/>
            <a:p>
              <a:r>
                <a:rPr lang="en-IN" dirty="0" smtClean="0"/>
                <a:t>     VDY</a:t>
              </a:r>
            </a:p>
            <a:p>
              <a:r>
                <a:rPr lang="en-IN" dirty="0" smtClean="0"/>
                <a:t>Algorithm</a:t>
              </a:r>
              <a:endParaRPr lang="en-IN" dirty="0"/>
            </a:p>
          </p:txBody>
        </p:sp>
        <p:sp>
          <p:nvSpPr>
            <p:cNvPr id="11" name="TextBox 10"/>
            <p:cNvSpPr txBox="1"/>
            <p:nvPr/>
          </p:nvSpPr>
          <p:spPr>
            <a:xfrm>
              <a:off x="3124200" y="2819400"/>
              <a:ext cx="1272336" cy="369332"/>
            </a:xfrm>
            <a:prstGeom prst="rect">
              <a:avLst/>
            </a:prstGeom>
            <a:noFill/>
          </p:spPr>
          <p:txBody>
            <a:bodyPr wrap="none" rtlCol="0">
              <a:spAutoFit/>
            </a:bodyPr>
            <a:lstStyle/>
            <a:p>
              <a:r>
                <a:rPr lang="en-IN" b="1" dirty="0" smtClean="0"/>
                <a:t>Parameters</a:t>
              </a:r>
              <a:endParaRPr lang="en-IN" b="1" dirty="0"/>
            </a:p>
          </p:txBody>
        </p:sp>
        <p:sp>
          <p:nvSpPr>
            <p:cNvPr id="12" name="TextBox 11"/>
            <p:cNvSpPr txBox="1"/>
            <p:nvPr/>
          </p:nvSpPr>
          <p:spPr>
            <a:xfrm>
              <a:off x="5486400" y="1524000"/>
              <a:ext cx="1005403" cy="923330"/>
            </a:xfrm>
            <a:prstGeom prst="rect">
              <a:avLst/>
            </a:prstGeom>
            <a:noFill/>
          </p:spPr>
          <p:txBody>
            <a:bodyPr wrap="none" rtlCol="0">
              <a:spAutoFit/>
            </a:bodyPr>
            <a:lstStyle/>
            <a:p>
              <a:r>
                <a:rPr lang="en-IN" b="1" dirty="0" smtClean="0"/>
                <a:t>Outputs</a:t>
              </a:r>
            </a:p>
            <a:p>
              <a:r>
                <a:rPr lang="en-IN" b="1" dirty="0" smtClean="0"/>
                <a:t>to other</a:t>
              </a:r>
            </a:p>
            <a:p>
              <a:r>
                <a:rPr lang="en-IN" b="1" dirty="0" smtClean="0"/>
                <a:t>modules</a:t>
              </a:r>
              <a:endParaRPr lang="en-IN" b="1" dirty="0"/>
            </a:p>
          </p:txBody>
        </p:sp>
        <p:sp>
          <p:nvSpPr>
            <p:cNvPr id="13" name="Up Arrow 12"/>
            <p:cNvSpPr/>
            <p:nvPr/>
          </p:nvSpPr>
          <p:spPr>
            <a:xfrm>
              <a:off x="3733800" y="2362200"/>
              <a:ext cx="76200" cy="4572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ight Arrow 13"/>
            <p:cNvSpPr/>
            <p:nvPr/>
          </p:nvSpPr>
          <p:spPr>
            <a:xfrm>
              <a:off x="4343400" y="1820592"/>
              <a:ext cx="990600" cy="304800"/>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5" name="TextBox 14"/>
          <p:cNvSpPr txBox="1"/>
          <p:nvPr/>
        </p:nvSpPr>
        <p:spPr>
          <a:xfrm>
            <a:off x="2221082" y="2618299"/>
            <a:ext cx="787395" cy="369332"/>
          </a:xfrm>
          <a:prstGeom prst="rect">
            <a:avLst/>
          </a:prstGeom>
          <a:noFill/>
        </p:spPr>
        <p:txBody>
          <a:bodyPr wrap="none" rtlCol="0">
            <a:spAutoFit/>
          </a:bodyPr>
          <a:lstStyle/>
          <a:p>
            <a:r>
              <a:rPr lang="en-IN" b="1" dirty="0" smtClean="0"/>
              <a:t>Inputs</a:t>
            </a:r>
          </a:p>
        </p:txBody>
      </p:sp>
      <p:sp>
        <p:nvSpPr>
          <p:cNvPr id="16" name="TextBox 15"/>
          <p:cNvSpPr txBox="1"/>
          <p:nvPr/>
        </p:nvSpPr>
        <p:spPr>
          <a:xfrm>
            <a:off x="7927874" y="2644087"/>
            <a:ext cx="962123" cy="369332"/>
          </a:xfrm>
          <a:prstGeom prst="rect">
            <a:avLst/>
          </a:prstGeom>
          <a:noFill/>
        </p:spPr>
        <p:txBody>
          <a:bodyPr wrap="none" rtlCol="0">
            <a:spAutoFit/>
          </a:bodyPr>
          <a:lstStyle/>
          <a:p>
            <a:r>
              <a:rPr lang="en-IN" b="1" dirty="0" smtClean="0"/>
              <a:t>Outputs</a:t>
            </a:r>
          </a:p>
        </p:txBody>
      </p:sp>
      <p:grpSp>
        <p:nvGrpSpPr>
          <p:cNvPr id="17" name="Group 16"/>
          <p:cNvGrpSpPr/>
          <p:nvPr/>
        </p:nvGrpSpPr>
        <p:grpSpPr>
          <a:xfrm>
            <a:off x="7441909" y="3135283"/>
            <a:ext cx="1816430" cy="2490460"/>
            <a:chOff x="279830" y="3910445"/>
            <a:chExt cx="1816430" cy="2490460"/>
          </a:xfrm>
        </p:grpSpPr>
        <p:sp>
          <p:nvSpPr>
            <p:cNvPr id="18" name="TextBox 1"/>
            <p:cNvSpPr txBox="1"/>
            <p:nvPr/>
          </p:nvSpPr>
          <p:spPr>
            <a:xfrm>
              <a:off x="298880" y="5548745"/>
              <a:ext cx="957313"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IN" sz="1100" dirty="0" smtClean="0"/>
                <a:t>[Curvature, ]</a:t>
              </a:r>
              <a:endParaRPr lang="en-IN" sz="1100" dirty="0"/>
            </a:p>
          </p:txBody>
        </p:sp>
        <p:sp>
          <p:nvSpPr>
            <p:cNvPr id="19" name="TextBox 2"/>
            <p:cNvSpPr txBox="1"/>
            <p:nvPr/>
          </p:nvSpPr>
          <p:spPr>
            <a:xfrm>
              <a:off x="289355" y="3910445"/>
              <a:ext cx="1806905"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IN" sz="1100" dirty="0" smtClean="0"/>
                <a:t>[ Long Vehicle Velocity</a:t>
              </a:r>
              <a:r>
                <a:rPr lang="en-IN" sz="1100" baseline="0" dirty="0" smtClean="0"/>
                <a:t>, 3]</a:t>
              </a:r>
              <a:endParaRPr lang="en-IN" sz="1100" baseline="0" dirty="0"/>
            </a:p>
          </p:txBody>
        </p:sp>
        <p:sp>
          <p:nvSpPr>
            <p:cNvPr id="20" name="TextBox 3"/>
            <p:cNvSpPr txBox="1"/>
            <p:nvPr/>
          </p:nvSpPr>
          <p:spPr>
            <a:xfrm>
              <a:off x="289355" y="4224770"/>
              <a:ext cx="1428596"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eaLnBrk="1" fontAlgn="auto" latinLnBrk="0" hangingPunct="1"/>
              <a:r>
                <a:rPr lang="en-IN" sz="1100" dirty="0" smtClean="0">
                  <a:solidFill>
                    <a:schemeClr val="tx1"/>
                  </a:solidFill>
                  <a:latin typeface="+mn-lt"/>
                  <a:ea typeface="+mn-ea"/>
                  <a:cs typeface="+mn-cs"/>
                </a:rPr>
                <a:t>[Long Vehicle Accel</a:t>
              </a:r>
              <a:r>
                <a:rPr lang="en-IN" sz="1100" baseline="0" dirty="0" smtClean="0">
                  <a:solidFill>
                    <a:schemeClr val="tx1"/>
                  </a:solidFill>
                  <a:latin typeface="+mn-lt"/>
                  <a:ea typeface="+mn-ea"/>
                  <a:cs typeface="+mn-cs"/>
                </a:rPr>
                <a:t>,  ]</a:t>
              </a:r>
              <a:endParaRPr lang="en-IN" dirty="0"/>
            </a:p>
          </p:txBody>
        </p:sp>
        <p:sp>
          <p:nvSpPr>
            <p:cNvPr id="21" name="TextBox 4"/>
            <p:cNvSpPr txBox="1"/>
            <p:nvPr/>
          </p:nvSpPr>
          <p:spPr>
            <a:xfrm>
              <a:off x="298880" y="4920095"/>
              <a:ext cx="1085554"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eaLnBrk="1" fontAlgn="auto" latinLnBrk="0" hangingPunct="1"/>
              <a:r>
                <a:rPr lang="en-IN" sz="1100" dirty="0" smtClean="0">
                  <a:solidFill>
                    <a:schemeClr val="tx1"/>
                  </a:solidFill>
                  <a:latin typeface="+mn-lt"/>
                  <a:ea typeface="+mn-ea"/>
                  <a:cs typeface="+mn-cs"/>
                </a:rPr>
                <a:t>[Motion State</a:t>
              </a:r>
              <a:r>
                <a:rPr lang="en-IN" sz="1100" baseline="0" dirty="0" smtClean="0">
                  <a:solidFill>
                    <a:schemeClr val="tx1"/>
                  </a:solidFill>
                  <a:latin typeface="+mn-lt"/>
                  <a:ea typeface="+mn-ea"/>
                  <a:cs typeface="+mn-cs"/>
                </a:rPr>
                <a:t>, ]</a:t>
              </a:r>
              <a:endParaRPr lang="en-IN" sz="1100" dirty="0">
                <a:solidFill>
                  <a:schemeClr val="tx1"/>
                </a:solidFill>
                <a:latin typeface="+mn-lt"/>
                <a:ea typeface="+mn-ea"/>
                <a:cs typeface="+mn-cs"/>
              </a:endParaRPr>
            </a:p>
          </p:txBody>
        </p:sp>
        <p:sp>
          <p:nvSpPr>
            <p:cNvPr id="22" name="TextBox 5"/>
            <p:cNvSpPr txBox="1"/>
            <p:nvPr/>
          </p:nvSpPr>
          <p:spPr>
            <a:xfrm>
              <a:off x="279830" y="4586720"/>
              <a:ext cx="1067921"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indent="0" defTabSz="914400" eaLnBrk="1" fontAlgn="auto" latinLnBrk="0" hangingPunct="1">
                <a:lnSpc>
                  <a:spcPct val="100000"/>
                </a:lnSpc>
                <a:spcBef>
                  <a:spcPts val="0"/>
                </a:spcBef>
                <a:spcAft>
                  <a:spcPts val="0"/>
                </a:spcAft>
                <a:buClrTx/>
                <a:buSzTx/>
                <a:buFontTx/>
                <a:buNone/>
                <a:tabLst/>
                <a:defRPr/>
              </a:pPr>
              <a:r>
                <a:rPr lang="en-IN" sz="1100" dirty="0" smtClean="0">
                  <a:solidFill>
                    <a:schemeClr val="tx1"/>
                  </a:solidFill>
                  <a:latin typeface="+mn-lt"/>
                  <a:ea typeface="+mn-ea"/>
                  <a:cs typeface="+mn-cs"/>
                </a:rPr>
                <a:t>[Yaw Rate</a:t>
              </a:r>
              <a:r>
                <a:rPr lang="en-IN" sz="1100" baseline="0" dirty="0" smtClean="0">
                  <a:solidFill>
                    <a:schemeClr val="tx1"/>
                  </a:solidFill>
                  <a:latin typeface="+mn-lt"/>
                  <a:ea typeface="+mn-ea"/>
                  <a:cs typeface="+mn-cs"/>
                </a:rPr>
                <a:t>, 1 ]</a:t>
              </a:r>
              <a:endParaRPr lang="en-IN" sz="1100" dirty="0">
                <a:solidFill>
                  <a:schemeClr val="tx1"/>
                </a:solidFill>
                <a:latin typeface="+mn-lt"/>
                <a:ea typeface="+mn-ea"/>
                <a:cs typeface="+mn-cs"/>
              </a:endParaRPr>
            </a:p>
          </p:txBody>
        </p:sp>
        <p:sp>
          <p:nvSpPr>
            <p:cNvPr id="23" name="TextBox 6"/>
            <p:cNvSpPr txBox="1"/>
            <p:nvPr/>
          </p:nvSpPr>
          <p:spPr>
            <a:xfrm>
              <a:off x="308405" y="5253470"/>
              <a:ext cx="1066318"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IN" sz="1100" dirty="0" smtClean="0"/>
                <a:t>[Lateral Accel</a:t>
              </a:r>
              <a:r>
                <a:rPr lang="en-IN" sz="1100" baseline="0" dirty="0" smtClean="0"/>
                <a:t>, ]</a:t>
              </a:r>
              <a:endParaRPr lang="en-IN" sz="1100" dirty="0"/>
            </a:p>
          </p:txBody>
        </p:sp>
        <p:sp>
          <p:nvSpPr>
            <p:cNvPr id="24" name="TextBox 7"/>
            <p:cNvSpPr txBox="1"/>
            <p:nvPr/>
          </p:nvSpPr>
          <p:spPr>
            <a:xfrm>
              <a:off x="298880" y="5834495"/>
              <a:ext cx="995785"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IN" sz="1100" dirty="0" smtClean="0"/>
                <a:t>[Curve Error</a:t>
              </a:r>
              <a:r>
                <a:rPr lang="en-IN" sz="1100" baseline="0" dirty="0" smtClean="0"/>
                <a:t>, ]</a:t>
              </a:r>
              <a:endParaRPr lang="en-IN" sz="1100" dirty="0"/>
            </a:p>
          </p:txBody>
        </p:sp>
        <p:sp>
          <p:nvSpPr>
            <p:cNvPr id="25" name="TextBox 8"/>
            <p:cNvSpPr txBox="1"/>
            <p:nvPr/>
          </p:nvSpPr>
          <p:spPr>
            <a:xfrm>
              <a:off x="317930" y="6139295"/>
              <a:ext cx="970137"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IN" sz="1100" dirty="0" smtClean="0"/>
                <a:t>[Curve Conf</a:t>
              </a:r>
              <a:r>
                <a:rPr lang="en-IN" sz="1100" baseline="0" dirty="0" smtClean="0"/>
                <a:t>, ]</a:t>
              </a:r>
              <a:endParaRPr lang="en-IN" sz="1100" dirty="0"/>
            </a:p>
          </p:txBody>
        </p:sp>
      </p:grpSp>
      <p:grpSp>
        <p:nvGrpSpPr>
          <p:cNvPr id="26" name="Group 25"/>
          <p:cNvGrpSpPr/>
          <p:nvPr/>
        </p:nvGrpSpPr>
        <p:grpSpPr>
          <a:xfrm>
            <a:off x="519712" y="3095427"/>
            <a:ext cx="4239340" cy="2852623"/>
            <a:chOff x="279830" y="3829928"/>
            <a:chExt cx="4239340" cy="2852623"/>
          </a:xfrm>
        </p:grpSpPr>
        <p:grpSp>
          <p:nvGrpSpPr>
            <p:cNvPr id="27" name="Group 35"/>
            <p:cNvGrpSpPr/>
            <p:nvPr/>
          </p:nvGrpSpPr>
          <p:grpSpPr>
            <a:xfrm>
              <a:off x="279830" y="3829928"/>
              <a:ext cx="4239340" cy="2852623"/>
              <a:chOff x="279830" y="3872132"/>
              <a:chExt cx="4239340" cy="2852623"/>
            </a:xfrm>
          </p:grpSpPr>
          <p:sp>
            <p:nvSpPr>
              <p:cNvPr id="29" name="TextBox 1"/>
              <p:cNvSpPr txBox="1"/>
              <p:nvPr/>
            </p:nvSpPr>
            <p:spPr>
              <a:xfrm>
                <a:off x="298880" y="5548745"/>
                <a:ext cx="1515158"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IN" sz="1100" dirty="0" smtClean="0"/>
                  <a:t>[Yaw </a:t>
                </a:r>
                <a:r>
                  <a:rPr lang="en-IN" sz="1100" dirty="0"/>
                  <a:t>Rate </a:t>
                </a:r>
                <a:r>
                  <a:rPr lang="en-IN" sz="1100" dirty="0" smtClean="0"/>
                  <a:t>Sensor,0 ]</a:t>
                </a:r>
                <a:endParaRPr lang="en-IN" sz="1100" dirty="0"/>
              </a:p>
            </p:txBody>
          </p:sp>
          <p:sp>
            <p:nvSpPr>
              <p:cNvPr id="30" name="TextBox 2"/>
              <p:cNvSpPr txBox="1"/>
              <p:nvPr/>
            </p:nvSpPr>
            <p:spPr>
              <a:xfrm>
                <a:off x="289355" y="3910445"/>
                <a:ext cx="1507144"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IN" sz="1100" dirty="0" smtClean="0"/>
                  <a:t>[ Wheel </a:t>
                </a:r>
                <a:r>
                  <a:rPr lang="en-IN" sz="1100" dirty="0"/>
                  <a:t>Speed</a:t>
                </a:r>
                <a:r>
                  <a:rPr lang="en-IN" sz="1100" baseline="0" dirty="0"/>
                  <a:t> </a:t>
                </a:r>
                <a:r>
                  <a:rPr lang="en-IN" sz="1100" baseline="0" dirty="0" smtClean="0"/>
                  <a:t>FL, 4]</a:t>
                </a:r>
                <a:endParaRPr lang="en-IN" sz="1100" baseline="0" dirty="0"/>
              </a:p>
            </p:txBody>
          </p:sp>
          <p:sp>
            <p:nvSpPr>
              <p:cNvPr id="31" name="TextBox 3"/>
              <p:cNvSpPr txBox="1"/>
              <p:nvPr/>
            </p:nvSpPr>
            <p:spPr>
              <a:xfrm>
                <a:off x="289355" y="4224770"/>
                <a:ext cx="1492716"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eaLnBrk="1" fontAlgn="auto" latinLnBrk="0" hangingPunct="1"/>
                <a:r>
                  <a:rPr lang="en-IN" sz="1100" dirty="0" smtClean="0">
                    <a:solidFill>
                      <a:schemeClr val="tx1"/>
                    </a:solidFill>
                    <a:latin typeface="+mn-lt"/>
                    <a:ea typeface="+mn-ea"/>
                    <a:cs typeface="+mn-cs"/>
                  </a:rPr>
                  <a:t>[Wheel </a:t>
                </a:r>
                <a:r>
                  <a:rPr lang="en-IN" sz="1100" dirty="0">
                    <a:solidFill>
                      <a:schemeClr val="tx1"/>
                    </a:solidFill>
                    <a:latin typeface="+mn-lt"/>
                    <a:ea typeface="+mn-ea"/>
                    <a:cs typeface="+mn-cs"/>
                  </a:rPr>
                  <a:t>Speed</a:t>
                </a:r>
                <a:r>
                  <a:rPr lang="en-IN" sz="1100" baseline="0" dirty="0">
                    <a:solidFill>
                      <a:schemeClr val="tx1"/>
                    </a:solidFill>
                    <a:latin typeface="+mn-lt"/>
                    <a:ea typeface="+mn-ea"/>
                    <a:cs typeface="+mn-cs"/>
                  </a:rPr>
                  <a:t> </a:t>
                </a:r>
                <a:r>
                  <a:rPr lang="en-IN" sz="1100" baseline="0" dirty="0" smtClean="0">
                    <a:solidFill>
                      <a:schemeClr val="tx1"/>
                    </a:solidFill>
                    <a:latin typeface="+mn-lt"/>
                    <a:ea typeface="+mn-ea"/>
                    <a:cs typeface="+mn-cs"/>
                  </a:rPr>
                  <a:t>FR,5 ]</a:t>
                </a:r>
                <a:endParaRPr lang="en-IN" dirty="0"/>
              </a:p>
            </p:txBody>
          </p:sp>
          <p:sp>
            <p:nvSpPr>
              <p:cNvPr id="32" name="TextBox 4"/>
              <p:cNvSpPr txBox="1"/>
              <p:nvPr/>
            </p:nvSpPr>
            <p:spPr>
              <a:xfrm>
                <a:off x="298880" y="4920095"/>
                <a:ext cx="1508746"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eaLnBrk="1" fontAlgn="auto" latinLnBrk="0" hangingPunct="1"/>
                <a:r>
                  <a:rPr lang="en-IN" sz="1100" dirty="0" smtClean="0">
                    <a:solidFill>
                      <a:schemeClr val="tx1"/>
                    </a:solidFill>
                    <a:latin typeface="+mn-lt"/>
                    <a:ea typeface="+mn-ea"/>
                    <a:cs typeface="+mn-cs"/>
                  </a:rPr>
                  <a:t>[Wheel </a:t>
                </a:r>
                <a:r>
                  <a:rPr lang="en-IN" sz="1100" dirty="0">
                    <a:solidFill>
                      <a:schemeClr val="tx1"/>
                    </a:solidFill>
                    <a:latin typeface="+mn-lt"/>
                    <a:ea typeface="+mn-ea"/>
                    <a:cs typeface="+mn-cs"/>
                  </a:rPr>
                  <a:t>Speed</a:t>
                </a:r>
                <a:r>
                  <a:rPr lang="en-IN" sz="1100" baseline="0" dirty="0">
                    <a:solidFill>
                      <a:schemeClr val="tx1"/>
                    </a:solidFill>
                    <a:latin typeface="+mn-lt"/>
                    <a:ea typeface="+mn-ea"/>
                    <a:cs typeface="+mn-cs"/>
                  </a:rPr>
                  <a:t> </a:t>
                </a:r>
                <a:r>
                  <a:rPr lang="en-IN" sz="1100" baseline="0" dirty="0" smtClean="0">
                    <a:solidFill>
                      <a:schemeClr val="tx1"/>
                    </a:solidFill>
                    <a:latin typeface="+mn-lt"/>
                    <a:ea typeface="+mn-ea"/>
                    <a:cs typeface="+mn-cs"/>
                  </a:rPr>
                  <a:t>RR,7 ]</a:t>
                </a:r>
                <a:endParaRPr lang="en-IN" sz="1100" dirty="0">
                  <a:solidFill>
                    <a:schemeClr val="tx1"/>
                  </a:solidFill>
                  <a:latin typeface="+mn-lt"/>
                  <a:ea typeface="+mn-ea"/>
                  <a:cs typeface="+mn-cs"/>
                </a:endParaRPr>
              </a:p>
            </p:txBody>
          </p:sp>
          <p:sp>
            <p:nvSpPr>
              <p:cNvPr id="33" name="TextBox 5"/>
              <p:cNvSpPr txBox="1"/>
              <p:nvPr/>
            </p:nvSpPr>
            <p:spPr>
              <a:xfrm>
                <a:off x="279830" y="4586720"/>
                <a:ext cx="1492716"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indent="0" defTabSz="914400" eaLnBrk="1" fontAlgn="auto" latinLnBrk="0" hangingPunct="1">
                  <a:lnSpc>
                    <a:spcPct val="100000"/>
                  </a:lnSpc>
                  <a:spcBef>
                    <a:spcPts val="0"/>
                  </a:spcBef>
                  <a:spcAft>
                    <a:spcPts val="0"/>
                  </a:spcAft>
                  <a:buClrTx/>
                  <a:buSzTx/>
                  <a:buFontTx/>
                  <a:buNone/>
                  <a:tabLst/>
                  <a:defRPr/>
                </a:pPr>
                <a:r>
                  <a:rPr lang="en-IN" sz="1100" dirty="0" smtClean="0">
                    <a:solidFill>
                      <a:schemeClr val="tx1"/>
                    </a:solidFill>
                    <a:latin typeface="+mn-lt"/>
                    <a:ea typeface="+mn-ea"/>
                    <a:cs typeface="+mn-cs"/>
                  </a:rPr>
                  <a:t>[Wheel </a:t>
                </a:r>
                <a:r>
                  <a:rPr lang="en-IN" sz="1100" dirty="0">
                    <a:solidFill>
                      <a:schemeClr val="tx1"/>
                    </a:solidFill>
                    <a:latin typeface="+mn-lt"/>
                    <a:ea typeface="+mn-ea"/>
                    <a:cs typeface="+mn-cs"/>
                  </a:rPr>
                  <a:t>Speed</a:t>
                </a:r>
                <a:r>
                  <a:rPr lang="en-IN" sz="1100" baseline="0" dirty="0">
                    <a:solidFill>
                      <a:schemeClr val="tx1"/>
                    </a:solidFill>
                    <a:latin typeface="+mn-lt"/>
                    <a:ea typeface="+mn-ea"/>
                    <a:cs typeface="+mn-cs"/>
                  </a:rPr>
                  <a:t> </a:t>
                </a:r>
                <a:r>
                  <a:rPr lang="en-IN" sz="1100" baseline="0" dirty="0" smtClean="0">
                    <a:solidFill>
                      <a:schemeClr val="tx1"/>
                    </a:solidFill>
                    <a:latin typeface="+mn-lt"/>
                    <a:ea typeface="+mn-ea"/>
                    <a:cs typeface="+mn-cs"/>
                  </a:rPr>
                  <a:t>RF,6 ]</a:t>
                </a:r>
                <a:endParaRPr lang="en-IN" sz="1100" dirty="0">
                  <a:solidFill>
                    <a:schemeClr val="tx1"/>
                  </a:solidFill>
                  <a:latin typeface="+mn-lt"/>
                  <a:ea typeface="+mn-ea"/>
                  <a:cs typeface="+mn-cs"/>
                </a:endParaRPr>
              </a:p>
            </p:txBody>
          </p:sp>
          <p:sp>
            <p:nvSpPr>
              <p:cNvPr id="34" name="TextBox 6"/>
              <p:cNvSpPr txBox="1"/>
              <p:nvPr/>
            </p:nvSpPr>
            <p:spPr>
              <a:xfrm>
                <a:off x="308405" y="5253470"/>
                <a:ext cx="946093"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IN" sz="1100" dirty="0" smtClean="0"/>
                  <a:t>[Long</a:t>
                </a:r>
                <a:r>
                  <a:rPr lang="en-IN" sz="1100" baseline="0" dirty="0" smtClean="0"/>
                  <a:t> Accel, ]</a:t>
                </a:r>
                <a:endParaRPr lang="en-IN" sz="1100" dirty="0"/>
              </a:p>
            </p:txBody>
          </p:sp>
          <p:sp>
            <p:nvSpPr>
              <p:cNvPr id="35" name="TextBox 7"/>
              <p:cNvSpPr txBox="1"/>
              <p:nvPr/>
            </p:nvSpPr>
            <p:spPr>
              <a:xfrm>
                <a:off x="298880" y="5834495"/>
                <a:ext cx="1702710"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IN" sz="1100" dirty="0" smtClean="0"/>
                  <a:t>[Lateral</a:t>
                </a:r>
                <a:r>
                  <a:rPr lang="en-IN" sz="1100" baseline="0" dirty="0" smtClean="0"/>
                  <a:t> Acceleration, 3 ]</a:t>
                </a:r>
                <a:endParaRPr lang="en-IN" sz="1100" dirty="0"/>
              </a:p>
            </p:txBody>
          </p:sp>
          <p:sp>
            <p:nvSpPr>
              <p:cNvPr id="36" name="TextBox 8"/>
              <p:cNvSpPr txBox="1"/>
              <p:nvPr/>
            </p:nvSpPr>
            <p:spPr>
              <a:xfrm>
                <a:off x="317930" y="6139295"/>
                <a:ext cx="1253869"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IN" sz="1100" dirty="0" smtClean="0"/>
                  <a:t>[Brake</a:t>
                </a:r>
                <a:r>
                  <a:rPr lang="en-IN" sz="1100" baseline="0" dirty="0" smtClean="0"/>
                  <a:t> Actuation, ]</a:t>
                </a:r>
                <a:endParaRPr lang="en-IN" sz="1100" dirty="0"/>
              </a:p>
            </p:txBody>
          </p:sp>
          <p:sp>
            <p:nvSpPr>
              <p:cNvPr id="37" name="TextBox 9"/>
              <p:cNvSpPr txBox="1"/>
              <p:nvPr/>
            </p:nvSpPr>
            <p:spPr>
              <a:xfrm>
                <a:off x="298880" y="6463145"/>
                <a:ext cx="1106393"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IN" sz="1100" dirty="0" smtClean="0"/>
                  <a:t>[Gear Position, ]</a:t>
                </a:r>
                <a:endParaRPr lang="en-IN" sz="1100" dirty="0"/>
              </a:p>
            </p:txBody>
          </p:sp>
          <p:sp>
            <p:nvSpPr>
              <p:cNvPr id="38" name="TextBox 18"/>
              <p:cNvSpPr txBox="1"/>
              <p:nvPr/>
            </p:nvSpPr>
            <p:spPr>
              <a:xfrm>
                <a:off x="1918130" y="3881870"/>
                <a:ext cx="1436612"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IN" sz="1100" dirty="0" smtClean="0"/>
                  <a:t>[Wheel </a:t>
                </a:r>
                <a:r>
                  <a:rPr lang="en-IN" sz="1100" baseline="0" dirty="0" smtClean="0"/>
                  <a:t> </a:t>
                </a:r>
                <a:r>
                  <a:rPr lang="en-IN" sz="1100" baseline="0" dirty="0"/>
                  <a:t>Ticks </a:t>
                </a:r>
                <a:r>
                  <a:rPr lang="en-IN" sz="1100" baseline="0" dirty="0" err="1"/>
                  <a:t>Cnt</a:t>
                </a:r>
                <a:r>
                  <a:rPr lang="en-IN" sz="1100" baseline="0" dirty="0"/>
                  <a:t> </a:t>
                </a:r>
                <a:r>
                  <a:rPr lang="en-IN" sz="1100" baseline="0" dirty="0" smtClean="0"/>
                  <a:t>FL, ]</a:t>
                </a:r>
                <a:endParaRPr lang="en-IN" sz="1100" baseline="0" dirty="0"/>
              </a:p>
            </p:txBody>
          </p:sp>
          <p:sp>
            <p:nvSpPr>
              <p:cNvPr id="39" name="TextBox 19"/>
              <p:cNvSpPr txBox="1"/>
              <p:nvPr/>
            </p:nvSpPr>
            <p:spPr>
              <a:xfrm>
                <a:off x="1918130" y="4196195"/>
                <a:ext cx="1454244"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eaLnBrk="1" fontAlgn="auto" latinLnBrk="0" hangingPunct="1"/>
                <a:r>
                  <a:rPr lang="en-IN" sz="1100" dirty="0" smtClean="0">
                    <a:solidFill>
                      <a:schemeClr val="tx1"/>
                    </a:solidFill>
                    <a:latin typeface="+mn-lt"/>
                    <a:ea typeface="+mn-ea"/>
                    <a:cs typeface="+mn-cs"/>
                  </a:rPr>
                  <a:t>[Wheel </a:t>
                </a:r>
                <a:r>
                  <a:rPr lang="en-IN" sz="1100" baseline="0" dirty="0" smtClean="0">
                    <a:solidFill>
                      <a:schemeClr val="tx1"/>
                    </a:solidFill>
                    <a:latin typeface="+mn-lt"/>
                    <a:ea typeface="+mn-ea"/>
                    <a:cs typeface="+mn-cs"/>
                  </a:rPr>
                  <a:t> </a:t>
                </a:r>
                <a:r>
                  <a:rPr lang="en-IN" sz="1100" baseline="0" dirty="0">
                    <a:solidFill>
                      <a:schemeClr val="tx1"/>
                    </a:solidFill>
                    <a:latin typeface="+mn-lt"/>
                    <a:ea typeface="+mn-ea"/>
                    <a:cs typeface="+mn-cs"/>
                  </a:rPr>
                  <a:t>Ticks </a:t>
                </a:r>
                <a:r>
                  <a:rPr lang="en-IN" sz="1100" baseline="0" dirty="0" err="1">
                    <a:solidFill>
                      <a:schemeClr val="tx1"/>
                    </a:solidFill>
                    <a:latin typeface="+mn-lt"/>
                    <a:ea typeface="+mn-ea"/>
                    <a:cs typeface="+mn-cs"/>
                  </a:rPr>
                  <a:t>Cnt</a:t>
                </a:r>
                <a:r>
                  <a:rPr lang="en-IN" sz="1100" baseline="0" dirty="0">
                    <a:solidFill>
                      <a:schemeClr val="tx1"/>
                    </a:solidFill>
                    <a:latin typeface="+mn-lt"/>
                    <a:ea typeface="+mn-ea"/>
                    <a:cs typeface="+mn-cs"/>
                  </a:rPr>
                  <a:t> </a:t>
                </a:r>
                <a:r>
                  <a:rPr lang="en-IN" sz="1100" baseline="0" dirty="0" smtClean="0">
                    <a:solidFill>
                      <a:schemeClr val="tx1"/>
                    </a:solidFill>
                    <a:latin typeface="+mn-lt"/>
                    <a:ea typeface="+mn-ea"/>
                    <a:cs typeface="+mn-cs"/>
                  </a:rPr>
                  <a:t>FR, ]</a:t>
                </a:r>
                <a:endParaRPr lang="en-IN" dirty="0"/>
              </a:p>
            </p:txBody>
          </p:sp>
          <p:sp>
            <p:nvSpPr>
              <p:cNvPr id="40" name="TextBox 20"/>
              <p:cNvSpPr txBox="1"/>
              <p:nvPr/>
            </p:nvSpPr>
            <p:spPr>
              <a:xfrm>
                <a:off x="1927655" y="4910570"/>
                <a:ext cx="1467068"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eaLnBrk="1" fontAlgn="auto" latinLnBrk="0" hangingPunct="1"/>
                <a:r>
                  <a:rPr lang="en-IN" sz="1100" dirty="0" smtClean="0">
                    <a:solidFill>
                      <a:schemeClr val="tx1"/>
                    </a:solidFill>
                    <a:latin typeface="+mn-lt"/>
                    <a:ea typeface="+mn-ea"/>
                    <a:cs typeface="+mn-cs"/>
                  </a:rPr>
                  <a:t>[Wheel </a:t>
                </a:r>
                <a:r>
                  <a:rPr lang="en-IN" sz="1100" baseline="0" dirty="0" smtClean="0">
                    <a:solidFill>
                      <a:schemeClr val="tx1"/>
                    </a:solidFill>
                    <a:latin typeface="+mn-lt"/>
                    <a:ea typeface="+mn-ea"/>
                    <a:cs typeface="+mn-cs"/>
                  </a:rPr>
                  <a:t> </a:t>
                </a:r>
                <a:r>
                  <a:rPr lang="en-IN" sz="1100" baseline="0" dirty="0">
                    <a:solidFill>
                      <a:schemeClr val="tx1"/>
                    </a:solidFill>
                    <a:latin typeface="+mn-lt"/>
                    <a:ea typeface="+mn-ea"/>
                    <a:cs typeface="+mn-cs"/>
                  </a:rPr>
                  <a:t>Ticks </a:t>
                </a:r>
                <a:r>
                  <a:rPr lang="en-IN" sz="1100" baseline="0" dirty="0" err="1">
                    <a:solidFill>
                      <a:schemeClr val="tx1"/>
                    </a:solidFill>
                    <a:latin typeface="+mn-lt"/>
                    <a:ea typeface="+mn-ea"/>
                    <a:cs typeface="+mn-cs"/>
                  </a:rPr>
                  <a:t>Cnt</a:t>
                </a:r>
                <a:r>
                  <a:rPr lang="en-IN" sz="1100" baseline="0" dirty="0">
                    <a:solidFill>
                      <a:schemeClr val="tx1"/>
                    </a:solidFill>
                    <a:latin typeface="+mn-lt"/>
                    <a:ea typeface="+mn-ea"/>
                    <a:cs typeface="+mn-cs"/>
                  </a:rPr>
                  <a:t> </a:t>
                </a:r>
                <a:r>
                  <a:rPr lang="en-IN" sz="1100" baseline="0" dirty="0" smtClean="0">
                    <a:solidFill>
                      <a:schemeClr val="tx1"/>
                    </a:solidFill>
                    <a:latin typeface="+mn-lt"/>
                    <a:ea typeface="+mn-ea"/>
                    <a:cs typeface="+mn-cs"/>
                  </a:rPr>
                  <a:t>RR, ]</a:t>
                </a:r>
                <a:endParaRPr lang="en-IN" sz="1100" dirty="0">
                  <a:solidFill>
                    <a:schemeClr val="tx1"/>
                  </a:solidFill>
                  <a:latin typeface="+mn-lt"/>
                  <a:ea typeface="+mn-ea"/>
                  <a:cs typeface="+mn-cs"/>
                </a:endParaRPr>
              </a:p>
            </p:txBody>
          </p:sp>
          <p:sp>
            <p:nvSpPr>
              <p:cNvPr id="41" name="TextBox 21"/>
              <p:cNvSpPr txBox="1"/>
              <p:nvPr/>
            </p:nvSpPr>
            <p:spPr>
              <a:xfrm>
                <a:off x="1908605" y="4558145"/>
                <a:ext cx="1454244"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indent="0" defTabSz="914400" eaLnBrk="1" fontAlgn="auto" latinLnBrk="0" hangingPunct="1">
                  <a:lnSpc>
                    <a:spcPct val="100000"/>
                  </a:lnSpc>
                  <a:spcBef>
                    <a:spcPts val="0"/>
                  </a:spcBef>
                  <a:spcAft>
                    <a:spcPts val="0"/>
                  </a:spcAft>
                  <a:buClrTx/>
                  <a:buSzTx/>
                  <a:buFontTx/>
                  <a:buNone/>
                  <a:tabLst/>
                  <a:defRPr/>
                </a:pPr>
                <a:r>
                  <a:rPr lang="en-IN" sz="1100" dirty="0" smtClean="0">
                    <a:solidFill>
                      <a:schemeClr val="tx1"/>
                    </a:solidFill>
                    <a:latin typeface="+mn-lt"/>
                    <a:ea typeface="+mn-ea"/>
                    <a:cs typeface="+mn-cs"/>
                  </a:rPr>
                  <a:t>[Wheel </a:t>
                </a:r>
                <a:r>
                  <a:rPr lang="en-IN" sz="1100" baseline="0" dirty="0" smtClean="0">
                    <a:solidFill>
                      <a:schemeClr val="tx1"/>
                    </a:solidFill>
                    <a:latin typeface="+mn-lt"/>
                    <a:ea typeface="+mn-ea"/>
                    <a:cs typeface="+mn-cs"/>
                  </a:rPr>
                  <a:t> </a:t>
                </a:r>
                <a:r>
                  <a:rPr lang="en-IN" sz="1100" baseline="0" dirty="0">
                    <a:solidFill>
                      <a:schemeClr val="tx1"/>
                    </a:solidFill>
                    <a:latin typeface="+mn-lt"/>
                    <a:ea typeface="+mn-ea"/>
                    <a:cs typeface="+mn-cs"/>
                  </a:rPr>
                  <a:t>Ticks </a:t>
                </a:r>
                <a:r>
                  <a:rPr lang="en-IN" sz="1100" baseline="0" dirty="0" err="1">
                    <a:solidFill>
                      <a:schemeClr val="tx1"/>
                    </a:solidFill>
                    <a:latin typeface="+mn-lt"/>
                    <a:ea typeface="+mn-ea"/>
                    <a:cs typeface="+mn-cs"/>
                  </a:rPr>
                  <a:t>Cnt</a:t>
                </a:r>
                <a:r>
                  <a:rPr lang="en-IN" sz="1100" baseline="0" dirty="0">
                    <a:solidFill>
                      <a:schemeClr val="tx1"/>
                    </a:solidFill>
                    <a:latin typeface="+mn-lt"/>
                    <a:ea typeface="+mn-ea"/>
                    <a:cs typeface="+mn-cs"/>
                  </a:rPr>
                  <a:t> </a:t>
                </a:r>
                <a:r>
                  <a:rPr lang="en-IN" sz="1100" baseline="0" dirty="0" smtClean="0">
                    <a:solidFill>
                      <a:schemeClr val="tx1"/>
                    </a:solidFill>
                    <a:latin typeface="+mn-lt"/>
                    <a:ea typeface="+mn-ea"/>
                    <a:cs typeface="+mn-cs"/>
                  </a:rPr>
                  <a:t>RF, ]</a:t>
                </a:r>
                <a:endParaRPr lang="en-IN" sz="1100" dirty="0">
                  <a:solidFill>
                    <a:schemeClr val="tx1"/>
                  </a:solidFill>
                  <a:latin typeface="+mn-lt"/>
                  <a:ea typeface="+mn-ea"/>
                  <a:cs typeface="+mn-cs"/>
                </a:endParaRPr>
              </a:p>
            </p:txBody>
          </p:sp>
          <p:sp>
            <p:nvSpPr>
              <p:cNvPr id="42" name="TextBox 22"/>
              <p:cNvSpPr txBox="1"/>
              <p:nvPr/>
            </p:nvSpPr>
            <p:spPr>
              <a:xfrm>
                <a:off x="1956230" y="5224895"/>
                <a:ext cx="1098378"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IN" sz="1100" dirty="0" smtClean="0"/>
                  <a:t>[Wheel </a:t>
                </a:r>
                <a:r>
                  <a:rPr lang="en-IN" sz="1100" baseline="0" dirty="0" smtClean="0"/>
                  <a:t> </a:t>
                </a:r>
                <a:r>
                  <a:rPr lang="en-IN" sz="1100" baseline="0" dirty="0"/>
                  <a:t>Dir </a:t>
                </a:r>
                <a:r>
                  <a:rPr lang="en-IN" sz="1100" baseline="0" dirty="0" smtClean="0"/>
                  <a:t>FL, ]</a:t>
                </a:r>
                <a:endParaRPr lang="en-IN" sz="1100" baseline="0" dirty="0"/>
              </a:p>
            </p:txBody>
          </p:sp>
          <p:sp>
            <p:nvSpPr>
              <p:cNvPr id="43" name="TextBox 23"/>
              <p:cNvSpPr txBox="1"/>
              <p:nvPr/>
            </p:nvSpPr>
            <p:spPr>
              <a:xfrm>
                <a:off x="1965755" y="5539220"/>
                <a:ext cx="1116011"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eaLnBrk="1" fontAlgn="auto" latinLnBrk="0" hangingPunct="1"/>
                <a:r>
                  <a:rPr lang="en-IN" sz="1100" dirty="0" smtClean="0">
                    <a:solidFill>
                      <a:schemeClr val="tx1"/>
                    </a:solidFill>
                    <a:latin typeface="+mn-lt"/>
                    <a:ea typeface="+mn-ea"/>
                    <a:cs typeface="+mn-cs"/>
                  </a:rPr>
                  <a:t>[Wheel </a:t>
                </a:r>
                <a:r>
                  <a:rPr lang="en-IN" sz="1100" baseline="0" dirty="0" smtClean="0">
                    <a:solidFill>
                      <a:schemeClr val="tx1"/>
                    </a:solidFill>
                    <a:latin typeface="+mn-lt"/>
                    <a:ea typeface="+mn-ea"/>
                    <a:cs typeface="+mn-cs"/>
                  </a:rPr>
                  <a:t> </a:t>
                </a:r>
                <a:r>
                  <a:rPr lang="en-IN" sz="1100" baseline="0" dirty="0">
                    <a:solidFill>
                      <a:schemeClr val="tx1"/>
                    </a:solidFill>
                    <a:latin typeface="+mn-lt"/>
                    <a:ea typeface="+mn-ea"/>
                    <a:cs typeface="+mn-cs"/>
                  </a:rPr>
                  <a:t>Dir </a:t>
                </a:r>
                <a:r>
                  <a:rPr lang="en-IN" sz="1100" baseline="0" dirty="0" smtClean="0">
                    <a:solidFill>
                      <a:schemeClr val="tx1"/>
                    </a:solidFill>
                    <a:latin typeface="+mn-lt"/>
                    <a:ea typeface="+mn-ea"/>
                    <a:cs typeface="+mn-cs"/>
                  </a:rPr>
                  <a:t>FR, ]</a:t>
                </a:r>
                <a:endParaRPr lang="en-IN" dirty="0"/>
              </a:p>
            </p:txBody>
          </p:sp>
          <p:sp>
            <p:nvSpPr>
              <p:cNvPr id="44" name="TextBox 24"/>
              <p:cNvSpPr txBox="1"/>
              <p:nvPr/>
            </p:nvSpPr>
            <p:spPr>
              <a:xfrm>
                <a:off x="1975280" y="6120245"/>
                <a:ext cx="1128835"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eaLnBrk="1" fontAlgn="auto" latinLnBrk="0" hangingPunct="1"/>
                <a:r>
                  <a:rPr lang="en-IN" sz="1100" dirty="0" smtClean="0">
                    <a:solidFill>
                      <a:schemeClr val="tx1"/>
                    </a:solidFill>
                    <a:latin typeface="+mn-lt"/>
                    <a:ea typeface="+mn-ea"/>
                    <a:cs typeface="+mn-cs"/>
                  </a:rPr>
                  <a:t>[Wheel </a:t>
                </a:r>
                <a:r>
                  <a:rPr lang="en-IN" sz="1100" baseline="0" dirty="0" smtClean="0">
                    <a:solidFill>
                      <a:schemeClr val="tx1"/>
                    </a:solidFill>
                    <a:latin typeface="+mn-lt"/>
                    <a:ea typeface="+mn-ea"/>
                    <a:cs typeface="+mn-cs"/>
                  </a:rPr>
                  <a:t> </a:t>
                </a:r>
                <a:r>
                  <a:rPr lang="en-IN" sz="1100" baseline="0" dirty="0">
                    <a:solidFill>
                      <a:schemeClr val="tx1"/>
                    </a:solidFill>
                    <a:latin typeface="+mn-lt"/>
                    <a:ea typeface="+mn-ea"/>
                    <a:cs typeface="+mn-cs"/>
                  </a:rPr>
                  <a:t>Dir </a:t>
                </a:r>
                <a:r>
                  <a:rPr lang="en-IN" sz="1100" baseline="0" dirty="0" smtClean="0">
                    <a:solidFill>
                      <a:schemeClr val="tx1"/>
                    </a:solidFill>
                    <a:latin typeface="+mn-lt"/>
                    <a:ea typeface="+mn-ea"/>
                    <a:cs typeface="+mn-cs"/>
                  </a:rPr>
                  <a:t>RR, ]</a:t>
                </a:r>
                <a:endParaRPr lang="en-IN" sz="1100" dirty="0">
                  <a:solidFill>
                    <a:schemeClr val="tx1"/>
                  </a:solidFill>
                  <a:latin typeface="+mn-lt"/>
                  <a:ea typeface="+mn-ea"/>
                  <a:cs typeface="+mn-cs"/>
                </a:endParaRPr>
              </a:p>
            </p:txBody>
          </p:sp>
          <p:sp>
            <p:nvSpPr>
              <p:cNvPr id="45" name="TextBox 25"/>
              <p:cNvSpPr txBox="1"/>
              <p:nvPr/>
            </p:nvSpPr>
            <p:spPr>
              <a:xfrm>
                <a:off x="1965755" y="5824970"/>
                <a:ext cx="1116011"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indent="0" defTabSz="914400" eaLnBrk="1" fontAlgn="auto" latinLnBrk="0" hangingPunct="1">
                  <a:lnSpc>
                    <a:spcPct val="100000"/>
                  </a:lnSpc>
                  <a:spcBef>
                    <a:spcPts val="0"/>
                  </a:spcBef>
                  <a:spcAft>
                    <a:spcPts val="0"/>
                  </a:spcAft>
                  <a:buClrTx/>
                  <a:buSzTx/>
                  <a:buFontTx/>
                  <a:buNone/>
                  <a:tabLst/>
                  <a:defRPr/>
                </a:pPr>
                <a:r>
                  <a:rPr lang="en-IN" sz="1100" dirty="0" smtClean="0">
                    <a:solidFill>
                      <a:schemeClr val="tx1"/>
                    </a:solidFill>
                    <a:latin typeface="+mn-lt"/>
                    <a:ea typeface="+mn-ea"/>
                    <a:cs typeface="+mn-cs"/>
                  </a:rPr>
                  <a:t>[Wheel </a:t>
                </a:r>
                <a:r>
                  <a:rPr lang="en-IN" sz="1100" baseline="0" dirty="0" smtClean="0">
                    <a:solidFill>
                      <a:schemeClr val="tx1"/>
                    </a:solidFill>
                    <a:latin typeface="+mn-lt"/>
                    <a:ea typeface="+mn-ea"/>
                    <a:cs typeface="+mn-cs"/>
                  </a:rPr>
                  <a:t> </a:t>
                </a:r>
                <a:r>
                  <a:rPr lang="en-IN" sz="1100" baseline="0" dirty="0">
                    <a:solidFill>
                      <a:schemeClr val="tx1"/>
                    </a:solidFill>
                    <a:latin typeface="+mn-lt"/>
                    <a:ea typeface="+mn-ea"/>
                    <a:cs typeface="+mn-cs"/>
                  </a:rPr>
                  <a:t>Dir </a:t>
                </a:r>
                <a:r>
                  <a:rPr lang="en-IN" sz="1100" baseline="0" dirty="0" smtClean="0">
                    <a:solidFill>
                      <a:schemeClr val="tx1"/>
                    </a:solidFill>
                    <a:latin typeface="+mn-lt"/>
                    <a:ea typeface="+mn-ea"/>
                    <a:cs typeface="+mn-cs"/>
                  </a:rPr>
                  <a:t>RF, ]</a:t>
                </a:r>
                <a:endParaRPr lang="en-IN" sz="1100" dirty="0">
                  <a:solidFill>
                    <a:schemeClr val="tx1"/>
                  </a:solidFill>
                  <a:latin typeface="+mn-lt"/>
                  <a:ea typeface="+mn-ea"/>
                  <a:cs typeface="+mn-cs"/>
                </a:endParaRPr>
              </a:p>
            </p:txBody>
          </p:sp>
          <p:sp>
            <p:nvSpPr>
              <p:cNvPr id="46" name="TextBox 27"/>
              <p:cNvSpPr txBox="1"/>
              <p:nvPr/>
            </p:nvSpPr>
            <p:spPr>
              <a:xfrm>
                <a:off x="1984805" y="6453620"/>
                <a:ext cx="1622560"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eaLnBrk="1" fontAlgn="auto" latinLnBrk="0" hangingPunct="1"/>
                <a:r>
                  <a:rPr lang="en-IN" sz="1100" dirty="0" smtClean="0">
                    <a:solidFill>
                      <a:schemeClr val="tx1"/>
                    </a:solidFill>
                    <a:latin typeface="+mn-lt"/>
                    <a:ea typeface="+mn-ea"/>
                    <a:cs typeface="+mn-cs"/>
                  </a:rPr>
                  <a:t>[ABS </a:t>
                </a:r>
                <a:r>
                  <a:rPr lang="en-IN" sz="1100" dirty="0">
                    <a:solidFill>
                      <a:schemeClr val="tx1"/>
                    </a:solidFill>
                    <a:latin typeface="+mn-lt"/>
                    <a:ea typeface="+mn-ea"/>
                    <a:cs typeface="+mn-cs"/>
                  </a:rPr>
                  <a:t>Ctrl / Traction </a:t>
                </a:r>
                <a:r>
                  <a:rPr lang="en-IN" sz="1100" dirty="0" err="1" smtClean="0">
                    <a:solidFill>
                      <a:schemeClr val="tx1"/>
                    </a:solidFill>
                    <a:latin typeface="+mn-lt"/>
                    <a:ea typeface="+mn-ea"/>
                    <a:cs typeface="+mn-cs"/>
                  </a:rPr>
                  <a:t>Ctr</a:t>
                </a:r>
                <a:r>
                  <a:rPr lang="en-IN" sz="1100" dirty="0" smtClean="0">
                    <a:solidFill>
                      <a:schemeClr val="tx1"/>
                    </a:solidFill>
                    <a:latin typeface="+mn-lt"/>
                    <a:ea typeface="+mn-ea"/>
                    <a:cs typeface="+mn-cs"/>
                  </a:rPr>
                  <a:t>, ]</a:t>
                </a:r>
                <a:endParaRPr lang="en-IN" sz="1100" dirty="0">
                  <a:solidFill>
                    <a:schemeClr val="tx1"/>
                  </a:solidFill>
                  <a:latin typeface="+mn-lt"/>
                  <a:ea typeface="+mn-ea"/>
                  <a:cs typeface="+mn-cs"/>
                </a:endParaRPr>
              </a:p>
            </p:txBody>
          </p:sp>
          <p:sp>
            <p:nvSpPr>
              <p:cNvPr id="47" name="TextBox 18"/>
              <p:cNvSpPr txBox="1"/>
              <p:nvPr/>
            </p:nvSpPr>
            <p:spPr>
              <a:xfrm>
                <a:off x="3429000" y="3872132"/>
                <a:ext cx="946093"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IN" baseline="0" dirty="0" smtClean="0"/>
                  <a:t>[ALN speed</a:t>
                </a:r>
                <a:r>
                  <a:rPr lang="en-IN" sz="1100" baseline="0" dirty="0" smtClean="0"/>
                  <a:t>, ]</a:t>
                </a:r>
                <a:endParaRPr lang="en-IN" sz="1100" baseline="0" dirty="0"/>
              </a:p>
            </p:txBody>
          </p:sp>
          <p:sp>
            <p:nvSpPr>
              <p:cNvPr id="48" name="TextBox 18"/>
              <p:cNvSpPr txBox="1"/>
              <p:nvPr/>
            </p:nvSpPr>
            <p:spPr>
              <a:xfrm>
                <a:off x="3420792" y="4162864"/>
                <a:ext cx="1098378"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IN" baseline="0" dirty="0" smtClean="0"/>
                  <a:t>[ALN </a:t>
                </a:r>
                <a:r>
                  <a:rPr lang="en-IN" dirty="0" smtClean="0"/>
                  <a:t> Counter</a:t>
                </a:r>
                <a:r>
                  <a:rPr lang="en-IN" sz="1100" baseline="0" dirty="0" smtClean="0"/>
                  <a:t>, ]</a:t>
                </a:r>
                <a:endParaRPr lang="en-IN" sz="1100" baseline="0" dirty="0"/>
              </a:p>
            </p:txBody>
          </p:sp>
        </p:grpSp>
        <p:sp>
          <p:nvSpPr>
            <p:cNvPr id="28" name="TextBox 18"/>
            <p:cNvSpPr txBox="1"/>
            <p:nvPr/>
          </p:nvSpPr>
          <p:spPr>
            <a:xfrm>
              <a:off x="3448928" y="4495800"/>
              <a:ext cx="609462"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IN" baseline="0" dirty="0" smtClean="0"/>
                <a:t>[SWA</a:t>
              </a:r>
              <a:r>
                <a:rPr lang="en-IN" sz="1100" baseline="0" dirty="0" smtClean="0"/>
                <a:t>, ]</a:t>
              </a:r>
              <a:endParaRPr lang="en-IN" sz="1100" baseline="0" dirty="0"/>
            </a:p>
          </p:txBody>
        </p:sp>
      </p:grpSp>
      <p:sp>
        <p:nvSpPr>
          <p:cNvPr id="49" name="TextBox 48"/>
          <p:cNvSpPr txBox="1"/>
          <p:nvPr/>
        </p:nvSpPr>
        <p:spPr>
          <a:xfrm>
            <a:off x="5326518" y="2463551"/>
            <a:ext cx="1272336" cy="369332"/>
          </a:xfrm>
          <a:prstGeom prst="rect">
            <a:avLst/>
          </a:prstGeom>
          <a:noFill/>
        </p:spPr>
        <p:txBody>
          <a:bodyPr wrap="none" rtlCol="0">
            <a:spAutoFit/>
          </a:bodyPr>
          <a:lstStyle/>
          <a:p>
            <a:r>
              <a:rPr lang="en-IN" b="1" dirty="0" smtClean="0"/>
              <a:t>Parameters</a:t>
            </a:r>
          </a:p>
        </p:txBody>
      </p:sp>
      <p:grpSp>
        <p:nvGrpSpPr>
          <p:cNvPr id="50" name="Group 49"/>
          <p:cNvGrpSpPr/>
          <p:nvPr/>
        </p:nvGrpSpPr>
        <p:grpSpPr>
          <a:xfrm>
            <a:off x="5421482" y="2867991"/>
            <a:ext cx="1298567" cy="3167569"/>
            <a:chOff x="279830" y="3910445"/>
            <a:chExt cx="1298567" cy="3167569"/>
          </a:xfrm>
        </p:grpSpPr>
        <p:sp>
          <p:nvSpPr>
            <p:cNvPr id="51" name="TextBox 1"/>
            <p:cNvSpPr txBox="1"/>
            <p:nvPr/>
          </p:nvSpPr>
          <p:spPr>
            <a:xfrm>
              <a:off x="298880" y="5548745"/>
              <a:ext cx="1210588"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IN" dirty="0" smtClean="0"/>
                <a:t>[Track Width Re, </a:t>
              </a:r>
              <a:r>
                <a:rPr lang="en-IN" sz="1100" dirty="0" smtClean="0"/>
                <a:t>]</a:t>
              </a:r>
              <a:endParaRPr lang="en-IN" sz="1100" dirty="0"/>
            </a:p>
          </p:txBody>
        </p:sp>
        <p:sp>
          <p:nvSpPr>
            <p:cNvPr id="52" name="TextBox 2"/>
            <p:cNvSpPr txBox="1"/>
            <p:nvPr/>
          </p:nvSpPr>
          <p:spPr>
            <a:xfrm>
              <a:off x="289355" y="3910445"/>
              <a:ext cx="1116011"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IN" sz="1100" dirty="0" smtClean="0"/>
                <a:t>[ Wheel Base</a:t>
              </a:r>
              <a:r>
                <a:rPr lang="en-IN" sz="1100" baseline="0" dirty="0" smtClean="0"/>
                <a:t>, 1]</a:t>
              </a:r>
              <a:endParaRPr lang="en-IN" sz="1100" baseline="0" dirty="0"/>
            </a:p>
          </p:txBody>
        </p:sp>
        <p:sp>
          <p:nvSpPr>
            <p:cNvPr id="53" name="TextBox 3"/>
            <p:cNvSpPr txBox="1"/>
            <p:nvPr/>
          </p:nvSpPr>
          <p:spPr>
            <a:xfrm>
              <a:off x="289355" y="4224770"/>
              <a:ext cx="1000595"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eaLnBrk="1" fontAlgn="auto" latinLnBrk="0" hangingPunct="1"/>
              <a:r>
                <a:rPr lang="en-IN" sz="1100" dirty="0" smtClean="0">
                  <a:solidFill>
                    <a:schemeClr val="tx1"/>
                  </a:solidFill>
                  <a:latin typeface="+mn-lt"/>
                  <a:ea typeface="+mn-ea"/>
                  <a:cs typeface="+mn-cs"/>
                </a:rPr>
                <a:t>[Steer Ratio</a:t>
              </a:r>
              <a:r>
                <a:rPr lang="en-IN" sz="1100" baseline="0" dirty="0" smtClean="0">
                  <a:solidFill>
                    <a:schemeClr val="tx1"/>
                  </a:solidFill>
                  <a:latin typeface="+mn-lt"/>
                  <a:ea typeface="+mn-ea"/>
                  <a:cs typeface="+mn-cs"/>
                </a:rPr>
                <a:t>,  ]</a:t>
              </a:r>
              <a:endParaRPr lang="en-IN" dirty="0"/>
            </a:p>
          </p:txBody>
        </p:sp>
        <p:sp>
          <p:nvSpPr>
            <p:cNvPr id="54" name="TextBox 4"/>
            <p:cNvSpPr txBox="1"/>
            <p:nvPr/>
          </p:nvSpPr>
          <p:spPr>
            <a:xfrm>
              <a:off x="298880" y="4920095"/>
              <a:ext cx="1279517"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eaLnBrk="1" fontAlgn="auto" latinLnBrk="0" hangingPunct="1"/>
              <a:r>
                <a:rPr lang="en-IN" sz="1100" dirty="0" smtClean="0">
                  <a:solidFill>
                    <a:schemeClr val="tx1"/>
                  </a:solidFill>
                  <a:latin typeface="+mn-lt"/>
                  <a:ea typeface="+mn-ea"/>
                  <a:cs typeface="+mn-cs"/>
                </a:rPr>
                <a:t>[Wheel Load </a:t>
              </a:r>
              <a:r>
                <a:rPr lang="en-IN" sz="1100" dirty="0" err="1" smtClean="0">
                  <a:solidFill>
                    <a:schemeClr val="tx1"/>
                  </a:solidFill>
                  <a:latin typeface="+mn-lt"/>
                  <a:ea typeface="+mn-ea"/>
                  <a:cs typeface="+mn-cs"/>
                </a:rPr>
                <a:t>Dep</a:t>
              </a:r>
              <a:r>
                <a:rPr lang="en-IN" sz="1100" baseline="0" dirty="0" smtClean="0">
                  <a:solidFill>
                    <a:schemeClr val="tx1"/>
                  </a:solidFill>
                  <a:latin typeface="+mn-lt"/>
                  <a:ea typeface="+mn-ea"/>
                  <a:cs typeface="+mn-cs"/>
                </a:rPr>
                <a:t>, ]</a:t>
              </a:r>
              <a:endParaRPr lang="en-IN" sz="1100" dirty="0">
                <a:solidFill>
                  <a:schemeClr val="tx1"/>
                </a:solidFill>
                <a:latin typeface="+mn-lt"/>
                <a:ea typeface="+mn-ea"/>
                <a:cs typeface="+mn-cs"/>
              </a:endParaRPr>
            </a:p>
          </p:txBody>
        </p:sp>
        <p:sp>
          <p:nvSpPr>
            <p:cNvPr id="55" name="TextBox 5"/>
            <p:cNvSpPr txBox="1"/>
            <p:nvPr/>
          </p:nvSpPr>
          <p:spPr>
            <a:xfrm>
              <a:off x="279830" y="4586720"/>
              <a:ext cx="1141659"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indent="0" defTabSz="914400" eaLnBrk="1" fontAlgn="auto" latinLnBrk="0" hangingPunct="1">
                <a:lnSpc>
                  <a:spcPct val="100000"/>
                </a:lnSpc>
                <a:spcBef>
                  <a:spcPts val="0"/>
                </a:spcBef>
                <a:spcAft>
                  <a:spcPts val="0"/>
                </a:spcAft>
                <a:buClrTx/>
                <a:buSzTx/>
                <a:buFontTx/>
                <a:buNone/>
                <a:tabLst/>
                <a:defRPr/>
              </a:pPr>
              <a:r>
                <a:rPr lang="en-IN" sz="1100" dirty="0" smtClean="0">
                  <a:solidFill>
                    <a:schemeClr val="tx1"/>
                  </a:solidFill>
                  <a:latin typeface="+mn-lt"/>
                  <a:ea typeface="+mn-ea"/>
                  <a:cs typeface="+mn-cs"/>
                </a:rPr>
                <a:t>[Axle Load Dist</a:t>
              </a:r>
              <a:r>
                <a:rPr lang="en-IN" sz="1100" baseline="0" dirty="0" smtClean="0">
                  <a:solidFill>
                    <a:schemeClr val="tx1"/>
                  </a:solidFill>
                  <a:latin typeface="+mn-lt"/>
                  <a:ea typeface="+mn-ea"/>
                  <a:cs typeface="+mn-cs"/>
                </a:rPr>
                <a:t>, ]</a:t>
              </a:r>
              <a:endParaRPr lang="en-IN" sz="1100" dirty="0">
                <a:solidFill>
                  <a:schemeClr val="tx1"/>
                </a:solidFill>
                <a:latin typeface="+mn-lt"/>
                <a:ea typeface="+mn-ea"/>
                <a:cs typeface="+mn-cs"/>
              </a:endParaRPr>
            </a:p>
          </p:txBody>
        </p:sp>
        <p:sp>
          <p:nvSpPr>
            <p:cNvPr id="56" name="TextBox 6"/>
            <p:cNvSpPr txBox="1"/>
            <p:nvPr/>
          </p:nvSpPr>
          <p:spPr>
            <a:xfrm>
              <a:off x="308405" y="5253470"/>
              <a:ext cx="1223412"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IN" sz="1100" dirty="0" smtClean="0"/>
                <a:t>[Track Width </a:t>
              </a:r>
              <a:r>
                <a:rPr lang="en-IN" sz="1100" dirty="0" err="1" smtClean="0"/>
                <a:t>Frt</a:t>
              </a:r>
              <a:r>
                <a:rPr lang="en-IN" sz="1100" baseline="0" dirty="0" smtClean="0"/>
                <a:t>, ]</a:t>
              </a:r>
              <a:endParaRPr lang="en-IN" sz="1100" dirty="0"/>
            </a:p>
          </p:txBody>
        </p:sp>
        <p:sp>
          <p:nvSpPr>
            <p:cNvPr id="57" name="TextBox 7"/>
            <p:cNvSpPr txBox="1"/>
            <p:nvPr/>
          </p:nvSpPr>
          <p:spPr>
            <a:xfrm>
              <a:off x="298880" y="5834495"/>
              <a:ext cx="1152880"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IN" sz="1100" dirty="0" smtClean="0"/>
                <a:t>[</a:t>
              </a:r>
              <a:r>
                <a:rPr lang="en-IN" sz="1100" dirty="0" err="1" smtClean="0"/>
                <a:t>Selfsteer</a:t>
              </a:r>
              <a:r>
                <a:rPr lang="en-IN" sz="1100" dirty="0" smtClean="0"/>
                <a:t> Grad</a:t>
              </a:r>
              <a:r>
                <a:rPr lang="en-IN" sz="1100" baseline="0" dirty="0" smtClean="0"/>
                <a:t>, ]</a:t>
              </a:r>
              <a:endParaRPr lang="en-IN" sz="1100" dirty="0"/>
            </a:p>
          </p:txBody>
        </p:sp>
        <p:sp>
          <p:nvSpPr>
            <p:cNvPr id="58" name="TextBox 8"/>
            <p:cNvSpPr txBox="1"/>
            <p:nvPr/>
          </p:nvSpPr>
          <p:spPr>
            <a:xfrm>
              <a:off x="317930" y="6139295"/>
              <a:ext cx="1175322" cy="938719"/>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IN" sz="1100" dirty="0" smtClean="0"/>
                <a:t>[Front Axle Dist</a:t>
              </a:r>
              <a:r>
                <a:rPr lang="en-IN" sz="1100" baseline="0" dirty="0" smtClean="0"/>
                <a:t>, ]</a:t>
              </a:r>
            </a:p>
            <a:p>
              <a:endParaRPr lang="en-IN" dirty="0" smtClean="0"/>
            </a:p>
            <a:p>
              <a:r>
                <a:rPr lang="en-IN" sz="1100" dirty="0" smtClean="0"/>
                <a:t>[Rear Axle Dist, ]</a:t>
              </a:r>
            </a:p>
            <a:p>
              <a:endParaRPr lang="en-IN" dirty="0" smtClean="0"/>
            </a:p>
            <a:p>
              <a:r>
                <a:rPr lang="en-IN" sz="1100" dirty="0" smtClean="0"/>
                <a:t>[Weight, ]</a:t>
              </a:r>
              <a:endParaRPr lang="en-IN" sz="1100" dirty="0"/>
            </a:p>
          </p:txBody>
        </p:sp>
      </p:grpSp>
      <p:sp>
        <p:nvSpPr>
          <p:cNvPr id="59" name="Up Arrow 58"/>
          <p:cNvSpPr/>
          <p:nvPr/>
        </p:nvSpPr>
        <p:spPr>
          <a:xfrm>
            <a:off x="4498874" y="484699"/>
            <a:ext cx="76200" cy="4572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TextBox 59"/>
          <p:cNvSpPr txBox="1"/>
          <p:nvPr/>
        </p:nvSpPr>
        <p:spPr>
          <a:xfrm>
            <a:off x="3565342" y="115367"/>
            <a:ext cx="2019464" cy="369332"/>
          </a:xfrm>
          <a:prstGeom prst="rect">
            <a:avLst/>
          </a:prstGeom>
          <a:noFill/>
        </p:spPr>
        <p:txBody>
          <a:bodyPr wrap="none" rtlCol="0">
            <a:spAutoFit/>
          </a:bodyPr>
          <a:lstStyle/>
          <a:p>
            <a:r>
              <a:rPr lang="en-IN" b="1" dirty="0" smtClean="0"/>
              <a:t>DEMs &amp; VDY Errors</a:t>
            </a:r>
            <a:endParaRPr lang="en-IN" b="1" dirty="0"/>
          </a:p>
        </p:txBody>
      </p:sp>
      <p:graphicFrame>
        <p:nvGraphicFramePr>
          <p:cNvPr id="1026" name="Object 2"/>
          <p:cNvGraphicFramePr>
            <a:graphicFrameLocks noChangeAspect="1"/>
          </p:cNvGraphicFramePr>
          <p:nvPr/>
        </p:nvGraphicFramePr>
        <p:xfrm>
          <a:off x="7480009" y="144649"/>
          <a:ext cx="1528831" cy="1289699"/>
        </p:xfrm>
        <a:graphic>
          <a:graphicData uri="http://schemas.openxmlformats.org/presentationml/2006/ole">
            <mc:AlternateContent xmlns:mc="http://schemas.openxmlformats.org/markup-compatibility/2006">
              <mc:Choice xmlns:v="urn:schemas-microsoft-com:vml" Requires="v">
                <p:oleObj spid="_x0000_s1028" name="Worksheet" showAsIcon="1" r:id="rId3" imgW="914400" imgH="771480" progId="Excel.Sheet.12">
                  <p:embed/>
                </p:oleObj>
              </mc:Choice>
              <mc:Fallback>
                <p:oleObj name="Worksheet" showAsIcon="1" r:id="rId3" imgW="914400" imgH="771480" progId="Excel.Sheet.12">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80009" y="144649"/>
                        <a:ext cx="1528831" cy="12896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602C29-25B3-4C3C-8945-3C666D06F7B7}"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
        <p:nvSpPr>
          <p:cNvPr id="7" name="Title 1"/>
          <p:cNvSpPr>
            <a:spLocks noGrp="1"/>
          </p:cNvSpPr>
          <p:nvPr>
            <p:ph type="title"/>
          </p:nvPr>
        </p:nvSpPr>
        <p:spPr>
          <a:xfrm>
            <a:off x="395288" y="-243408"/>
            <a:ext cx="8353425" cy="719137"/>
          </a:xfrm>
        </p:spPr>
        <p:txBody>
          <a:bodyPr/>
          <a:lstStyle/>
          <a:p>
            <a:r>
              <a:rPr lang="en-US" dirty="0" smtClean="0"/>
              <a:t>Error Handling in VDY:</a:t>
            </a:r>
            <a:endParaRPr lang="en-US" dirty="0"/>
          </a:p>
        </p:txBody>
      </p:sp>
      <p:sp>
        <p:nvSpPr>
          <p:cNvPr id="8" name="TextBox 7"/>
          <p:cNvSpPr txBox="1"/>
          <p:nvPr/>
        </p:nvSpPr>
        <p:spPr>
          <a:xfrm>
            <a:off x="179512" y="692336"/>
            <a:ext cx="7355988" cy="4739759"/>
          </a:xfrm>
          <a:prstGeom prst="rect">
            <a:avLst/>
          </a:prstGeom>
          <a:noFill/>
        </p:spPr>
        <p:txBody>
          <a:bodyPr wrap="none" rtlCol="0">
            <a:spAutoFit/>
          </a:bodyPr>
          <a:lstStyle/>
          <a:p>
            <a:pPr marL="342900" indent="-342900">
              <a:buAutoNum type="arabicPeriod"/>
            </a:pPr>
            <a:r>
              <a:rPr lang="en-US" sz="1400" dirty="0" smtClean="0"/>
              <a:t>If any of the inputs are invalid consecutively for 3 VDY cycles then set</a:t>
            </a:r>
          </a:p>
          <a:p>
            <a:pPr marL="342900" indent="-342900"/>
            <a:r>
              <a:rPr lang="en-US" sz="1400" dirty="0" smtClean="0"/>
              <a:t>       VDY input state as INVALID for that particular signal.</a:t>
            </a:r>
          </a:p>
          <a:p>
            <a:pPr marL="342900" indent="-342900">
              <a:buAutoNum type="arabicPeriod" startAt="2"/>
            </a:pPr>
            <a:r>
              <a:rPr lang="en-US" sz="1400" dirty="0" smtClean="0"/>
              <a:t>Set the input state as “DECREASED” if peak error is detected</a:t>
            </a:r>
          </a:p>
          <a:p>
            <a:pPr marL="342900" indent="-342900">
              <a:buAutoNum type="arabicPeriod" startAt="2"/>
            </a:pPr>
            <a:r>
              <a:rPr lang="en-US" sz="1400" dirty="0" smtClean="0"/>
              <a:t>If Signal Error is detected set the input state as “SUBSTITUTE”</a:t>
            </a:r>
          </a:p>
          <a:p>
            <a:pPr marL="342900" indent="-342900">
              <a:buAutoNum type="arabicPeriod" startAt="2"/>
            </a:pPr>
            <a:r>
              <a:rPr lang="en-US" sz="1400" dirty="0" smtClean="0"/>
              <a:t>Simultaneously if states of Lateral Acceleration and Yaw Rate are INVALID / </a:t>
            </a:r>
          </a:p>
          <a:p>
            <a:pPr marL="342900" indent="-342900"/>
            <a:r>
              <a:rPr lang="en-US" sz="1400" dirty="0" smtClean="0"/>
              <a:t>      DECREASED/SUBSTITUTE then set output yaw rate to INVALID</a:t>
            </a:r>
          </a:p>
          <a:p>
            <a:pPr marL="342900" indent="-342900">
              <a:buAutoNum type="arabicPeriod" startAt="5"/>
            </a:pPr>
            <a:r>
              <a:rPr lang="en-US" sz="1400" dirty="0" smtClean="0"/>
              <a:t>Simultaneously if all 4 input wheel speeds shows INVALID/SUBSTITUTE/DECREASD</a:t>
            </a:r>
          </a:p>
          <a:p>
            <a:pPr marL="342900" indent="-342900"/>
            <a:r>
              <a:rPr lang="en-US" sz="1400" dirty="0" smtClean="0"/>
              <a:t>      make output velocity INVALID</a:t>
            </a:r>
          </a:p>
          <a:p>
            <a:pPr marL="342900" indent="-342900">
              <a:buAutoNum type="arabicPeriod" startAt="6"/>
            </a:pPr>
            <a:r>
              <a:rPr lang="en-US" sz="1400" dirty="0" smtClean="0"/>
              <a:t>If the Output velocity OR Output Acceleration goes out of bounds then make</a:t>
            </a:r>
          </a:p>
          <a:p>
            <a:pPr marL="342900" indent="-342900"/>
            <a:r>
              <a:rPr lang="en-US" sz="1400" dirty="0" smtClean="0"/>
              <a:t>      output velocity INVALID</a:t>
            </a:r>
          </a:p>
          <a:p>
            <a:pPr marL="342900" indent="-342900">
              <a:buAutoNum type="arabicPeriod" startAt="7"/>
            </a:pPr>
            <a:r>
              <a:rPr lang="en-US" sz="1400" dirty="0" smtClean="0"/>
              <a:t>If any input is INVALID corresponding element in Z-Vector of </a:t>
            </a:r>
            <a:r>
              <a:rPr lang="en-US" sz="1400" dirty="0" err="1" smtClean="0"/>
              <a:t>Kalman</a:t>
            </a:r>
            <a:r>
              <a:rPr lang="en-US" sz="1400" dirty="0" smtClean="0"/>
              <a:t> Filter will be set </a:t>
            </a:r>
          </a:p>
          <a:p>
            <a:pPr marL="342900" indent="-342900"/>
            <a:r>
              <a:rPr lang="en-US" sz="1400" dirty="0" smtClean="0"/>
              <a:t>      to zero and variance will be set to high value.</a:t>
            </a:r>
          </a:p>
          <a:p>
            <a:pPr marL="342900" indent="-342900">
              <a:buAutoNum type="arabicPeriod" startAt="8"/>
            </a:pPr>
            <a:r>
              <a:rPr lang="en-US" sz="1400" dirty="0" smtClean="0"/>
              <a:t>If output Yaw Rate OR output Lateral Acceleration or going out of bounds then</a:t>
            </a:r>
          </a:p>
          <a:p>
            <a:pPr marL="342900" indent="-342900"/>
            <a:r>
              <a:rPr lang="en-US" sz="1400" dirty="0" smtClean="0"/>
              <a:t>     output Yaw Rate state will be set to INVALID </a:t>
            </a:r>
          </a:p>
          <a:p>
            <a:pPr marL="342900" indent="-342900">
              <a:buAutoNum type="arabicPeriod" startAt="9"/>
            </a:pPr>
            <a:r>
              <a:rPr lang="en-US" sz="1400" dirty="0" smtClean="0"/>
              <a:t>If any one of the PARAMETERS going out of Range “PARAMETER ERROR” will</a:t>
            </a:r>
          </a:p>
          <a:p>
            <a:pPr marL="342900" indent="-342900"/>
            <a:r>
              <a:rPr lang="en-US" sz="1400" dirty="0" smtClean="0"/>
              <a:t>     be set</a:t>
            </a:r>
          </a:p>
          <a:p>
            <a:pPr marL="342900" indent="-342900"/>
            <a:r>
              <a:rPr lang="en-US" sz="1400" dirty="0" smtClean="0"/>
              <a:t>10. If gradient crosses Threshold in any of the signals then “PEAK ERROR” will be set </a:t>
            </a:r>
          </a:p>
          <a:p>
            <a:pPr marL="342900" indent="-342900"/>
            <a:r>
              <a:rPr lang="en-US" sz="1400" dirty="0" smtClean="0"/>
              <a:t>11. If Magnitude error occurs in any of the input signals then “SIGNAL ERROR” will be</a:t>
            </a:r>
          </a:p>
          <a:p>
            <a:pPr marL="342900" indent="-342900"/>
            <a:r>
              <a:rPr lang="en-US" sz="1400" dirty="0" smtClean="0"/>
              <a:t>      set. </a:t>
            </a:r>
          </a:p>
          <a:p>
            <a:pPr marL="342900" indent="-342900"/>
            <a:r>
              <a:rPr lang="en-US" sz="1400" dirty="0" smtClean="0"/>
              <a:t>12.  Based on the leant offset state curve error is computed.</a:t>
            </a:r>
          </a:p>
          <a:p>
            <a:pPr marL="342900" indent="-342900"/>
            <a:r>
              <a:rPr lang="en-US" dirty="0" smtClean="0"/>
              <a:t>        </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Description of DEMs : (Error Handling in VDY)</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5</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graphicFrame>
        <p:nvGraphicFramePr>
          <p:cNvPr id="7" name="Object 6"/>
          <p:cNvGraphicFramePr>
            <a:graphicFrameLocks noChangeAspect="1"/>
          </p:cNvGraphicFramePr>
          <p:nvPr/>
        </p:nvGraphicFramePr>
        <p:xfrm>
          <a:off x="3200400" y="1556792"/>
          <a:ext cx="1515616" cy="1278801"/>
        </p:xfrm>
        <a:graphic>
          <a:graphicData uri="http://schemas.openxmlformats.org/presentationml/2006/ole">
            <mc:AlternateContent xmlns:mc="http://schemas.openxmlformats.org/markup-compatibility/2006">
              <mc:Choice xmlns:v="urn:schemas-microsoft-com:vml" Requires="v">
                <p:oleObj spid="_x0000_s77828" name="Worksheet" showAsIcon="1" r:id="rId3" imgW="914400" imgH="771480" progId="Excel.Sheet.8">
                  <p:embed/>
                </p:oleObj>
              </mc:Choice>
              <mc:Fallback>
                <p:oleObj name="Worksheet" showAsIcon="1" r:id="rId3" imgW="914400" imgH="771480" progId="Excel.Sheet.8">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1556792"/>
                        <a:ext cx="1515616" cy="12788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57059" y="84733"/>
            <a:ext cx="8353425" cy="442148"/>
          </a:xfrm>
        </p:spPr>
        <p:txBody>
          <a:bodyPr/>
          <a:lstStyle/>
          <a:p>
            <a:r>
              <a:rPr lang="en-US" dirty="0" smtClean="0"/>
              <a:t>Algorithm Architecture</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6</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pic>
        <p:nvPicPr>
          <p:cNvPr id="2050" name="Picture 2"/>
          <p:cNvPicPr>
            <a:picLocks noChangeAspect="1" noChangeArrowheads="1"/>
          </p:cNvPicPr>
          <p:nvPr/>
        </p:nvPicPr>
        <p:blipFill>
          <a:blip r:embed="rId2"/>
          <a:srcRect/>
          <a:stretch>
            <a:fillRect/>
          </a:stretch>
        </p:blipFill>
        <p:spPr bwMode="auto">
          <a:xfrm>
            <a:off x="1634353" y="491421"/>
            <a:ext cx="7289626" cy="5502779"/>
          </a:xfrm>
          <a:prstGeom prst="rect">
            <a:avLst/>
          </a:prstGeom>
          <a:noFill/>
          <a:ln w="9525">
            <a:noFill/>
            <a:miter lim="800000"/>
            <a:headEnd/>
            <a:tailEnd/>
          </a:ln>
        </p:spPr>
      </p:pic>
      <p:sp>
        <p:nvSpPr>
          <p:cNvPr id="11" name="TextBox 10"/>
          <p:cNvSpPr txBox="1"/>
          <p:nvPr/>
        </p:nvSpPr>
        <p:spPr>
          <a:xfrm>
            <a:off x="75913" y="1412776"/>
            <a:ext cx="1698607" cy="1384995"/>
          </a:xfrm>
          <a:prstGeom prst="rect">
            <a:avLst/>
          </a:prstGeom>
          <a:noFill/>
        </p:spPr>
        <p:txBody>
          <a:bodyPr wrap="none" rtlCol="0">
            <a:spAutoFit/>
          </a:bodyPr>
          <a:lstStyle/>
          <a:p>
            <a:r>
              <a:rPr lang="en-US" sz="1200" dirty="0" smtClean="0"/>
              <a:t>Co-ordinate system:</a:t>
            </a:r>
          </a:p>
          <a:p>
            <a:pPr marL="228600" indent="-228600">
              <a:buAutoNum type="arabicPeriod"/>
            </a:pPr>
            <a:r>
              <a:rPr lang="en-US" sz="1200" dirty="0" err="1" smtClean="0"/>
              <a:t>Autosar</a:t>
            </a:r>
            <a:r>
              <a:rPr lang="en-US" sz="1200" dirty="0" smtClean="0"/>
              <a:t> Compliant</a:t>
            </a:r>
          </a:p>
          <a:p>
            <a:pPr marL="228600" indent="-228600">
              <a:buAutoNum type="arabicPeriod"/>
            </a:pPr>
            <a:r>
              <a:rPr lang="en-US" sz="1200" dirty="0" smtClean="0"/>
              <a:t>Defined </a:t>
            </a:r>
            <a:r>
              <a:rPr lang="en-US" sz="1200" dirty="0" err="1" smtClean="0"/>
              <a:t>w.r.t</a:t>
            </a:r>
            <a:r>
              <a:rPr lang="en-US" sz="1200" dirty="0" smtClean="0"/>
              <a:t>. COG</a:t>
            </a:r>
          </a:p>
          <a:p>
            <a:pPr marL="228600" indent="-228600">
              <a:buAutoNum type="arabicPeriod"/>
            </a:pPr>
            <a:r>
              <a:rPr lang="en-US" sz="1200" dirty="0" smtClean="0"/>
              <a:t>Left Turn,</a:t>
            </a:r>
          </a:p>
          <a:p>
            <a:pPr marL="228600" indent="-228600"/>
            <a:r>
              <a:rPr lang="en-US" sz="1200" dirty="0" smtClean="0"/>
              <a:t>        SWA            +</a:t>
            </a:r>
            <a:r>
              <a:rPr lang="en-US" sz="1200" dirty="0" err="1" smtClean="0"/>
              <a:t>ve</a:t>
            </a:r>
            <a:endParaRPr lang="en-US" sz="1200" dirty="0" smtClean="0"/>
          </a:p>
          <a:p>
            <a:pPr marL="228600" indent="-228600"/>
            <a:r>
              <a:rPr lang="en-US" sz="1200" dirty="0" smtClean="0"/>
              <a:t>        Yaw Rate    +</a:t>
            </a:r>
            <a:r>
              <a:rPr lang="en-US" sz="1200" dirty="0" err="1" smtClean="0"/>
              <a:t>ve</a:t>
            </a:r>
            <a:endParaRPr lang="en-US" sz="1200" dirty="0" smtClean="0"/>
          </a:p>
          <a:p>
            <a:pPr marL="228600" indent="-228600"/>
            <a:r>
              <a:rPr lang="en-US" sz="1200" dirty="0" smtClean="0"/>
              <a:t>        Lateral Acc  +</a:t>
            </a:r>
            <a:r>
              <a:rPr lang="en-US" sz="1200" dirty="0" err="1" smtClean="0"/>
              <a:t>ve</a:t>
            </a:r>
            <a:endParaRPr lang="en-US" sz="1200" dirty="0" smtClean="0"/>
          </a:p>
        </p:txBody>
      </p:sp>
      <p:sp>
        <p:nvSpPr>
          <p:cNvPr id="14" name="Rectangle 13"/>
          <p:cNvSpPr/>
          <p:nvPr/>
        </p:nvSpPr>
        <p:spPr>
          <a:xfrm>
            <a:off x="647564" y="4509120"/>
            <a:ext cx="360040" cy="504056"/>
          </a:xfrm>
          <a:prstGeom prst="rect">
            <a:avLst/>
          </a:prstGeom>
          <a:solidFill>
            <a:schemeClr val="accent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err="1" smtClean="0">
              <a:solidFill>
                <a:schemeClr val="bg2">
                  <a:lumMod val="10000"/>
                </a:schemeClr>
              </a:solidFill>
            </a:endParaRPr>
          </a:p>
        </p:txBody>
      </p:sp>
      <p:sp>
        <p:nvSpPr>
          <p:cNvPr id="15" name="Rectangle 14"/>
          <p:cNvSpPr/>
          <p:nvPr/>
        </p:nvSpPr>
        <p:spPr>
          <a:xfrm rot="-900000">
            <a:off x="583956" y="3157768"/>
            <a:ext cx="360040" cy="504056"/>
          </a:xfrm>
          <a:prstGeom prst="rect">
            <a:avLst/>
          </a:prstGeom>
          <a:solidFill>
            <a:schemeClr val="accent1"/>
          </a:solidFill>
          <a:ln w="9525">
            <a:solidFill>
              <a:schemeClr val="tx1"/>
            </a:solidFill>
          </a:ln>
          <a:scene3d>
            <a:camera prst="orthographicFront">
              <a:rot lat="0" lon="0" rev="0"/>
            </a:camera>
            <a:lightRig rig="threePt" dir="t"/>
          </a:scene3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err="1" smtClean="0">
              <a:solidFill>
                <a:schemeClr val="bg2">
                  <a:lumMod val="10000"/>
                </a:schemeClr>
              </a:solidFill>
            </a:endParaRPr>
          </a:p>
        </p:txBody>
      </p:sp>
      <p:sp>
        <p:nvSpPr>
          <p:cNvPr id="16" name="Oval 15"/>
          <p:cNvSpPr/>
          <p:nvPr/>
        </p:nvSpPr>
        <p:spPr>
          <a:xfrm>
            <a:off x="755576" y="3989611"/>
            <a:ext cx="144016" cy="144016"/>
          </a:xfrm>
          <a:prstGeom prst="ellipse">
            <a:avLst/>
          </a:prstGeom>
          <a:solidFill>
            <a:schemeClr val="accent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err="1" smtClean="0">
              <a:solidFill>
                <a:schemeClr val="bg2">
                  <a:lumMod val="10000"/>
                </a:schemeClr>
              </a:solidFill>
            </a:endParaRPr>
          </a:p>
        </p:txBody>
      </p:sp>
      <p:sp>
        <p:nvSpPr>
          <p:cNvPr id="17" name="Multiply 16"/>
          <p:cNvSpPr/>
          <p:nvPr/>
        </p:nvSpPr>
        <p:spPr>
          <a:xfrm>
            <a:off x="754815" y="3989611"/>
            <a:ext cx="144777" cy="144016"/>
          </a:xfrm>
          <a:prstGeom prst="mathMultiply">
            <a:avLst/>
          </a:prstGeom>
          <a:solidFill>
            <a:schemeClr val="accent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err="1" smtClean="0">
              <a:solidFill>
                <a:schemeClr val="bg2">
                  <a:lumMod val="10000"/>
                </a:schemeClr>
              </a:solidFill>
            </a:endParaRPr>
          </a:p>
        </p:txBody>
      </p:sp>
      <p:cxnSp>
        <p:nvCxnSpPr>
          <p:cNvPr id="19" name="Straight Connector 18"/>
          <p:cNvCxnSpPr>
            <a:stCxn id="15" idx="2"/>
            <a:endCxn id="14" idx="0"/>
          </p:cNvCxnSpPr>
          <p:nvPr/>
        </p:nvCxnSpPr>
        <p:spPr>
          <a:xfrm flipH="1">
            <a:off x="827584" y="3653236"/>
            <a:ext cx="1622" cy="855884"/>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a:off x="296815" y="4059283"/>
            <a:ext cx="532527" cy="0"/>
          </a:xfrm>
          <a:prstGeom prst="straightConnector1">
            <a:avLst/>
          </a:prstGeom>
          <a:ln w="952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814653" y="2996952"/>
            <a:ext cx="12931" cy="992660"/>
          </a:xfrm>
          <a:prstGeom prst="straightConnector1">
            <a:avLst/>
          </a:prstGeom>
          <a:ln w="95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833815" y="2812286"/>
            <a:ext cx="338554" cy="369332"/>
          </a:xfrm>
          <a:prstGeom prst="rect">
            <a:avLst/>
          </a:prstGeom>
          <a:noFill/>
        </p:spPr>
        <p:txBody>
          <a:bodyPr wrap="none" rtlCol="0">
            <a:spAutoFit/>
          </a:bodyPr>
          <a:lstStyle/>
          <a:p>
            <a:r>
              <a:rPr lang="en-US" dirty="0" smtClean="0"/>
              <a:t>X</a:t>
            </a:r>
            <a:endParaRPr lang="en-US" dirty="0"/>
          </a:p>
        </p:txBody>
      </p:sp>
      <p:sp>
        <p:nvSpPr>
          <p:cNvPr id="28" name="TextBox 27"/>
          <p:cNvSpPr txBox="1"/>
          <p:nvPr/>
        </p:nvSpPr>
        <p:spPr>
          <a:xfrm>
            <a:off x="257059" y="4059283"/>
            <a:ext cx="338554" cy="369332"/>
          </a:xfrm>
          <a:prstGeom prst="rect">
            <a:avLst/>
          </a:prstGeom>
          <a:noFill/>
        </p:spPr>
        <p:txBody>
          <a:bodyPr wrap="none" rtlCol="0">
            <a:spAutoFit/>
          </a:bodyPr>
          <a:lstStyle/>
          <a:p>
            <a:r>
              <a:rPr lang="en-US" dirty="0" smtClean="0"/>
              <a:t>Y</a:t>
            </a:r>
            <a:endParaRPr lang="en-US" dirty="0"/>
          </a:p>
        </p:txBody>
      </p:sp>
      <p:sp>
        <p:nvSpPr>
          <p:cNvPr id="30" name="TextBox 29"/>
          <p:cNvSpPr txBox="1"/>
          <p:nvPr/>
        </p:nvSpPr>
        <p:spPr>
          <a:xfrm>
            <a:off x="409083" y="5013176"/>
            <a:ext cx="849463" cy="276999"/>
          </a:xfrm>
          <a:prstGeom prst="rect">
            <a:avLst/>
          </a:prstGeom>
          <a:noFill/>
        </p:spPr>
        <p:txBody>
          <a:bodyPr wrap="none" rtlCol="0">
            <a:spAutoFit/>
          </a:bodyPr>
          <a:lstStyle/>
          <a:p>
            <a:r>
              <a:rPr lang="en-US" sz="1200" dirty="0" smtClean="0"/>
              <a:t>Rear Axle</a:t>
            </a:r>
            <a:endParaRPr lang="en-US" sz="1200" dirty="0"/>
          </a:p>
        </p:txBody>
      </p:sp>
      <p:sp>
        <p:nvSpPr>
          <p:cNvPr id="31" name="TextBox 30"/>
          <p:cNvSpPr txBox="1"/>
          <p:nvPr/>
        </p:nvSpPr>
        <p:spPr>
          <a:xfrm>
            <a:off x="763976" y="3561329"/>
            <a:ext cx="876715" cy="276999"/>
          </a:xfrm>
          <a:prstGeom prst="rect">
            <a:avLst/>
          </a:prstGeom>
          <a:noFill/>
        </p:spPr>
        <p:txBody>
          <a:bodyPr wrap="none" rtlCol="0">
            <a:spAutoFit/>
          </a:bodyPr>
          <a:lstStyle/>
          <a:p>
            <a:r>
              <a:rPr lang="en-US" sz="1200" dirty="0" smtClean="0"/>
              <a:t>Front Axle</a:t>
            </a:r>
            <a:endParaRPr lang="en-US" sz="1200" dirty="0"/>
          </a:p>
        </p:txBody>
      </p:sp>
      <p:sp>
        <p:nvSpPr>
          <p:cNvPr id="32" name="TextBox 31"/>
          <p:cNvSpPr txBox="1"/>
          <p:nvPr/>
        </p:nvSpPr>
        <p:spPr>
          <a:xfrm>
            <a:off x="213452" y="5378732"/>
            <a:ext cx="958917" cy="276999"/>
          </a:xfrm>
          <a:prstGeom prst="rect">
            <a:avLst/>
          </a:prstGeom>
          <a:noFill/>
        </p:spPr>
        <p:txBody>
          <a:bodyPr wrap="none" rtlCol="0">
            <a:spAutoFit/>
          </a:bodyPr>
          <a:lstStyle/>
          <a:p>
            <a:r>
              <a:rPr lang="en-US" sz="1200" dirty="0" smtClean="0"/>
              <a:t>4. Z +</a:t>
            </a:r>
            <a:r>
              <a:rPr lang="en-US" sz="1200" dirty="0" err="1" smtClean="0"/>
              <a:t>ve</a:t>
            </a:r>
            <a:r>
              <a:rPr lang="en-US" sz="1200" dirty="0" smtClean="0"/>
              <a:t> up</a:t>
            </a:r>
          </a:p>
        </p:txBody>
      </p:sp>
      <p:sp>
        <p:nvSpPr>
          <p:cNvPr id="34" name="Curved Up Arrow 33"/>
          <p:cNvSpPr/>
          <p:nvPr/>
        </p:nvSpPr>
        <p:spPr>
          <a:xfrm>
            <a:off x="703234" y="4133627"/>
            <a:ext cx="299858" cy="153308"/>
          </a:xfrm>
          <a:prstGeom prst="curvedUpArrow">
            <a:avLst/>
          </a:prstGeom>
          <a:solidFill>
            <a:srgbClr val="FF0000"/>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err="1" smtClean="0">
              <a:solidFill>
                <a:schemeClr val="bg2">
                  <a:lumMod val="10000"/>
                </a:schemeClr>
              </a:solidFill>
            </a:endParaRPr>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Inter Connection of Different VDY processing modules </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7</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pic>
        <p:nvPicPr>
          <p:cNvPr id="7" name="Picture 3"/>
          <p:cNvPicPr>
            <a:picLocks noGrp="1" noChangeAspect="1" noChangeArrowheads="1"/>
          </p:cNvPicPr>
          <p:nvPr>
            <p:ph idx="1"/>
          </p:nvPr>
        </p:nvPicPr>
        <p:blipFill>
          <a:blip r:embed="rId2" cstate="print"/>
          <a:srcRect/>
          <a:stretch>
            <a:fillRect/>
          </a:stretch>
        </p:blipFill>
        <p:spPr bwMode="auto">
          <a:xfrm>
            <a:off x="732942" y="1124744"/>
            <a:ext cx="8044955" cy="4752181"/>
          </a:xfrm>
          <a:prstGeom prst="rect">
            <a:avLst/>
          </a:prstGeom>
          <a:noFill/>
          <a:ln w="9525">
            <a:noFill/>
            <a:miter lim="800000"/>
            <a:headEnd/>
            <a:tailEnd/>
          </a:ln>
          <a:effectLst/>
        </p:spPr>
      </p:pic>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Input Signal Checks</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8</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sp>
        <p:nvSpPr>
          <p:cNvPr id="7" name="Rectangle 6"/>
          <p:cNvSpPr/>
          <p:nvPr/>
        </p:nvSpPr>
        <p:spPr>
          <a:xfrm>
            <a:off x="3635896" y="1700808"/>
            <a:ext cx="1152128" cy="914400"/>
          </a:xfrm>
          <a:prstGeom prst="rect">
            <a:avLst/>
          </a:prstGeom>
          <a:noFill/>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err="1" smtClean="0">
              <a:solidFill>
                <a:schemeClr val="bg2">
                  <a:lumMod val="10000"/>
                </a:schemeClr>
              </a:solidFill>
            </a:endParaRPr>
          </a:p>
        </p:txBody>
      </p:sp>
      <p:cxnSp>
        <p:nvCxnSpPr>
          <p:cNvPr id="9" name="Straight Arrow Connector 8"/>
          <p:cNvCxnSpPr/>
          <p:nvPr/>
        </p:nvCxnSpPr>
        <p:spPr>
          <a:xfrm>
            <a:off x="2771800" y="2132856"/>
            <a:ext cx="864096" cy="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211960" y="1844824"/>
            <a:ext cx="0" cy="648072"/>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851920" y="2132856"/>
            <a:ext cx="72008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4466084" y="1873399"/>
            <a:ext cx="14401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3851920" y="2348880"/>
            <a:ext cx="14401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3995936" y="1873399"/>
            <a:ext cx="470148" cy="47548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4788024" y="2132856"/>
            <a:ext cx="864096" cy="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3378238" y="1393031"/>
            <a:ext cx="1606530" cy="307777"/>
          </a:xfrm>
          <a:prstGeom prst="rect">
            <a:avLst/>
          </a:prstGeom>
          <a:noFill/>
        </p:spPr>
        <p:txBody>
          <a:bodyPr wrap="none" rtlCol="0">
            <a:spAutoFit/>
          </a:bodyPr>
          <a:lstStyle/>
          <a:p>
            <a:r>
              <a:rPr lang="en-US" sz="1400" dirty="0" smtClean="0"/>
              <a:t>Magnitude Limiter</a:t>
            </a:r>
            <a:endParaRPr lang="en-US" sz="1400" dirty="0"/>
          </a:p>
        </p:txBody>
      </p:sp>
      <p:sp>
        <p:nvSpPr>
          <p:cNvPr id="25" name="TextBox 24"/>
          <p:cNvSpPr txBox="1"/>
          <p:nvPr/>
        </p:nvSpPr>
        <p:spPr>
          <a:xfrm>
            <a:off x="5652120" y="1660158"/>
            <a:ext cx="2342308" cy="1046440"/>
          </a:xfrm>
          <a:prstGeom prst="rect">
            <a:avLst/>
          </a:prstGeom>
          <a:noFill/>
        </p:spPr>
        <p:txBody>
          <a:bodyPr wrap="none" rtlCol="0">
            <a:spAutoFit/>
          </a:bodyPr>
          <a:lstStyle/>
          <a:p>
            <a:pPr marL="342900" indent="-342900">
              <a:buAutoNum type="arabicPeriod"/>
            </a:pPr>
            <a:r>
              <a:rPr lang="en-US" sz="1100" dirty="0" smtClean="0"/>
              <a:t>Wheel Speeds +/- 115 m/sec</a:t>
            </a:r>
          </a:p>
          <a:p>
            <a:pPr marL="342900" indent="-342900">
              <a:buAutoNum type="arabicPeriod"/>
            </a:pPr>
            <a:r>
              <a:rPr lang="en-US" sz="1100" dirty="0" smtClean="0"/>
              <a:t>Yaw Rate +/- 150 deg/sec</a:t>
            </a:r>
          </a:p>
          <a:p>
            <a:pPr marL="342900" indent="-342900">
              <a:buAutoNum type="arabicPeriod"/>
            </a:pPr>
            <a:r>
              <a:rPr lang="en-US" sz="1100" dirty="0" smtClean="0"/>
              <a:t>Long </a:t>
            </a:r>
            <a:r>
              <a:rPr lang="en-US" sz="1100" dirty="0" err="1" smtClean="0"/>
              <a:t>Accel</a:t>
            </a:r>
            <a:r>
              <a:rPr lang="en-US" sz="1100" dirty="0" smtClean="0"/>
              <a:t> +/- 10 m/sec2</a:t>
            </a:r>
          </a:p>
          <a:p>
            <a:pPr marL="342900" indent="-342900">
              <a:buAutoNum type="arabicPeriod"/>
            </a:pPr>
            <a:r>
              <a:rPr lang="en-US" sz="1100" dirty="0" smtClean="0"/>
              <a:t>Lateral </a:t>
            </a:r>
            <a:r>
              <a:rPr lang="en-US" sz="1100" dirty="0" err="1" smtClean="0"/>
              <a:t>Accel</a:t>
            </a:r>
            <a:r>
              <a:rPr lang="en-US" sz="1100" dirty="0" smtClean="0"/>
              <a:t> - +/10 m/sec2</a:t>
            </a:r>
          </a:p>
          <a:p>
            <a:pPr marL="342900" indent="-342900">
              <a:buAutoNum type="arabicPeriod"/>
            </a:pPr>
            <a:r>
              <a:rPr lang="en-US" sz="1100" dirty="0" smtClean="0"/>
              <a:t>SWA +/- 90 *SR</a:t>
            </a:r>
            <a:r>
              <a:rPr lang="en-US" dirty="0" smtClean="0"/>
              <a:t> </a:t>
            </a:r>
            <a:endParaRPr lang="en-US" dirty="0"/>
          </a:p>
        </p:txBody>
      </p:sp>
      <p:sp>
        <p:nvSpPr>
          <p:cNvPr id="26" name="TextBox 25"/>
          <p:cNvSpPr txBox="1"/>
          <p:nvPr/>
        </p:nvSpPr>
        <p:spPr>
          <a:xfrm>
            <a:off x="5642595" y="3183260"/>
            <a:ext cx="2263761" cy="1046440"/>
          </a:xfrm>
          <a:prstGeom prst="rect">
            <a:avLst/>
          </a:prstGeom>
          <a:noFill/>
        </p:spPr>
        <p:txBody>
          <a:bodyPr wrap="none" rtlCol="0">
            <a:spAutoFit/>
          </a:bodyPr>
          <a:lstStyle/>
          <a:p>
            <a:pPr marL="342900" indent="-342900">
              <a:buAutoNum type="arabicPeriod"/>
            </a:pPr>
            <a:r>
              <a:rPr lang="en-US" sz="1100" dirty="0" smtClean="0"/>
              <a:t>Wheel Speeds +/- 10 m/sec</a:t>
            </a:r>
          </a:p>
          <a:p>
            <a:pPr marL="342900" indent="-342900">
              <a:buAutoNum type="arabicPeriod"/>
            </a:pPr>
            <a:r>
              <a:rPr lang="en-US" sz="1100" dirty="0" smtClean="0"/>
              <a:t>Yaw Rate +/- 6 deg/sec</a:t>
            </a:r>
          </a:p>
          <a:p>
            <a:pPr marL="342900" indent="-342900">
              <a:buAutoNum type="arabicPeriod"/>
            </a:pPr>
            <a:r>
              <a:rPr lang="en-US" sz="1100" dirty="0" smtClean="0"/>
              <a:t>Long </a:t>
            </a:r>
            <a:r>
              <a:rPr lang="en-US" sz="1100" dirty="0" err="1" smtClean="0"/>
              <a:t>Accel</a:t>
            </a:r>
            <a:r>
              <a:rPr lang="en-US" sz="1100" dirty="0" smtClean="0"/>
              <a:t> +/- 2.5 m/sec2</a:t>
            </a:r>
          </a:p>
          <a:p>
            <a:pPr marL="342900" indent="-342900">
              <a:buAutoNum type="arabicPeriod"/>
            </a:pPr>
            <a:r>
              <a:rPr lang="en-US" sz="1100" dirty="0" smtClean="0"/>
              <a:t>Lateral </a:t>
            </a:r>
            <a:r>
              <a:rPr lang="en-US" sz="1100" dirty="0" err="1" smtClean="0"/>
              <a:t>Accel</a:t>
            </a:r>
            <a:r>
              <a:rPr lang="en-US" sz="1100" dirty="0" smtClean="0"/>
              <a:t> - +/2.5 m/sec2</a:t>
            </a:r>
          </a:p>
          <a:p>
            <a:pPr marL="342900" indent="-342900">
              <a:buAutoNum type="arabicPeriod"/>
            </a:pPr>
            <a:r>
              <a:rPr lang="en-US" sz="1100" dirty="0" smtClean="0"/>
              <a:t>SWA +/- 6 deg/sec</a:t>
            </a:r>
            <a:r>
              <a:rPr lang="en-US" dirty="0" smtClean="0"/>
              <a:t> </a:t>
            </a:r>
            <a:endParaRPr lang="en-US" dirty="0"/>
          </a:p>
        </p:txBody>
      </p:sp>
      <p:grpSp>
        <p:nvGrpSpPr>
          <p:cNvPr id="43" name="Group 42"/>
          <p:cNvGrpSpPr/>
          <p:nvPr/>
        </p:nvGrpSpPr>
        <p:grpSpPr>
          <a:xfrm>
            <a:off x="2726085" y="3259460"/>
            <a:ext cx="2880320" cy="914400"/>
            <a:chOff x="2924200" y="1853208"/>
            <a:chExt cx="2880320" cy="914400"/>
          </a:xfrm>
        </p:grpSpPr>
        <p:sp>
          <p:nvSpPr>
            <p:cNvPr id="35" name="Rectangle 34"/>
            <p:cNvSpPr/>
            <p:nvPr/>
          </p:nvSpPr>
          <p:spPr>
            <a:xfrm>
              <a:off x="3788296" y="1853208"/>
              <a:ext cx="1152128" cy="914400"/>
            </a:xfrm>
            <a:prstGeom prst="rect">
              <a:avLst/>
            </a:prstGeom>
            <a:noFill/>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err="1" smtClean="0">
                <a:solidFill>
                  <a:schemeClr val="bg2">
                    <a:lumMod val="10000"/>
                  </a:schemeClr>
                </a:solidFill>
              </a:endParaRPr>
            </a:p>
          </p:txBody>
        </p:sp>
        <p:cxnSp>
          <p:nvCxnSpPr>
            <p:cNvPr id="36" name="Straight Arrow Connector 35"/>
            <p:cNvCxnSpPr/>
            <p:nvPr/>
          </p:nvCxnSpPr>
          <p:spPr>
            <a:xfrm>
              <a:off x="2924200" y="2285256"/>
              <a:ext cx="864096" cy="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4364360" y="1997224"/>
              <a:ext cx="0" cy="648072"/>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4004320" y="2285256"/>
              <a:ext cx="72008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a:off x="4618484" y="2025799"/>
              <a:ext cx="14401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a:off x="4004320" y="2501280"/>
              <a:ext cx="14401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V="1">
              <a:off x="4148336" y="2025799"/>
              <a:ext cx="470148" cy="47548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4940424" y="2285256"/>
              <a:ext cx="864096" cy="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44" name="TextBox 43"/>
          <p:cNvSpPr txBox="1"/>
          <p:nvPr/>
        </p:nvSpPr>
        <p:spPr>
          <a:xfrm>
            <a:off x="3592635" y="2951683"/>
            <a:ext cx="1149674" cy="307777"/>
          </a:xfrm>
          <a:prstGeom prst="rect">
            <a:avLst/>
          </a:prstGeom>
          <a:noFill/>
        </p:spPr>
        <p:txBody>
          <a:bodyPr wrap="none" rtlCol="0">
            <a:spAutoFit/>
          </a:bodyPr>
          <a:lstStyle/>
          <a:p>
            <a:r>
              <a:rPr lang="en-US" sz="1400" dirty="0" smtClean="0"/>
              <a:t>Rate Limiter</a:t>
            </a:r>
            <a:endParaRPr lang="en-US" sz="1400" dirty="0"/>
          </a:p>
        </p:txBody>
      </p:sp>
      <p:sp>
        <p:nvSpPr>
          <p:cNvPr id="45" name="TextBox 44"/>
          <p:cNvSpPr txBox="1"/>
          <p:nvPr/>
        </p:nvSpPr>
        <p:spPr>
          <a:xfrm>
            <a:off x="1731902" y="1994356"/>
            <a:ext cx="994183" cy="276999"/>
          </a:xfrm>
          <a:prstGeom prst="rect">
            <a:avLst/>
          </a:prstGeom>
          <a:noFill/>
        </p:spPr>
        <p:txBody>
          <a:bodyPr wrap="none" rtlCol="0">
            <a:spAutoFit/>
          </a:bodyPr>
          <a:lstStyle/>
          <a:p>
            <a:r>
              <a:rPr lang="en-US" sz="1200" dirty="0" smtClean="0"/>
              <a:t>Input Signal</a:t>
            </a:r>
            <a:endParaRPr lang="en-US" sz="1200" dirty="0"/>
          </a:p>
        </p:txBody>
      </p:sp>
      <p:sp>
        <p:nvSpPr>
          <p:cNvPr id="46" name="TextBox 45"/>
          <p:cNvSpPr txBox="1"/>
          <p:nvPr/>
        </p:nvSpPr>
        <p:spPr>
          <a:xfrm>
            <a:off x="1731902" y="3553008"/>
            <a:ext cx="994183" cy="276999"/>
          </a:xfrm>
          <a:prstGeom prst="rect">
            <a:avLst/>
          </a:prstGeom>
          <a:noFill/>
        </p:spPr>
        <p:txBody>
          <a:bodyPr wrap="none" rtlCol="0">
            <a:spAutoFit/>
          </a:bodyPr>
          <a:lstStyle/>
          <a:p>
            <a:r>
              <a:rPr lang="en-US" sz="1200" dirty="0" smtClean="0"/>
              <a:t>Input Signal</a:t>
            </a:r>
            <a:endParaRPr lang="en-US" sz="1200" dirty="0"/>
          </a:p>
        </p:txBody>
      </p:sp>
      <p:sp>
        <p:nvSpPr>
          <p:cNvPr id="56" name="TextBox 55"/>
          <p:cNvSpPr txBox="1"/>
          <p:nvPr/>
        </p:nvSpPr>
        <p:spPr>
          <a:xfrm>
            <a:off x="3459285" y="4450134"/>
            <a:ext cx="1357551" cy="307777"/>
          </a:xfrm>
          <a:prstGeom prst="rect">
            <a:avLst/>
          </a:prstGeom>
          <a:noFill/>
        </p:spPr>
        <p:txBody>
          <a:bodyPr wrap="none" rtlCol="0">
            <a:spAutoFit/>
          </a:bodyPr>
          <a:lstStyle/>
          <a:p>
            <a:r>
              <a:rPr lang="en-US" sz="1400" dirty="0" smtClean="0"/>
              <a:t>Validity checks</a:t>
            </a:r>
            <a:endParaRPr lang="en-US" sz="1400" dirty="0"/>
          </a:p>
        </p:txBody>
      </p:sp>
      <p:sp>
        <p:nvSpPr>
          <p:cNvPr id="57" name="TextBox 56"/>
          <p:cNvSpPr txBox="1"/>
          <p:nvPr/>
        </p:nvSpPr>
        <p:spPr>
          <a:xfrm>
            <a:off x="971600" y="4946684"/>
            <a:ext cx="994183" cy="276999"/>
          </a:xfrm>
          <a:prstGeom prst="rect">
            <a:avLst/>
          </a:prstGeom>
          <a:noFill/>
        </p:spPr>
        <p:txBody>
          <a:bodyPr wrap="none" rtlCol="0">
            <a:spAutoFit/>
          </a:bodyPr>
          <a:lstStyle/>
          <a:p>
            <a:r>
              <a:rPr lang="en-US" sz="1200" dirty="0" smtClean="0"/>
              <a:t>Input Signal</a:t>
            </a:r>
            <a:endParaRPr lang="en-US" sz="1200" dirty="0"/>
          </a:p>
        </p:txBody>
      </p:sp>
      <p:cxnSp>
        <p:nvCxnSpPr>
          <p:cNvPr id="58" name="Straight Arrow Connector 57"/>
          <p:cNvCxnSpPr/>
          <p:nvPr/>
        </p:nvCxnSpPr>
        <p:spPr>
          <a:xfrm>
            <a:off x="1965783" y="5085184"/>
            <a:ext cx="864096" cy="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2897115" y="4762018"/>
            <a:ext cx="2538259" cy="646331"/>
          </a:xfrm>
          <a:prstGeom prst="rect">
            <a:avLst/>
          </a:prstGeom>
          <a:noFill/>
          <a:ln>
            <a:solidFill>
              <a:schemeClr val="tx1"/>
            </a:solidFill>
          </a:ln>
        </p:spPr>
        <p:txBody>
          <a:bodyPr wrap="none" rtlCol="0">
            <a:spAutoFit/>
          </a:bodyPr>
          <a:lstStyle/>
          <a:p>
            <a:r>
              <a:rPr lang="en-US" sz="1200" dirty="0" smtClean="0"/>
              <a:t>Wait for 3 VDY cycles</a:t>
            </a:r>
          </a:p>
          <a:p>
            <a:r>
              <a:rPr lang="en-US" sz="1200" dirty="0" smtClean="0"/>
              <a:t>To check whether input is INVALID</a:t>
            </a:r>
          </a:p>
          <a:p>
            <a:r>
              <a:rPr lang="en-US" sz="1200" dirty="0" smtClean="0"/>
              <a:t>Then set the state as INVALID</a:t>
            </a:r>
            <a:endParaRPr lang="en-US" sz="1200" dirty="0"/>
          </a:p>
        </p:txBody>
      </p:sp>
      <p:cxnSp>
        <p:nvCxnSpPr>
          <p:cNvPr id="60" name="Straight Arrow Connector 59"/>
          <p:cNvCxnSpPr/>
          <p:nvPr/>
        </p:nvCxnSpPr>
        <p:spPr>
          <a:xfrm>
            <a:off x="5435374" y="5085184"/>
            <a:ext cx="864096" cy="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4999" y="116632"/>
            <a:ext cx="8353425" cy="719137"/>
          </a:xfrm>
        </p:spPr>
        <p:txBody>
          <a:bodyPr/>
          <a:lstStyle/>
          <a:p>
            <a:r>
              <a:rPr lang="en-US" dirty="0" smtClean="0"/>
              <a:t>Influence of Different Parameters</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9</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pic>
        <p:nvPicPr>
          <p:cNvPr id="25601" name="Picture 1"/>
          <p:cNvPicPr>
            <a:picLocks noChangeAspect="1" noChangeArrowheads="1"/>
          </p:cNvPicPr>
          <p:nvPr/>
        </p:nvPicPr>
        <p:blipFill>
          <a:blip r:embed="rId2"/>
          <a:srcRect/>
          <a:stretch>
            <a:fillRect/>
          </a:stretch>
        </p:blipFill>
        <p:spPr bwMode="auto">
          <a:xfrm>
            <a:off x="34999" y="980728"/>
            <a:ext cx="8137153" cy="1450596"/>
          </a:xfrm>
          <a:prstGeom prst="rect">
            <a:avLst/>
          </a:prstGeom>
          <a:noFill/>
          <a:ln w="9525">
            <a:noFill/>
            <a:miter lim="800000"/>
            <a:headEnd/>
            <a:tailEnd/>
          </a:ln>
        </p:spPr>
      </p:pic>
      <p:pic>
        <p:nvPicPr>
          <p:cNvPr id="25602" name="Picture 2"/>
          <p:cNvPicPr>
            <a:picLocks noChangeAspect="1" noChangeArrowheads="1"/>
          </p:cNvPicPr>
          <p:nvPr/>
        </p:nvPicPr>
        <p:blipFill>
          <a:blip r:embed="rId3"/>
          <a:srcRect/>
          <a:stretch>
            <a:fillRect/>
          </a:stretch>
        </p:blipFill>
        <p:spPr bwMode="auto">
          <a:xfrm>
            <a:off x="0" y="2359422"/>
            <a:ext cx="8496944" cy="1709751"/>
          </a:xfrm>
          <a:prstGeom prst="rect">
            <a:avLst/>
          </a:prstGeom>
          <a:noFill/>
          <a:ln w="9525">
            <a:noFill/>
            <a:miter lim="800000"/>
            <a:headEnd/>
            <a:tailEnd/>
          </a:ln>
        </p:spPr>
      </p:pic>
      <p:sp>
        <p:nvSpPr>
          <p:cNvPr id="8" name="TextBox 7"/>
          <p:cNvSpPr txBox="1"/>
          <p:nvPr/>
        </p:nvSpPr>
        <p:spPr>
          <a:xfrm>
            <a:off x="-10988" y="3963441"/>
            <a:ext cx="3052182" cy="307777"/>
          </a:xfrm>
          <a:prstGeom prst="rect">
            <a:avLst/>
          </a:prstGeom>
          <a:noFill/>
        </p:spPr>
        <p:txBody>
          <a:bodyPr wrap="none" rtlCol="0">
            <a:spAutoFit/>
          </a:bodyPr>
          <a:lstStyle/>
          <a:p>
            <a:r>
              <a:rPr lang="en-US" sz="1400" dirty="0" smtClean="0"/>
              <a:t>Vehicle Width ------ Not used in VDY</a:t>
            </a:r>
            <a:endParaRPr lang="en-US" sz="1400" dirty="0"/>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04788" y="38100"/>
            <a:ext cx="8353425" cy="719137"/>
          </a:xfrm>
        </p:spPr>
        <p:txBody>
          <a:bodyPr/>
          <a:lstStyle/>
          <a:p>
            <a:r>
              <a:rPr lang="en-US" dirty="0" smtClean="0"/>
              <a:t>SWA Offset</a:t>
            </a:r>
            <a:endParaRPr lang="en-US" dirty="0"/>
          </a:p>
        </p:txBody>
      </p:sp>
      <p:sp>
        <p:nvSpPr>
          <p:cNvPr id="4" name="Date Placeholder 3"/>
          <p:cNvSpPr>
            <a:spLocks noGrp="1"/>
          </p:cNvSpPr>
          <p:nvPr>
            <p:ph type="dt" sz="half" idx="10"/>
          </p:nvPr>
        </p:nvSpPr>
        <p:spPr>
          <a:xfrm>
            <a:off x="6350484" y="5976839"/>
            <a:ext cx="2001935" cy="150440"/>
          </a:xfrm>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a:xfrm>
            <a:off x="8388424" y="6127865"/>
            <a:ext cx="360289" cy="150440"/>
          </a:xfrm>
        </p:spPr>
        <p:txBody>
          <a:bodyPr/>
          <a:lstStyle/>
          <a:p>
            <a:fld id="{ADA48181-2C78-49CB-8C52-912A07842C2E}" type="slidenum">
              <a:rPr lang="en-US" noProof="0" smtClean="0"/>
              <a:pPr/>
              <a:t>10</a:t>
            </a:fld>
            <a:endParaRPr lang="en-US" noProof="0"/>
          </a:p>
        </p:txBody>
      </p:sp>
      <p:sp>
        <p:nvSpPr>
          <p:cNvPr id="6" name="Footer Placeholder 5"/>
          <p:cNvSpPr>
            <a:spLocks noGrp="1"/>
          </p:cNvSpPr>
          <p:nvPr>
            <p:ph type="ftr" sz="quarter" idx="12"/>
          </p:nvPr>
        </p:nvSpPr>
        <p:spPr>
          <a:xfrm>
            <a:off x="6350485" y="6127865"/>
            <a:ext cx="2001935" cy="150440"/>
          </a:xfrm>
        </p:spPr>
        <p:txBody>
          <a:bodyPr/>
          <a:lstStyle/>
          <a:p>
            <a:r>
              <a:rPr lang="en-US" noProof="0" smtClean="0"/>
              <a:t>Author, © Continental AG</a:t>
            </a:r>
            <a:endParaRPr lang="en-US" noProof="0"/>
          </a:p>
        </p:txBody>
      </p:sp>
      <p:sp>
        <p:nvSpPr>
          <p:cNvPr id="7" name="TextBox 6"/>
          <p:cNvSpPr txBox="1"/>
          <p:nvPr/>
        </p:nvSpPr>
        <p:spPr>
          <a:xfrm>
            <a:off x="158260" y="922322"/>
            <a:ext cx="4870940" cy="646331"/>
          </a:xfrm>
          <a:prstGeom prst="rect">
            <a:avLst/>
          </a:prstGeom>
          <a:noFill/>
          <a:ln w="25400">
            <a:solidFill>
              <a:schemeClr val="accent1"/>
            </a:solidFill>
          </a:ln>
        </p:spPr>
        <p:txBody>
          <a:bodyPr wrap="square" rtlCol="0">
            <a:spAutoFit/>
          </a:bodyPr>
          <a:lstStyle/>
          <a:p>
            <a:r>
              <a:rPr lang="en-IN" dirty="0" smtClean="0"/>
              <a:t>When the vehicle is moving at certain velocity</a:t>
            </a:r>
          </a:p>
          <a:p>
            <a:r>
              <a:rPr lang="en-IN" dirty="0" smtClean="0"/>
              <a:t>If driver provides SWA as an input</a:t>
            </a:r>
            <a:endParaRPr lang="en-IN" dirty="0"/>
          </a:p>
        </p:txBody>
      </p:sp>
      <p:cxnSp>
        <p:nvCxnSpPr>
          <p:cNvPr id="8" name="Straight Arrow Connector 7"/>
          <p:cNvCxnSpPr/>
          <p:nvPr/>
        </p:nvCxnSpPr>
        <p:spPr>
          <a:xfrm rot="5400000">
            <a:off x="1966752" y="2893346"/>
            <a:ext cx="595532"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892124" y="3205974"/>
            <a:ext cx="2887788" cy="381000"/>
          </a:xfrm>
          <a:prstGeom prst="rect">
            <a:avLst/>
          </a:prstGeom>
          <a:noFill/>
          <a:ln w="25400">
            <a:solidFill>
              <a:schemeClr val="accent1"/>
            </a:solidFill>
          </a:ln>
        </p:spPr>
        <p:txBody>
          <a:bodyPr wrap="square" rtlCol="0">
            <a:spAutoFit/>
          </a:bodyPr>
          <a:lstStyle/>
          <a:p>
            <a:r>
              <a:rPr lang="en-IN" dirty="0" smtClean="0"/>
              <a:t>Vehicle develops Yaw rate</a:t>
            </a:r>
            <a:endParaRPr lang="en-IN" dirty="0"/>
          </a:p>
        </p:txBody>
      </p:sp>
      <p:cxnSp>
        <p:nvCxnSpPr>
          <p:cNvPr id="10" name="Straight Arrow Connector 9"/>
          <p:cNvCxnSpPr/>
          <p:nvPr/>
        </p:nvCxnSpPr>
        <p:spPr>
          <a:xfrm rot="5400000">
            <a:off x="1966752" y="3883946"/>
            <a:ext cx="595532"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511124" y="4120374"/>
            <a:ext cx="3772844" cy="646331"/>
          </a:xfrm>
          <a:prstGeom prst="rect">
            <a:avLst/>
          </a:prstGeom>
          <a:noFill/>
          <a:ln w="25400">
            <a:solidFill>
              <a:schemeClr val="accent1"/>
            </a:solidFill>
          </a:ln>
        </p:spPr>
        <p:txBody>
          <a:bodyPr wrap="square" rtlCol="0">
            <a:spAutoFit/>
          </a:bodyPr>
          <a:lstStyle/>
          <a:p>
            <a:r>
              <a:rPr lang="en-IN" dirty="0" smtClean="0"/>
              <a:t>Lateral Acceleration is experienced</a:t>
            </a:r>
          </a:p>
          <a:p>
            <a:r>
              <a:rPr lang="en-IN" dirty="0" smtClean="0"/>
              <a:t>by the vehicle</a:t>
            </a:r>
            <a:endParaRPr lang="en-IN" dirty="0"/>
          </a:p>
        </p:txBody>
      </p:sp>
      <p:sp>
        <p:nvSpPr>
          <p:cNvPr id="12" name="TextBox 11"/>
          <p:cNvSpPr txBox="1"/>
          <p:nvPr/>
        </p:nvSpPr>
        <p:spPr>
          <a:xfrm>
            <a:off x="1273124" y="2215374"/>
            <a:ext cx="1934119" cy="369332"/>
          </a:xfrm>
          <a:prstGeom prst="rect">
            <a:avLst/>
          </a:prstGeom>
          <a:noFill/>
          <a:ln w="25400">
            <a:solidFill>
              <a:schemeClr val="accent1"/>
            </a:solidFill>
          </a:ln>
        </p:spPr>
        <p:txBody>
          <a:bodyPr wrap="none" rtlCol="0">
            <a:spAutoFit/>
          </a:bodyPr>
          <a:lstStyle/>
          <a:p>
            <a:r>
              <a:rPr lang="en-IN" dirty="0" smtClean="0"/>
              <a:t>Front Wheel Angle</a:t>
            </a:r>
            <a:endParaRPr lang="en-IN" dirty="0"/>
          </a:p>
        </p:txBody>
      </p:sp>
      <p:cxnSp>
        <p:nvCxnSpPr>
          <p:cNvPr id="13" name="Straight Arrow Connector 12"/>
          <p:cNvCxnSpPr/>
          <p:nvPr/>
        </p:nvCxnSpPr>
        <p:spPr>
          <a:xfrm rot="5400000">
            <a:off x="1912828" y="1878122"/>
            <a:ext cx="595532"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241448" y="1615146"/>
            <a:ext cx="3198840" cy="646331"/>
          </a:xfrm>
          <a:prstGeom prst="rect">
            <a:avLst/>
          </a:prstGeom>
          <a:noFill/>
        </p:spPr>
        <p:txBody>
          <a:bodyPr wrap="square" rtlCol="0">
            <a:spAutoFit/>
          </a:bodyPr>
          <a:lstStyle/>
          <a:p>
            <a:r>
              <a:rPr lang="en-IN" dirty="0" smtClean="0"/>
              <a:t>Steer Ratio (Rack and Pinion)</a:t>
            </a:r>
            <a:endParaRPr lang="en-IN" dirty="0"/>
          </a:p>
        </p:txBody>
      </p:sp>
      <p:sp>
        <p:nvSpPr>
          <p:cNvPr id="15" name="TextBox 14"/>
          <p:cNvSpPr txBox="1"/>
          <p:nvPr/>
        </p:nvSpPr>
        <p:spPr>
          <a:xfrm>
            <a:off x="5715000" y="895350"/>
            <a:ext cx="2518382" cy="646331"/>
          </a:xfrm>
          <a:prstGeom prst="rect">
            <a:avLst/>
          </a:prstGeom>
          <a:noFill/>
        </p:spPr>
        <p:txBody>
          <a:bodyPr wrap="none" rtlCol="0">
            <a:spAutoFit/>
          </a:bodyPr>
          <a:lstStyle/>
          <a:p>
            <a:r>
              <a:rPr lang="en-IN" dirty="0" smtClean="0"/>
              <a:t>Steering column rotation</a:t>
            </a:r>
          </a:p>
          <a:p>
            <a:r>
              <a:rPr lang="en-IN" dirty="0" smtClean="0"/>
              <a:t>sensed by SWA sensor</a:t>
            </a:r>
            <a:endParaRPr lang="en-IN" dirty="0"/>
          </a:p>
        </p:txBody>
      </p:sp>
      <p:cxnSp>
        <p:nvCxnSpPr>
          <p:cNvPr id="16" name="Straight Arrow Connector 15"/>
          <p:cNvCxnSpPr>
            <a:stCxn id="7" idx="3"/>
            <a:endCxn id="15" idx="1"/>
          </p:cNvCxnSpPr>
          <p:nvPr/>
        </p:nvCxnSpPr>
        <p:spPr>
          <a:xfrm flipV="1">
            <a:off x="5029200" y="1218516"/>
            <a:ext cx="685800" cy="26972"/>
          </a:xfrm>
          <a:prstGeom prst="straightConnector1">
            <a:avLst/>
          </a:prstGeom>
          <a:ln>
            <a:prstDash val="dash"/>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5029200" y="3028950"/>
            <a:ext cx="2892587" cy="646331"/>
          </a:xfrm>
          <a:prstGeom prst="rect">
            <a:avLst/>
          </a:prstGeom>
          <a:noFill/>
        </p:spPr>
        <p:txBody>
          <a:bodyPr wrap="none" rtlCol="0">
            <a:spAutoFit/>
          </a:bodyPr>
          <a:lstStyle/>
          <a:p>
            <a:r>
              <a:rPr lang="en-IN" dirty="0" smtClean="0"/>
              <a:t>Angular rotation about z-axis</a:t>
            </a:r>
          </a:p>
          <a:p>
            <a:r>
              <a:rPr lang="en-IN" dirty="0" smtClean="0"/>
              <a:t>is sensed by Gyro</a:t>
            </a:r>
            <a:endParaRPr lang="en-IN" dirty="0"/>
          </a:p>
        </p:txBody>
      </p:sp>
      <p:cxnSp>
        <p:nvCxnSpPr>
          <p:cNvPr id="18" name="Straight Arrow Connector 17"/>
          <p:cNvCxnSpPr>
            <a:endCxn id="17" idx="1"/>
          </p:cNvCxnSpPr>
          <p:nvPr/>
        </p:nvCxnSpPr>
        <p:spPr>
          <a:xfrm flipV="1">
            <a:off x="3505200" y="3352116"/>
            <a:ext cx="1524000" cy="8606"/>
          </a:xfrm>
          <a:prstGeom prst="straightConnector1">
            <a:avLst/>
          </a:prstGeom>
          <a:ln>
            <a:prstDash val="dash"/>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4343400" y="4476750"/>
            <a:ext cx="1524000" cy="8606"/>
          </a:xfrm>
          <a:prstGeom prst="straightConnector1">
            <a:avLst/>
          </a:prstGeom>
          <a:ln>
            <a:prstDash val="dash"/>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5867400" y="4292084"/>
            <a:ext cx="2251770" cy="369332"/>
          </a:xfrm>
          <a:prstGeom prst="rect">
            <a:avLst/>
          </a:prstGeom>
          <a:noFill/>
        </p:spPr>
        <p:txBody>
          <a:bodyPr wrap="none" rtlCol="0">
            <a:spAutoFit/>
          </a:bodyPr>
          <a:lstStyle/>
          <a:p>
            <a:r>
              <a:rPr lang="en-IN" dirty="0" smtClean="0"/>
              <a:t>Lateral Accelerometer</a:t>
            </a:r>
            <a:endParaRPr lang="en-IN" dirty="0"/>
          </a:p>
        </p:txBody>
      </p:sp>
      <p:graphicFrame>
        <p:nvGraphicFramePr>
          <p:cNvPr id="21" name="Object 20"/>
          <p:cNvGraphicFramePr>
            <a:graphicFrameLocks noChangeAspect="1"/>
          </p:cNvGraphicFramePr>
          <p:nvPr/>
        </p:nvGraphicFramePr>
        <p:xfrm>
          <a:off x="4191000" y="4857750"/>
          <a:ext cx="4108450" cy="1500188"/>
        </p:xfrm>
        <a:graphic>
          <a:graphicData uri="http://schemas.openxmlformats.org/presentationml/2006/ole">
            <mc:AlternateContent xmlns:mc="http://schemas.openxmlformats.org/markup-compatibility/2006">
              <mc:Choice xmlns:v="urn:schemas-microsoft-com:vml" Requires="v">
                <p:oleObj spid="_x0000_s3076" name="Formel" r:id="rId3" imgW="2831760" imgH="1117440" progId="Equation.3">
                  <p:embed/>
                </p:oleObj>
              </mc:Choice>
              <mc:Fallback>
                <p:oleObj name="Formel" r:id="rId3" imgW="2831760" imgH="111744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4857750"/>
                        <a:ext cx="4108450" cy="1500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22" name="Straight Arrow Connector 21"/>
          <p:cNvCxnSpPr/>
          <p:nvPr/>
        </p:nvCxnSpPr>
        <p:spPr>
          <a:xfrm>
            <a:off x="2286000" y="2800350"/>
            <a:ext cx="2819400" cy="1981200"/>
          </a:xfrm>
          <a:prstGeom prst="straightConnector1">
            <a:avLst/>
          </a:prstGeom>
          <a:ln>
            <a:prstDash val="dashDot"/>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95288" y="87312"/>
            <a:ext cx="8353425" cy="719137"/>
          </a:xfrm>
        </p:spPr>
        <p:txBody>
          <a:bodyPr/>
          <a:lstStyle/>
          <a:p>
            <a:r>
              <a:rPr lang="en-IN" dirty="0" smtClean="0"/>
              <a:t>Fast Steer Wheel Angle offset computation:</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11</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sp>
        <p:nvSpPr>
          <p:cNvPr id="7" name="TextBox 6"/>
          <p:cNvSpPr txBox="1"/>
          <p:nvPr/>
        </p:nvSpPr>
        <p:spPr>
          <a:xfrm>
            <a:off x="482402" y="904875"/>
            <a:ext cx="8396337" cy="4985980"/>
          </a:xfrm>
          <a:prstGeom prst="rect">
            <a:avLst/>
          </a:prstGeom>
          <a:noFill/>
        </p:spPr>
        <p:txBody>
          <a:bodyPr wrap="none" rtlCol="0">
            <a:spAutoFit/>
          </a:bodyPr>
          <a:lstStyle/>
          <a:p>
            <a:pPr marL="342900" indent="-342900">
              <a:buFontTx/>
              <a:buAutoNum type="arabicPeriod"/>
            </a:pPr>
            <a:r>
              <a:rPr lang="en-IN" dirty="0" smtClean="0"/>
              <a:t>Learning Conditions : </a:t>
            </a:r>
          </a:p>
          <a:p>
            <a:pPr marL="1257300" lvl="2" indent="-342900"/>
            <a:r>
              <a:rPr lang="en-IN" dirty="0" smtClean="0"/>
              <a:t>a. NVM is cleared / New Sensor (Learnt State is zero)</a:t>
            </a:r>
          </a:p>
          <a:p>
            <a:pPr marL="342900" indent="-342900"/>
            <a:r>
              <a:rPr lang="en-IN" dirty="0" smtClean="0"/>
              <a:t>		b  When the Wheel Speed Difference  (FL – FR &amp; RL – RR) is less than</a:t>
            </a:r>
          </a:p>
          <a:p>
            <a:pPr marL="342900" indent="-342900"/>
            <a:r>
              <a:rPr lang="en-IN" dirty="0" smtClean="0"/>
              <a:t>		    0.6 m/sec and the vehicle velocity &gt; 5 m/sec</a:t>
            </a:r>
          </a:p>
          <a:p>
            <a:pPr marL="342900" indent="-342900"/>
            <a:r>
              <a:rPr lang="en-IN" dirty="0" smtClean="0"/>
              <a:t>		c. SWA &lt; 30 deg</a:t>
            </a:r>
          </a:p>
          <a:p>
            <a:pPr marL="342900" indent="-342900"/>
            <a:r>
              <a:rPr lang="en-IN" dirty="0" smtClean="0"/>
              <a:t>                  d. Collect the samples till distance criteria (&gt; 250 m) is met. </a:t>
            </a:r>
          </a:p>
          <a:p>
            <a:pPr marL="342900" indent="-342900"/>
            <a:r>
              <a:rPr lang="en-IN" dirty="0" smtClean="0"/>
              <a:t>                       Compute the average of collected samples.</a:t>
            </a:r>
          </a:p>
          <a:p>
            <a:pPr marL="342900" indent="-342900"/>
            <a:endParaRPr lang="en-IN" dirty="0" smtClean="0"/>
          </a:p>
          <a:p>
            <a:pPr marL="342900" indent="-342900">
              <a:buAutoNum type="arabicPeriod" startAt="2"/>
            </a:pPr>
            <a:r>
              <a:rPr lang="en-IN" dirty="0" smtClean="0"/>
              <a:t>Method of computation :</a:t>
            </a:r>
          </a:p>
          <a:p>
            <a:pPr marL="342900" indent="-342900"/>
            <a:r>
              <a:rPr lang="en-IN" dirty="0" smtClean="0"/>
              <a:t>                    </a:t>
            </a:r>
          </a:p>
          <a:p>
            <a:pPr marL="342900" indent="-342900"/>
            <a:r>
              <a:rPr lang="en-IN" dirty="0" smtClean="0"/>
              <a:t>                   1. Compute difference between Yaw rate estimated from SWA and</a:t>
            </a:r>
          </a:p>
          <a:p>
            <a:pPr marL="342900" indent="-342900"/>
            <a:r>
              <a:rPr lang="en-IN" dirty="0" smtClean="0"/>
              <a:t>                        offset compensated Gyro Yaw rate. (Note : Estimated values are</a:t>
            </a:r>
          </a:p>
          <a:p>
            <a:pPr marL="342900" indent="-342900"/>
            <a:r>
              <a:rPr lang="en-IN" dirty="0" smtClean="0"/>
              <a:t>                        o/</a:t>
            </a:r>
            <a:r>
              <a:rPr lang="en-IN" dirty="0" err="1" smtClean="0"/>
              <a:t>ps</a:t>
            </a:r>
            <a:r>
              <a:rPr lang="en-IN" dirty="0" smtClean="0"/>
              <a:t> of KFs)</a:t>
            </a:r>
          </a:p>
          <a:p>
            <a:pPr marL="342900" indent="-342900"/>
            <a:endParaRPr lang="en-IN" dirty="0" smtClean="0"/>
          </a:p>
          <a:p>
            <a:pPr marL="342900" indent="-342900"/>
            <a:r>
              <a:rPr lang="en-IN" dirty="0" smtClean="0"/>
              <a:t>                    2.  SWA Offset = Difference * SR * (L + EG * V</a:t>
            </a:r>
            <a:r>
              <a:rPr lang="en-IN" baseline="-25000" dirty="0" smtClean="0"/>
              <a:t>x</a:t>
            </a:r>
            <a:r>
              <a:rPr lang="en-IN" baseline="30000" dirty="0" smtClean="0"/>
              <a:t>2</a:t>
            </a:r>
            <a:r>
              <a:rPr lang="en-IN" dirty="0" smtClean="0"/>
              <a:t>)/</a:t>
            </a:r>
            <a:r>
              <a:rPr lang="en-IN" dirty="0" err="1" smtClean="0"/>
              <a:t>V</a:t>
            </a:r>
            <a:r>
              <a:rPr lang="en-IN" baseline="-25000" dirty="0" err="1" smtClean="0"/>
              <a:t>x</a:t>
            </a:r>
            <a:endParaRPr lang="en-IN" baseline="-25000" dirty="0" smtClean="0"/>
          </a:p>
          <a:p>
            <a:pPr marL="342900" indent="-342900"/>
            <a:endParaRPr lang="en-IN" baseline="-25000" dirty="0" smtClean="0"/>
          </a:p>
          <a:p>
            <a:pPr marL="342900" indent="-342900"/>
            <a:r>
              <a:rPr lang="en-IN" dirty="0" smtClean="0"/>
              <a:t>3.    Set the Learnt State to 1                  </a:t>
            </a:r>
          </a:p>
          <a:p>
            <a:pPr marL="342900" indent="-342900"/>
            <a:r>
              <a:rPr lang="en-IN" dirty="0" smtClean="0"/>
              <a:t> </a:t>
            </a:r>
          </a:p>
        </p:txBody>
      </p:sp>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5240" y="75806"/>
            <a:ext cx="8353425" cy="719137"/>
          </a:xfrm>
        </p:spPr>
        <p:txBody>
          <a:bodyPr/>
          <a:lstStyle/>
          <a:p>
            <a:r>
              <a:rPr lang="en-US" dirty="0" smtClean="0"/>
              <a:t>Next Level SWA offset Learning</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12</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sp>
        <p:nvSpPr>
          <p:cNvPr id="42" name="TextBox 41"/>
          <p:cNvSpPr txBox="1"/>
          <p:nvPr/>
        </p:nvSpPr>
        <p:spPr>
          <a:xfrm>
            <a:off x="395239" y="860817"/>
            <a:ext cx="8569249" cy="923330"/>
          </a:xfrm>
          <a:prstGeom prst="rect">
            <a:avLst/>
          </a:prstGeom>
          <a:noFill/>
        </p:spPr>
        <p:txBody>
          <a:bodyPr wrap="square" rtlCol="0">
            <a:spAutoFit/>
          </a:bodyPr>
          <a:lstStyle/>
          <a:p>
            <a:pPr marL="342900" indent="-342900">
              <a:buAutoNum type="arabicPeriod"/>
            </a:pPr>
            <a:r>
              <a:rPr lang="en-IN" dirty="0" smtClean="0"/>
              <a:t>Learning conditions : (Straight drive)</a:t>
            </a:r>
          </a:p>
          <a:p>
            <a:pPr marL="342900" indent="-342900"/>
            <a:r>
              <a:rPr lang="en-IN" dirty="0" smtClean="0"/>
              <a:t>                  Velocity &gt; 10 m/sec, Wheel Speed Difference  (FL – FR &amp; RL – RR) is less than 0.3 m/sec                </a:t>
            </a:r>
            <a:endParaRPr lang="en-IN" dirty="0"/>
          </a:p>
        </p:txBody>
      </p:sp>
      <p:grpSp>
        <p:nvGrpSpPr>
          <p:cNvPr id="43" name="Group 42"/>
          <p:cNvGrpSpPr/>
          <p:nvPr/>
        </p:nvGrpSpPr>
        <p:grpSpPr>
          <a:xfrm>
            <a:off x="1849936" y="2587472"/>
            <a:ext cx="5104184" cy="2521985"/>
            <a:chOff x="0" y="0"/>
            <a:chExt cx="5104184" cy="2521985"/>
          </a:xfrm>
        </p:grpSpPr>
        <p:grpSp>
          <p:nvGrpSpPr>
            <p:cNvPr id="44" name="Group 6"/>
            <p:cNvGrpSpPr/>
            <p:nvPr/>
          </p:nvGrpSpPr>
          <p:grpSpPr>
            <a:xfrm>
              <a:off x="247650" y="0"/>
              <a:ext cx="4438650" cy="2324100"/>
              <a:chOff x="247650" y="0"/>
              <a:chExt cx="4438650" cy="2324100"/>
            </a:xfrm>
          </p:grpSpPr>
          <p:grpSp>
            <p:nvGrpSpPr>
              <p:cNvPr id="47" name="Group 9"/>
              <p:cNvGrpSpPr/>
              <p:nvPr/>
            </p:nvGrpSpPr>
            <p:grpSpPr>
              <a:xfrm>
                <a:off x="2466976" y="9526"/>
                <a:ext cx="2219324" cy="2305050"/>
                <a:chOff x="2466976" y="9526"/>
                <a:chExt cx="2219324" cy="2305050"/>
              </a:xfrm>
            </p:grpSpPr>
            <p:grpSp>
              <p:nvGrpSpPr>
                <p:cNvPr id="62" name="Group 61"/>
                <p:cNvGrpSpPr/>
                <p:nvPr/>
              </p:nvGrpSpPr>
              <p:grpSpPr>
                <a:xfrm>
                  <a:off x="2667000" y="238125"/>
                  <a:ext cx="2019300" cy="2066925"/>
                  <a:chOff x="2667000" y="238125"/>
                  <a:chExt cx="2019300" cy="2066925"/>
                </a:xfrm>
              </p:grpSpPr>
              <p:grpSp>
                <p:nvGrpSpPr>
                  <p:cNvPr id="64" name="Group 63"/>
                  <p:cNvGrpSpPr/>
                  <p:nvPr/>
                </p:nvGrpSpPr>
                <p:grpSpPr>
                  <a:xfrm>
                    <a:off x="2886075" y="447675"/>
                    <a:ext cx="1800225" cy="1857375"/>
                    <a:chOff x="2886075" y="447675"/>
                    <a:chExt cx="1800225" cy="1857375"/>
                  </a:xfrm>
                </p:grpSpPr>
                <p:grpSp>
                  <p:nvGrpSpPr>
                    <p:cNvPr id="66" name="Group 65"/>
                    <p:cNvGrpSpPr/>
                    <p:nvPr/>
                  </p:nvGrpSpPr>
                  <p:grpSpPr>
                    <a:xfrm>
                      <a:off x="3810000" y="1533525"/>
                      <a:ext cx="876300" cy="762000"/>
                      <a:chOff x="3810000" y="1533525"/>
                      <a:chExt cx="876300" cy="762000"/>
                    </a:xfrm>
                  </p:grpSpPr>
                  <p:sp>
                    <p:nvSpPr>
                      <p:cNvPr id="71" name="Rectangle 70"/>
                      <p:cNvSpPr/>
                      <p:nvPr/>
                    </p:nvSpPr>
                    <p:spPr>
                      <a:xfrm>
                        <a:off x="3810000" y="1533525"/>
                        <a:ext cx="228600" cy="762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sp>
                    <p:nvSpPr>
                      <p:cNvPr id="72" name="Rectangle 71"/>
                      <p:cNvSpPr/>
                      <p:nvPr/>
                    </p:nvSpPr>
                    <p:spPr>
                      <a:xfrm>
                        <a:off x="4038600" y="1733550"/>
                        <a:ext cx="228600" cy="5619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sp>
                    <p:nvSpPr>
                      <p:cNvPr id="73" name="Rectangle 72"/>
                      <p:cNvSpPr/>
                      <p:nvPr/>
                    </p:nvSpPr>
                    <p:spPr>
                      <a:xfrm>
                        <a:off x="4267200" y="1952625"/>
                        <a:ext cx="219075" cy="3429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sp>
                    <p:nvSpPr>
                      <p:cNvPr id="74" name="Rectangle 73"/>
                      <p:cNvSpPr/>
                      <p:nvPr/>
                    </p:nvSpPr>
                    <p:spPr>
                      <a:xfrm>
                        <a:off x="4486275" y="2095500"/>
                        <a:ext cx="200025" cy="2000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grpSp>
                <p:sp>
                  <p:nvSpPr>
                    <p:cNvPr id="67" name="Rectangle 66"/>
                    <p:cNvSpPr/>
                    <p:nvPr/>
                  </p:nvSpPr>
                  <p:spPr>
                    <a:xfrm>
                      <a:off x="3562350" y="1171575"/>
                      <a:ext cx="238125" cy="1123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sp>
                  <p:nvSpPr>
                    <p:cNvPr id="68" name="Rectangle 67"/>
                    <p:cNvSpPr/>
                    <p:nvPr/>
                  </p:nvSpPr>
                  <p:spPr>
                    <a:xfrm>
                      <a:off x="3333751" y="895350"/>
                      <a:ext cx="228600" cy="14001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sp>
                  <p:nvSpPr>
                    <p:cNvPr id="69" name="Rectangle 68"/>
                    <p:cNvSpPr/>
                    <p:nvPr/>
                  </p:nvSpPr>
                  <p:spPr>
                    <a:xfrm>
                      <a:off x="3114675" y="666750"/>
                      <a:ext cx="219075" cy="16287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sp>
                  <p:nvSpPr>
                    <p:cNvPr id="70" name="Rectangle 69"/>
                    <p:cNvSpPr/>
                    <p:nvPr/>
                  </p:nvSpPr>
                  <p:spPr>
                    <a:xfrm>
                      <a:off x="2886075" y="447675"/>
                      <a:ext cx="219075" cy="18573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grpSp>
              <p:sp>
                <p:nvSpPr>
                  <p:cNvPr id="65" name="Rectangle 64"/>
                  <p:cNvSpPr/>
                  <p:nvPr/>
                </p:nvSpPr>
                <p:spPr>
                  <a:xfrm>
                    <a:off x="2667000" y="238125"/>
                    <a:ext cx="219075" cy="20669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grpSp>
            <p:sp>
              <p:nvSpPr>
                <p:cNvPr id="63" name="Rectangle 62"/>
                <p:cNvSpPr/>
                <p:nvPr/>
              </p:nvSpPr>
              <p:spPr>
                <a:xfrm>
                  <a:off x="2466976" y="9526"/>
                  <a:ext cx="190500" cy="23050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grpSp>
          <p:grpSp>
            <p:nvGrpSpPr>
              <p:cNvPr id="48" name="Group 10"/>
              <p:cNvGrpSpPr/>
              <p:nvPr/>
            </p:nvGrpSpPr>
            <p:grpSpPr>
              <a:xfrm>
                <a:off x="247650" y="0"/>
                <a:ext cx="2209800" cy="2324100"/>
                <a:chOff x="247650" y="0"/>
                <a:chExt cx="2209800" cy="2324100"/>
              </a:xfrm>
            </p:grpSpPr>
            <p:grpSp>
              <p:nvGrpSpPr>
                <p:cNvPr id="49" name="Group 11"/>
                <p:cNvGrpSpPr/>
                <p:nvPr/>
              </p:nvGrpSpPr>
              <p:grpSpPr>
                <a:xfrm>
                  <a:off x="247650" y="257175"/>
                  <a:ext cx="2019300" cy="2066925"/>
                  <a:chOff x="247650" y="257175"/>
                  <a:chExt cx="2019300" cy="2066925"/>
                </a:xfrm>
              </p:grpSpPr>
              <p:grpSp>
                <p:nvGrpSpPr>
                  <p:cNvPr id="51" name="Group 13"/>
                  <p:cNvGrpSpPr/>
                  <p:nvPr/>
                </p:nvGrpSpPr>
                <p:grpSpPr>
                  <a:xfrm>
                    <a:off x="247650" y="457200"/>
                    <a:ext cx="1800225" cy="1857375"/>
                    <a:chOff x="247650" y="457200"/>
                    <a:chExt cx="1800225" cy="1857375"/>
                  </a:xfrm>
                </p:grpSpPr>
                <p:grpSp>
                  <p:nvGrpSpPr>
                    <p:cNvPr id="53" name="Group 15"/>
                    <p:cNvGrpSpPr/>
                    <p:nvPr/>
                  </p:nvGrpSpPr>
                  <p:grpSpPr>
                    <a:xfrm>
                      <a:off x="247650" y="1543051"/>
                      <a:ext cx="885825" cy="762000"/>
                      <a:chOff x="247650" y="1543051"/>
                      <a:chExt cx="885825" cy="762000"/>
                    </a:xfrm>
                  </p:grpSpPr>
                  <p:sp>
                    <p:nvSpPr>
                      <p:cNvPr id="58" name="Rectangle 57"/>
                      <p:cNvSpPr/>
                      <p:nvPr/>
                    </p:nvSpPr>
                    <p:spPr>
                      <a:xfrm>
                        <a:off x="247650" y="2095500"/>
                        <a:ext cx="200025" cy="2000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sp>
                    <p:nvSpPr>
                      <p:cNvPr id="59" name="Rectangle 58"/>
                      <p:cNvSpPr/>
                      <p:nvPr/>
                    </p:nvSpPr>
                    <p:spPr>
                      <a:xfrm>
                        <a:off x="457200" y="1952626"/>
                        <a:ext cx="219075" cy="3429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sp>
                    <p:nvSpPr>
                      <p:cNvPr id="60" name="Rectangle 59"/>
                      <p:cNvSpPr/>
                      <p:nvPr/>
                    </p:nvSpPr>
                    <p:spPr>
                      <a:xfrm>
                        <a:off x="685801" y="1733550"/>
                        <a:ext cx="228600" cy="5619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sp>
                    <p:nvSpPr>
                      <p:cNvPr id="61" name="Rectangle 60"/>
                      <p:cNvSpPr/>
                      <p:nvPr/>
                    </p:nvSpPr>
                    <p:spPr>
                      <a:xfrm>
                        <a:off x="904875" y="1543051"/>
                        <a:ext cx="228600" cy="762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grpSp>
                <p:sp>
                  <p:nvSpPr>
                    <p:cNvPr id="54" name="Rectangle 53"/>
                    <p:cNvSpPr/>
                    <p:nvPr/>
                  </p:nvSpPr>
                  <p:spPr>
                    <a:xfrm>
                      <a:off x="1133474" y="1190625"/>
                      <a:ext cx="238125" cy="1123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sp>
                  <p:nvSpPr>
                    <p:cNvPr id="55" name="Rectangle 54"/>
                    <p:cNvSpPr/>
                    <p:nvPr/>
                  </p:nvSpPr>
                  <p:spPr>
                    <a:xfrm>
                      <a:off x="1371600" y="914400"/>
                      <a:ext cx="228600" cy="14001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sp>
                  <p:nvSpPr>
                    <p:cNvPr id="56" name="Rectangle 55"/>
                    <p:cNvSpPr/>
                    <p:nvPr/>
                  </p:nvSpPr>
                  <p:spPr>
                    <a:xfrm>
                      <a:off x="1609725" y="685800"/>
                      <a:ext cx="219075" cy="16287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sp>
                  <p:nvSpPr>
                    <p:cNvPr id="57" name="Rectangle 56"/>
                    <p:cNvSpPr/>
                    <p:nvPr/>
                  </p:nvSpPr>
                  <p:spPr>
                    <a:xfrm>
                      <a:off x="1828800" y="457200"/>
                      <a:ext cx="219075" cy="18573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grpSp>
              <p:sp>
                <p:nvSpPr>
                  <p:cNvPr id="52" name="Rectangle 51"/>
                  <p:cNvSpPr/>
                  <p:nvPr/>
                </p:nvSpPr>
                <p:spPr>
                  <a:xfrm>
                    <a:off x="2047875" y="257175"/>
                    <a:ext cx="219075" cy="20669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grpSp>
            <p:sp>
              <p:nvSpPr>
                <p:cNvPr id="50" name="Rectangle 49"/>
                <p:cNvSpPr/>
                <p:nvPr/>
              </p:nvSpPr>
              <p:spPr>
                <a:xfrm>
                  <a:off x="2266950" y="0"/>
                  <a:ext cx="190500" cy="23050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grpSp>
        </p:grpSp>
        <p:sp>
          <p:nvSpPr>
            <p:cNvPr id="45" name="TextBox 34"/>
            <p:cNvSpPr txBox="1"/>
            <p:nvPr/>
          </p:nvSpPr>
          <p:spPr>
            <a:xfrm>
              <a:off x="0" y="2228850"/>
              <a:ext cx="613501"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IN" sz="1100"/>
                <a:t>-14 deg</a:t>
              </a:r>
            </a:p>
          </p:txBody>
        </p:sp>
        <p:sp>
          <p:nvSpPr>
            <p:cNvPr id="46" name="TextBox 35"/>
            <p:cNvSpPr txBox="1"/>
            <p:nvPr/>
          </p:nvSpPr>
          <p:spPr>
            <a:xfrm>
              <a:off x="4533900" y="2257425"/>
              <a:ext cx="570284"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IN" sz="1100"/>
                <a:t>14 deg</a:t>
              </a:r>
            </a:p>
          </p:txBody>
        </p:sp>
      </p:grpSp>
      <p:sp>
        <p:nvSpPr>
          <p:cNvPr id="75" name="TextBox 74"/>
          <p:cNvSpPr txBox="1"/>
          <p:nvPr/>
        </p:nvSpPr>
        <p:spPr>
          <a:xfrm>
            <a:off x="365943" y="1851432"/>
            <a:ext cx="8238505" cy="646331"/>
          </a:xfrm>
          <a:prstGeom prst="rect">
            <a:avLst/>
          </a:prstGeom>
          <a:noFill/>
        </p:spPr>
        <p:txBody>
          <a:bodyPr wrap="square" rtlCol="0">
            <a:spAutoFit/>
          </a:bodyPr>
          <a:lstStyle/>
          <a:p>
            <a:pPr marL="342900" indent="-342900">
              <a:buAutoNum type="arabicPeriod" startAt="2"/>
            </a:pPr>
            <a:r>
              <a:rPr lang="en-IN" dirty="0" smtClean="0"/>
              <a:t>Build Histogram : Histogram is filled based on direct SWA measurements</a:t>
            </a:r>
          </a:p>
          <a:p>
            <a:pPr marL="342900" indent="-342900"/>
            <a:r>
              <a:rPr lang="en-IN" dirty="0" smtClean="0"/>
              <a:t>                                   </a:t>
            </a:r>
            <a:endParaRPr lang="en-IN" dirty="0"/>
          </a:p>
        </p:txBody>
      </p:sp>
      <p:sp>
        <p:nvSpPr>
          <p:cNvPr id="76" name="TextBox 75"/>
          <p:cNvSpPr txBox="1"/>
          <p:nvPr/>
        </p:nvSpPr>
        <p:spPr>
          <a:xfrm>
            <a:off x="279696" y="5294664"/>
            <a:ext cx="7495065" cy="646331"/>
          </a:xfrm>
          <a:prstGeom prst="rect">
            <a:avLst/>
          </a:prstGeom>
          <a:noFill/>
        </p:spPr>
        <p:txBody>
          <a:bodyPr wrap="none" rtlCol="0">
            <a:spAutoFit/>
          </a:bodyPr>
          <a:lstStyle/>
          <a:p>
            <a:pPr marL="342900" indent="-342900">
              <a:buAutoNum type="arabicPeriod" startAt="3"/>
            </a:pPr>
            <a:r>
              <a:rPr lang="en-IN" dirty="0" smtClean="0"/>
              <a:t>Check enough number of samples are collected based on distance criteria.</a:t>
            </a:r>
          </a:p>
          <a:p>
            <a:pPr marL="342900" indent="-342900"/>
            <a:r>
              <a:rPr lang="en-IN" dirty="0" smtClean="0"/>
              <a:t>       Computed median, once enough number of samples are collected.       </a:t>
            </a:r>
          </a:p>
        </p:txBody>
      </p:sp>
      <p:sp>
        <p:nvSpPr>
          <p:cNvPr id="77" name="TextBox 76"/>
          <p:cNvSpPr txBox="1"/>
          <p:nvPr/>
        </p:nvSpPr>
        <p:spPr>
          <a:xfrm>
            <a:off x="2000446" y="4436751"/>
            <a:ext cx="377026" cy="246221"/>
          </a:xfrm>
          <a:prstGeom prst="rect">
            <a:avLst/>
          </a:prstGeom>
          <a:noFill/>
        </p:spPr>
        <p:txBody>
          <a:bodyPr wrap="none" rtlCol="0">
            <a:spAutoFit/>
          </a:bodyPr>
          <a:lstStyle/>
          <a:p>
            <a:r>
              <a:rPr lang="en-US" sz="1000" dirty="0" smtClean="0"/>
              <a:t>W1</a:t>
            </a:r>
            <a:endParaRPr lang="en-US" sz="1000" dirty="0"/>
          </a:p>
        </p:txBody>
      </p:sp>
      <p:sp>
        <p:nvSpPr>
          <p:cNvPr id="78" name="TextBox 77"/>
          <p:cNvSpPr txBox="1"/>
          <p:nvPr/>
        </p:nvSpPr>
        <p:spPr>
          <a:xfrm>
            <a:off x="2924894" y="3531876"/>
            <a:ext cx="377026" cy="246221"/>
          </a:xfrm>
          <a:prstGeom prst="rect">
            <a:avLst/>
          </a:prstGeom>
          <a:noFill/>
        </p:spPr>
        <p:txBody>
          <a:bodyPr wrap="none" rtlCol="0">
            <a:spAutoFit/>
          </a:bodyPr>
          <a:lstStyle/>
          <a:p>
            <a:r>
              <a:rPr lang="en-US" sz="1000" dirty="0" smtClean="0"/>
              <a:t>W5</a:t>
            </a:r>
            <a:endParaRPr lang="en-US" sz="1000" dirty="0"/>
          </a:p>
        </p:txBody>
      </p:sp>
      <p:sp>
        <p:nvSpPr>
          <p:cNvPr id="79" name="TextBox 78"/>
          <p:cNvSpPr txBox="1"/>
          <p:nvPr/>
        </p:nvSpPr>
        <p:spPr>
          <a:xfrm>
            <a:off x="5183686" y="3285655"/>
            <a:ext cx="447558" cy="246221"/>
          </a:xfrm>
          <a:prstGeom prst="rect">
            <a:avLst/>
          </a:prstGeom>
          <a:noFill/>
        </p:spPr>
        <p:txBody>
          <a:bodyPr wrap="none" rtlCol="0">
            <a:spAutoFit/>
          </a:bodyPr>
          <a:lstStyle/>
          <a:p>
            <a:r>
              <a:rPr lang="en-US" sz="1000" dirty="0" smtClean="0"/>
              <a:t>W15</a:t>
            </a:r>
            <a:endParaRPr lang="en-US" sz="1000" dirty="0"/>
          </a:p>
        </p:txBody>
      </p:sp>
      <p:graphicFrame>
        <p:nvGraphicFramePr>
          <p:cNvPr id="4098" name="Object 2"/>
          <p:cNvGraphicFramePr>
            <a:graphicFrameLocks noChangeAspect="1"/>
          </p:cNvGraphicFramePr>
          <p:nvPr/>
        </p:nvGraphicFramePr>
        <p:xfrm>
          <a:off x="3014663" y="2176463"/>
          <a:ext cx="1168400" cy="228600"/>
        </p:xfrm>
        <a:graphic>
          <a:graphicData uri="http://schemas.openxmlformats.org/presentationml/2006/ole">
            <mc:AlternateContent xmlns:mc="http://schemas.openxmlformats.org/markup-compatibility/2006">
              <mc:Choice xmlns:v="urn:schemas-microsoft-com:vml" Requires="v">
                <p:oleObj spid="_x0000_s4100" name="Formel" r:id="rId3" imgW="1168200" imgH="228600" progId="Equation.3">
                  <p:embed/>
                </p:oleObj>
              </mc:Choice>
              <mc:Fallback>
                <p:oleObj name="Formel" r:id="rId3" imgW="1168200" imgH="2286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4663" y="2176463"/>
                        <a:ext cx="11684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4999" y="-100480"/>
            <a:ext cx="8353425" cy="719137"/>
          </a:xfrm>
        </p:spPr>
        <p:txBody>
          <a:bodyPr/>
          <a:lstStyle/>
          <a:p>
            <a:r>
              <a:rPr lang="en-US" dirty="0" smtClean="0"/>
              <a:t>SWA offset</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13</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sp>
        <p:nvSpPr>
          <p:cNvPr id="7" name="TextBox 6"/>
          <p:cNvSpPr txBox="1"/>
          <p:nvPr/>
        </p:nvSpPr>
        <p:spPr>
          <a:xfrm>
            <a:off x="533400" y="533400"/>
            <a:ext cx="4470648" cy="461665"/>
          </a:xfrm>
          <a:prstGeom prst="rect">
            <a:avLst/>
          </a:prstGeom>
          <a:noFill/>
        </p:spPr>
        <p:txBody>
          <a:bodyPr wrap="square" rtlCol="0">
            <a:spAutoFit/>
          </a:bodyPr>
          <a:lstStyle/>
          <a:p>
            <a:r>
              <a:rPr lang="en-IN" sz="2400" b="1" dirty="0" smtClean="0">
                <a:solidFill>
                  <a:srgbClr val="FF0000"/>
                </a:solidFill>
              </a:rPr>
              <a:t>Learning distance Criteria :        </a:t>
            </a:r>
          </a:p>
        </p:txBody>
      </p:sp>
      <p:sp>
        <p:nvSpPr>
          <p:cNvPr id="8" name="TextBox 7"/>
          <p:cNvSpPr txBox="1"/>
          <p:nvPr/>
        </p:nvSpPr>
        <p:spPr>
          <a:xfrm>
            <a:off x="1219200" y="1066800"/>
            <a:ext cx="4198585" cy="2031325"/>
          </a:xfrm>
          <a:prstGeom prst="rect">
            <a:avLst/>
          </a:prstGeom>
          <a:noFill/>
        </p:spPr>
        <p:txBody>
          <a:bodyPr wrap="none" rtlCol="0">
            <a:spAutoFit/>
          </a:bodyPr>
          <a:lstStyle/>
          <a:p>
            <a:pPr marL="342900" indent="-342900">
              <a:buAutoNum type="arabicPeriod"/>
            </a:pPr>
            <a:r>
              <a:rPr lang="en-IN" dirty="0" smtClean="0"/>
              <a:t>Fast steer wheel angle  ---    250 m</a:t>
            </a:r>
          </a:p>
          <a:p>
            <a:pPr marL="342900" indent="-342900">
              <a:buAutoNum type="arabicPeriod"/>
            </a:pPr>
            <a:r>
              <a:rPr lang="en-IN" dirty="0" smtClean="0"/>
              <a:t>First Learning                 ---    20 Km</a:t>
            </a:r>
          </a:p>
          <a:p>
            <a:pPr marL="342900" indent="-342900">
              <a:buAutoNum type="arabicPeriod"/>
            </a:pPr>
            <a:r>
              <a:rPr lang="en-IN" dirty="0" smtClean="0"/>
              <a:t>Second Learning            ---    25 Km</a:t>
            </a:r>
          </a:p>
          <a:p>
            <a:pPr marL="342900" indent="-342900">
              <a:buAutoNum type="arabicPeriod"/>
            </a:pPr>
            <a:r>
              <a:rPr lang="en-IN" dirty="0" smtClean="0"/>
              <a:t>Third Learning               -- -    25 km</a:t>
            </a:r>
          </a:p>
          <a:p>
            <a:pPr marL="342900" indent="-342900">
              <a:buAutoNum type="arabicPeriod"/>
            </a:pPr>
            <a:r>
              <a:rPr lang="en-IN" dirty="0" smtClean="0"/>
              <a:t>Fourth Learning            ----    25 Km</a:t>
            </a:r>
          </a:p>
          <a:p>
            <a:pPr marL="342900" indent="-342900">
              <a:buAutoNum type="arabicPeriod"/>
            </a:pPr>
            <a:r>
              <a:rPr lang="en-IN" dirty="0" smtClean="0"/>
              <a:t>Fifth Learning                ----    25 km</a:t>
            </a:r>
          </a:p>
          <a:p>
            <a:pPr marL="342900" indent="-342900">
              <a:buAutoNum type="arabicPeriod"/>
            </a:pPr>
            <a:r>
              <a:rPr lang="en-IN" dirty="0" smtClean="0"/>
              <a:t>Sixth Learning               -----   50 Km</a:t>
            </a:r>
            <a:endParaRPr lang="en-IN" dirty="0"/>
          </a:p>
        </p:txBody>
      </p:sp>
      <p:sp>
        <p:nvSpPr>
          <p:cNvPr id="9" name="TextBox 8"/>
          <p:cNvSpPr txBox="1"/>
          <p:nvPr/>
        </p:nvSpPr>
        <p:spPr>
          <a:xfrm>
            <a:off x="513304" y="2975160"/>
            <a:ext cx="2291012" cy="461665"/>
          </a:xfrm>
          <a:prstGeom prst="rect">
            <a:avLst/>
          </a:prstGeom>
          <a:noFill/>
        </p:spPr>
        <p:txBody>
          <a:bodyPr wrap="none" rtlCol="0">
            <a:spAutoFit/>
          </a:bodyPr>
          <a:lstStyle/>
          <a:p>
            <a:r>
              <a:rPr lang="en-IN" sz="2400" b="1" dirty="0" smtClean="0">
                <a:solidFill>
                  <a:srgbClr val="FF0000"/>
                </a:solidFill>
              </a:rPr>
              <a:t>Reset Criteria:</a:t>
            </a:r>
          </a:p>
        </p:txBody>
      </p:sp>
      <p:sp>
        <p:nvSpPr>
          <p:cNvPr id="10" name="TextBox 9"/>
          <p:cNvSpPr txBox="1"/>
          <p:nvPr/>
        </p:nvSpPr>
        <p:spPr>
          <a:xfrm>
            <a:off x="497056" y="4132392"/>
            <a:ext cx="3029034" cy="461665"/>
          </a:xfrm>
          <a:prstGeom prst="rect">
            <a:avLst/>
          </a:prstGeom>
          <a:noFill/>
        </p:spPr>
        <p:txBody>
          <a:bodyPr wrap="none" rtlCol="0">
            <a:spAutoFit/>
          </a:bodyPr>
          <a:lstStyle/>
          <a:p>
            <a:r>
              <a:rPr lang="en-IN" sz="2400" b="1" dirty="0" smtClean="0">
                <a:solidFill>
                  <a:srgbClr val="FF0000"/>
                </a:solidFill>
              </a:rPr>
              <a:t>Impact of SWA offset :</a:t>
            </a:r>
          </a:p>
        </p:txBody>
      </p:sp>
      <p:sp>
        <p:nvSpPr>
          <p:cNvPr id="11" name="TextBox 10"/>
          <p:cNvSpPr txBox="1"/>
          <p:nvPr/>
        </p:nvSpPr>
        <p:spPr>
          <a:xfrm>
            <a:off x="1140652" y="4525112"/>
            <a:ext cx="4398833" cy="369332"/>
          </a:xfrm>
          <a:prstGeom prst="rect">
            <a:avLst/>
          </a:prstGeom>
          <a:noFill/>
        </p:spPr>
        <p:txBody>
          <a:bodyPr wrap="none" rtlCol="0">
            <a:spAutoFit/>
          </a:bodyPr>
          <a:lstStyle/>
          <a:p>
            <a:r>
              <a:rPr lang="en-IN" dirty="0" smtClean="0"/>
              <a:t>It will have impact on curvature computation</a:t>
            </a:r>
            <a:endParaRPr lang="en-IN" dirty="0"/>
          </a:p>
        </p:txBody>
      </p:sp>
      <p:graphicFrame>
        <p:nvGraphicFramePr>
          <p:cNvPr id="12" name="Object 11"/>
          <p:cNvGraphicFramePr>
            <a:graphicFrameLocks noChangeAspect="1"/>
          </p:cNvGraphicFramePr>
          <p:nvPr/>
        </p:nvGraphicFramePr>
        <p:xfrm>
          <a:off x="4572485" y="642510"/>
          <a:ext cx="1778000" cy="254000"/>
        </p:xfrm>
        <a:graphic>
          <a:graphicData uri="http://schemas.openxmlformats.org/presentationml/2006/ole">
            <mc:AlternateContent xmlns:mc="http://schemas.openxmlformats.org/markup-compatibility/2006">
              <mc:Choice xmlns:v="urn:schemas-microsoft-com:vml" Requires="v">
                <p:oleObj spid="_x0000_s5124" name="Formel" r:id="rId3" imgW="1777680" imgH="253800" progId="Equation.3">
                  <p:embed/>
                </p:oleObj>
              </mc:Choice>
              <mc:Fallback>
                <p:oleObj name="Formel" r:id="rId3" imgW="1777680" imgH="2538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485" y="642510"/>
                        <a:ext cx="1778000"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extBox 12"/>
          <p:cNvSpPr txBox="1"/>
          <p:nvPr/>
        </p:nvSpPr>
        <p:spPr>
          <a:xfrm>
            <a:off x="496888" y="4989864"/>
            <a:ext cx="4627421" cy="461665"/>
          </a:xfrm>
          <a:prstGeom prst="rect">
            <a:avLst/>
          </a:prstGeom>
          <a:noFill/>
        </p:spPr>
        <p:txBody>
          <a:bodyPr wrap="none" rtlCol="0">
            <a:spAutoFit/>
          </a:bodyPr>
          <a:lstStyle/>
          <a:p>
            <a:r>
              <a:rPr lang="en-IN" sz="2400" b="1" dirty="0" smtClean="0">
                <a:solidFill>
                  <a:srgbClr val="FF0000"/>
                </a:solidFill>
              </a:rPr>
              <a:t>Errors associated with SWA offset :</a:t>
            </a:r>
          </a:p>
        </p:txBody>
      </p:sp>
      <p:sp>
        <p:nvSpPr>
          <p:cNvPr id="14" name="TextBox 13"/>
          <p:cNvSpPr txBox="1"/>
          <p:nvPr/>
        </p:nvSpPr>
        <p:spPr>
          <a:xfrm>
            <a:off x="1142320" y="5380912"/>
            <a:ext cx="4846391" cy="646331"/>
          </a:xfrm>
          <a:prstGeom prst="rect">
            <a:avLst/>
          </a:prstGeom>
          <a:noFill/>
        </p:spPr>
        <p:txBody>
          <a:bodyPr wrap="none" rtlCol="0">
            <a:spAutoFit/>
          </a:bodyPr>
          <a:lstStyle/>
          <a:p>
            <a:r>
              <a:rPr lang="en-IN" dirty="0" smtClean="0"/>
              <a:t>Out of Range SWA offset error (Get actual names)</a:t>
            </a:r>
          </a:p>
          <a:p>
            <a:r>
              <a:rPr lang="en-IN" dirty="0" smtClean="0"/>
              <a:t>NVM error</a:t>
            </a:r>
            <a:endParaRPr lang="en-IN" dirty="0"/>
          </a:p>
        </p:txBody>
      </p:sp>
      <p:sp>
        <p:nvSpPr>
          <p:cNvPr id="15" name="TextBox 14"/>
          <p:cNvSpPr txBox="1"/>
          <p:nvPr/>
        </p:nvSpPr>
        <p:spPr>
          <a:xfrm>
            <a:off x="1075473" y="3306201"/>
            <a:ext cx="6390239" cy="923330"/>
          </a:xfrm>
          <a:prstGeom prst="rect">
            <a:avLst/>
          </a:prstGeom>
          <a:noFill/>
        </p:spPr>
        <p:txBody>
          <a:bodyPr wrap="square" rtlCol="0">
            <a:spAutoFit/>
          </a:bodyPr>
          <a:lstStyle/>
          <a:p>
            <a:r>
              <a:rPr lang="en-IN" dirty="0" smtClean="0"/>
              <a:t>If there is a difference more than 0.5 deg between previously learnt value and the latest value then update that value with the latest value and set the state to 4. </a:t>
            </a:r>
            <a:endParaRPr lang="en-IN" dirty="0"/>
          </a:p>
        </p:txBody>
      </p:sp>
      <p:sp>
        <p:nvSpPr>
          <p:cNvPr id="16" name="TextBox 15"/>
          <p:cNvSpPr txBox="1"/>
          <p:nvPr/>
        </p:nvSpPr>
        <p:spPr>
          <a:xfrm>
            <a:off x="5194564" y="2166764"/>
            <a:ext cx="2954655" cy="369332"/>
          </a:xfrm>
          <a:prstGeom prst="rect">
            <a:avLst/>
          </a:prstGeom>
          <a:noFill/>
        </p:spPr>
        <p:txBody>
          <a:bodyPr wrap="none" rtlCol="0">
            <a:spAutoFit/>
          </a:bodyPr>
          <a:lstStyle/>
          <a:p>
            <a:r>
              <a:rPr lang="en-US" dirty="0" smtClean="0"/>
              <a:t>(learned but not confirmed)</a:t>
            </a:r>
            <a:endParaRPr lang="en-US" dirty="0"/>
          </a:p>
        </p:txBody>
      </p:sp>
      <p:sp>
        <p:nvSpPr>
          <p:cNvPr id="17" name="TextBox 16"/>
          <p:cNvSpPr txBox="1"/>
          <p:nvPr/>
        </p:nvSpPr>
        <p:spPr>
          <a:xfrm>
            <a:off x="5207264" y="2433980"/>
            <a:ext cx="3198311" cy="369332"/>
          </a:xfrm>
          <a:prstGeom prst="rect">
            <a:avLst/>
          </a:prstGeom>
          <a:noFill/>
        </p:spPr>
        <p:txBody>
          <a:bodyPr wrap="none" rtlCol="0">
            <a:spAutoFit/>
          </a:bodyPr>
          <a:lstStyle/>
          <a:p>
            <a:r>
              <a:rPr lang="en-US" dirty="0" smtClean="0"/>
              <a:t>(learned and confirmed once)</a:t>
            </a:r>
            <a:endParaRPr lang="en-US" dirty="0"/>
          </a:p>
        </p:txBody>
      </p:sp>
      <p:sp>
        <p:nvSpPr>
          <p:cNvPr id="18" name="TextBox 17"/>
          <p:cNvSpPr txBox="1"/>
          <p:nvPr/>
        </p:nvSpPr>
        <p:spPr>
          <a:xfrm>
            <a:off x="5232664" y="2707030"/>
            <a:ext cx="3223959" cy="369332"/>
          </a:xfrm>
          <a:prstGeom prst="rect">
            <a:avLst/>
          </a:prstGeom>
          <a:noFill/>
        </p:spPr>
        <p:txBody>
          <a:bodyPr wrap="none" rtlCol="0">
            <a:spAutoFit/>
          </a:bodyPr>
          <a:lstStyle/>
          <a:p>
            <a:r>
              <a:rPr lang="en-US" dirty="0" smtClean="0"/>
              <a:t>(learned and confirmed twice)</a:t>
            </a:r>
            <a:endParaRPr lang="en-US" dirty="0"/>
          </a:p>
        </p:txBody>
      </p:sp>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SWA offset : Plots from </a:t>
            </a:r>
            <a:r>
              <a:rPr lang="en-US" dirty="0" err="1" smtClean="0"/>
              <a:t>BBTtesting</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14</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pic>
        <p:nvPicPr>
          <p:cNvPr id="7" name="Picture 3"/>
          <p:cNvPicPr>
            <a:picLocks noChangeAspect="1" noChangeArrowheads="1"/>
          </p:cNvPicPr>
          <p:nvPr/>
        </p:nvPicPr>
        <p:blipFill>
          <a:blip r:embed="rId2" cstate="print"/>
          <a:srcRect/>
          <a:stretch>
            <a:fillRect/>
          </a:stretch>
        </p:blipFill>
        <p:spPr bwMode="auto">
          <a:xfrm>
            <a:off x="411707" y="1076176"/>
            <a:ext cx="8001000" cy="2877760"/>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4856" y="196382"/>
            <a:ext cx="8353425" cy="719137"/>
          </a:xfrm>
        </p:spPr>
        <p:txBody>
          <a:bodyPr/>
          <a:lstStyle/>
          <a:p>
            <a:r>
              <a:rPr lang="en-US" dirty="0" smtClean="0"/>
              <a:t>SWA offset : (Plots from BBT testing)</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15</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pic>
        <p:nvPicPr>
          <p:cNvPr id="7" name="Picture 3"/>
          <p:cNvPicPr>
            <a:picLocks noGrp="1" noChangeAspect="1" noChangeArrowheads="1"/>
          </p:cNvPicPr>
          <p:nvPr>
            <p:ph idx="1"/>
          </p:nvPr>
        </p:nvPicPr>
        <p:blipFill>
          <a:blip r:embed="rId2" cstate="print"/>
          <a:srcRect/>
          <a:stretch>
            <a:fillRect/>
          </a:stretch>
        </p:blipFill>
        <p:spPr bwMode="auto">
          <a:xfrm>
            <a:off x="1386043" y="1050046"/>
            <a:ext cx="5909706" cy="4535487"/>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75192" y="176286"/>
            <a:ext cx="8353425" cy="719137"/>
          </a:xfrm>
        </p:spPr>
        <p:txBody>
          <a:bodyPr/>
          <a:lstStyle/>
          <a:p>
            <a:r>
              <a:rPr lang="en-US" dirty="0" smtClean="0"/>
              <a:t>Yaw Rate Offset</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16</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sp>
        <p:nvSpPr>
          <p:cNvPr id="7" name="TextBox 6"/>
          <p:cNvSpPr txBox="1"/>
          <p:nvPr/>
        </p:nvSpPr>
        <p:spPr>
          <a:xfrm>
            <a:off x="127936" y="1067624"/>
            <a:ext cx="9005992" cy="4739759"/>
          </a:xfrm>
          <a:prstGeom prst="rect">
            <a:avLst/>
          </a:prstGeom>
          <a:noFill/>
        </p:spPr>
        <p:txBody>
          <a:bodyPr wrap="none" rtlCol="0">
            <a:spAutoFit/>
          </a:bodyPr>
          <a:lstStyle/>
          <a:p>
            <a:pPr marL="342900" indent="-342900">
              <a:buAutoNum type="arabicPeriod"/>
            </a:pPr>
            <a:r>
              <a:rPr lang="en-IN" sz="1600" dirty="0" smtClean="0"/>
              <a:t>When the vehicle is detected to be in stand still state, yaw rate stand still offset is estimated</a:t>
            </a:r>
          </a:p>
          <a:p>
            <a:pPr marL="342900" indent="-342900"/>
            <a:r>
              <a:rPr lang="en-IN" sz="1600" dirty="0" smtClean="0"/>
              <a:t>       as mean value of 30 cycles for the first time. Later on it is computed as a mean of 15 cycles. </a:t>
            </a:r>
          </a:p>
          <a:p>
            <a:pPr marL="342900" indent="-342900"/>
            <a:endParaRPr lang="en-IN" sz="1600" dirty="0" smtClean="0"/>
          </a:p>
          <a:p>
            <a:pPr marL="342900" indent="-342900">
              <a:buAutoNum type="arabicPeriod" startAt="2"/>
            </a:pPr>
            <a:r>
              <a:rPr lang="en-IN" sz="1600" dirty="0" smtClean="0"/>
              <a:t>Quality of yaw rate offset determines the last estimated yaw rate offset will be considered for</a:t>
            </a:r>
          </a:p>
          <a:p>
            <a:pPr marL="342900" indent="-342900"/>
            <a:r>
              <a:rPr lang="en-IN" sz="1600" dirty="0" smtClean="0"/>
              <a:t>       compensation or not.</a:t>
            </a:r>
          </a:p>
          <a:p>
            <a:pPr marL="342900" indent="-342900"/>
            <a:endParaRPr lang="en-IN" sz="1600" dirty="0" smtClean="0"/>
          </a:p>
          <a:p>
            <a:pPr marL="342900" indent="-342900">
              <a:buAutoNum type="arabicPeriod" startAt="3"/>
            </a:pPr>
            <a:r>
              <a:rPr lang="en-IN" sz="1600" dirty="0" smtClean="0"/>
              <a:t>The allowed learning is 4 deg/sec in a stand still cycle.</a:t>
            </a:r>
          </a:p>
          <a:p>
            <a:pPr marL="342900" indent="-342900">
              <a:buAutoNum type="arabicPeriod" startAt="3"/>
            </a:pPr>
            <a:endParaRPr lang="en-IN" sz="1600" dirty="0" smtClean="0"/>
          </a:p>
          <a:p>
            <a:pPr marL="342900" indent="-342900">
              <a:buAutoNum type="arabicPeriod" startAt="3"/>
            </a:pPr>
            <a:r>
              <a:rPr lang="en-IN" sz="1600" dirty="0" smtClean="0"/>
              <a:t>Turn Table Detection :</a:t>
            </a:r>
          </a:p>
          <a:p>
            <a:pPr marL="342900" indent="-342900"/>
            <a:r>
              <a:rPr lang="en-IN" sz="1600" dirty="0" smtClean="0"/>
              <a:t>	When the motion state detected is stand still and if the measured yaw rate is more than </a:t>
            </a:r>
          </a:p>
          <a:p>
            <a:pPr marL="342900" indent="-342900"/>
            <a:r>
              <a:rPr lang="en-IN" sz="1600" dirty="0" smtClean="0"/>
              <a:t>       7 deg/sec</a:t>
            </a:r>
          </a:p>
          <a:p>
            <a:pPr marL="342900" indent="-342900"/>
            <a:endParaRPr lang="en-IN" sz="1600" dirty="0" smtClean="0"/>
          </a:p>
          <a:p>
            <a:pPr marL="342900" indent="-342900">
              <a:buAutoNum type="arabicPeriod" startAt="5"/>
            </a:pPr>
            <a:r>
              <a:rPr lang="en-IN" sz="1600" dirty="0" smtClean="0"/>
              <a:t>Fast Stand Still : When the quality is less than 0.75 (approximately)</a:t>
            </a:r>
          </a:p>
          <a:p>
            <a:pPr marL="342900" indent="-342900">
              <a:buAutoNum type="arabicPeriod" startAt="5"/>
            </a:pPr>
            <a:endParaRPr lang="en-IN" sz="1600" dirty="0" smtClean="0"/>
          </a:p>
          <a:p>
            <a:pPr marL="342900" indent="-342900">
              <a:buAutoNum type="arabicPeriod" startAt="5"/>
            </a:pPr>
            <a:r>
              <a:rPr lang="en-IN" sz="1600" dirty="0" smtClean="0"/>
              <a:t>Dynamic Yaw rate offset : (High way driving) </a:t>
            </a:r>
          </a:p>
          <a:p>
            <a:pPr marL="342900" indent="-342900"/>
            <a:r>
              <a:rPr lang="en-IN" sz="1600" dirty="0" smtClean="0"/>
              <a:t>	 </a:t>
            </a:r>
            <a:r>
              <a:rPr lang="en-IN" sz="1200" dirty="0" smtClean="0">
                <a:solidFill>
                  <a:srgbClr val="FF0000"/>
                </a:solidFill>
              </a:rPr>
              <a:t>a</a:t>
            </a:r>
            <a:r>
              <a:rPr lang="en-IN" sz="1600" dirty="0" smtClean="0"/>
              <a:t>. </a:t>
            </a:r>
            <a:r>
              <a:rPr lang="en-IN" sz="1200" dirty="0" smtClean="0"/>
              <a:t>Long </a:t>
            </a:r>
            <a:r>
              <a:rPr lang="en-IN" sz="1200" dirty="0" err="1" smtClean="0"/>
              <a:t>Vel</a:t>
            </a:r>
            <a:r>
              <a:rPr lang="en-IN" sz="1200" dirty="0" smtClean="0"/>
              <a:t> &gt;=14 m/sec, Lateral </a:t>
            </a:r>
            <a:r>
              <a:rPr lang="en-IN" sz="1200" dirty="0" err="1" smtClean="0"/>
              <a:t>Accel</a:t>
            </a:r>
            <a:r>
              <a:rPr lang="en-IN" sz="1200" dirty="0" smtClean="0"/>
              <a:t> &lt;=3.5 m/sec2, Long </a:t>
            </a:r>
            <a:r>
              <a:rPr lang="en-IN" sz="1200" dirty="0" err="1" smtClean="0"/>
              <a:t>Accel</a:t>
            </a:r>
            <a:r>
              <a:rPr lang="en-IN" sz="1200" dirty="0" smtClean="0"/>
              <a:t> &lt;= 2.0 m/sec2, Yaw Rate Front and Rear </a:t>
            </a:r>
            <a:r>
              <a:rPr lang="en-IN" sz="1200" dirty="0" err="1" smtClean="0"/>
              <a:t>Diffe</a:t>
            </a:r>
            <a:r>
              <a:rPr lang="en-IN" sz="1200" dirty="0" smtClean="0"/>
              <a:t> &lt;=0.02</a:t>
            </a:r>
          </a:p>
          <a:p>
            <a:pPr marL="342900" indent="-342900"/>
            <a:r>
              <a:rPr lang="en-IN" sz="1600" dirty="0" smtClean="0"/>
              <a:t>       </a:t>
            </a:r>
            <a:r>
              <a:rPr lang="en-IN" sz="1200" dirty="0" smtClean="0">
                <a:solidFill>
                  <a:srgbClr val="FF0000"/>
                </a:solidFill>
              </a:rPr>
              <a:t>b</a:t>
            </a:r>
            <a:r>
              <a:rPr lang="en-IN" sz="1600" dirty="0" smtClean="0"/>
              <a:t>. </a:t>
            </a:r>
            <a:r>
              <a:rPr lang="en-IN" sz="1200" dirty="0" smtClean="0"/>
              <a:t>Initial value of the dynamic yaw rate offset  is Stand Still offset and its starts learning on top of that. The learning rate is not</a:t>
            </a:r>
          </a:p>
          <a:p>
            <a:pPr marL="342900" indent="-342900"/>
            <a:r>
              <a:rPr lang="en-IN" sz="1200" dirty="0" smtClean="0"/>
              <a:t>              allowed to go more than 0.002 </a:t>
            </a:r>
            <a:r>
              <a:rPr lang="en-IN" sz="1200" smtClean="0"/>
              <a:t>in 1500 </a:t>
            </a:r>
            <a:r>
              <a:rPr lang="en-IN" sz="1200" dirty="0" smtClean="0"/>
              <a:t>cycles.</a:t>
            </a:r>
          </a:p>
          <a:p>
            <a:pPr marL="342900" indent="-342900"/>
            <a:r>
              <a:rPr lang="en-IN" dirty="0" smtClean="0"/>
              <a:t>       </a:t>
            </a:r>
            <a:endParaRPr lang="en-IN" dirty="0" smtClean="0"/>
          </a:p>
        </p:txBody>
      </p:sp>
    </p:spTree>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45048" y="377246"/>
            <a:ext cx="8353425" cy="719137"/>
          </a:xfrm>
        </p:spPr>
        <p:txBody>
          <a:bodyPr/>
          <a:lstStyle/>
          <a:p>
            <a:r>
              <a:rPr lang="en-US" dirty="0" smtClean="0"/>
              <a:t>Liming standstill Yaw rate offset</a:t>
            </a:r>
            <a:br>
              <a:rPr lang="en-US" dirty="0" smtClean="0"/>
            </a:b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17</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pic>
        <p:nvPicPr>
          <p:cNvPr id="4098" name="Picture 2"/>
          <p:cNvPicPr>
            <a:picLocks noChangeAspect="1" noChangeArrowheads="1"/>
          </p:cNvPicPr>
          <p:nvPr/>
        </p:nvPicPr>
        <p:blipFill>
          <a:blip r:embed="rId2"/>
          <a:srcRect/>
          <a:stretch>
            <a:fillRect/>
          </a:stretch>
        </p:blipFill>
        <p:spPr bwMode="auto">
          <a:xfrm>
            <a:off x="683568" y="1484784"/>
            <a:ext cx="7861432" cy="4158778"/>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3944" y="296862"/>
            <a:ext cx="8353425" cy="719137"/>
          </a:xfrm>
        </p:spPr>
        <p:txBody>
          <a:bodyPr/>
          <a:lstStyle/>
          <a:p>
            <a:r>
              <a:rPr lang="en-US" dirty="0" smtClean="0"/>
              <a:t>Yaw Rate Offset State (from BBT testing)</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18</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sp>
        <p:nvSpPr>
          <p:cNvPr id="7" name="TextBox 6"/>
          <p:cNvSpPr txBox="1"/>
          <p:nvPr/>
        </p:nvSpPr>
        <p:spPr>
          <a:xfrm>
            <a:off x="144192" y="1015999"/>
            <a:ext cx="4139776" cy="338554"/>
          </a:xfrm>
          <a:prstGeom prst="rect">
            <a:avLst/>
          </a:prstGeom>
          <a:noFill/>
        </p:spPr>
        <p:txBody>
          <a:bodyPr wrap="square" rtlCol="0">
            <a:spAutoFit/>
          </a:bodyPr>
          <a:lstStyle/>
          <a:p>
            <a:r>
              <a:rPr lang="en-IN" sz="1600" b="1" dirty="0" smtClean="0">
                <a:solidFill>
                  <a:srgbClr val="00B0F0"/>
                </a:solidFill>
              </a:rPr>
              <a:t>Impact of Yaw Rate offset :</a:t>
            </a:r>
          </a:p>
        </p:txBody>
      </p:sp>
      <p:sp>
        <p:nvSpPr>
          <p:cNvPr id="8" name="TextBox 7"/>
          <p:cNvSpPr txBox="1"/>
          <p:nvPr/>
        </p:nvSpPr>
        <p:spPr>
          <a:xfrm>
            <a:off x="3416" y="1406769"/>
            <a:ext cx="9353843" cy="646331"/>
          </a:xfrm>
          <a:prstGeom prst="rect">
            <a:avLst/>
          </a:prstGeom>
          <a:noFill/>
        </p:spPr>
        <p:txBody>
          <a:bodyPr wrap="none" rtlCol="0">
            <a:spAutoFit/>
          </a:bodyPr>
          <a:lstStyle/>
          <a:p>
            <a:r>
              <a:rPr lang="en-IN" dirty="0" smtClean="0"/>
              <a:t>It has direct impact on curvature. Based on the learning state curvature error is computed.</a:t>
            </a:r>
          </a:p>
          <a:p>
            <a:r>
              <a:rPr lang="en-IN" dirty="0" smtClean="0"/>
              <a:t>EBA / ACC will take curve error as one of the inputs to limit its range of operation.</a:t>
            </a:r>
            <a:endParaRPr lang="en-IN" dirty="0"/>
          </a:p>
        </p:txBody>
      </p:sp>
      <p:pic>
        <p:nvPicPr>
          <p:cNvPr id="9" name="Picture 3"/>
          <p:cNvPicPr>
            <a:picLocks noChangeAspect="1" noChangeArrowheads="1"/>
          </p:cNvPicPr>
          <p:nvPr/>
        </p:nvPicPr>
        <p:blipFill>
          <a:blip r:embed="rId2" cstate="print"/>
          <a:srcRect/>
          <a:stretch>
            <a:fillRect/>
          </a:stretch>
        </p:blipFill>
        <p:spPr bwMode="auto">
          <a:xfrm>
            <a:off x="144192" y="2053100"/>
            <a:ext cx="5486400" cy="3128329"/>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Sensitivity of Brake pressure on Standstill detection</a:t>
            </a:r>
            <a:br>
              <a:rPr lang="en-US" dirty="0" smtClean="0"/>
            </a:b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19</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pic>
        <p:nvPicPr>
          <p:cNvPr id="1026" name="Picture 2"/>
          <p:cNvPicPr>
            <a:picLocks noChangeAspect="1" noChangeArrowheads="1"/>
          </p:cNvPicPr>
          <p:nvPr/>
        </p:nvPicPr>
        <p:blipFill>
          <a:blip r:embed="rId2"/>
          <a:srcRect/>
          <a:stretch>
            <a:fillRect/>
          </a:stretch>
        </p:blipFill>
        <p:spPr bwMode="auto">
          <a:xfrm>
            <a:off x="755575" y="1556791"/>
            <a:ext cx="7718053" cy="5184577"/>
          </a:xfrm>
          <a:prstGeom prst="rect">
            <a:avLst/>
          </a:prstGeom>
          <a:noFill/>
          <a:ln w="9525">
            <a:noFill/>
            <a:miter lim="800000"/>
            <a:headEnd/>
            <a:tailEnd/>
          </a:ln>
        </p:spPr>
      </p:pic>
      <p:sp>
        <p:nvSpPr>
          <p:cNvPr id="9" name="Content Placeholder 1"/>
          <p:cNvSpPr txBox="1">
            <a:spLocks/>
          </p:cNvSpPr>
          <p:nvPr/>
        </p:nvSpPr>
        <p:spPr>
          <a:xfrm>
            <a:off x="395288" y="908721"/>
            <a:ext cx="7705104" cy="720079"/>
          </a:xfrm>
          <a:prstGeom prst="rect">
            <a:avLst/>
          </a:prstGeom>
        </p:spPr>
        <p:txBody>
          <a:bodyPr vert="horz" lIns="0" tIns="18000" rIns="0" bIns="18000" rtlCol="0">
            <a:noAutofit/>
          </a:bodyPr>
          <a:lstStyle/>
          <a:p>
            <a:pPr marL="177800" marR="0" lvl="0" indent="-177800" algn="l" defTabSz="914400" rtl="0" eaLnBrk="1" fontAlgn="auto" latinLnBrk="0" hangingPunct="1">
              <a:lnSpc>
                <a:spcPct val="100000"/>
              </a:lnSpc>
              <a:spcBef>
                <a:spcPts val="0"/>
              </a:spcBef>
              <a:spcAft>
                <a:spcPts val="0"/>
              </a:spcAft>
              <a:buClr>
                <a:schemeClr val="accent1"/>
              </a:buClr>
              <a:buSzPct val="125000"/>
              <a:buFont typeface="Arial" pitchFamily="34" charset="0"/>
              <a:buChar char="›"/>
              <a:tabLst/>
              <a:defRPr/>
            </a:pPr>
            <a:r>
              <a:rPr kumimoji="0" lang="en-US" sz="1000" b="0" i="0" u="none" strike="noStrike" kern="1200" cap="none" spc="0" normalizeH="0" baseline="0" noProof="0" dirty="0" smtClean="0">
                <a:ln>
                  <a:noFill/>
                </a:ln>
                <a:solidFill>
                  <a:schemeClr val="tx1"/>
                </a:solidFill>
                <a:effectLst/>
                <a:uLnTx/>
                <a:uFillTx/>
                <a:latin typeface="+mn-lt"/>
                <a:ea typeface="+mn-ea"/>
                <a:cs typeface="Arial" pitchFamily="34" charset="0"/>
              </a:rPr>
              <a:t>When brake pressure was applied, motion state remained in "standstill" irrespective of gear position</a:t>
            </a:r>
          </a:p>
          <a:p>
            <a:pPr marL="177800" marR="0" lvl="0" indent="-177800" algn="l" defTabSz="914400" rtl="0" eaLnBrk="1" fontAlgn="auto" latinLnBrk="0" hangingPunct="1">
              <a:lnSpc>
                <a:spcPct val="100000"/>
              </a:lnSpc>
              <a:spcBef>
                <a:spcPts val="0"/>
              </a:spcBef>
              <a:spcAft>
                <a:spcPts val="0"/>
              </a:spcAft>
              <a:buClr>
                <a:schemeClr val="accent1"/>
              </a:buClr>
              <a:buSzPct val="125000"/>
              <a:buFont typeface="Arial" pitchFamily="34" charset="0"/>
              <a:buChar char="›"/>
              <a:tabLst/>
              <a:defRPr/>
            </a:pPr>
            <a:r>
              <a:rPr kumimoji="0" lang="en-US" sz="1000" b="0" i="0" u="none" strike="noStrike" kern="1200" cap="none" spc="0" normalizeH="0" baseline="0" noProof="0" dirty="0" smtClean="0">
                <a:ln>
                  <a:noFill/>
                </a:ln>
                <a:solidFill>
                  <a:schemeClr val="tx1"/>
                </a:solidFill>
                <a:effectLst/>
                <a:uLnTx/>
                <a:uFillTx/>
                <a:latin typeface="+mn-lt"/>
                <a:ea typeface="+mn-ea"/>
                <a:cs typeface="Arial" pitchFamily="34" charset="0"/>
              </a:rPr>
              <a:t>When no brake pressure applied,</a:t>
            </a:r>
          </a:p>
          <a:p>
            <a:pPr marL="896938" marR="0" lvl="2" indent="-177800" algn="l" defTabSz="914400" rtl="0" eaLnBrk="1" fontAlgn="auto" latinLnBrk="0" hangingPunct="1">
              <a:lnSpc>
                <a:spcPct val="100000"/>
              </a:lnSpc>
              <a:spcBef>
                <a:spcPts val="0"/>
              </a:spcBef>
              <a:spcAft>
                <a:spcPts val="0"/>
              </a:spcAft>
              <a:buClr>
                <a:schemeClr val="accent1"/>
              </a:buClr>
              <a:buSzPct val="125000"/>
              <a:buFont typeface="Arial" pitchFamily="34" charset="0"/>
              <a:buChar char="›"/>
              <a:tabLst/>
              <a:defRPr/>
            </a:pPr>
            <a:r>
              <a:rPr kumimoji="0" lang="en-US" sz="1000" b="0" i="0" u="none" strike="noStrike" kern="1200" cap="none" spc="0" normalizeH="0" baseline="0" noProof="0" dirty="0" err="1" smtClean="0">
                <a:ln>
                  <a:noFill/>
                </a:ln>
                <a:solidFill>
                  <a:schemeClr val="tx1"/>
                </a:solidFill>
                <a:effectLst/>
                <a:uLnTx/>
                <a:uFillTx/>
                <a:latin typeface="+mn-lt"/>
                <a:ea typeface="+mn-ea"/>
                <a:cs typeface="Arial" pitchFamily="34" charset="0"/>
              </a:rPr>
              <a:t>motionstate</a:t>
            </a:r>
            <a:r>
              <a:rPr kumimoji="0" lang="en-US" sz="1000" b="0" i="0" u="none" strike="noStrike" kern="1200" cap="none" spc="0" normalizeH="0" baseline="0" noProof="0" dirty="0" smtClean="0">
                <a:ln>
                  <a:noFill/>
                </a:ln>
                <a:solidFill>
                  <a:schemeClr val="tx1"/>
                </a:solidFill>
                <a:effectLst/>
                <a:uLnTx/>
                <a:uFillTx/>
                <a:latin typeface="+mn-lt"/>
                <a:ea typeface="+mn-ea"/>
                <a:cs typeface="Arial" pitchFamily="34" charset="0"/>
              </a:rPr>
              <a:t> remained in "standstill" for gear P</a:t>
            </a:r>
          </a:p>
          <a:p>
            <a:pPr marL="896938" marR="0" lvl="2" indent="-177800" algn="l" defTabSz="914400" rtl="0" eaLnBrk="1" fontAlgn="auto" latinLnBrk="0" hangingPunct="1">
              <a:lnSpc>
                <a:spcPct val="100000"/>
              </a:lnSpc>
              <a:spcBef>
                <a:spcPts val="0"/>
              </a:spcBef>
              <a:spcAft>
                <a:spcPts val="0"/>
              </a:spcAft>
              <a:buClr>
                <a:schemeClr val="accent1"/>
              </a:buClr>
              <a:buSzPct val="125000"/>
              <a:buFont typeface="Arial" pitchFamily="34" charset="0"/>
              <a:buChar char="›"/>
              <a:tabLst/>
              <a:defRPr/>
            </a:pPr>
            <a:r>
              <a:rPr kumimoji="0" lang="en-US" sz="1000" b="0" i="0" u="none" strike="noStrike" kern="1200" cap="none" spc="0" normalizeH="0" baseline="0" noProof="0" dirty="0" err="1" smtClean="0">
                <a:ln>
                  <a:noFill/>
                </a:ln>
                <a:solidFill>
                  <a:schemeClr val="tx1"/>
                </a:solidFill>
                <a:effectLst/>
                <a:uLnTx/>
                <a:uFillTx/>
                <a:latin typeface="+mn-lt"/>
                <a:ea typeface="+mn-ea"/>
                <a:cs typeface="Arial" pitchFamily="34" charset="0"/>
              </a:rPr>
              <a:t>motionstate</a:t>
            </a:r>
            <a:r>
              <a:rPr kumimoji="0" lang="en-US" sz="1000" b="0" i="0" u="none" strike="noStrike" kern="1200" cap="none" spc="0" normalizeH="0" baseline="0" noProof="0" dirty="0" smtClean="0">
                <a:ln>
                  <a:noFill/>
                </a:ln>
                <a:solidFill>
                  <a:schemeClr val="tx1"/>
                </a:solidFill>
                <a:effectLst/>
                <a:uLnTx/>
                <a:uFillTx/>
                <a:latin typeface="+mn-lt"/>
                <a:ea typeface="+mn-ea"/>
                <a:cs typeface="Arial" pitchFamily="34" charset="0"/>
              </a:rPr>
              <a:t> transitioned to FWD or RWD, depending on whether gear was in D or R</a:t>
            </a:r>
            <a:endParaRPr kumimoji="0" lang="en-US" sz="1000" b="0" i="0" u="none" strike="noStrike" kern="1200" cap="none" spc="0" normalizeH="0" baseline="0" noProof="0" dirty="0">
              <a:ln>
                <a:noFill/>
              </a:ln>
              <a:solidFill>
                <a:schemeClr val="tx1"/>
              </a:solidFill>
              <a:effectLst/>
              <a:uLnTx/>
              <a:uFillTx/>
              <a:latin typeface="+mn-lt"/>
              <a:ea typeface="+mn-ea"/>
              <a:cs typeface="Arial" pitchFamily="34" charset="0"/>
            </a:endParaRPr>
          </a:p>
        </p:txBody>
      </p:sp>
    </p:spTree>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95288" y="25566"/>
            <a:ext cx="8353425" cy="719137"/>
          </a:xfrm>
        </p:spPr>
        <p:txBody>
          <a:bodyPr/>
          <a:lstStyle/>
          <a:p>
            <a:r>
              <a:rPr lang="en-US" dirty="0" smtClean="0"/>
              <a:t>Dynamic Yaw Rate Offset Learning (from BBT Testing)</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20</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pic>
        <p:nvPicPr>
          <p:cNvPr id="7" name="Picture 2"/>
          <p:cNvPicPr>
            <a:picLocks noChangeAspect="1" noChangeArrowheads="1"/>
          </p:cNvPicPr>
          <p:nvPr/>
        </p:nvPicPr>
        <p:blipFill>
          <a:blip r:embed="rId2" cstate="print"/>
          <a:srcRect/>
          <a:stretch>
            <a:fillRect/>
          </a:stretch>
        </p:blipFill>
        <p:spPr bwMode="auto">
          <a:xfrm>
            <a:off x="485720" y="756328"/>
            <a:ext cx="5614952" cy="2047758"/>
          </a:xfrm>
          <a:prstGeom prst="rect">
            <a:avLst/>
          </a:prstGeom>
          <a:noFill/>
          <a:ln w="9525">
            <a:noFill/>
            <a:miter lim="800000"/>
            <a:headEnd/>
            <a:tailEnd/>
          </a:ln>
        </p:spPr>
      </p:pic>
      <p:pic>
        <p:nvPicPr>
          <p:cNvPr id="8" name="Picture 3"/>
          <p:cNvPicPr>
            <a:picLocks noChangeAspect="1" noChangeArrowheads="1"/>
          </p:cNvPicPr>
          <p:nvPr/>
        </p:nvPicPr>
        <p:blipFill>
          <a:blip r:embed="rId3" cstate="print"/>
          <a:srcRect/>
          <a:stretch>
            <a:fillRect/>
          </a:stretch>
        </p:blipFill>
        <p:spPr bwMode="auto">
          <a:xfrm>
            <a:off x="488882" y="2783990"/>
            <a:ext cx="5521358" cy="1804128"/>
          </a:xfrm>
          <a:prstGeom prst="rect">
            <a:avLst/>
          </a:prstGeom>
          <a:noFill/>
          <a:ln w="9525">
            <a:noFill/>
            <a:miter lim="800000"/>
            <a:headEnd/>
            <a:tailEnd/>
          </a:ln>
        </p:spPr>
      </p:pic>
      <p:pic>
        <p:nvPicPr>
          <p:cNvPr id="9" name="Picture 3"/>
          <p:cNvPicPr>
            <a:picLocks noChangeAspect="1" noChangeArrowheads="1"/>
          </p:cNvPicPr>
          <p:nvPr/>
        </p:nvPicPr>
        <p:blipFill>
          <a:blip r:embed="rId4" cstate="print"/>
          <a:srcRect/>
          <a:stretch>
            <a:fillRect/>
          </a:stretch>
        </p:blipFill>
        <p:spPr bwMode="auto">
          <a:xfrm>
            <a:off x="405336" y="4677465"/>
            <a:ext cx="5695336" cy="1762841"/>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5240" y="75806"/>
            <a:ext cx="8579248" cy="719137"/>
          </a:xfrm>
        </p:spPr>
        <p:txBody>
          <a:bodyPr/>
          <a:lstStyle/>
          <a:p>
            <a:r>
              <a:rPr lang="en-US" dirty="0" smtClean="0"/>
              <a:t>Lateral </a:t>
            </a:r>
            <a:r>
              <a:rPr lang="en-US" dirty="0" err="1" smtClean="0"/>
              <a:t>Accel</a:t>
            </a:r>
            <a:r>
              <a:rPr lang="en-US" dirty="0" smtClean="0"/>
              <a:t> Offset Learning (similar lines of SWA offset) </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21</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sp>
        <p:nvSpPr>
          <p:cNvPr id="42" name="TextBox 41"/>
          <p:cNvSpPr txBox="1"/>
          <p:nvPr/>
        </p:nvSpPr>
        <p:spPr>
          <a:xfrm>
            <a:off x="395239" y="860817"/>
            <a:ext cx="8569249" cy="923330"/>
          </a:xfrm>
          <a:prstGeom prst="rect">
            <a:avLst/>
          </a:prstGeom>
          <a:noFill/>
        </p:spPr>
        <p:txBody>
          <a:bodyPr wrap="square" rtlCol="0">
            <a:spAutoFit/>
          </a:bodyPr>
          <a:lstStyle/>
          <a:p>
            <a:pPr marL="342900" indent="-342900">
              <a:buAutoNum type="arabicPeriod"/>
            </a:pPr>
            <a:r>
              <a:rPr lang="en-IN" dirty="0" smtClean="0"/>
              <a:t>Learning conditions : (Straight drive)</a:t>
            </a:r>
          </a:p>
          <a:p>
            <a:pPr marL="342900" indent="-342900"/>
            <a:r>
              <a:rPr lang="en-IN" dirty="0" smtClean="0"/>
              <a:t>                  Velocity &gt; 10 m/sec, Wheel Speed Difference  (FL – FR &amp; RL – RR) is less than 0.3 m/sec                </a:t>
            </a:r>
            <a:endParaRPr lang="en-IN" dirty="0"/>
          </a:p>
        </p:txBody>
      </p:sp>
      <p:grpSp>
        <p:nvGrpSpPr>
          <p:cNvPr id="2" name="Group 42"/>
          <p:cNvGrpSpPr/>
          <p:nvPr/>
        </p:nvGrpSpPr>
        <p:grpSpPr>
          <a:xfrm>
            <a:off x="1849936" y="2587472"/>
            <a:ext cx="5406255" cy="2519035"/>
            <a:chOff x="0" y="0"/>
            <a:chExt cx="5406255" cy="2519035"/>
          </a:xfrm>
        </p:grpSpPr>
        <p:grpSp>
          <p:nvGrpSpPr>
            <p:cNvPr id="7" name="Group 6"/>
            <p:cNvGrpSpPr/>
            <p:nvPr/>
          </p:nvGrpSpPr>
          <p:grpSpPr>
            <a:xfrm>
              <a:off x="247650" y="0"/>
              <a:ext cx="4438650" cy="2324100"/>
              <a:chOff x="247650" y="0"/>
              <a:chExt cx="4438650" cy="2324100"/>
            </a:xfrm>
          </p:grpSpPr>
          <p:grpSp>
            <p:nvGrpSpPr>
              <p:cNvPr id="8" name="Group 9"/>
              <p:cNvGrpSpPr/>
              <p:nvPr/>
            </p:nvGrpSpPr>
            <p:grpSpPr>
              <a:xfrm>
                <a:off x="2466976" y="9526"/>
                <a:ext cx="2219324" cy="2305050"/>
                <a:chOff x="2466976" y="9526"/>
                <a:chExt cx="2219324" cy="2305050"/>
              </a:xfrm>
            </p:grpSpPr>
            <p:grpSp>
              <p:nvGrpSpPr>
                <p:cNvPr id="9" name="Group 61"/>
                <p:cNvGrpSpPr/>
                <p:nvPr/>
              </p:nvGrpSpPr>
              <p:grpSpPr>
                <a:xfrm>
                  <a:off x="2667000" y="238125"/>
                  <a:ext cx="2019300" cy="2066925"/>
                  <a:chOff x="2667000" y="238125"/>
                  <a:chExt cx="2019300" cy="2066925"/>
                </a:xfrm>
              </p:grpSpPr>
              <p:grpSp>
                <p:nvGrpSpPr>
                  <p:cNvPr id="10" name="Group 63"/>
                  <p:cNvGrpSpPr/>
                  <p:nvPr/>
                </p:nvGrpSpPr>
                <p:grpSpPr>
                  <a:xfrm>
                    <a:off x="2886075" y="447675"/>
                    <a:ext cx="1800225" cy="1857375"/>
                    <a:chOff x="2886075" y="447675"/>
                    <a:chExt cx="1800225" cy="1857375"/>
                  </a:xfrm>
                </p:grpSpPr>
                <p:grpSp>
                  <p:nvGrpSpPr>
                    <p:cNvPr id="11" name="Group 65"/>
                    <p:cNvGrpSpPr/>
                    <p:nvPr/>
                  </p:nvGrpSpPr>
                  <p:grpSpPr>
                    <a:xfrm>
                      <a:off x="3810000" y="1533525"/>
                      <a:ext cx="876300" cy="762000"/>
                      <a:chOff x="3810000" y="1533525"/>
                      <a:chExt cx="876300" cy="762000"/>
                    </a:xfrm>
                  </p:grpSpPr>
                  <p:sp>
                    <p:nvSpPr>
                      <p:cNvPr id="71" name="Rectangle 70"/>
                      <p:cNvSpPr/>
                      <p:nvPr/>
                    </p:nvSpPr>
                    <p:spPr>
                      <a:xfrm>
                        <a:off x="3810000" y="1533525"/>
                        <a:ext cx="228600" cy="762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sp>
                    <p:nvSpPr>
                      <p:cNvPr id="72" name="Rectangle 71"/>
                      <p:cNvSpPr/>
                      <p:nvPr/>
                    </p:nvSpPr>
                    <p:spPr>
                      <a:xfrm>
                        <a:off x="4038600" y="1733550"/>
                        <a:ext cx="228600" cy="5619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sp>
                    <p:nvSpPr>
                      <p:cNvPr id="73" name="Rectangle 72"/>
                      <p:cNvSpPr/>
                      <p:nvPr/>
                    </p:nvSpPr>
                    <p:spPr>
                      <a:xfrm>
                        <a:off x="4267200" y="1952625"/>
                        <a:ext cx="219075" cy="3429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sp>
                    <p:nvSpPr>
                      <p:cNvPr id="74" name="Rectangle 73"/>
                      <p:cNvSpPr/>
                      <p:nvPr/>
                    </p:nvSpPr>
                    <p:spPr>
                      <a:xfrm>
                        <a:off x="4486275" y="2095500"/>
                        <a:ext cx="200025" cy="2000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grpSp>
                <p:sp>
                  <p:nvSpPr>
                    <p:cNvPr id="67" name="Rectangle 66"/>
                    <p:cNvSpPr/>
                    <p:nvPr/>
                  </p:nvSpPr>
                  <p:spPr>
                    <a:xfrm>
                      <a:off x="3562350" y="1171575"/>
                      <a:ext cx="238125" cy="1123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sp>
                  <p:nvSpPr>
                    <p:cNvPr id="68" name="Rectangle 67"/>
                    <p:cNvSpPr/>
                    <p:nvPr/>
                  </p:nvSpPr>
                  <p:spPr>
                    <a:xfrm>
                      <a:off x="3333751" y="895350"/>
                      <a:ext cx="228600" cy="14001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sp>
                  <p:nvSpPr>
                    <p:cNvPr id="69" name="Rectangle 68"/>
                    <p:cNvSpPr/>
                    <p:nvPr/>
                  </p:nvSpPr>
                  <p:spPr>
                    <a:xfrm>
                      <a:off x="3114675" y="666750"/>
                      <a:ext cx="219075" cy="16287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sp>
                  <p:nvSpPr>
                    <p:cNvPr id="70" name="Rectangle 69"/>
                    <p:cNvSpPr/>
                    <p:nvPr/>
                  </p:nvSpPr>
                  <p:spPr>
                    <a:xfrm>
                      <a:off x="2886075" y="447675"/>
                      <a:ext cx="219075" cy="18573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grpSp>
              <p:sp>
                <p:nvSpPr>
                  <p:cNvPr id="65" name="Rectangle 64"/>
                  <p:cNvSpPr/>
                  <p:nvPr/>
                </p:nvSpPr>
                <p:spPr>
                  <a:xfrm>
                    <a:off x="2667000" y="238125"/>
                    <a:ext cx="219075" cy="20669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grpSp>
            <p:sp>
              <p:nvSpPr>
                <p:cNvPr id="63" name="Rectangle 62"/>
                <p:cNvSpPr/>
                <p:nvPr/>
              </p:nvSpPr>
              <p:spPr>
                <a:xfrm>
                  <a:off x="2466976" y="9526"/>
                  <a:ext cx="190500" cy="23050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grpSp>
          <p:grpSp>
            <p:nvGrpSpPr>
              <p:cNvPr id="12" name="Group 10"/>
              <p:cNvGrpSpPr/>
              <p:nvPr/>
            </p:nvGrpSpPr>
            <p:grpSpPr>
              <a:xfrm>
                <a:off x="247650" y="0"/>
                <a:ext cx="2209800" cy="2324100"/>
                <a:chOff x="247650" y="0"/>
                <a:chExt cx="2209800" cy="2324100"/>
              </a:xfrm>
            </p:grpSpPr>
            <p:grpSp>
              <p:nvGrpSpPr>
                <p:cNvPr id="13" name="Group 11"/>
                <p:cNvGrpSpPr/>
                <p:nvPr/>
              </p:nvGrpSpPr>
              <p:grpSpPr>
                <a:xfrm>
                  <a:off x="247650" y="257175"/>
                  <a:ext cx="2019300" cy="2066925"/>
                  <a:chOff x="247650" y="257175"/>
                  <a:chExt cx="2019300" cy="2066925"/>
                </a:xfrm>
              </p:grpSpPr>
              <p:grpSp>
                <p:nvGrpSpPr>
                  <p:cNvPr id="14" name="Group 13"/>
                  <p:cNvGrpSpPr/>
                  <p:nvPr/>
                </p:nvGrpSpPr>
                <p:grpSpPr>
                  <a:xfrm>
                    <a:off x="247650" y="457200"/>
                    <a:ext cx="1800225" cy="1857375"/>
                    <a:chOff x="247650" y="457200"/>
                    <a:chExt cx="1800225" cy="1857375"/>
                  </a:xfrm>
                </p:grpSpPr>
                <p:grpSp>
                  <p:nvGrpSpPr>
                    <p:cNvPr id="15" name="Group 15"/>
                    <p:cNvGrpSpPr/>
                    <p:nvPr/>
                  </p:nvGrpSpPr>
                  <p:grpSpPr>
                    <a:xfrm>
                      <a:off x="247650" y="1543051"/>
                      <a:ext cx="885825" cy="762000"/>
                      <a:chOff x="247650" y="1543051"/>
                      <a:chExt cx="885825" cy="762000"/>
                    </a:xfrm>
                  </p:grpSpPr>
                  <p:sp>
                    <p:nvSpPr>
                      <p:cNvPr id="58" name="Rectangle 57"/>
                      <p:cNvSpPr/>
                      <p:nvPr/>
                    </p:nvSpPr>
                    <p:spPr>
                      <a:xfrm>
                        <a:off x="247650" y="2095500"/>
                        <a:ext cx="200025" cy="2000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sp>
                    <p:nvSpPr>
                      <p:cNvPr id="59" name="Rectangle 58"/>
                      <p:cNvSpPr/>
                      <p:nvPr/>
                    </p:nvSpPr>
                    <p:spPr>
                      <a:xfrm>
                        <a:off x="457200" y="1952626"/>
                        <a:ext cx="219075" cy="3429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sp>
                    <p:nvSpPr>
                      <p:cNvPr id="60" name="Rectangle 59"/>
                      <p:cNvSpPr/>
                      <p:nvPr/>
                    </p:nvSpPr>
                    <p:spPr>
                      <a:xfrm>
                        <a:off x="685801" y="1733550"/>
                        <a:ext cx="228600" cy="5619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sp>
                    <p:nvSpPr>
                      <p:cNvPr id="61" name="Rectangle 60"/>
                      <p:cNvSpPr/>
                      <p:nvPr/>
                    </p:nvSpPr>
                    <p:spPr>
                      <a:xfrm>
                        <a:off x="904875" y="1543051"/>
                        <a:ext cx="228600" cy="762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grpSp>
                <p:sp>
                  <p:nvSpPr>
                    <p:cNvPr id="54" name="Rectangle 53"/>
                    <p:cNvSpPr/>
                    <p:nvPr/>
                  </p:nvSpPr>
                  <p:spPr>
                    <a:xfrm>
                      <a:off x="1133474" y="1190625"/>
                      <a:ext cx="238125" cy="1123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sp>
                  <p:nvSpPr>
                    <p:cNvPr id="55" name="Rectangle 54"/>
                    <p:cNvSpPr/>
                    <p:nvPr/>
                  </p:nvSpPr>
                  <p:spPr>
                    <a:xfrm>
                      <a:off x="1371600" y="914400"/>
                      <a:ext cx="228600" cy="14001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sp>
                  <p:nvSpPr>
                    <p:cNvPr id="56" name="Rectangle 55"/>
                    <p:cNvSpPr/>
                    <p:nvPr/>
                  </p:nvSpPr>
                  <p:spPr>
                    <a:xfrm>
                      <a:off x="1609725" y="685800"/>
                      <a:ext cx="219075" cy="16287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sp>
                  <p:nvSpPr>
                    <p:cNvPr id="57" name="Rectangle 56"/>
                    <p:cNvSpPr/>
                    <p:nvPr/>
                  </p:nvSpPr>
                  <p:spPr>
                    <a:xfrm>
                      <a:off x="1828800" y="457200"/>
                      <a:ext cx="219075" cy="18573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grpSp>
              <p:sp>
                <p:nvSpPr>
                  <p:cNvPr id="52" name="Rectangle 51"/>
                  <p:cNvSpPr/>
                  <p:nvPr/>
                </p:nvSpPr>
                <p:spPr>
                  <a:xfrm>
                    <a:off x="2047875" y="257175"/>
                    <a:ext cx="219075" cy="20669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grpSp>
            <p:sp>
              <p:nvSpPr>
                <p:cNvPr id="50" name="Rectangle 49"/>
                <p:cNvSpPr/>
                <p:nvPr/>
              </p:nvSpPr>
              <p:spPr>
                <a:xfrm>
                  <a:off x="2266950" y="0"/>
                  <a:ext cx="190500" cy="23050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IN" sz="1100"/>
                </a:p>
              </p:txBody>
            </p:sp>
          </p:grpSp>
        </p:grpSp>
        <p:sp>
          <p:nvSpPr>
            <p:cNvPr id="45" name="TextBox 34"/>
            <p:cNvSpPr txBox="1"/>
            <p:nvPr/>
          </p:nvSpPr>
          <p:spPr>
            <a:xfrm>
              <a:off x="0" y="2228850"/>
              <a:ext cx="918841"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IN" sz="1100" dirty="0" smtClean="0"/>
                <a:t>-</a:t>
              </a:r>
              <a:r>
                <a:rPr lang="en-IN" dirty="0" smtClean="0"/>
                <a:t>2.5</a:t>
              </a:r>
              <a:r>
                <a:rPr lang="en-IN" sz="1100" dirty="0" smtClean="0"/>
                <a:t> m/sec2</a:t>
              </a:r>
              <a:endParaRPr lang="en-IN" sz="1100" dirty="0"/>
            </a:p>
          </p:txBody>
        </p:sp>
        <p:sp>
          <p:nvSpPr>
            <p:cNvPr id="46" name="TextBox 35"/>
            <p:cNvSpPr txBox="1"/>
            <p:nvPr/>
          </p:nvSpPr>
          <p:spPr>
            <a:xfrm>
              <a:off x="4533900" y="2257425"/>
              <a:ext cx="872355" cy="26161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IN" dirty="0" smtClean="0"/>
                <a:t>2.5 m/sec2</a:t>
              </a:r>
              <a:endParaRPr lang="en-IN" sz="1100" dirty="0"/>
            </a:p>
          </p:txBody>
        </p:sp>
      </p:grpSp>
      <p:sp>
        <p:nvSpPr>
          <p:cNvPr id="75" name="TextBox 74"/>
          <p:cNvSpPr txBox="1"/>
          <p:nvPr/>
        </p:nvSpPr>
        <p:spPr>
          <a:xfrm>
            <a:off x="365943" y="1851432"/>
            <a:ext cx="8238505" cy="646331"/>
          </a:xfrm>
          <a:prstGeom prst="rect">
            <a:avLst/>
          </a:prstGeom>
          <a:noFill/>
        </p:spPr>
        <p:txBody>
          <a:bodyPr wrap="square" rtlCol="0">
            <a:spAutoFit/>
          </a:bodyPr>
          <a:lstStyle/>
          <a:p>
            <a:pPr marL="342900" indent="-342900">
              <a:buAutoNum type="arabicPeriod" startAt="2"/>
            </a:pPr>
            <a:r>
              <a:rPr lang="en-IN" dirty="0" smtClean="0"/>
              <a:t>Build Histogram : Histogram is filled based on direct SWA measurements</a:t>
            </a:r>
          </a:p>
          <a:p>
            <a:pPr marL="342900" indent="-342900"/>
            <a:r>
              <a:rPr lang="en-IN" dirty="0" smtClean="0"/>
              <a:t>                                   </a:t>
            </a:r>
            <a:endParaRPr lang="en-IN" dirty="0"/>
          </a:p>
        </p:txBody>
      </p:sp>
      <p:sp>
        <p:nvSpPr>
          <p:cNvPr id="76" name="TextBox 75"/>
          <p:cNvSpPr txBox="1"/>
          <p:nvPr/>
        </p:nvSpPr>
        <p:spPr>
          <a:xfrm>
            <a:off x="279696" y="5294664"/>
            <a:ext cx="7495065" cy="646331"/>
          </a:xfrm>
          <a:prstGeom prst="rect">
            <a:avLst/>
          </a:prstGeom>
          <a:noFill/>
        </p:spPr>
        <p:txBody>
          <a:bodyPr wrap="none" rtlCol="0">
            <a:spAutoFit/>
          </a:bodyPr>
          <a:lstStyle/>
          <a:p>
            <a:pPr marL="342900" indent="-342900">
              <a:buAutoNum type="arabicPeriod" startAt="3"/>
            </a:pPr>
            <a:r>
              <a:rPr lang="en-IN" dirty="0" smtClean="0"/>
              <a:t>Check enough number of samples are collected based on distance criteria.</a:t>
            </a:r>
          </a:p>
          <a:p>
            <a:pPr marL="342900" indent="-342900"/>
            <a:r>
              <a:rPr lang="en-IN" dirty="0" smtClean="0"/>
              <a:t>       Computed median, once enough number of samples are collected.       </a:t>
            </a:r>
          </a:p>
        </p:txBody>
      </p:sp>
      <p:sp>
        <p:nvSpPr>
          <p:cNvPr id="77" name="TextBox 76"/>
          <p:cNvSpPr txBox="1"/>
          <p:nvPr/>
        </p:nvSpPr>
        <p:spPr>
          <a:xfrm>
            <a:off x="2000446" y="4436751"/>
            <a:ext cx="377026" cy="246221"/>
          </a:xfrm>
          <a:prstGeom prst="rect">
            <a:avLst/>
          </a:prstGeom>
          <a:noFill/>
        </p:spPr>
        <p:txBody>
          <a:bodyPr wrap="none" rtlCol="0">
            <a:spAutoFit/>
          </a:bodyPr>
          <a:lstStyle/>
          <a:p>
            <a:r>
              <a:rPr lang="en-US" sz="1000" dirty="0" smtClean="0"/>
              <a:t>W1</a:t>
            </a:r>
            <a:endParaRPr lang="en-US" sz="1000" dirty="0"/>
          </a:p>
        </p:txBody>
      </p:sp>
      <p:sp>
        <p:nvSpPr>
          <p:cNvPr id="78" name="TextBox 77"/>
          <p:cNvSpPr txBox="1"/>
          <p:nvPr/>
        </p:nvSpPr>
        <p:spPr>
          <a:xfrm>
            <a:off x="2924894" y="3531876"/>
            <a:ext cx="377026" cy="246221"/>
          </a:xfrm>
          <a:prstGeom prst="rect">
            <a:avLst/>
          </a:prstGeom>
          <a:noFill/>
        </p:spPr>
        <p:txBody>
          <a:bodyPr wrap="none" rtlCol="0">
            <a:spAutoFit/>
          </a:bodyPr>
          <a:lstStyle/>
          <a:p>
            <a:r>
              <a:rPr lang="en-US" sz="1000" dirty="0" smtClean="0"/>
              <a:t>W5</a:t>
            </a:r>
            <a:endParaRPr lang="en-US" sz="1000" dirty="0"/>
          </a:p>
        </p:txBody>
      </p:sp>
      <p:sp>
        <p:nvSpPr>
          <p:cNvPr id="79" name="TextBox 78"/>
          <p:cNvSpPr txBox="1"/>
          <p:nvPr/>
        </p:nvSpPr>
        <p:spPr>
          <a:xfrm>
            <a:off x="5183686" y="3285655"/>
            <a:ext cx="447558" cy="246221"/>
          </a:xfrm>
          <a:prstGeom prst="rect">
            <a:avLst/>
          </a:prstGeom>
          <a:noFill/>
        </p:spPr>
        <p:txBody>
          <a:bodyPr wrap="none" rtlCol="0">
            <a:spAutoFit/>
          </a:bodyPr>
          <a:lstStyle/>
          <a:p>
            <a:r>
              <a:rPr lang="en-US" sz="1000" dirty="0" smtClean="0"/>
              <a:t>W15</a:t>
            </a:r>
            <a:endParaRPr lang="en-US" sz="1000" dirty="0"/>
          </a:p>
        </p:txBody>
      </p:sp>
      <p:graphicFrame>
        <p:nvGraphicFramePr>
          <p:cNvPr id="4098" name="Object 2"/>
          <p:cNvGraphicFramePr>
            <a:graphicFrameLocks noChangeAspect="1"/>
          </p:cNvGraphicFramePr>
          <p:nvPr/>
        </p:nvGraphicFramePr>
        <p:xfrm>
          <a:off x="3014663" y="2176463"/>
          <a:ext cx="1168400" cy="228600"/>
        </p:xfrm>
        <a:graphic>
          <a:graphicData uri="http://schemas.openxmlformats.org/presentationml/2006/ole">
            <mc:AlternateContent xmlns:mc="http://schemas.openxmlformats.org/markup-compatibility/2006">
              <mc:Choice xmlns:v="urn:schemas-microsoft-com:vml" Requires="v">
                <p:oleObj spid="_x0000_s6148" name="Formel" r:id="rId3" imgW="1168200" imgH="228600" progId="Equation.3">
                  <p:embed/>
                </p:oleObj>
              </mc:Choice>
              <mc:Fallback>
                <p:oleObj name="Formel" r:id="rId3" imgW="1168200" imgH="2286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4663" y="2176463"/>
                        <a:ext cx="11684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95288" y="206430"/>
            <a:ext cx="8353425" cy="719137"/>
          </a:xfrm>
        </p:spPr>
        <p:txBody>
          <a:bodyPr/>
          <a:lstStyle/>
          <a:p>
            <a:r>
              <a:rPr lang="en-US" dirty="0" smtClean="0"/>
              <a:t>Lateral </a:t>
            </a:r>
            <a:r>
              <a:rPr lang="en-US" dirty="0" err="1" smtClean="0"/>
              <a:t>Accel</a:t>
            </a:r>
            <a:r>
              <a:rPr lang="en-US" dirty="0" smtClean="0"/>
              <a:t> Offset Learning (</a:t>
            </a:r>
            <a:r>
              <a:rPr lang="en-US" dirty="0" err="1" smtClean="0"/>
              <a:t>fromBBT</a:t>
            </a:r>
            <a:r>
              <a:rPr lang="en-US" dirty="0" smtClean="0"/>
              <a:t> testing)</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22</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pic>
        <p:nvPicPr>
          <p:cNvPr id="7" name="Picture 2"/>
          <p:cNvPicPr>
            <a:picLocks noChangeAspect="1" noChangeArrowheads="1"/>
          </p:cNvPicPr>
          <p:nvPr/>
        </p:nvPicPr>
        <p:blipFill>
          <a:blip r:embed="rId2" cstate="print"/>
          <a:srcRect/>
          <a:stretch>
            <a:fillRect/>
          </a:stretch>
        </p:blipFill>
        <p:spPr bwMode="auto">
          <a:xfrm>
            <a:off x="395288" y="945663"/>
            <a:ext cx="8209160" cy="2975092"/>
          </a:xfrm>
          <a:prstGeom prst="rect">
            <a:avLst/>
          </a:prstGeom>
          <a:noFill/>
          <a:ln w="9525">
            <a:noFill/>
            <a:miter lim="800000"/>
            <a:headEnd/>
            <a:tailEnd/>
          </a:ln>
        </p:spPr>
      </p:pic>
      <p:pic>
        <p:nvPicPr>
          <p:cNvPr id="8" name="Picture 2"/>
          <p:cNvPicPr>
            <a:picLocks noChangeAspect="1" noChangeArrowheads="1"/>
          </p:cNvPicPr>
          <p:nvPr/>
        </p:nvPicPr>
        <p:blipFill>
          <a:blip r:embed="rId3" cstate="print"/>
          <a:srcRect/>
          <a:stretch>
            <a:fillRect/>
          </a:stretch>
        </p:blipFill>
        <p:spPr bwMode="auto">
          <a:xfrm>
            <a:off x="381000" y="3559668"/>
            <a:ext cx="7971419" cy="2536907"/>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95288" y="18577"/>
            <a:ext cx="8353425" cy="719137"/>
          </a:xfrm>
        </p:spPr>
        <p:txBody>
          <a:bodyPr/>
          <a:lstStyle/>
          <a:p>
            <a:r>
              <a:rPr lang="en-US" dirty="0" err="1" smtClean="0"/>
              <a:t>Mtn</a:t>
            </a:r>
            <a:r>
              <a:rPr lang="en-US" dirty="0" smtClean="0"/>
              <a:t> State Detection</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23</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pic>
        <p:nvPicPr>
          <p:cNvPr id="43010" name="Picture 2"/>
          <p:cNvPicPr>
            <a:picLocks noChangeAspect="1" noChangeArrowheads="1"/>
          </p:cNvPicPr>
          <p:nvPr/>
        </p:nvPicPr>
        <p:blipFill>
          <a:blip r:embed="rId2"/>
          <a:srcRect/>
          <a:stretch>
            <a:fillRect/>
          </a:stretch>
        </p:blipFill>
        <p:spPr bwMode="auto">
          <a:xfrm>
            <a:off x="107504" y="836712"/>
            <a:ext cx="8877994" cy="4580736"/>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95288" y="216478"/>
            <a:ext cx="8353425" cy="719137"/>
          </a:xfrm>
        </p:spPr>
        <p:txBody>
          <a:bodyPr/>
          <a:lstStyle/>
          <a:p>
            <a:r>
              <a:rPr lang="en-US" dirty="0" err="1" smtClean="0"/>
              <a:t>Mtn</a:t>
            </a:r>
            <a:r>
              <a:rPr lang="en-US" dirty="0" smtClean="0"/>
              <a:t> State Determination</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24</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pic>
        <p:nvPicPr>
          <p:cNvPr id="7" name="Picture 2"/>
          <p:cNvPicPr>
            <a:picLocks noChangeAspect="1" noChangeArrowheads="1"/>
          </p:cNvPicPr>
          <p:nvPr/>
        </p:nvPicPr>
        <p:blipFill>
          <a:blip r:embed="rId2" cstate="print"/>
          <a:srcRect/>
          <a:stretch>
            <a:fillRect/>
          </a:stretch>
        </p:blipFill>
        <p:spPr bwMode="auto">
          <a:xfrm>
            <a:off x="150721" y="1111356"/>
            <a:ext cx="8532440" cy="4831563"/>
          </a:xfrm>
          <a:prstGeom prst="rect">
            <a:avLst/>
          </a:prstGeom>
          <a:noFill/>
          <a:ln w="9525">
            <a:noFill/>
            <a:miter lim="800000"/>
            <a:headEnd/>
            <a:tailEnd/>
          </a:ln>
          <a:effectLst/>
        </p:spPr>
      </p:pic>
    </p:spTree>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95288" y="246622"/>
            <a:ext cx="8353425" cy="719137"/>
          </a:xfrm>
        </p:spPr>
        <p:txBody>
          <a:bodyPr/>
          <a:lstStyle/>
          <a:p>
            <a:r>
              <a:rPr lang="en-US" dirty="0" err="1" smtClean="0"/>
              <a:t>Mtn</a:t>
            </a:r>
            <a:r>
              <a:rPr lang="en-US" dirty="0" smtClean="0"/>
              <a:t> State Determination - </a:t>
            </a:r>
            <a:r>
              <a:rPr lang="en-US" dirty="0" err="1" smtClean="0"/>
              <a:t>Contd</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25</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pic>
        <p:nvPicPr>
          <p:cNvPr id="7" name="Picture 2"/>
          <p:cNvPicPr>
            <a:picLocks noChangeAspect="1" noChangeArrowheads="1"/>
          </p:cNvPicPr>
          <p:nvPr/>
        </p:nvPicPr>
        <p:blipFill>
          <a:blip r:embed="rId2" cstate="print"/>
          <a:srcRect/>
          <a:stretch>
            <a:fillRect/>
          </a:stretch>
        </p:blipFill>
        <p:spPr bwMode="auto">
          <a:xfrm>
            <a:off x="457201" y="1090750"/>
            <a:ext cx="7571184" cy="4929157"/>
          </a:xfrm>
          <a:prstGeom prst="rect">
            <a:avLst/>
          </a:prstGeom>
          <a:noFill/>
          <a:ln w="9525">
            <a:noFill/>
            <a:miter lim="800000"/>
            <a:headEnd/>
            <a:tailEnd/>
          </a:ln>
          <a:effectLst/>
        </p:spPr>
      </p:pic>
    </p:spTree>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5240" y="126046"/>
            <a:ext cx="8353425" cy="719137"/>
          </a:xfrm>
        </p:spPr>
        <p:txBody>
          <a:bodyPr/>
          <a:lstStyle/>
          <a:p>
            <a:r>
              <a:rPr lang="en-US" dirty="0" err="1" smtClean="0"/>
              <a:t>Mtn</a:t>
            </a:r>
            <a:r>
              <a:rPr lang="en-US" dirty="0" smtClean="0"/>
              <a:t> State - </a:t>
            </a:r>
            <a:r>
              <a:rPr lang="en-US" dirty="0" err="1" smtClean="0"/>
              <a:t>Contd</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26</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pic>
        <p:nvPicPr>
          <p:cNvPr id="7" name="Picture 2"/>
          <p:cNvPicPr>
            <a:picLocks noChangeAspect="1" noChangeArrowheads="1"/>
          </p:cNvPicPr>
          <p:nvPr/>
        </p:nvPicPr>
        <p:blipFill>
          <a:blip r:embed="rId2" cstate="print"/>
          <a:srcRect/>
          <a:stretch>
            <a:fillRect/>
          </a:stretch>
        </p:blipFill>
        <p:spPr bwMode="auto">
          <a:xfrm>
            <a:off x="395288" y="836018"/>
            <a:ext cx="5328840" cy="3799572"/>
          </a:xfrm>
          <a:prstGeom prst="rect">
            <a:avLst/>
          </a:prstGeom>
          <a:noFill/>
          <a:ln w="9525">
            <a:noFill/>
            <a:miter lim="800000"/>
            <a:headEnd/>
            <a:tailEnd/>
          </a:ln>
          <a:effectLst/>
        </p:spPr>
      </p:pic>
      <p:pic>
        <p:nvPicPr>
          <p:cNvPr id="8" name="Picture 2"/>
          <p:cNvPicPr>
            <a:picLocks noChangeAspect="1" noChangeArrowheads="1"/>
          </p:cNvPicPr>
          <p:nvPr/>
        </p:nvPicPr>
        <p:blipFill>
          <a:blip r:embed="rId3" cstate="print"/>
          <a:srcRect/>
          <a:stretch>
            <a:fillRect/>
          </a:stretch>
        </p:blipFill>
        <p:spPr bwMode="auto">
          <a:xfrm>
            <a:off x="-609600" y="3415761"/>
            <a:ext cx="10220326" cy="3343275"/>
          </a:xfrm>
          <a:prstGeom prst="rect">
            <a:avLst/>
          </a:prstGeom>
          <a:noFill/>
          <a:ln w="9525">
            <a:noFill/>
            <a:miter lim="800000"/>
            <a:headEnd/>
            <a:tailEnd/>
          </a:ln>
          <a:effectLst/>
        </p:spPr>
      </p:pic>
    </p:spTree>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34040" y="25566"/>
            <a:ext cx="8353425" cy="719137"/>
          </a:xfrm>
        </p:spPr>
        <p:txBody>
          <a:bodyPr/>
          <a:lstStyle/>
          <a:p>
            <a:r>
              <a:rPr lang="en-US" dirty="0" err="1" smtClean="0"/>
              <a:t>Mtn</a:t>
            </a:r>
            <a:r>
              <a:rPr lang="en-US" dirty="0" smtClean="0"/>
              <a:t> State-</a:t>
            </a:r>
            <a:r>
              <a:rPr lang="en-US" dirty="0" err="1" smtClean="0"/>
              <a:t>contd</a:t>
            </a:r>
            <a:r>
              <a:rPr lang="en-US" dirty="0" smtClean="0"/>
              <a:t> (Isolating Wheel Pulse if INVALID)</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27</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sp>
        <p:nvSpPr>
          <p:cNvPr id="7" name="Rectangle 6"/>
          <p:cNvSpPr/>
          <p:nvPr/>
        </p:nvSpPr>
        <p:spPr>
          <a:xfrm>
            <a:off x="762000" y="664208"/>
            <a:ext cx="7122368" cy="5493812"/>
          </a:xfrm>
          <a:prstGeom prst="rect">
            <a:avLst/>
          </a:prstGeom>
        </p:spPr>
        <p:txBody>
          <a:bodyPr wrap="square">
            <a:spAutoFit/>
          </a:bodyPr>
          <a:lstStyle/>
          <a:p>
            <a:r>
              <a:rPr lang="en-US" sz="900" dirty="0" smtClean="0"/>
              <a:t>function [</a:t>
            </a:r>
            <a:r>
              <a:rPr lang="en-US" sz="900" dirty="0" err="1" smtClean="0"/>
              <a:t>fwd_percentage,ss_percentage,rws_percentage</a:t>
            </a:r>
            <a:r>
              <a:rPr lang="en-US" sz="900" dirty="0" smtClean="0"/>
              <a:t>, </a:t>
            </a:r>
            <a:r>
              <a:rPr lang="en-US" sz="900" dirty="0" err="1" smtClean="0"/>
              <a:t>cnt_ramp_out</a:t>
            </a:r>
            <a:r>
              <a:rPr lang="en-US" sz="900" dirty="0" smtClean="0"/>
              <a:t>, </a:t>
            </a:r>
            <a:r>
              <a:rPr lang="en-US" sz="900" dirty="0" err="1" smtClean="0"/>
              <a:t>cnt_delay_out</a:t>
            </a:r>
            <a:r>
              <a:rPr lang="en-US" sz="900" dirty="0" smtClean="0"/>
              <a:t>] = </a:t>
            </a:r>
            <a:r>
              <a:rPr lang="en-US" sz="900" dirty="0" err="1" smtClean="0"/>
              <a:t>fcn</a:t>
            </a:r>
            <a:r>
              <a:rPr lang="en-US" sz="900" dirty="0" smtClean="0"/>
              <a:t>(</a:t>
            </a:r>
            <a:r>
              <a:rPr lang="en-US" sz="900" dirty="0" err="1" smtClean="0"/>
              <a:t>diff_whl_puls</a:t>
            </a:r>
            <a:r>
              <a:rPr lang="en-US" sz="900" dirty="0" smtClean="0"/>
              <a:t>, </a:t>
            </a:r>
            <a:r>
              <a:rPr lang="en-US" sz="900" dirty="0" err="1" smtClean="0"/>
              <a:t>whl_puls_valid</a:t>
            </a:r>
            <a:r>
              <a:rPr lang="en-US" sz="900" dirty="0" smtClean="0"/>
              <a:t>, </a:t>
            </a:r>
            <a:r>
              <a:rPr lang="en-US" sz="900" dirty="0" err="1" smtClean="0"/>
              <a:t>whl_puls_percentage</a:t>
            </a:r>
            <a:r>
              <a:rPr lang="en-US" sz="900" dirty="0" smtClean="0"/>
              <a:t>, </a:t>
            </a:r>
            <a:r>
              <a:rPr lang="en-US" sz="900" dirty="0" err="1" smtClean="0"/>
              <a:t>cnt_ramp_in</a:t>
            </a:r>
            <a:r>
              <a:rPr lang="en-US" sz="900" dirty="0" smtClean="0"/>
              <a:t>, </a:t>
            </a:r>
            <a:r>
              <a:rPr lang="en-US" sz="900" dirty="0" err="1" smtClean="0"/>
              <a:t>fwd_p</a:t>
            </a:r>
            <a:r>
              <a:rPr lang="en-US" sz="900" dirty="0" smtClean="0"/>
              <a:t>, </a:t>
            </a:r>
            <a:r>
              <a:rPr lang="en-US" sz="900" dirty="0" err="1" smtClean="0"/>
              <a:t>ss_p</a:t>
            </a:r>
            <a:r>
              <a:rPr lang="en-US" sz="900" dirty="0" smtClean="0"/>
              <a:t>, </a:t>
            </a:r>
            <a:r>
              <a:rPr lang="en-US" sz="900" dirty="0" err="1" smtClean="0"/>
              <a:t>rws_p</a:t>
            </a:r>
            <a:r>
              <a:rPr lang="en-US" sz="900" dirty="0" smtClean="0"/>
              <a:t>, </a:t>
            </a:r>
            <a:r>
              <a:rPr lang="en-US" sz="900" dirty="0" err="1" smtClean="0"/>
              <a:t>cnt_delay_in</a:t>
            </a:r>
            <a:r>
              <a:rPr lang="en-US" sz="900" dirty="0" smtClean="0"/>
              <a:t>, VDY_IO_STATE_VALID)</a:t>
            </a:r>
          </a:p>
          <a:p>
            <a:r>
              <a:rPr lang="en-US" sz="900" dirty="0" smtClean="0"/>
              <a:t>% calculate the wheel </a:t>
            </a:r>
            <a:r>
              <a:rPr lang="en-US" sz="900" dirty="0" err="1" smtClean="0"/>
              <a:t>puls</a:t>
            </a:r>
            <a:r>
              <a:rPr lang="en-US" sz="900" dirty="0" smtClean="0"/>
              <a:t> quality</a:t>
            </a:r>
          </a:p>
          <a:p>
            <a:r>
              <a:rPr lang="en-US" sz="900" dirty="0" smtClean="0"/>
              <a:t>if (</a:t>
            </a:r>
            <a:r>
              <a:rPr lang="en-US" sz="900" dirty="0" err="1" smtClean="0"/>
              <a:t>whl_puls_valid</a:t>
            </a:r>
            <a:r>
              <a:rPr lang="en-US" sz="900" dirty="0" smtClean="0"/>
              <a:t> == VDY_IO_STATE_VALID)</a:t>
            </a:r>
          </a:p>
          <a:p>
            <a:r>
              <a:rPr lang="en-US" sz="900" dirty="0" smtClean="0"/>
              <a:t>    if (</a:t>
            </a:r>
            <a:r>
              <a:rPr lang="en-US" sz="900" dirty="0" err="1" smtClean="0"/>
              <a:t>diff_whl_puls</a:t>
            </a:r>
            <a:r>
              <a:rPr lang="en-US" sz="900" dirty="0" smtClean="0"/>
              <a:t> ~= uint8(0))</a:t>
            </a:r>
          </a:p>
          <a:p>
            <a:r>
              <a:rPr lang="en-US" sz="900" dirty="0" smtClean="0"/>
              <a:t>        </a:t>
            </a:r>
            <a:r>
              <a:rPr lang="en-US" sz="900" dirty="0" err="1" smtClean="0"/>
              <a:t>cnt_ramp_out</a:t>
            </a:r>
            <a:r>
              <a:rPr lang="en-US" sz="900" dirty="0" smtClean="0"/>
              <a:t> = uint8(0);</a:t>
            </a:r>
          </a:p>
          <a:p>
            <a:r>
              <a:rPr lang="en-US" sz="900" dirty="0" smtClean="0"/>
              <a:t>        </a:t>
            </a:r>
            <a:r>
              <a:rPr lang="en-US" sz="900" dirty="0" err="1" smtClean="0"/>
              <a:t>cnt_delay_out</a:t>
            </a:r>
            <a:r>
              <a:rPr lang="en-US" sz="900" dirty="0" smtClean="0"/>
              <a:t> = uint8(0);</a:t>
            </a:r>
          </a:p>
          <a:p>
            <a:r>
              <a:rPr lang="en-US" sz="900" dirty="0" smtClean="0"/>
              <a:t>        </a:t>
            </a:r>
            <a:r>
              <a:rPr lang="en-US" sz="900" dirty="0" err="1" smtClean="0"/>
              <a:t>fwd_percentage</a:t>
            </a:r>
            <a:r>
              <a:rPr lang="en-US" sz="900" dirty="0" smtClean="0"/>
              <a:t>  = </a:t>
            </a:r>
            <a:r>
              <a:rPr lang="en-US" sz="900" dirty="0" err="1" smtClean="0"/>
              <a:t>whl_puls_percentage</a:t>
            </a:r>
            <a:r>
              <a:rPr lang="en-US" sz="900" dirty="0" smtClean="0"/>
              <a:t>(1,1);</a:t>
            </a:r>
          </a:p>
          <a:p>
            <a:r>
              <a:rPr lang="en-US" sz="900" dirty="0" smtClean="0"/>
              <a:t>        </a:t>
            </a:r>
            <a:r>
              <a:rPr lang="en-US" sz="900" dirty="0" err="1" smtClean="0"/>
              <a:t>ss_percentage</a:t>
            </a:r>
            <a:r>
              <a:rPr lang="en-US" sz="900" dirty="0" smtClean="0"/>
              <a:t>   = </a:t>
            </a:r>
            <a:r>
              <a:rPr lang="en-US" sz="900" dirty="0" err="1" smtClean="0"/>
              <a:t>whl_puls_percentage</a:t>
            </a:r>
            <a:r>
              <a:rPr lang="en-US" sz="900" dirty="0" smtClean="0"/>
              <a:t>(1,2);</a:t>
            </a:r>
          </a:p>
          <a:p>
            <a:r>
              <a:rPr lang="en-US" sz="900" dirty="0" smtClean="0"/>
              <a:t>        </a:t>
            </a:r>
            <a:r>
              <a:rPr lang="en-US" sz="900" dirty="0" err="1" smtClean="0"/>
              <a:t>rws_percentage</a:t>
            </a:r>
            <a:r>
              <a:rPr lang="en-US" sz="900" dirty="0" smtClean="0"/>
              <a:t>  = </a:t>
            </a:r>
            <a:r>
              <a:rPr lang="en-US" sz="900" dirty="0" err="1" smtClean="0"/>
              <a:t>whl_puls_percentage</a:t>
            </a:r>
            <a:r>
              <a:rPr lang="en-US" sz="900" dirty="0" smtClean="0"/>
              <a:t>(1,3);</a:t>
            </a:r>
          </a:p>
          <a:p>
            <a:r>
              <a:rPr lang="en-US" sz="900" dirty="0" smtClean="0"/>
              <a:t>    else</a:t>
            </a:r>
          </a:p>
          <a:p>
            <a:r>
              <a:rPr lang="en-US" sz="900" dirty="0" smtClean="0"/>
              <a:t>        if (</a:t>
            </a:r>
            <a:r>
              <a:rPr lang="en-US" sz="900" dirty="0" err="1" smtClean="0"/>
              <a:t>cnt_delay_in</a:t>
            </a:r>
            <a:r>
              <a:rPr lang="en-US" sz="900" dirty="0" smtClean="0"/>
              <a:t> == </a:t>
            </a:r>
            <a:r>
              <a:rPr lang="en-US" sz="900" dirty="0" err="1" smtClean="0"/>
              <a:t>whl_puls_percentage</a:t>
            </a:r>
            <a:r>
              <a:rPr lang="en-US" sz="900" dirty="0" smtClean="0"/>
              <a:t>(4,1))</a:t>
            </a:r>
          </a:p>
          <a:p>
            <a:r>
              <a:rPr lang="en-US" sz="900" dirty="0" smtClean="0"/>
              <a:t>            </a:t>
            </a:r>
            <a:r>
              <a:rPr lang="en-US" sz="900" dirty="0" err="1" smtClean="0"/>
              <a:t>cnt_ramp_out</a:t>
            </a:r>
            <a:r>
              <a:rPr lang="en-US" sz="900" dirty="0" smtClean="0"/>
              <a:t> = </a:t>
            </a:r>
            <a:r>
              <a:rPr lang="en-US" sz="900" dirty="0" err="1" smtClean="0"/>
              <a:t>cnt_ramp_in</a:t>
            </a:r>
            <a:r>
              <a:rPr lang="en-US" sz="900" dirty="0" smtClean="0"/>
              <a:t> + uint8(1);</a:t>
            </a:r>
          </a:p>
          <a:p>
            <a:r>
              <a:rPr lang="en-US" sz="900" dirty="0" smtClean="0"/>
              <a:t>            </a:t>
            </a:r>
            <a:r>
              <a:rPr lang="en-US" sz="900" dirty="0" err="1" smtClean="0"/>
              <a:t>cnt_delay_out</a:t>
            </a:r>
            <a:r>
              <a:rPr lang="en-US" sz="900" dirty="0" smtClean="0"/>
              <a:t> =  </a:t>
            </a:r>
            <a:r>
              <a:rPr lang="en-US" sz="900" dirty="0" err="1" smtClean="0"/>
              <a:t>cnt_delay_in</a:t>
            </a:r>
            <a:r>
              <a:rPr lang="en-US" sz="900" dirty="0" smtClean="0"/>
              <a:t>;</a:t>
            </a:r>
          </a:p>
          <a:p>
            <a:r>
              <a:rPr lang="en-US" sz="900" dirty="0" smtClean="0"/>
              <a:t>            if </a:t>
            </a:r>
            <a:r>
              <a:rPr lang="en-US" sz="900" dirty="0" err="1" smtClean="0"/>
              <a:t>cnt_ramp_out</a:t>
            </a:r>
            <a:r>
              <a:rPr lang="en-US" sz="900" dirty="0" smtClean="0"/>
              <a:t> &lt;=  </a:t>
            </a:r>
            <a:r>
              <a:rPr lang="en-US" sz="900" dirty="0" err="1" smtClean="0"/>
              <a:t>whl_puls_percentage</a:t>
            </a:r>
            <a:r>
              <a:rPr lang="en-US" sz="900" dirty="0" smtClean="0"/>
              <a:t>(3,1)</a:t>
            </a:r>
          </a:p>
          <a:p>
            <a:r>
              <a:rPr lang="en-US" sz="900" dirty="0" smtClean="0"/>
              <a:t>                  </a:t>
            </a:r>
            <a:r>
              <a:rPr lang="en-US" sz="900" dirty="0" err="1" smtClean="0"/>
              <a:t>fwd_percentage</a:t>
            </a:r>
            <a:r>
              <a:rPr lang="en-US" sz="900" dirty="0" smtClean="0"/>
              <a:t> = </a:t>
            </a:r>
            <a:r>
              <a:rPr lang="en-US" sz="900" dirty="0" err="1" smtClean="0"/>
              <a:t>fwd_p</a:t>
            </a:r>
            <a:r>
              <a:rPr lang="en-US" sz="900" dirty="0" smtClean="0"/>
              <a:t>;</a:t>
            </a:r>
          </a:p>
          <a:p>
            <a:r>
              <a:rPr lang="en-US" sz="900" dirty="0" smtClean="0"/>
              <a:t>                  </a:t>
            </a:r>
            <a:r>
              <a:rPr lang="en-US" sz="900" dirty="0" err="1" smtClean="0"/>
              <a:t>ss_percentage</a:t>
            </a:r>
            <a:r>
              <a:rPr lang="en-US" sz="900" dirty="0" smtClean="0"/>
              <a:t> = </a:t>
            </a:r>
            <a:r>
              <a:rPr lang="en-US" sz="900" dirty="0" err="1" smtClean="0"/>
              <a:t>ss_p</a:t>
            </a:r>
            <a:r>
              <a:rPr lang="en-US" sz="900" dirty="0" smtClean="0"/>
              <a:t>;</a:t>
            </a:r>
          </a:p>
          <a:p>
            <a:r>
              <a:rPr lang="en-US" sz="900" dirty="0" smtClean="0"/>
              <a:t>                  </a:t>
            </a:r>
            <a:r>
              <a:rPr lang="en-US" sz="900" dirty="0" err="1" smtClean="0"/>
              <a:t>rws_percentage</a:t>
            </a:r>
            <a:r>
              <a:rPr lang="en-US" sz="900" dirty="0" smtClean="0"/>
              <a:t> = </a:t>
            </a:r>
            <a:r>
              <a:rPr lang="en-US" sz="900" dirty="0" err="1" smtClean="0"/>
              <a:t>rws_p</a:t>
            </a:r>
            <a:r>
              <a:rPr lang="en-US" sz="900" dirty="0" smtClean="0"/>
              <a:t>;</a:t>
            </a:r>
          </a:p>
          <a:p>
            <a:r>
              <a:rPr lang="en-US" sz="900" dirty="0" smtClean="0"/>
              <a:t>            else</a:t>
            </a:r>
          </a:p>
          <a:p>
            <a:r>
              <a:rPr lang="en-US" sz="900" dirty="0" smtClean="0"/>
              <a:t>                </a:t>
            </a:r>
            <a:r>
              <a:rPr lang="en-US" sz="900" dirty="0" err="1" smtClean="0"/>
              <a:t>cnt_ramp_out</a:t>
            </a:r>
            <a:r>
              <a:rPr lang="en-US" sz="900" dirty="0" smtClean="0"/>
              <a:t>    =  </a:t>
            </a:r>
            <a:r>
              <a:rPr lang="en-US" sz="900" dirty="0" err="1" smtClean="0"/>
              <a:t>whl_puls_percentage</a:t>
            </a:r>
            <a:r>
              <a:rPr lang="en-US" sz="900" dirty="0" smtClean="0"/>
              <a:t>(3,1) + uint8(1);</a:t>
            </a:r>
          </a:p>
          <a:p>
            <a:r>
              <a:rPr lang="en-US" sz="900" dirty="0" smtClean="0"/>
              <a:t>                </a:t>
            </a:r>
            <a:r>
              <a:rPr lang="en-US" sz="900" dirty="0" err="1" smtClean="0"/>
              <a:t>fwd_percentage</a:t>
            </a:r>
            <a:r>
              <a:rPr lang="en-US" sz="900" dirty="0" smtClean="0"/>
              <a:t>  = </a:t>
            </a:r>
            <a:r>
              <a:rPr lang="en-US" sz="900" dirty="0" err="1" smtClean="0"/>
              <a:t>whl_puls_percentage</a:t>
            </a:r>
            <a:r>
              <a:rPr lang="en-US" sz="900" dirty="0" smtClean="0"/>
              <a:t>(2,1);</a:t>
            </a:r>
          </a:p>
          <a:p>
            <a:r>
              <a:rPr lang="en-US" sz="900" dirty="0" smtClean="0"/>
              <a:t>                </a:t>
            </a:r>
            <a:r>
              <a:rPr lang="en-US" sz="900" dirty="0" err="1" smtClean="0"/>
              <a:t>ss_percentage</a:t>
            </a:r>
            <a:r>
              <a:rPr lang="en-US" sz="900" dirty="0" smtClean="0"/>
              <a:t>   = </a:t>
            </a:r>
            <a:r>
              <a:rPr lang="en-US" sz="900" dirty="0" err="1" smtClean="0"/>
              <a:t>whl_puls_percentage</a:t>
            </a:r>
            <a:r>
              <a:rPr lang="en-US" sz="900" dirty="0" smtClean="0"/>
              <a:t>(2,2);</a:t>
            </a:r>
          </a:p>
          <a:p>
            <a:r>
              <a:rPr lang="en-US" sz="900" dirty="0" smtClean="0"/>
              <a:t>                </a:t>
            </a:r>
            <a:r>
              <a:rPr lang="en-US" sz="900" dirty="0" err="1" smtClean="0"/>
              <a:t>rws_percentage</a:t>
            </a:r>
            <a:r>
              <a:rPr lang="en-US" sz="900" dirty="0" smtClean="0"/>
              <a:t>  = </a:t>
            </a:r>
            <a:r>
              <a:rPr lang="en-US" sz="900" dirty="0" err="1" smtClean="0"/>
              <a:t>whl_puls_percentage</a:t>
            </a:r>
            <a:r>
              <a:rPr lang="en-US" sz="900" dirty="0" smtClean="0"/>
              <a:t>(2,3);</a:t>
            </a:r>
          </a:p>
          <a:p>
            <a:r>
              <a:rPr lang="en-US" sz="900" dirty="0" smtClean="0"/>
              <a:t>            end;</a:t>
            </a:r>
          </a:p>
          <a:p>
            <a:r>
              <a:rPr lang="en-US" sz="900" dirty="0" smtClean="0"/>
              <a:t>        else</a:t>
            </a:r>
          </a:p>
          <a:p>
            <a:r>
              <a:rPr lang="en-US" sz="900" dirty="0" smtClean="0"/>
              <a:t>            </a:t>
            </a:r>
            <a:r>
              <a:rPr lang="en-US" sz="900" dirty="0" err="1" smtClean="0"/>
              <a:t>cnt_ramp_out</a:t>
            </a:r>
            <a:r>
              <a:rPr lang="en-US" sz="900" dirty="0" smtClean="0"/>
              <a:t> = uint8(0);            </a:t>
            </a:r>
          </a:p>
          <a:p>
            <a:r>
              <a:rPr lang="en-US" sz="900" dirty="0" smtClean="0"/>
              <a:t>            </a:t>
            </a:r>
            <a:r>
              <a:rPr lang="en-US" sz="900" dirty="0" err="1" smtClean="0"/>
              <a:t>cnt_delay_out</a:t>
            </a:r>
            <a:r>
              <a:rPr lang="en-US" sz="900" dirty="0" smtClean="0"/>
              <a:t> =  </a:t>
            </a:r>
            <a:r>
              <a:rPr lang="en-US" sz="900" dirty="0" err="1" smtClean="0"/>
              <a:t>cnt_delay_in</a:t>
            </a:r>
            <a:r>
              <a:rPr lang="en-US" sz="900" dirty="0" smtClean="0"/>
              <a:t> + uint8(1);</a:t>
            </a:r>
          </a:p>
          <a:p>
            <a:r>
              <a:rPr lang="en-US" sz="900" dirty="0" smtClean="0"/>
              <a:t>            </a:t>
            </a:r>
            <a:r>
              <a:rPr lang="en-US" sz="900" dirty="0" err="1" smtClean="0"/>
              <a:t>fwd_percentage</a:t>
            </a:r>
            <a:r>
              <a:rPr lang="en-US" sz="900" dirty="0" smtClean="0"/>
              <a:t>  = </a:t>
            </a:r>
            <a:r>
              <a:rPr lang="en-US" sz="900" dirty="0" err="1" smtClean="0"/>
              <a:t>whl_puls_percentage</a:t>
            </a:r>
            <a:r>
              <a:rPr lang="en-US" sz="900" dirty="0" smtClean="0"/>
              <a:t>(1,1);</a:t>
            </a:r>
          </a:p>
          <a:p>
            <a:r>
              <a:rPr lang="en-US" sz="900" dirty="0" smtClean="0"/>
              <a:t>            </a:t>
            </a:r>
            <a:r>
              <a:rPr lang="en-US" sz="900" dirty="0" err="1" smtClean="0"/>
              <a:t>ss_percentage</a:t>
            </a:r>
            <a:r>
              <a:rPr lang="en-US" sz="900" dirty="0" smtClean="0"/>
              <a:t>   = </a:t>
            </a:r>
            <a:r>
              <a:rPr lang="en-US" sz="900" dirty="0" err="1" smtClean="0"/>
              <a:t>whl_puls_percentage</a:t>
            </a:r>
            <a:r>
              <a:rPr lang="en-US" sz="900" dirty="0" smtClean="0"/>
              <a:t>(1,2);</a:t>
            </a:r>
          </a:p>
          <a:p>
            <a:r>
              <a:rPr lang="en-US" sz="900" dirty="0" smtClean="0"/>
              <a:t>            </a:t>
            </a:r>
            <a:r>
              <a:rPr lang="en-US" sz="900" dirty="0" err="1" smtClean="0"/>
              <a:t>rws_percentage</a:t>
            </a:r>
            <a:r>
              <a:rPr lang="en-US" sz="900" dirty="0" smtClean="0"/>
              <a:t>  = </a:t>
            </a:r>
            <a:r>
              <a:rPr lang="en-US" sz="900" dirty="0" err="1" smtClean="0"/>
              <a:t>whl_puls_percentage</a:t>
            </a:r>
            <a:r>
              <a:rPr lang="en-US" sz="900" dirty="0" smtClean="0"/>
              <a:t>(1,3);</a:t>
            </a:r>
          </a:p>
          <a:p>
            <a:r>
              <a:rPr lang="en-US" sz="900" dirty="0" smtClean="0"/>
              <a:t>        end;</a:t>
            </a:r>
          </a:p>
          <a:p>
            <a:r>
              <a:rPr lang="en-US" sz="900" dirty="0" smtClean="0"/>
              <a:t>    end;   </a:t>
            </a:r>
          </a:p>
          <a:p>
            <a:r>
              <a:rPr lang="en-US" sz="900" dirty="0" smtClean="0"/>
              <a:t>else    </a:t>
            </a:r>
          </a:p>
          <a:p>
            <a:r>
              <a:rPr lang="en-US" sz="900" dirty="0" smtClean="0"/>
              <a:t>    </a:t>
            </a:r>
            <a:r>
              <a:rPr lang="en-US" sz="900" dirty="0" err="1" smtClean="0"/>
              <a:t>cnt_ramp_out</a:t>
            </a:r>
            <a:r>
              <a:rPr lang="en-US" sz="900" dirty="0" smtClean="0"/>
              <a:t> = uint8(0);</a:t>
            </a:r>
          </a:p>
          <a:p>
            <a:r>
              <a:rPr lang="en-US" sz="900" dirty="0" smtClean="0"/>
              <a:t>    </a:t>
            </a:r>
            <a:r>
              <a:rPr lang="en-US" sz="900" dirty="0" err="1" smtClean="0"/>
              <a:t>cnt_delay_out</a:t>
            </a:r>
            <a:r>
              <a:rPr lang="en-US" sz="900" dirty="0" smtClean="0"/>
              <a:t> = uint8(0);</a:t>
            </a:r>
          </a:p>
          <a:p>
            <a:r>
              <a:rPr lang="en-US" sz="900" dirty="0" smtClean="0"/>
              <a:t>    </a:t>
            </a:r>
            <a:r>
              <a:rPr lang="en-US" sz="900" dirty="0" err="1" smtClean="0"/>
              <a:t>fwd_percentage</a:t>
            </a:r>
            <a:r>
              <a:rPr lang="en-US" sz="900" dirty="0" smtClean="0"/>
              <a:t>  = </a:t>
            </a:r>
            <a:r>
              <a:rPr lang="en-US" sz="900" dirty="0" err="1" smtClean="0"/>
              <a:t>whl_puls_percentage</a:t>
            </a:r>
            <a:r>
              <a:rPr lang="en-US" sz="900" dirty="0" smtClean="0"/>
              <a:t>(5,1);</a:t>
            </a:r>
          </a:p>
          <a:p>
            <a:r>
              <a:rPr lang="en-US" sz="900" dirty="0" smtClean="0"/>
              <a:t>    </a:t>
            </a:r>
            <a:r>
              <a:rPr lang="en-US" sz="900" dirty="0" err="1" smtClean="0"/>
              <a:t>ss_percentage</a:t>
            </a:r>
            <a:r>
              <a:rPr lang="en-US" sz="900" dirty="0" smtClean="0"/>
              <a:t>   = </a:t>
            </a:r>
            <a:r>
              <a:rPr lang="en-US" sz="900" dirty="0" err="1" smtClean="0"/>
              <a:t>whl_puls_percentage</a:t>
            </a:r>
            <a:r>
              <a:rPr lang="en-US" sz="900" dirty="0" smtClean="0"/>
              <a:t>(5,2);</a:t>
            </a:r>
          </a:p>
          <a:p>
            <a:r>
              <a:rPr lang="en-US" sz="900" dirty="0" smtClean="0"/>
              <a:t>    </a:t>
            </a:r>
            <a:r>
              <a:rPr lang="en-US" sz="900" dirty="0" err="1" smtClean="0"/>
              <a:t>rws_percentage</a:t>
            </a:r>
            <a:r>
              <a:rPr lang="en-US" sz="900" dirty="0" smtClean="0"/>
              <a:t>  = </a:t>
            </a:r>
            <a:r>
              <a:rPr lang="en-US" sz="900" dirty="0" err="1" smtClean="0"/>
              <a:t>whl_puls_percentage</a:t>
            </a:r>
            <a:r>
              <a:rPr lang="en-US" sz="900" dirty="0" smtClean="0"/>
              <a:t>(5,1);</a:t>
            </a:r>
          </a:p>
          <a:p>
            <a:r>
              <a:rPr lang="en-US" sz="900" dirty="0" smtClean="0"/>
              <a:t>end;</a:t>
            </a:r>
          </a:p>
        </p:txBody>
      </p:sp>
    </p:spTree>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smtClean="0"/>
              <a:t>Mtn</a:t>
            </a:r>
            <a:r>
              <a:rPr lang="en-US" dirty="0" smtClean="0"/>
              <a:t> State - Cont</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28</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graphicFrame>
        <p:nvGraphicFramePr>
          <p:cNvPr id="7" name="Table 6"/>
          <p:cNvGraphicFramePr>
            <a:graphicFrameLocks noGrp="1"/>
          </p:cNvGraphicFramePr>
          <p:nvPr/>
        </p:nvGraphicFramePr>
        <p:xfrm>
          <a:off x="3230904" y="941184"/>
          <a:ext cx="3048000" cy="3429000"/>
        </p:xfrm>
        <a:graphic>
          <a:graphicData uri="http://schemas.openxmlformats.org/drawingml/2006/table">
            <a:tbl>
              <a:tblPr/>
              <a:tblGrid>
                <a:gridCol w="609600"/>
                <a:gridCol w="609600"/>
                <a:gridCol w="609600"/>
                <a:gridCol w="609600"/>
                <a:gridCol w="609600"/>
              </a:tblGrid>
              <a:tr h="190500">
                <a:tc>
                  <a:txBody>
                    <a:bodyPr/>
                    <a:lstStyle/>
                    <a:p>
                      <a:pPr algn="l" fontAlgn="b"/>
                      <a:r>
                        <a:rPr lang="en-IN" sz="1100" b="0" i="0" u="none" strike="noStrike" dirty="0">
                          <a:solidFill>
                            <a:srgbClr val="000000"/>
                          </a:solidFill>
                          <a:latin typeface="Calibri"/>
                        </a:rPr>
                        <a:t>FL - FF</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000000"/>
                          </a:solidFill>
                          <a:latin typeface="Calibri"/>
                        </a:rPr>
                        <a:t>FR-FF</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RL - FF</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RR - FF</a:t>
                      </a:r>
                    </a:p>
                  </a:txBody>
                  <a:tcPr marL="9525" marR="9525" marT="9525" marB="0" anchor="b">
                    <a:lnL>
                      <a:noFill/>
                    </a:lnL>
                    <a:lnR>
                      <a:noFill/>
                    </a:lnR>
                    <a:lnT>
                      <a:noFill/>
                    </a:lnT>
                    <a:lnB>
                      <a:noFill/>
                    </a:lnB>
                  </a:tcPr>
                </a:tc>
                <a:tc>
                  <a:txBody>
                    <a:bodyPr/>
                    <a:lstStyle/>
                    <a:p>
                      <a:pPr algn="l" fontAlgn="b"/>
                      <a:r>
                        <a:rPr lang="en-IN" sz="1100" b="0" i="0" u="none" strike="noStrike" dirty="0" err="1" smtClean="0">
                          <a:solidFill>
                            <a:srgbClr val="000000"/>
                          </a:solidFill>
                          <a:latin typeface="Calibri"/>
                        </a:rPr>
                        <a:t>Prob</a:t>
                      </a:r>
                      <a:r>
                        <a:rPr lang="en-IN" sz="1100" b="0" i="0" u="none" strike="noStrike" dirty="0" smtClean="0">
                          <a:solidFill>
                            <a:srgbClr val="000000"/>
                          </a:solidFill>
                          <a:latin typeface="Calibri"/>
                        </a:rPr>
                        <a:t>-FF</a:t>
                      </a:r>
                      <a:endParaRPr lang="en-IN" sz="1100" b="0" i="0" u="none" strike="noStrike" dirty="0">
                        <a:solidFill>
                          <a:srgbClr val="000000"/>
                        </a:solidFill>
                        <a:latin typeface="Calibri"/>
                      </a:endParaRPr>
                    </a:p>
                  </a:txBody>
                  <a:tcPr marL="9525" marR="9525" marT="9525" marB="0" anchor="b">
                    <a:lnL>
                      <a:noFill/>
                    </a:lnL>
                    <a:lnR>
                      <a:noFill/>
                    </a:lnR>
                    <a:lnT>
                      <a:noFill/>
                    </a:lnT>
                    <a:lnB>
                      <a:noFill/>
                    </a:lnB>
                  </a:tcPr>
                </a:tc>
              </a:tr>
              <a:tr h="190500">
                <a:tc>
                  <a:txBody>
                    <a:bodyPr/>
                    <a:lstStyle/>
                    <a:p>
                      <a:pPr algn="l" fontAlgn="b"/>
                      <a:endParaRPr lang="en-IN" sz="11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l" fontAlgn="b"/>
                      <a:endParaRPr lang="en-IN" sz="11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l" fontAlgn="b"/>
                      <a:endParaRPr lang="en-IN" sz="11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l" fontAlgn="b"/>
                      <a:endParaRPr lang="en-IN" sz="11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l" fontAlgn="b"/>
                      <a:endParaRPr lang="en-IN" sz="1100" b="0" i="0" u="none" strike="noStrike">
                        <a:solidFill>
                          <a:srgbClr val="000000"/>
                        </a:solidFill>
                        <a:latin typeface="Calibri"/>
                      </a:endParaRPr>
                    </a:p>
                  </a:txBody>
                  <a:tcPr marL="9525" marR="9525" marT="9525" marB="0" anchor="b">
                    <a:lnL>
                      <a:noFill/>
                    </a:lnL>
                    <a:lnR>
                      <a:noFill/>
                    </a:lnR>
                    <a:lnT>
                      <a:noFill/>
                    </a:lnT>
                    <a:lnB>
                      <a:noFill/>
                    </a:lnB>
                  </a:tcPr>
                </a:tc>
              </a:tr>
              <a:tr h="190500">
                <a:tc>
                  <a:txBody>
                    <a:bodyPr/>
                    <a:lstStyle/>
                    <a:p>
                      <a:pPr algn="l" fontAlgn="b"/>
                      <a:r>
                        <a:rPr lang="en-IN" sz="1100" b="0" i="0" u="none" strike="noStrike">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v0(0)</a:t>
                      </a:r>
                    </a:p>
                  </a:txBody>
                  <a:tcPr marL="9525" marR="9525" marT="9525" marB="0" anchor="b">
                    <a:lnL>
                      <a:noFill/>
                    </a:lnL>
                    <a:lnR>
                      <a:noFill/>
                    </a:lnR>
                    <a:lnT>
                      <a:noFill/>
                    </a:lnT>
                    <a:lnB>
                      <a:noFill/>
                    </a:lnB>
                  </a:tcPr>
                </a:tc>
              </a:tr>
              <a:tr h="190500">
                <a:tc>
                  <a:txBody>
                    <a:bodyPr/>
                    <a:lstStyle/>
                    <a:p>
                      <a:pPr algn="l" fontAlgn="b"/>
                      <a:r>
                        <a:rPr lang="en-IN" sz="1100" b="0" i="0" u="none" strike="noStrike" dirty="0">
                          <a:solidFill>
                            <a:srgbClr val="000000"/>
                          </a:solidFill>
                          <a:latin typeface="Calibri"/>
                        </a:rPr>
                        <a:t>T(49)</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v1(90)</a:t>
                      </a:r>
                    </a:p>
                  </a:txBody>
                  <a:tcPr marL="9525" marR="9525" marT="9525" marB="0" anchor="b">
                    <a:lnL>
                      <a:noFill/>
                    </a:lnL>
                    <a:lnR>
                      <a:noFill/>
                    </a:lnR>
                    <a:lnT>
                      <a:noFill/>
                    </a:lnT>
                    <a:lnB>
                      <a:noFill/>
                    </a:lnB>
                  </a:tcPr>
                </a:tc>
              </a:tr>
              <a:tr h="190500">
                <a:tc>
                  <a:txBody>
                    <a:bodyPr/>
                    <a:lstStyle/>
                    <a:p>
                      <a:pPr algn="l" fontAlgn="b"/>
                      <a:r>
                        <a:rPr lang="en-IN" sz="1100" b="0" i="0" u="none" strike="noStrike" dirty="0">
                          <a:solidFill>
                            <a:srgbClr val="000000"/>
                          </a:solidFill>
                          <a:latin typeface="Calibri"/>
                        </a:rPr>
                        <a:t>F(51)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T (49)</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v2(90)</a:t>
                      </a:r>
                    </a:p>
                  </a:txBody>
                  <a:tcPr marL="9525" marR="9525" marT="9525" marB="0" anchor="b">
                    <a:lnL>
                      <a:noFill/>
                    </a:lnL>
                    <a:lnR>
                      <a:noFill/>
                    </a:lnR>
                    <a:lnT>
                      <a:noFill/>
                    </a:lnT>
                    <a:lnB>
                      <a:noFill/>
                    </a:lnB>
                  </a:tcPr>
                </a:tc>
              </a:tr>
              <a:tr h="190500">
                <a:tc>
                  <a:txBody>
                    <a:bodyPr/>
                    <a:lstStyle/>
                    <a:p>
                      <a:pPr algn="l" fontAlgn="b"/>
                      <a:r>
                        <a:rPr lang="en-IN" sz="1100" b="0" i="0" u="none" strike="noStrike" dirty="0">
                          <a:solidFill>
                            <a:srgbClr val="000000"/>
                          </a:solidFill>
                          <a:latin typeface="Calibri"/>
                        </a:rPr>
                        <a:t>T(49)</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T (49)</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v3(100)</a:t>
                      </a:r>
                    </a:p>
                  </a:txBody>
                  <a:tcPr marL="9525" marR="9525" marT="9525" marB="0" anchor="b">
                    <a:lnL>
                      <a:noFill/>
                    </a:lnL>
                    <a:lnR>
                      <a:noFill/>
                    </a:lnR>
                    <a:lnT>
                      <a:noFill/>
                    </a:lnT>
                    <a:lnB>
                      <a:noFill/>
                    </a:lnB>
                  </a:tcPr>
                </a:tc>
              </a:tr>
              <a:tr h="190500">
                <a:tc>
                  <a:txBody>
                    <a:bodyPr/>
                    <a:lstStyle/>
                    <a:p>
                      <a:pPr algn="l" fontAlgn="b"/>
                      <a:r>
                        <a:rPr lang="en-IN" sz="1100" b="0" i="0" u="none" strike="noStrike" dirty="0">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T(49)</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dirty="0" smtClean="0">
                          <a:solidFill>
                            <a:srgbClr val="000000"/>
                          </a:solidFill>
                          <a:latin typeface="Calibri"/>
                        </a:rPr>
                        <a:t>v4(90</a:t>
                      </a:r>
                      <a:r>
                        <a:rPr lang="en-IN" sz="1100" b="0" i="0" u="none" strike="noStrike" dirty="0">
                          <a:solidFill>
                            <a:srgbClr val="000000"/>
                          </a:solidFill>
                          <a:latin typeface="Calibri"/>
                        </a:rPr>
                        <a:t>)</a:t>
                      </a:r>
                    </a:p>
                  </a:txBody>
                  <a:tcPr marL="9525" marR="9525" marT="9525" marB="0" anchor="b">
                    <a:lnL>
                      <a:noFill/>
                    </a:lnL>
                    <a:lnR>
                      <a:noFill/>
                    </a:lnR>
                    <a:lnT>
                      <a:noFill/>
                    </a:lnT>
                    <a:lnB>
                      <a:noFill/>
                    </a:lnB>
                  </a:tcPr>
                </a:tc>
              </a:tr>
              <a:tr h="190500">
                <a:tc>
                  <a:txBody>
                    <a:bodyPr/>
                    <a:lstStyle/>
                    <a:p>
                      <a:pPr algn="l" fontAlgn="b"/>
                      <a:r>
                        <a:rPr lang="en-IN" sz="1100" b="0" i="0" u="none" strike="noStrike" dirty="0">
                          <a:solidFill>
                            <a:srgbClr val="000000"/>
                          </a:solidFill>
                          <a:latin typeface="Calibri"/>
                        </a:rPr>
                        <a:t>T(49)</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T(49)</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dirty="0" smtClean="0">
                          <a:solidFill>
                            <a:srgbClr val="000000"/>
                          </a:solidFill>
                          <a:latin typeface="Calibri"/>
                        </a:rPr>
                        <a:t>v5(100</a:t>
                      </a:r>
                      <a:r>
                        <a:rPr lang="en-IN" sz="1100" b="0" i="0" u="none" strike="noStrike" dirty="0">
                          <a:solidFill>
                            <a:srgbClr val="000000"/>
                          </a:solidFill>
                          <a:latin typeface="Calibri"/>
                        </a:rPr>
                        <a:t>)</a:t>
                      </a:r>
                    </a:p>
                  </a:txBody>
                  <a:tcPr marL="9525" marR="9525" marT="9525" marB="0" anchor="b">
                    <a:lnL>
                      <a:noFill/>
                    </a:lnL>
                    <a:lnR>
                      <a:noFill/>
                    </a:lnR>
                    <a:lnT>
                      <a:noFill/>
                    </a:lnT>
                    <a:lnB>
                      <a:noFill/>
                    </a:lnB>
                  </a:tcPr>
                </a:tc>
              </a:tr>
              <a:tr h="190500">
                <a:tc>
                  <a:txBody>
                    <a:bodyPr/>
                    <a:lstStyle/>
                    <a:p>
                      <a:pPr algn="l" fontAlgn="b"/>
                      <a:r>
                        <a:rPr lang="en-IN" sz="1100" b="0" i="0" u="none" strike="noStrike" dirty="0">
                          <a:solidFill>
                            <a:srgbClr val="000000"/>
                          </a:solidFill>
                          <a:latin typeface="Calibri"/>
                        </a:rPr>
                        <a:t>F(51)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T (49)</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T(49)</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dirty="0" smtClean="0">
                          <a:solidFill>
                            <a:srgbClr val="000000"/>
                          </a:solidFill>
                          <a:latin typeface="Calibri"/>
                        </a:rPr>
                        <a:t>v6(100</a:t>
                      </a:r>
                      <a:r>
                        <a:rPr lang="en-IN" sz="1100" b="0" i="0" u="none" strike="noStrike" dirty="0">
                          <a:solidFill>
                            <a:srgbClr val="000000"/>
                          </a:solidFill>
                          <a:latin typeface="Calibri"/>
                        </a:rPr>
                        <a:t>)</a:t>
                      </a:r>
                    </a:p>
                  </a:txBody>
                  <a:tcPr marL="9525" marR="9525" marT="9525" marB="0" anchor="b">
                    <a:lnL>
                      <a:noFill/>
                    </a:lnL>
                    <a:lnR>
                      <a:noFill/>
                    </a:lnR>
                    <a:lnT>
                      <a:noFill/>
                    </a:lnT>
                    <a:lnB>
                      <a:noFill/>
                    </a:lnB>
                  </a:tcPr>
                </a:tc>
              </a:tr>
              <a:tr h="190500">
                <a:tc>
                  <a:txBody>
                    <a:bodyPr/>
                    <a:lstStyle/>
                    <a:p>
                      <a:pPr algn="l" fontAlgn="b"/>
                      <a:r>
                        <a:rPr lang="en-IN" sz="1100" b="0" i="0" u="none" strike="noStrike" dirty="0">
                          <a:solidFill>
                            <a:srgbClr val="000000"/>
                          </a:solidFill>
                          <a:latin typeface="Calibri"/>
                        </a:rPr>
                        <a:t>T(49)</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T (49)</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T(49)</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dirty="0" smtClean="0">
                          <a:solidFill>
                            <a:srgbClr val="000000"/>
                          </a:solidFill>
                          <a:latin typeface="Calibri"/>
                        </a:rPr>
                        <a:t>v7(100</a:t>
                      </a:r>
                      <a:r>
                        <a:rPr lang="en-IN" sz="1100" b="0" i="0" u="none" strike="noStrike" dirty="0">
                          <a:solidFill>
                            <a:srgbClr val="000000"/>
                          </a:solidFill>
                          <a:latin typeface="Calibri"/>
                        </a:rPr>
                        <a:t>)</a:t>
                      </a:r>
                    </a:p>
                  </a:txBody>
                  <a:tcPr marL="9525" marR="9525" marT="9525" marB="0" anchor="b">
                    <a:lnL>
                      <a:noFill/>
                    </a:lnL>
                    <a:lnR>
                      <a:noFill/>
                    </a:lnR>
                    <a:lnT>
                      <a:noFill/>
                    </a:lnT>
                    <a:lnB>
                      <a:noFill/>
                    </a:lnB>
                  </a:tcPr>
                </a:tc>
              </a:tr>
              <a:tr h="190500">
                <a:tc>
                  <a:txBody>
                    <a:bodyPr/>
                    <a:lstStyle/>
                    <a:p>
                      <a:pPr algn="l" fontAlgn="b"/>
                      <a:r>
                        <a:rPr lang="en-IN" sz="1100" b="0" i="0" u="none" strike="noStrike" dirty="0">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T(49)</a:t>
                      </a:r>
                    </a:p>
                  </a:txBody>
                  <a:tcPr marL="9525" marR="9525" marT="9525" marB="0" anchor="b">
                    <a:lnL>
                      <a:noFill/>
                    </a:lnL>
                    <a:lnR>
                      <a:noFill/>
                    </a:lnR>
                    <a:lnT>
                      <a:noFill/>
                    </a:lnT>
                    <a:lnB>
                      <a:noFill/>
                    </a:lnB>
                  </a:tcPr>
                </a:tc>
                <a:tc>
                  <a:txBody>
                    <a:bodyPr/>
                    <a:lstStyle/>
                    <a:p>
                      <a:pPr algn="l" fontAlgn="b"/>
                      <a:r>
                        <a:rPr lang="en-IN" sz="1100" b="0" i="0" u="none" strike="noStrike" dirty="0" smtClean="0">
                          <a:solidFill>
                            <a:srgbClr val="000000"/>
                          </a:solidFill>
                          <a:latin typeface="Calibri"/>
                        </a:rPr>
                        <a:t>v8(90</a:t>
                      </a:r>
                      <a:r>
                        <a:rPr lang="en-IN" sz="1100" b="0" i="0" u="none" strike="noStrike" dirty="0">
                          <a:solidFill>
                            <a:srgbClr val="000000"/>
                          </a:solidFill>
                          <a:latin typeface="Calibri"/>
                        </a:rPr>
                        <a:t>)</a:t>
                      </a:r>
                    </a:p>
                  </a:txBody>
                  <a:tcPr marL="9525" marR="9525" marT="9525" marB="0" anchor="b">
                    <a:lnL>
                      <a:noFill/>
                    </a:lnL>
                    <a:lnR>
                      <a:noFill/>
                    </a:lnR>
                    <a:lnT>
                      <a:noFill/>
                    </a:lnT>
                    <a:lnB>
                      <a:noFill/>
                    </a:lnB>
                  </a:tcPr>
                </a:tc>
              </a:tr>
              <a:tr h="190500">
                <a:tc>
                  <a:txBody>
                    <a:bodyPr/>
                    <a:lstStyle/>
                    <a:p>
                      <a:pPr algn="l" fontAlgn="b"/>
                      <a:r>
                        <a:rPr lang="en-IN" sz="1100" b="0" i="0" u="none" strike="noStrike" dirty="0">
                          <a:solidFill>
                            <a:srgbClr val="000000"/>
                          </a:solidFill>
                          <a:latin typeface="Calibri"/>
                        </a:rPr>
                        <a:t>T(49)</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T(49)</a:t>
                      </a:r>
                    </a:p>
                  </a:txBody>
                  <a:tcPr marL="9525" marR="9525" marT="9525" marB="0" anchor="b">
                    <a:lnL>
                      <a:noFill/>
                    </a:lnL>
                    <a:lnR>
                      <a:noFill/>
                    </a:lnR>
                    <a:lnT>
                      <a:noFill/>
                    </a:lnT>
                    <a:lnB>
                      <a:noFill/>
                    </a:lnB>
                  </a:tcPr>
                </a:tc>
                <a:tc>
                  <a:txBody>
                    <a:bodyPr/>
                    <a:lstStyle/>
                    <a:p>
                      <a:pPr algn="l" fontAlgn="b"/>
                      <a:r>
                        <a:rPr lang="en-IN" sz="1100" b="0" i="0" u="none" strike="noStrike" dirty="0" smtClean="0">
                          <a:solidFill>
                            <a:srgbClr val="000000"/>
                          </a:solidFill>
                          <a:latin typeface="Calibri"/>
                        </a:rPr>
                        <a:t>v9(100</a:t>
                      </a:r>
                      <a:r>
                        <a:rPr lang="en-IN" sz="1100" b="0" i="0" u="none" strike="noStrike" dirty="0">
                          <a:solidFill>
                            <a:srgbClr val="000000"/>
                          </a:solidFill>
                          <a:latin typeface="Calibri"/>
                        </a:rPr>
                        <a:t>)</a:t>
                      </a:r>
                    </a:p>
                  </a:txBody>
                  <a:tcPr marL="9525" marR="9525" marT="9525" marB="0" anchor="b">
                    <a:lnL>
                      <a:noFill/>
                    </a:lnL>
                    <a:lnR>
                      <a:noFill/>
                    </a:lnR>
                    <a:lnT>
                      <a:noFill/>
                    </a:lnT>
                    <a:lnB>
                      <a:noFill/>
                    </a:lnB>
                  </a:tcPr>
                </a:tc>
              </a:tr>
              <a:tr h="190500">
                <a:tc>
                  <a:txBody>
                    <a:bodyPr/>
                    <a:lstStyle/>
                    <a:p>
                      <a:pPr algn="l" fontAlgn="b"/>
                      <a:r>
                        <a:rPr lang="en-IN" sz="1100" b="0" i="0" u="none" strike="noStrike">
                          <a:solidFill>
                            <a:srgbClr val="000000"/>
                          </a:solidFill>
                          <a:latin typeface="Calibri"/>
                        </a:rPr>
                        <a:t>F(51)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T (49)</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T(49)</a:t>
                      </a:r>
                    </a:p>
                  </a:txBody>
                  <a:tcPr marL="9525" marR="9525" marT="9525" marB="0" anchor="b">
                    <a:lnL>
                      <a:noFill/>
                    </a:lnL>
                    <a:lnR>
                      <a:noFill/>
                    </a:lnR>
                    <a:lnT>
                      <a:noFill/>
                    </a:lnT>
                    <a:lnB>
                      <a:noFill/>
                    </a:lnB>
                  </a:tcPr>
                </a:tc>
                <a:tc>
                  <a:txBody>
                    <a:bodyPr/>
                    <a:lstStyle/>
                    <a:p>
                      <a:pPr algn="l" fontAlgn="b"/>
                      <a:r>
                        <a:rPr lang="en-IN" sz="1100" b="0" i="0" u="none" strike="noStrike" dirty="0" smtClean="0">
                          <a:solidFill>
                            <a:srgbClr val="000000"/>
                          </a:solidFill>
                          <a:latin typeface="Calibri"/>
                        </a:rPr>
                        <a:t>v10(100</a:t>
                      </a:r>
                      <a:r>
                        <a:rPr lang="en-IN" sz="1100" b="0" i="0" u="none" strike="noStrike" dirty="0">
                          <a:solidFill>
                            <a:srgbClr val="000000"/>
                          </a:solidFill>
                          <a:latin typeface="Calibri"/>
                        </a:rPr>
                        <a:t>)</a:t>
                      </a:r>
                    </a:p>
                  </a:txBody>
                  <a:tcPr marL="9525" marR="9525" marT="9525" marB="0" anchor="b">
                    <a:lnL>
                      <a:noFill/>
                    </a:lnL>
                    <a:lnR>
                      <a:noFill/>
                    </a:lnR>
                    <a:lnT>
                      <a:noFill/>
                    </a:lnT>
                    <a:lnB>
                      <a:noFill/>
                    </a:lnB>
                  </a:tcPr>
                </a:tc>
              </a:tr>
              <a:tr h="190500">
                <a:tc>
                  <a:txBody>
                    <a:bodyPr/>
                    <a:lstStyle/>
                    <a:p>
                      <a:pPr algn="l" fontAlgn="b"/>
                      <a:r>
                        <a:rPr lang="en-IN" sz="1100" b="0" i="0" u="none" strike="noStrike" dirty="0">
                          <a:solidFill>
                            <a:srgbClr val="000000"/>
                          </a:solidFill>
                          <a:latin typeface="Calibri"/>
                        </a:rPr>
                        <a:t>T(49)</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T (49)</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T(49)</a:t>
                      </a:r>
                    </a:p>
                  </a:txBody>
                  <a:tcPr marL="9525" marR="9525" marT="9525" marB="0" anchor="b">
                    <a:lnL>
                      <a:noFill/>
                    </a:lnL>
                    <a:lnR>
                      <a:noFill/>
                    </a:lnR>
                    <a:lnT>
                      <a:noFill/>
                    </a:lnT>
                    <a:lnB>
                      <a:noFill/>
                    </a:lnB>
                  </a:tcPr>
                </a:tc>
                <a:tc>
                  <a:txBody>
                    <a:bodyPr/>
                    <a:lstStyle/>
                    <a:p>
                      <a:pPr algn="l" fontAlgn="b"/>
                      <a:r>
                        <a:rPr lang="en-IN" sz="1100" b="0" i="0" u="none" strike="noStrike" dirty="0" smtClean="0">
                          <a:solidFill>
                            <a:srgbClr val="000000"/>
                          </a:solidFill>
                          <a:latin typeface="Calibri"/>
                        </a:rPr>
                        <a:t>v11(100</a:t>
                      </a:r>
                      <a:r>
                        <a:rPr lang="en-IN" sz="1100" b="0" i="0" u="none" strike="noStrike" dirty="0">
                          <a:solidFill>
                            <a:srgbClr val="000000"/>
                          </a:solidFill>
                          <a:latin typeface="Calibri"/>
                        </a:rPr>
                        <a:t>)</a:t>
                      </a:r>
                    </a:p>
                  </a:txBody>
                  <a:tcPr marL="9525" marR="9525" marT="9525" marB="0" anchor="b">
                    <a:lnL>
                      <a:noFill/>
                    </a:lnL>
                    <a:lnR>
                      <a:noFill/>
                    </a:lnR>
                    <a:lnT>
                      <a:noFill/>
                    </a:lnT>
                    <a:lnB>
                      <a:noFill/>
                    </a:lnB>
                  </a:tcPr>
                </a:tc>
              </a:tr>
              <a:tr h="190500">
                <a:tc>
                  <a:txBody>
                    <a:bodyPr/>
                    <a:lstStyle/>
                    <a:p>
                      <a:pPr algn="l" fontAlgn="b"/>
                      <a:r>
                        <a:rPr lang="en-IN" sz="1100" b="0" i="0" u="none" strike="noStrike" dirty="0">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T(49)</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T(49)</a:t>
                      </a:r>
                    </a:p>
                  </a:txBody>
                  <a:tcPr marL="9525" marR="9525" marT="9525" marB="0" anchor="b">
                    <a:lnL>
                      <a:noFill/>
                    </a:lnL>
                    <a:lnR>
                      <a:noFill/>
                    </a:lnR>
                    <a:lnT>
                      <a:noFill/>
                    </a:lnT>
                    <a:lnB>
                      <a:noFill/>
                    </a:lnB>
                  </a:tcPr>
                </a:tc>
                <a:tc>
                  <a:txBody>
                    <a:bodyPr/>
                    <a:lstStyle/>
                    <a:p>
                      <a:pPr algn="l" fontAlgn="b"/>
                      <a:r>
                        <a:rPr lang="en-IN" sz="1100" b="0" i="0" u="none" strike="noStrike" dirty="0" smtClean="0">
                          <a:solidFill>
                            <a:srgbClr val="000000"/>
                          </a:solidFill>
                          <a:latin typeface="Calibri"/>
                        </a:rPr>
                        <a:t>v12(100</a:t>
                      </a:r>
                      <a:r>
                        <a:rPr lang="en-IN" sz="1100" b="0" i="0" u="none" strike="noStrike" dirty="0">
                          <a:solidFill>
                            <a:srgbClr val="000000"/>
                          </a:solidFill>
                          <a:latin typeface="Calibri"/>
                        </a:rPr>
                        <a:t>)</a:t>
                      </a:r>
                    </a:p>
                  </a:txBody>
                  <a:tcPr marL="9525" marR="9525" marT="9525" marB="0" anchor="b">
                    <a:lnL>
                      <a:noFill/>
                    </a:lnL>
                    <a:lnR>
                      <a:noFill/>
                    </a:lnR>
                    <a:lnT>
                      <a:noFill/>
                    </a:lnT>
                    <a:lnB>
                      <a:noFill/>
                    </a:lnB>
                  </a:tcPr>
                </a:tc>
              </a:tr>
              <a:tr h="190500">
                <a:tc>
                  <a:txBody>
                    <a:bodyPr/>
                    <a:lstStyle/>
                    <a:p>
                      <a:pPr algn="l" fontAlgn="b"/>
                      <a:r>
                        <a:rPr lang="en-IN" sz="1100" b="0" i="0" u="none" strike="noStrike">
                          <a:solidFill>
                            <a:srgbClr val="000000"/>
                          </a:solidFill>
                          <a:latin typeface="Calibri"/>
                        </a:rPr>
                        <a:t>T(49)</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F (51)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T(49)</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T(49)</a:t>
                      </a:r>
                    </a:p>
                  </a:txBody>
                  <a:tcPr marL="9525" marR="9525" marT="9525" marB="0" anchor="b">
                    <a:lnL>
                      <a:noFill/>
                    </a:lnL>
                    <a:lnR>
                      <a:noFill/>
                    </a:lnR>
                    <a:lnT>
                      <a:noFill/>
                    </a:lnT>
                    <a:lnB>
                      <a:noFill/>
                    </a:lnB>
                  </a:tcPr>
                </a:tc>
                <a:tc>
                  <a:txBody>
                    <a:bodyPr/>
                    <a:lstStyle/>
                    <a:p>
                      <a:pPr algn="l" fontAlgn="b"/>
                      <a:r>
                        <a:rPr lang="en-IN" sz="1100" b="0" i="0" u="none" strike="noStrike" dirty="0" smtClean="0">
                          <a:solidFill>
                            <a:srgbClr val="000000"/>
                          </a:solidFill>
                          <a:latin typeface="Calibri"/>
                        </a:rPr>
                        <a:t>v13(100</a:t>
                      </a:r>
                      <a:r>
                        <a:rPr lang="en-IN" sz="1100" b="0" i="0" u="none" strike="noStrike" dirty="0">
                          <a:solidFill>
                            <a:srgbClr val="000000"/>
                          </a:solidFill>
                          <a:latin typeface="Calibri"/>
                        </a:rPr>
                        <a:t>)</a:t>
                      </a:r>
                    </a:p>
                  </a:txBody>
                  <a:tcPr marL="9525" marR="9525" marT="9525" marB="0" anchor="b">
                    <a:lnL>
                      <a:noFill/>
                    </a:lnL>
                    <a:lnR>
                      <a:noFill/>
                    </a:lnR>
                    <a:lnT>
                      <a:noFill/>
                    </a:lnT>
                    <a:lnB>
                      <a:noFill/>
                    </a:lnB>
                  </a:tcPr>
                </a:tc>
              </a:tr>
              <a:tr h="190500">
                <a:tc>
                  <a:txBody>
                    <a:bodyPr/>
                    <a:lstStyle/>
                    <a:p>
                      <a:pPr algn="l" fontAlgn="b"/>
                      <a:r>
                        <a:rPr lang="en-IN" sz="1100" b="0" i="0" u="none" strike="noStrike">
                          <a:solidFill>
                            <a:srgbClr val="000000"/>
                          </a:solidFill>
                          <a:latin typeface="Calibri"/>
                        </a:rPr>
                        <a:t>F(51)</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T (49)</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T(49)</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T(49)</a:t>
                      </a:r>
                    </a:p>
                  </a:txBody>
                  <a:tcPr marL="9525" marR="9525" marT="9525" marB="0" anchor="b">
                    <a:lnL>
                      <a:noFill/>
                    </a:lnL>
                    <a:lnR>
                      <a:noFill/>
                    </a:lnR>
                    <a:lnT>
                      <a:noFill/>
                    </a:lnT>
                    <a:lnB>
                      <a:noFill/>
                    </a:lnB>
                  </a:tcPr>
                </a:tc>
                <a:tc>
                  <a:txBody>
                    <a:bodyPr/>
                    <a:lstStyle/>
                    <a:p>
                      <a:pPr algn="l" fontAlgn="b"/>
                      <a:r>
                        <a:rPr lang="en-IN" sz="1100" b="0" i="0" u="none" strike="noStrike" dirty="0" smtClean="0">
                          <a:solidFill>
                            <a:srgbClr val="000000"/>
                          </a:solidFill>
                          <a:latin typeface="Calibri"/>
                        </a:rPr>
                        <a:t>v14(100</a:t>
                      </a:r>
                      <a:r>
                        <a:rPr lang="en-IN" sz="1100" b="0" i="0" u="none" strike="noStrike" dirty="0">
                          <a:solidFill>
                            <a:srgbClr val="000000"/>
                          </a:solidFill>
                          <a:latin typeface="Calibri"/>
                        </a:rPr>
                        <a:t>)</a:t>
                      </a:r>
                    </a:p>
                  </a:txBody>
                  <a:tcPr marL="9525" marR="9525" marT="9525" marB="0" anchor="b">
                    <a:lnL>
                      <a:noFill/>
                    </a:lnL>
                    <a:lnR>
                      <a:noFill/>
                    </a:lnR>
                    <a:lnT>
                      <a:noFill/>
                    </a:lnT>
                    <a:lnB>
                      <a:noFill/>
                    </a:lnB>
                  </a:tcPr>
                </a:tc>
              </a:tr>
              <a:tr h="190500">
                <a:tc>
                  <a:txBody>
                    <a:bodyPr/>
                    <a:lstStyle/>
                    <a:p>
                      <a:pPr algn="l" fontAlgn="b"/>
                      <a:r>
                        <a:rPr lang="en-IN" sz="1100" b="0" i="0" u="none" strike="noStrike">
                          <a:solidFill>
                            <a:srgbClr val="000000"/>
                          </a:solidFill>
                          <a:latin typeface="Calibri"/>
                        </a:rPr>
                        <a:t>T(49)</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T (49)</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T(49)</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latin typeface="Calibri"/>
                        </a:rPr>
                        <a:t>T(49)</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000000"/>
                          </a:solidFill>
                          <a:latin typeface="Calibri"/>
                        </a:rPr>
                        <a:t>v15(100)</a:t>
                      </a:r>
                    </a:p>
                  </a:txBody>
                  <a:tcPr marL="9525" marR="9525" marT="9525" marB="0" anchor="b">
                    <a:lnL>
                      <a:noFill/>
                    </a:lnL>
                    <a:lnR>
                      <a:noFill/>
                    </a:lnR>
                    <a:lnT>
                      <a:noFill/>
                    </a:lnT>
                    <a:lnB>
                      <a:noFill/>
                    </a:lnB>
                  </a:tcPr>
                </a:tc>
              </a:tr>
            </a:tbl>
          </a:graphicData>
        </a:graphic>
      </p:graphicFrame>
      <p:cxnSp>
        <p:nvCxnSpPr>
          <p:cNvPr id="8" name="Straight Arrow Connector 7"/>
          <p:cNvCxnSpPr/>
          <p:nvPr/>
        </p:nvCxnSpPr>
        <p:spPr>
          <a:xfrm>
            <a:off x="1935504" y="1703184"/>
            <a:ext cx="1143000"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935504" y="2388984"/>
            <a:ext cx="1143000"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935504" y="3150984"/>
            <a:ext cx="1143000"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1935504" y="3912984"/>
            <a:ext cx="1143000"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330572" y="1398384"/>
            <a:ext cx="388248" cy="369332"/>
          </a:xfrm>
          <a:prstGeom prst="rect">
            <a:avLst/>
          </a:prstGeom>
          <a:noFill/>
        </p:spPr>
        <p:txBody>
          <a:bodyPr wrap="none" rtlCol="0">
            <a:spAutoFit/>
          </a:bodyPr>
          <a:lstStyle/>
          <a:p>
            <a:r>
              <a:rPr lang="en-IN" dirty="0" smtClean="0"/>
              <a:t>FL</a:t>
            </a:r>
            <a:endParaRPr lang="en-IN" dirty="0"/>
          </a:p>
        </p:txBody>
      </p:sp>
      <p:sp>
        <p:nvSpPr>
          <p:cNvPr id="13" name="TextBox 12"/>
          <p:cNvSpPr txBox="1"/>
          <p:nvPr/>
        </p:nvSpPr>
        <p:spPr>
          <a:xfrm>
            <a:off x="2330572" y="2084184"/>
            <a:ext cx="415498" cy="369332"/>
          </a:xfrm>
          <a:prstGeom prst="rect">
            <a:avLst/>
          </a:prstGeom>
          <a:noFill/>
        </p:spPr>
        <p:txBody>
          <a:bodyPr wrap="none" rtlCol="0">
            <a:spAutoFit/>
          </a:bodyPr>
          <a:lstStyle/>
          <a:p>
            <a:r>
              <a:rPr lang="en-IN" dirty="0" smtClean="0"/>
              <a:t>FR</a:t>
            </a:r>
            <a:endParaRPr lang="en-IN" dirty="0"/>
          </a:p>
        </p:txBody>
      </p:sp>
      <p:sp>
        <p:nvSpPr>
          <p:cNvPr id="14" name="TextBox 13"/>
          <p:cNvSpPr txBox="1"/>
          <p:nvPr/>
        </p:nvSpPr>
        <p:spPr>
          <a:xfrm>
            <a:off x="2364568" y="2798120"/>
            <a:ext cx="407484" cy="369332"/>
          </a:xfrm>
          <a:prstGeom prst="rect">
            <a:avLst/>
          </a:prstGeom>
          <a:noFill/>
        </p:spPr>
        <p:txBody>
          <a:bodyPr wrap="none" rtlCol="0">
            <a:spAutoFit/>
          </a:bodyPr>
          <a:lstStyle/>
          <a:p>
            <a:r>
              <a:rPr lang="en-IN" dirty="0" smtClean="0"/>
              <a:t>RL</a:t>
            </a:r>
            <a:endParaRPr lang="en-IN" dirty="0"/>
          </a:p>
        </p:txBody>
      </p:sp>
      <p:sp>
        <p:nvSpPr>
          <p:cNvPr id="15" name="TextBox 14"/>
          <p:cNvSpPr txBox="1"/>
          <p:nvPr/>
        </p:nvSpPr>
        <p:spPr>
          <a:xfrm>
            <a:off x="2336432" y="3608184"/>
            <a:ext cx="434734" cy="369332"/>
          </a:xfrm>
          <a:prstGeom prst="rect">
            <a:avLst/>
          </a:prstGeom>
          <a:noFill/>
        </p:spPr>
        <p:txBody>
          <a:bodyPr wrap="none" rtlCol="0">
            <a:spAutoFit/>
          </a:bodyPr>
          <a:lstStyle/>
          <a:p>
            <a:r>
              <a:rPr lang="en-IN" dirty="0" smtClean="0"/>
              <a:t>RR</a:t>
            </a:r>
            <a:endParaRPr lang="en-IN" dirty="0"/>
          </a:p>
        </p:txBody>
      </p:sp>
      <p:cxnSp>
        <p:nvCxnSpPr>
          <p:cNvPr id="16" name="Straight Arrow Connector 15"/>
          <p:cNvCxnSpPr/>
          <p:nvPr/>
        </p:nvCxnSpPr>
        <p:spPr>
          <a:xfrm>
            <a:off x="6477000" y="2693784"/>
            <a:ext cx="1143000"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7" name="Right Brace 16"/>
          <p:cNvSpPr/>
          <p:nvPr/>
        </p:nvSpPr>
        <p:spPr>
          <a:xfrm>
            <a:off x="1679576" y="1626984"/>
            <a:ext cx="381000" cy="2514600"/>
          </a:xfrm>
          <a:prstGeom prst="rightBrace">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solidFill>
                <a:srgbClr val="FF0000"/>
              </a:solidFill>
            </a:endParaRPr>
          </a:p>
        </p:txBody>
      </p:sp>
      <p:grpSp>
        <p:nvGrpSpPr>
          <p:cNvPr id="18" name="Group 17"/>
          <p:cNvGrpSpPr/>
          <p:nvPr/>
        </p:nvGrpSpPr>
        <p:grpSpPr>
          <a:xfrm>
            <a:off x="225088" y="1805172"/>
            <a:ext cx="1346844" cy="2031325"/>
            <a:chOff x="0" y="1220364"/>
            <a:chExt cx="1346844" cy="2031325"/>
          </a:xfrm>
        </p:grpSpPr>
        <p:sp>
          <p:nvSpPr>
            <p:cNvPr id="19" name="TextBox 18"/>
            <p:cNvSpPr txBox="1"/>
            <p:nvPr/>
          </p:nvSpPr>
          <p:spPr>
            <a:xfrm>
              <a:off x="0" y="1220364"/>
              <a:ext cx="1346844" cy="2031325"/>
            </a:xfrm>
            <a:prstGeom prst="rect">
              <a:avLst/>
            </a:prstGeom>
            <a:noFill/>
          </p:spPr>
          <p:txBody>
            <a:bodyPr wrap="none" rtlCol="0">
              <a:spAutoFit/>
            </a:bodyPr>
            <a:lstStyle/>
            <a:p>
              <a:pPr marL="342900" indent="-342900"/>
              <a:r>
                <a:rPr lang="en-IN" dirty="0" smtClean="0"/>
                <a:t>FF    SS   REV</a:t>
              </a:r>
            </a:p>
            <a:p>
              <a:pPr marL="342900" indent="-342900"/>
              <a:r>
                <a:rPr lang="en-IN" dirty="0" smtClean="0"/>
                <a:t>49    2      49</a:t>
              </a:r>
            </a:p>
            <a:p>
              <a:pPr marL="342900" indent="-342900">
                <a:buAutoNum type="arabicPlain" startAt="49"/>
              </a:pPr>
              <a:endParaRPr lang="en-IN" dirty="0" smtClean="0"/>
            </a:p>
            <a:p>
              <a:pPr marL="342900" indent="-342900">
                <a:buAutoNum type="arabicPlain" startAt="49"/>
              </a:pPr>
              <a:endParaRPr lang="en-IN" dirty="0" smtClean="0"/>
            </a:p>
            <a:p>
              <a:pPr marL="342900" indent="-342900">
                <a:buAutoNum type="arabicPlain" startAt="49"/>
              </a:pPr>
              <a:endParaRPr lang="en-IN" dirty="0" smtClean="0"/>
            </a:p>
            <a:p>
              <a:pPr marL="342900" indent="-342900">
                <a:buAutoNum type="arabicPlain" startAt="49"/>
              </a:pPr>
              <a:endParaRPr lang="en-IN" dirty="0" smtClean="0"/>
            </a:p>
            <a:p>
              <a:pPr marL="342900" indent="-342900"/>
              <a:r>
                <a:rPr lang="en-IN" dirty="0" smtClean="0"/>
                <a:t>2      98      2</a:t>
              </a:r>
              <a:endParaRPr lang="en-IN" dirty="0"/>
            </a:p>
          </p:txBody>
        </p:sp>
        <p:cxnSp>
          <p:nvCxnSpPr>
            <p:cNvPr id="20" name="Straight Arrow Connector 19"/>
            <p:cNvCxnSpPr/>
            <p:nvPr/>
          </p:nvCxnSpPr>
          <p:spPr>
            <a:xfrm rot="5400000">
              <a:off x="610394" y="2361406"/>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flipH="1" flipV="1">
              <a:off x="-227806" y="2361406"/>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22" name="TextBox 21"/>
          <p:cNvSpPr txBox="1"/>
          <p:nvPr/>
        </p:nvSpPr>
        <p:spPr>
          <a:xfrm>
            <a:off x="6477000" y="2769984"/>
            <a:ext cx="2014782" cy="646331"/>
          </a:xfrm>
          <a:prstGeom prst="rect">
            <a:avLst/>
          </a:prstGeom>
          <a:noFill/>
        </p:spPr>
        <p:txBody>
          <a:bodyPr wrap="none" rtlCol="0">
            <a:spAutoFit/>
          </a:bodyPr>
          <a:lstStyle/>
          <a:p>
            <a:r>
              <a:rPr lang="en-IN" dirty="0" smtClean="0"/>
              <a:t>Probability of being</a:t>
            </a:r>
          </a:p>
          <a:p>
            <a:r>
              <a:rPr lang="en-IN" dirty="0" smtClean="0"/>
              <a:t>Forward</a:t>
            </a:r>
            <a:endParaRPr lang="en-IN" dirty="0"/>
          </a:p>
        </p:txBody>
      </p:sp>
      <p:sp>
        <p:nvSpPr>
          <p:cNvPr id="23" name="TextBox 22"/>
          <p:cNvSpPr txBox="1"/>
          <p:nvPr/>
        </p:nvSpPr>
        <p:spPr>
          <a:xfrm>
            <a:off x="41020" y="4827384"/>
            <a:ext cx="9642383" cy="1200329"/>
          </a:xfrm>
          <a:prstGeom prst="rect">
            <a:avLst/>
          </a:prstGeom>
          <a:noFill/>
        </p:spPr>
        <p:txBody>
          <a:bodyPr wrap="none" rtlCol="0">
            <a:spAutoFit/>
          </a:bodyPr>
          <a:lstStyle/>
          <a:p>
            <a:r>
              <a:rPr lang="en-IN" dirty="0" smtClean="0"/>
              <a:t>51*51*51*51*0             + 49 * 51 * 51 * 51 * 90   + 51 * 49 * 51 * 51 * 90      + 49 * 49 * 51 * 51 * 100</a:t>
            </a:r>
          </a:p>
          <a:p>
            <a:r>
              <a:rPr lang="en-IN" dirty="0" smtClean="0"/>
              <a:t>51 * 51 * 49 * 51 * 90   + 49 * 51 * 49 * 51 * 100 + 51 * 49 * 49 * 51 * 100   + 49 * 49 * 49 * 51 * 100</a:t>
            </a:r>
          </a:p>
          <a:p>
            <a:r>
              <a:rPr lang="en-IN" dirty="0" smtClean="0"/>
              <a:t>51 * 51 * 51 * 49 * 90   + 49 * 51 * 51 * 49 * 100 + 51 * 49 * 51 * 49 * 100   + 49 * 49 * 51 * 49 * 100</a:t>
            </a:r>
          </a:p>
          <a:p>
            <a:r>
              <a:rPr lang="en-IN" dirty="0" smtClean="0"/>
              <a:t>51 * 51 * 49 * 49 * 100 + 49 * 51 * 49 * 49 * 100 + 51 * 49 * 49 * 49 * 100   + 49 * 49 * 49 * 49 * 100</a:t>
            </a:r>
          </a:p>
        </p:txBody>
      </p:sp>
      <p:sp>
        <p:nvSpPr>
          <p:cNvPr id="24" name="TextBox 23"/>
          <p:cNvSpPr txBox="1"/>
          <p:nvPr/>
        </p:nvSpPr>
        <p:spPr>
          <a:xfrm>
            <a:off x="7620000" y="2465184"/>
            <a:ext cx="325730" cy="400110"/>
          </a:xfrm>
          <a:prstGeom prst="rect">
            <a:avLst/>
          </a:prstGeom>
          <a:noFill/>
        </p:spPr>
        <p:txBody>
          <a:bodyPr wrap="none" rtlCol="0">
            <a:spAutoFit/>
          </a:bodyPr>
          <a:lstStyle/>
          <a:p>
            <a:r>
              <a:rPr lang="en-IN" sz="2000" b="1" dirty="0" smtClean="0">
                <a:solidFill>
                  <a:srgbClr val="FF0000"/>
                </a:solidFill>
              </a:rPr>
              <a:t>X</a:t>
            </a:r>
            <a:endParaRPr lang="en-IN" sz="2000" b="1" dirty="0">
              <a:solidFill>
                <a:srgbClr val="FF0000"/>
              </a:solidFill>
            </a:endParaRPr>
          </a:p>
        </p:txBody>
      </p:sp>
      <p:sp>
        <p:nvSpPr>
          <p:cNvPr id="25" name="TextBox 24"/>
          <p:cNvSpPr txBox="1"/>
          <p:nvPr/>
        </p:nvSpPr>
        <p:spPr>
          <a:xfrm>
            <a:off x="3886200" y="331584"/>
            <a:ext cx="1947969" cy="461665"/>
          </a:xfrm>
          <a:prstGeom prst="rect">
            <a:avLst/>
          </a:prstGeom>
          <a:noFill/>
        </p:spPr>
        <p:txBody>
          <a:bodyPr wrap="none" rtlCol="0">
            <a:spAutoFit/>
          </a:bodyPr>
          <a:lstStyle/>
          <a:p>
            <a:r>
              <a:rPr lang="en-IN" sz="2400" b="1" dirty="0" smtClean="0">
                <a:solidFill>
                  <a:srgbClr val="C00000"/>
                </a:solidFill>
              </a:rPr>
              <a:t>WHEEL PULSE</a:t>
            </a:r>
            <a:endParaRPr lang="en-IN" sz="2400" b="1" dirty="0">
              <a:solidFill>
                <a:srgbClr val="C00000"/>
              </a:solidFill>
            </a:endParaRPr>
          </a:p>
        </p:txBody>
      </p:sp>
    </p:spTree>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Motion State – BBT results </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29</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pic>
        <p:nvPicPr>
          <p:cNvPr id="53250" name="Picture 2"/>
          <p:cNvPicPr>
            <a:picLocks noChangeAspect="1" noChangeArrowheads="1"/>
          </p:cNvPicPr>
          <p:nvPr/>
        </p:nvPicPr>
        <p:blipFill>
          <a:blip r:embed="rId2"/>
          <a:srcRect/>
          <a:stretch>
            <a:fillRect/>
          </a:stretch>
        </p:blipFill>
        <p:spPr bwMode="auto">
          <a:xfrm>
            <a:off x="395288" y="1196752"/>
            <a:ext cx="4490195" cy="4755438"/>
          </a:xfrm>
          <a:prstGeom prst="rect">
            <a:avLst/>
          </a:prstGeom>
          <a:noFill/>
          <a:ln w="9525">
            <a:noFill/>
            <a:miter lim="800000"/>
            <a:headEnd/>
            <a:tailEnd/>
          </a:ln>
        </p:spPr>
      </p:pic>
      <p:pic>
        <p:nvPicPr>
          <p:cNvPr id="53251" name="Picture 3"/>
          <p:cNvPicPr>
            <a:picLocks noChangeAspect="1" noChangeArrowheads="1"/>
          </p:cNvPicPr>
          <p:nvPr/>
        </p:nvPicPr>
        <p:blipFill>
          <a:blip r:embed="rId3"/>
          <a:srcRect/>
          <a:stretch>
            <a:fillRect/>
          </a:stretch>
        </p:blipFill>
        <p:spPr bwMode="auto">
          <a:xfrm>
            <a:off x="4885483" y="1196752"/>
            <a:ext cx="6258484" cy="4755438"/>
          </a:xfrm>
          <a:prstGeom prst="rect">
            <a:avLst/>
          </a:prstGeom>
          <a:noFill/>
          <a:ln w="9525">
            <a:noFill/>
            <a:miter lim="800000"/>
            <a:headEnd/>
            <a:tailEnd/>
          </a:ln>
        </p:spPr>
      </p:pic>
      <p:sp>
        <p:nvSpPr>
          <p:cNvPr id="10" name="TextBox 9"/>
          <p:cNvSpPr txBox="1"/>
          <p:nvPr/>
        </p:nvSpPr>
        <p:spPr>
          <a:xfrm>
            <a:off x="6084168" y="3140968"/>
            <a:ext cx="1608133" cy="1200329"/>
          </a:xfrm>
          <a:prstGeom prst="rect">
            <a:avLst/>
          </a:prstGeom>
          <a:noFill/>
        </p:spPr>
        <p:txBody>
          <a:bodyPr wrap="none" rtlCol="0">
            <a:spAutoFit/>
          </a:bodyPr>
          <a:lstStyle/>
          <a:p>
            <a:r>
              <a:rPr lang="en-US" dirty="0" smtClean="0"/>
              <a:t>3 – Stand Still</a:t>
            </a:r>
          </a:p>
          <a:p>
            <a:r>
              <a:rPr lang="en-US" dirty="0" smtClean="0"/>
              <a:t>1 -  Forward</a:t>
            </a:r>
          </a:p>
          <a:p>
            <a:r>
              <a:rPr lang="en-US" dirty="0" smtClean="0"/>
              <a:t>2 – Reverse</a:t>
            </a:r>
          </a:p>
          <a:p>
            <a:r>
              <a:rPr lang="en-US" dirty="0" smtClean="0"/>
              <a:t>0 -  Unknown </a:t>
            </a:r>
            <a:endParaRPr lang="en-US" dirty="0"/>
          </a:p>
        </p:txBody>
      </p:sp>
      <p:sp>
        <p:nvSpPr>
          <p:cNvPr id="11" name="TextBox 10"/>
          <p:cNvSpPr txBox="1"/>
          <p:nvPr/>
        </p:nvSpPr>
        <p:spPr>
          <a:xfrm>
            <a:off x="899592" y="2749099"/>
            <a:ext cx="255198" cy="246221"/>
          </a:xfrm>
          <a:prstGeom prst="rect">
            <a:avLst/>
          </a:prstGeom>
          <a:noFill/>
        </p:spPr>
        <p:txBody>
          <a:bodyPr wrap="none" rtlCol="0">
            <a:spAutoFit/>
          </a:bodyPr>
          <a:lstStyle/>
          <a:p>
            <a:r>
              <a:rPr lang="en-US" sz="1000" dirty="0" smtClean="0"/>
              <a:t>3</a:t>
            </a:r>
            <a:endParaRPr lang="en-US" sz="1000" dirty="0"/>
          </a:p>
        </p:txBody>
      </p:sp>
      <p:sp>
        <p:nvSpPr>
          <p:cNvPr id="12" name="TextBox 11"/>
          <p:cNvSpPr txBox="1"/>
          <p:nvPr/>
        </p:nvSpPr>
        <p:spPr>
          <a:xfrm>
            <a:off x="1979712" y="4341297"/>
            <a:ext cx="255198" cy="246221"/>
          </a:xfrm>
          <a:prstGeom prst="rect">
            <a:avLst/>
          </a:prstGeom>
          <a:noFill/>
        </p:spPr>
        <p:txBody>
          <a:bodyPr wrap="none" rtlCol="0">
            <a:spAutoFit/>
          </a:bodyPr>
          <a:lstStyle/>
          <a:p>
            <a:r>
              <a:rPr lang="en-US" sz="1000" dirty="0" smtClean="0"/>
              <a:t>1</a:t>
            </a:r>
            <a:endParaRPr lang="en-US" sz="1000" dirty="0"/>
          </a:p>
        </p:txBody>
      </p:sp>
      <p:sp>
        <p:nvSpPr>
          <p:cNvPr id="13" name="TextBox 12"/>
          <p:cNvSpPr txBox="1"/>
          <p:nvPr/>
        </p:nvSpPr>
        <p:spPr>
          <a:xfrm>
            <a:off x="9144000" y="1556792"/>
            <a:ext cx="255198" cy="246221"/>
          </a:xfrm>
          <a:prstGeom prst="rect">
            <a:avLst/>
          </a:prstGeom>
          <a:noFill/>
        </p:spPr>
        <p:txBody>
          <a:bodyPr wrap="none" rtlCol="0">
            <a:spAutoFit/>
          </a:bodyPr>
          <a:lstStyle/>
          <a:p>
            <a:r>
              <a:rPr lang="en-US" sz="1000" dirty="0" smtClean="0"/>
              <a:t>2</a:t>
            </a:r>
            <a:endParaRPr lang="en-US" sz="1000" dirty="0"/>
          </a:p>
        </p:txBody>
      </p:sp>
      <p:sp>
        <p:nvSpPr>
          <p:cNvPr id="14" name="TextBox 13"/>
          <p:cNvSpPr txBox="1"/>
          <p:nvPr/>
        </p:nvSpPr>
        <p:spPr>
          <a:xfrm>
            <a:off x="6588224" y="2276872"/>
            <a:ext cx="255198" cy="246221"/>
          </a:xfrm>
          <a:prstGeom prst="rect">
            <a:avLst/>
          </a:prstGeom>
          <a:noFill/>
        </p:spPr>
        <p:txBody>
          <a:bodyPr wrap="none" rtlCol="0">
            <a:spAutoFit/>
          </a:bodyPr>
          <a:lstStyle/>
          <a:p>
            <a:r>
              <a:rPr lang="en-US" sz="1000" dirty="0" smtClean="0"/>
              <a:t>1</a:t>
            </a:r>
            <a:endParaRPr lang="en-US" sz="1000" dirty="0"/>
          </a:p>
        </p:txBody>
      </p:sp>
      <p:sp>
        <p:nvSpPr>
          <p:cNvPr id="15" name="TextBox 14"/>
          <p:cNvSpPr txBox="1"/>
          <p:nvPr/>
        </p:nvSpPr>
        <p:spPr>
          <a:xfrm>
            <a:off x="7564702" y="1196752"/>
            <a:ext cx="255198" cy="246221"/>
          </a:xfrm>
          <a:prstGeom prst="rect">
            <a:avLst/>
          </a:prstGeom>
          <a:noFill/>
        </p:spPr>
        <p:txBody>
          <a:bodyPr wrap="none" rtlCol="0">
            <a:spAutoFit/>
          </a:bodyPr>
          <a:lstStyle/>
          <a:p>
            <a:r>
              <a:rPr lang="en-US" sz="1000" dirty="0" smtClean="0"/>
              <a:t>3</a:t>
            </a:r>
            <a:endParaRPr lang="en-US" sz="1000" dirty="0"/>
          </a:p>
        </p:txBody>
      </p:sp>
    </p:spTree>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95288" y="42430"/>
            <a:ext cx="8353425" cy="719137"/>
          </a:xfrm>
        </p:spPr>
        <p:txBody>
          <a:bodyPr/>
          <a:lstStyle/>
          <a:p>
            <a:r>
              <a:rPr lang="en-US" dirty="0" smtClean="0"/>
              <a:t>Wheel Speed Processing</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30</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pic>
        <p:nvPicPr>
          <p:cNvPr id="9" name="Picture 46"/>
          <p:cNvPicPr>
            <a:picLocks noChangeAspect="1" noChangeArrowheads="1"/>
          </p:cNvPicPr>
          <p:nvPr/>
        </p:nvPicPr>
        <p:blipFill>
          <a:blip r:embed="rId2" cstate="print"/>
          <a:srcRect/>
          <a:stretch>
            <a:fillRect/>
          </a:stretch>
        </p:blipFill>
        <p:spPr bwMode="auto">
          <a:xfrm>
            <a:off x="7952" y="805219"/>
            <a:ext cx="7238999" cy="5324553"/>
          </a:xfrm>
          <a:prstGeom prst="rect">
            <a:avLst/>
          </a:prstGeom>
          <a:noFill/>
          <a:ln w="9525">
            <a:noFill/>
            <a:miter lim="800000"/>
            <a:headEnd/>
            <a:tailEnd/>
          </a:ln>
          <a:effectLst/>
        </p:spPr>
      </p:pic>
    </p:spTree>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42888" y="96837"/>
            <a:ext cx="8353425" cy="719137"/>
          </a:xfrm>
        </p:spPr>
        <p:txBody>
          <a:bodyPr/>
          <a:lstStyle/>
          <a:p>
            <a:r>
              <a:rPr lang="en-US" dirty="0" smtClean="0"/>
              <a:t>Wheel Speed Computation ----- Pulse based</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31</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graphicFrame>
        <p:nvGraphicFramePr>
          <p:cNvPr id="41986" name="Object 2"/>
          <p:cNvGraphicFramePr>
            <a:graphicFrameLocks noChangeAspect="1"/>
          </p:cNvGraphicFramePr>
          <p:nvPr/>
        </p:nvGraphicFramePr>
        <p:xfrm>
          <a:off x="240085" y="1088926"/>
          <a:ext cx="7372350" cy="3819525"/>
        </p:xfrm>
        <a:graphic>
          <a:graphicData uri="http://schemas.openxmlformats.org/presentationml/2006/ole">
            <mc:AlternateContent xmlns:mc="http://schemas.openxmlformats.org/markup-compatibility/2006">
              <mc:Choice xmlns:v="urn:schemas-microsoft-com:vml" Requires="v">
                <p:oleObj spid="_x0000_s41988" name="Formel" r:id="rId3" imgW="6578280" imgH="3670200" progId="Equation.3">
                  <p:embed/>
                </p:oleObj>
              </mc:Choice>
              <mc:Fallback>
                <p:oleObj name="Formel" r:id="rId3" imgW="6578280" imgH="36702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085" y="1088926"/>
                        <a:ext cx="7372350" cy="3819525"/>
                      </a:xfrm>
                      <a:prstGeom prst="rect">
                        <a:avLst/>
                      </a:prstGeom>
                      <a:solidFill>
                        <a:srgbClr val="FFFFFF"/>
                      </a:solidFill>
                      <a:ln w="9525">
                        <a:solidFill>
                          <a:srgbClr val="000000"/>
                        </a:solidFill>
                        <a:miter lim="800000"/>
                        <a:headEnd/>
                        <a:tailEnd/>
                      </a:ln>
                    </p:spPr>
                  </p:pic>
                </p:oleObj>
              </mc:Fallback>
            </mc:AlternateContent>
          </a:graphicData>
        </a:graphic>
      </p:graphicFrame>
    </p:spTree>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Merging Wheel Speed Information</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32</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pic>
        <p:nvPicPr>
          <p:cNvPr id="43010" name="Picture 2"/>
          <p:cNvPicPr>
            <a:picLocks noChangeAspect="1" noChangeArrowheads="1"/>
          </p:cNvPicPr>
          <p:nvPr/>
        </p:nvPicPr>
        <p:blipFill>
          <a:blip r:embed="rId3"/>
          <a:srcRect/>
          <a:stretch>
            <a:fillRect/>
          </a:stretch>
        </p:blipFill>
        <p:spPr bwMode="auto">
          <a:xfrm>
            <a:off x="1187625" y="1161142"/>
            <a:ext cx="5688632" cy="4684334"/>
          </a:xfrm>
          <a:prstGeom prst="rect">
            <a:avLst/>
          </a:prstGeom>
          <a:noFill/>
          <a:ln w="9525">
            <a:noFill/>
            <a:miter lim="800000"/>
            <a:headEnd/>
            <a:tailEnd/>
          </a:ln>
        </p:spPr>
      </p:pic>
      <p:graphicFrame>
        <p:nvGraphicFramePr>
          <p:cNvPr id="8" name="Object 7"/>
          <p:cNvGraphicFramePr>
            <a:graphicFrameLocks noChangeAspect="1"/>
          </p:cNvGraphicFramePr>
          <p:nvPr/>
        </p:nvGraphicFramePr>
        <p:xfrm>
          <a:off x="7092280" y="1015999"/>
          <a:ext cx="1494368" cy="1260873"/>
        </p:xfrm>
        <a:graphic>
          <a:graphicData uri="http://schemas.openxmlformats.org/presentationml/2006/ole">
            <mc:AlternateContent xmlns:mc="http://schemas.openxmlformats.org/markup-compatibility/2006">
              <mc:Choice xmlns:v="urn:schemas-microsoft-com:vml" Requires="v">
                <p:oleObj spid="_x0000_s105476" name="Worksheet" showAsIcon="1" r:id="rId4" imgW="914400" imgH="771480" progId="Excel.Sheet.12">
                  <p:embed/>
                </p:oleObj>
              </mc:Choice>
              <mc:Fallback>
                <p:oleObj name="Worksheet" showAsIcon="1" r:id="rId4" imgW="914400" imgH="771480" progId="Excel.Sheet.12">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92280" y="1015999"/>
                        <a:ext cx="1494368" cy="12608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Wheel Speed Processing ---- </a:t>
            </a:r>
            <a:r>
              <a:rPr lang="en-US" dirty="0" err="1" smtClean="0"/>
              <a:t>Kalman</a:t>
            </a:r>
            <a:r>
              <a:rPr lang="en-US" dirty="0" smtClean="0"/>
              <a:t> Filter</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33</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pic>
        <p:nvPicPr>
          <p:cNvPr id="44034" name="Picture 2"/>
          <p:cNvPicPr>
            <a:picLocks noChangeAspect="1" noChangeArrowheads="1"/>
          </p:cNvPicPr>
          <p:nvPr/>
        </p:nvPicPr>
        <p:blipFill>
          <a:blip r:embed="rId3"/>
          <a:srcRect/>
          <a:stretch>
            <a:fillRect/>
          </a:stretch>
        </p:blipFill>
        <p:spPr bwMode="auto">
          <a:xfrm>
            <a:off x="827584" y="1484784"/>
            <a:ext cx="1905000" cy="781050"/>
          </a:xfrm>
          <a:prstGeom prst="rect">
            <a:avLst/>
          </a:prstGeom>
          <a:noFill/>
          <a:ln w="9525">
            <a:noFill/>
            <a:miter lim="800000"/>
            <a:headEnd/>
            <a:tailEnd/>
          </a:ln>
        </p:spPr>
      </p:pic>
      <p:pic>
        <p:nvPicPr>
          <p:cNvPr id="44035" name="Picture 3"/>
          <p:cNvPicPr>
            <a:picLocks noChangeAspect="1" noChangeArrowheads="1"/>
          </p:cNvPicPr>
          <p:nvPr/>
        </p:nvPicPr>
        <p:blipFill>
          <a:blip r:embed="rId4"/>
          <a:srcRect/>
          <a:stretch>
            <a:fillRect/>
          </a:stretch>
        </p:blipFill>
        <p:spPr bwMode="auto">
          <a:xfrm>
            <a:off x="4948238" y="2638425"/>
            <a:ext cx="3800475" cy="723900"/>
          </a:xfrm>
          <a:prstGeom prst="rect">
            <a:avLst/>
          </a:prstGeom>
          <a:noFill/>
          <a:ln w="9525">
            <a:noFill/>
            <a:miter lim="800000"/>
            <a:headEnd/>
            <a:tailEnd/>
          </a:ln>
        </p:spPr>
      </p:pic>
      <p:graphicFrame>
        <p:nvGraphicFramePr>
          <p:cNvPr id="44036" name="Object 4"/>
          <p:cNvGraphicFramePr>
            <a:graphicFrameLocks noChangeAspect="1"/>
          </p:cNvGraphicFramePr>
          <p:nvPr/>
        </p:nvGraphicFramePr>
        <p:xfrm>
          <a:off x="854691" y="2390701"/>
          <a:ext cx="1849318" cy="702741"/>
        </p:xfrm>
        <a:graphic>
          <a:graphicData uri="http://schemas.openxmlformats.org/presentationml/2006/ole">
            <mc:AlternateContent xmlns:mc="http://schemas.openxmlformats.org/markup-compatibility/2006">
              <mc:Choice xmlns:v="urn:schemas-microsoft-com:vml" Requires="v">
                <p:oleObj spid="_x0000_s44044" name="Formel" r:id="rId5" imgW="1269720" imgH="482400" progId="Equation.3">
                  <p:embed/>
                </p:oleObj>
              </mc:Choice>
              <mc:Fallback>
                <p:oleObj name="Formel" r:id="rId5" imgW="1269720" imgH="482400" progId="Equation.3">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4691" y="2390701"/>
                        <a:ext cx="1849318" cy="7027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037" name="Object 5"/>
          <p:cNvGraphicFramePr>
            <a:graphicFrameLocks noChangeAspect="1"/>
          </p:cNvGraphicFramePr>
          <p:nvPr/>
        </p:nvGraphicFramePr>
        <p:xfrm>
          <a:off x="5444816" y="1782688"/>
          <a:ext cx="1811337" cy="703263"/>
        </p:xfrm>
        <a:graphic>
          <a:graphicData uri="http://schemas.openxmlformats.org/presentationml/2006/ole">
            <mc:AlternateContent xmlns:mc="http://schemas.openxmlformats.org/markup-compatibility/2006">
              <mc:Choice xmlns:v="urn:schemas-microsoft-com:vml" Requires="v">
                <p:oleObj spid="_x0000_s44045" name="Formel" r:id="rId7" imgW="1244520" imgH="482400" progId="Equation.3">
                  <p:embed/>
                </p:oleObj>
              </mc:Choice>
              <mc:Fallback>
                <p:oleObj name="Formel" r:id="rId7" imgW="1244520" imgH="482400" progId="Equation.3">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44816" y="1782688"/>
                        <a:ext cx="1811337" cy="703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5298112" y="1474911"/>
            <a:ext cx="2104743" cy="307777"/>
          </a:xfrm>
          <a:prstGeom prst="rect">
            <a:avLst/>
          </a:prstGeom>
          <a:noFill/>
        </p:spPr>
        <p:txBody>
          <a:bodyPr wrap="none" rtlCol="0">
            <a:spAutoFit/>
          </a:bodyPr>
          <a:lstStyle/>
          <a:p>
            <a:r>
              <a:rPr lang="en-US" sz="1400" dirty="0" smtClean="0"/>
              <a:t>If Ticks are not available</a:t>
            </a:r>
            <a:endParaRPr lang="en-US" sz="1400" dirty="0"/>
          </a:p>
        </p:txBody>
      </p:sp>
      <p:graphicFrame>
        <p:nvGraphicFramePr>
          <p:cNvPr id="44038" name="Object 6"/>
          <p:cNvGraphicFramePr>
            <a:graphicFrameLocks noChangeAspect="1"/>
          </p:cNvGraphicFramePr>
          <p:nvPr/>
        </p:nvGraphicFramePr>
        <p:xfrm>
          <a:off x="457200" y="3362325"/>
          <a:ext cx="2476500" cy="1255713"/>
        </p:xfrm>
        <a:graphic>
          <a:graphicData uri="http://schemas.openxmlformats.org/presentationml/2006/ole">
            <mc:AlternateContent xmlns:mc="http://schemas.openxmlformats.org/markup-compatibility/2006">
              <mc:Choice xmlns:v="urn:schemas-microsoft-com:vml" Requires="v">
                <p:oleObj spid="_x0000_s44046" name="Formel" r:id="rId9" imgW="1701720" imgH="863280" progId="Equation.3">
                  <p:embed/>
                </p:oleObj>
              </mc:Choice>
              <mc:Fallback>
                <p:oleObj name="Formel" r:id="rId9" imgW="1701720" imgH="863280" progId="Equation.3">
                  <p:embed/>
                  <p:pic>
                    <p:nvPicPr>
                      <p:cNvPr id="0" name="Picture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 y="3362325"/>
                        <a:ext cx="2476500" cy="1255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2"/>
          <p:cNvSpPr/>
          <p:nvPr/>
        </p:nvSpPr>
        <p:spPr>
          <a:xfrm>
            <a:off x="5298112" y="4160838"/>
            <a:ext cx="914400" cy="914400"/>
          </a:xfrm>
          <a:prstGeom prst="rect">
            <a:avLst/>
          </a:prstGeom>
          <a:solidFill>
            <a:schemeClr val="accent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err="1" smtClean="0">
              <a:solidFill>
                <a:schemeClr val="bg2">
                  <a:lumMod val="10000"/>
                </a:schemeClr>
              </a:solidFill>
            </a:endParaRPr>
          </a:p>
        </p:txBody>
      </p:sp>
      <p:sp>
        <p:nvSpPr>
          <p:cNvPr id="14" name="TextBox 13"/>
          <p:cNvSpPr txBox="1"/>
          <p:nvPr/>
        </p:nvSpPr>
        <p:spPr>
          <a:xfrm>
            <a:off x="5492441" y="4395272"/>
            <a:ext cx="479618" cy="369332"/>
          </a:xfrm>
          <a:prstGeom prst="rect">
            <a:avLst/>
          </a:prstGeom>
          <a:noFill/>
        </p:spPr>
        <p:txBody>
          <a:bodyPr wrap="none" rtlCol="0">
            <a:spAutoFit/>
          </a:bodyPr>
          <a:lstStyle/>
          <a:p>
            <a:r>
              <a:rPr lang="en-US" dirty="0" smtClean="0"/>
              <a:t>KF</a:t>
            </a:r>
            <a:endParaRPr lang="en-US" dirty="0"/>
          </a:p>
        </p:txBody>
      </p:sp>
      <p:cxnSp>
        <p:nvCxnSpPr>
          <p:cNvPr id="16" name="Straight Arrow Connector 15"/>
          <p:cNvCxnSpPr/>
          <p:nvPr/>
        </p:nvCxnSpPr>
        <p:spPr>
          <a:xfrm>
            <a:off x="4572000" y="4319072"/>
            <a:ext cx="726112" cy="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4572000" y="4547672"/>
            <a:ext cx="726112" cy="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4572000" y="4764604"/>
            <a:ext cx="726112" cy="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4572000" y="4964629"/>
            <a:ext cx="726112" cy="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6212512" y="4618038"/>
            <a:ext cx="726112" cy="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328696" y="4804847"/>
            <a:ext cx="338554" cy="369332"/>
          </a:xfrm>
          <a:prstGeom prst="rect">
            <a:avLst/>
          </a:prstGeom>
          <a:noFill/>
        </p:spPr>
        <p:txBody>
          <a:bodyPr wrap="none" rtlCol="0">
            <a:spAutoFit/>
          </a:bodyPr>
          <a:lstStyle/>
          <a:p>
            <a:r>
              <a:rPr lang="en-US" dirty="0" smtClean="0"/>
              <a:t>A</a:t>
            </a:r>
            <a:endParaRPr lang="en-US" dirty="0"/>
          </a:p>
        </p:txBody>
      </p:sp>
      <p:sp>
        <p:nvSpPr>
          <p:cNvPr id="22" name="TextBox 21"/>
          <p:cNvSpPr txBox="1"/>
          <p:nvPr/>
        </p:nvSpPr>
        <p:spPr>
          <a:xfrm>
            <a:off x="4315872" y="4576247"/>
            <a:ext cx="351378" cy="369332"/>
          </a:xfrm>
          <a:prstGeom prst="rect">
            <a:avLst/>
          </a:prstGeom>
          <a:noFill/>
        </p:spPr>
        <p:txBody>
          <a:bodyPr wrap="none" rtlCol="0">
            <a:spAutoFit/>
          </a:bodyPr>
          <a:lstStyle/>
          <a:p>
            <a:r>
              <a:rPr lang="en-US" dirty="0" smtClean="0"/>
              <a:t>R</a:t>
            </a:r>
            <a:endParaRPr lang="en-US" dirty="0"/>
          </a:p>
        </p:txBody>
      </p:sp>
      <p:sp>
        <p:nvSpPr>
          <p:cNvPr id="23" name="TextBox 22"/>
          <p:cNvSpPr txBox="1"/>
          <p:nvPr/>
        </p:nvSpPr>
        <p:spPr>
          <a:xfrm>
            <a:off x="4311633" y="4343956"/>
            <a:ext cx="364202" cy="369332"/>
          </a:xfrm>
          <a:prstGeom prst="rect">
            <a:avLst/>
          </a:prstGeom>
          <a:noFill/>
        </p:spPr>
        <p:txBody>
          <a:bodyPr wrap="none" rtlCol="0">
            <a:spAutoFit/>
          </a:bodyPr>
          <a:lstStyle/>
          <a:p>
            <a:r>
              <a:rPr lang="en-US" dirty="0" smtClean="0"/>
              <a:t>Q</a:t>
            </a:r>
            <a:endParaRPr lang="en-US" dirty="0"/>
          </a:p>
        </p:txBody>
      </p:sp>
      <p:sp>
        <p:nvSpPr>
          <p:cNvPr id="24" name="TextBox 23"/>
          <p:cNvSpPr txBox="1"/>
          <p:nvPr/>
        </p:nvSpPr>
        <p:spPr>
          <a:xfrm>
            <a:off x="4320032" y="4127024"/>
            <a:ext cx="325730" cy="369332"/>
          </a:xfrm>
          <a:prstGeom prst="rect">
            <a:avLst/>
          </a:prstGeom>
          <a:noFill/>
        </p:spPr>
        <p:txBody>
          <a:bodyPr wrap="none" rtlCol="0">
            <a:spAutoFit/>
          </a:bodyPr>
          <a:lstStyle/>
          <a:p>
            <a:r>
              <a:rPr lang="en-US" dirty="0" smtClean="0"/>
              <a:t>Z</a:t>
            </a:r>
            <a:endParaRPr lang="en-US" dirty="0"/>
          </a:p>
        </p:txBody>
      </p:sp>
      <p:sp>
        <p:nvSpPr>
          <p:cNvPr id="25" name="TextBox 24"/>
          <p:cNvSpPr txBox="1"/>
          <p:nvPr/>
        </p:nvSpPr>
        <p:spPr>
          <a:xfrm>
            <a:off x="6929099" y="4435515"/>
            <a:ext cx="1685077" cy="369332"/>
          </a:xfrm>
          <a:prstGeom prst="rect">
            <a:avLst/>
          </a:prstGeom>
          <a:noFill/>
        </p:spPr>
        <p:txBody>
          <a:bodyPr wrap="none" rtlCol="0">
            <a:spAutoFit/>
          </a:bodyPr>
          <a:lstStyle/>
          <a:p>
            <a:r>
              <a:rPr lang="en-US" dirty="0" smtClean="0"/>
              <a:t>Wheel Speeds</a:t>
            </a:r>
            <a:endParaRPr lang="en-US" dirty="0"/>
          </a:p>
        </p:txBody>
      </p:sp>
      <p:graphicFrame>
        <p:nvGraphicFramePr>
          <p:cNvPr id="44039" name="Object 7"/>
          <p:cNvGraphicFramePr>
            <a:graphicFrameLocks noChangeAspect="1"/>
          </p:cNvGraphicFramePr>
          <p:nvPr/>
        </p:nvGraphicFramePr>
        <p:xfrm>
          <a:off x="591478" y="4764088"/>
          <a:ext cx="1590675" cy="703262"/>
        </p:xfrm>
        <a:graphic>
          <a:graphicData uri="http://schemas.openxmlformats.org/presentationml/2006/ole">
            <mc:AlternateContent xmlns:mc="http://schemas.openxmlformats.org/markup-compatibility/2006">
              <mc:Choice xmlns:v="urn:schemas-microsoft-com:vml" Requires="v">
                <p:oleObj spid="_x0000_s44047" name="Formel" r:id="rId11" imgW="1091880" imgH="482400" progId="Equation.3">
                  <p:embed/>
                </p:oleObj>
              </mc:Choice>
              <mc:Fallback>
                <p:oleObj name="Formel" r:id="rId11" imgW="1091880" imgH="482400" progId="Equation.3">
                  <p:embed/>
                  <p:pic>
                    <p:nvPicPr>
                      <p:cNvPr id="0" name="Picture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1478" y="4764088"/>
                        <a:ext cx="1590675" cy="703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28" name="Straight Arrow Connector 27"/>
          <p:cNvCxnSpPr/>
          <p:nvPr/>
        </p:nvCxnSpPr>
        <p:spPr>
          <a:xfrm flipV="1">
            <a:off x="5796136" y="5052290"/>
            <a:ext cx="0" cy="41506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5734726" y="5262136"/>
            <a:ext cx="351378" cy="369332"/>
          </a:xfrm>
          <a:prstGeom prst="rect">
            <a:avLst/>
          </a:prstGeom>
          <a:noFill/>
        </p:spPr>
        <p:txBody>
          <a:bodyPr wrap="none" rtlCol="0">
            <a:spAutoFit/>
          </a:bodyPr>
          <a:lstStyle/>
          <a:p>
            <a:r>
              <a:rPr lang="en-US" dirty="0" smtClean="0"/>
              <a:t>H</a:t>
            </a:r>
            <a:endParaRPr lang="en-US" dirty="0"/>
          </a:p>
        </p:txBody>
      </p:sp>
    </p:spTree>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Vehicle Velocity Estimation ---- Fusion of 4 wheel speeds</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34</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pic>
        <p:nvPicPr>
          <p:cNvPr id="45058" name="Picture 2"/>
          <p:cNvPicPr>
            <a:picLocks noChangeAspect="1" noChangeArrowheads="1"/>
          </p:cNvPicPr>
          <p:nvPr/>
        </p:nvPicPr>
        <p:blipFill>
          <a:blip r:embed="rId2"/>
          <a:srcRect/>
          <a:stretch>
            <a:fillRect/>
          </a:stretch>
        </p:blipFill>
        <p:spPr bwMode="auto">
          <a:xfrm>
            <a:off x="506169" y="1107551"/>
            <a:ext cx="6133875" cy="4586802"/>
          </a:xfrm>
          <a:prstGeom prst="rect">
            <a:avLst/>
          </a:prstGeom>
          <a:noFill/>
          <a:ln w="9525">
            <a:noFill/>
            <a:miter lim="800000"/>
            <a:headEnd/>
            <a:tailEnd/>
          </a:ln>
        </p:spPr>
      </p:pic>
      <p:pic>
        <p:nvPicPr>
          <p:cNvPr id="45059" name="Picture 3"/>
          <p:cNvPicPr>
            <a:picLocks noChangeAspect="1" noChangeArrowheads="1"/>
          </p:cNvPicPr>
          <p:nvPr/>
        </p:nvPicPr>
        <p:blipFill>
          <a:blip r:embed="rId3"/>
          <a:srcRect/>
          <a:stretch>
            <a:fillRect/>
          </a:stretch>
        </p:blipFill>
        <p:spPr bwMode="auto">
          <a:xfrm>
            <a:off x="6637919" y="1556792"/>
            <a:ext cx="2276872" cy="1138436"/>
          </a:xfrm>
          <a:prstGeom prst="rect">
            <a:avLst/>
          </a:prstGeom>
          <a:noFill/>
          <a:ln w="9525">
            <a:noFill/>
            <a:miter lim="800000"/>
            <a:headEnd/>
            <a:tailEnd/>
          </a:ln>
        </p:spPr>
      </p:pic>
      <p:pic>
        <p:nvPicPr>
          <p:cNvPr id="45060" name="Picture 4"/>
          <p:cNvPicPr>
            <a:picLocks noChangeAspect="1" noChangeArrowheads="1"/>
          </p:cNvPicPr>
          <p:nvPr/>
        </p:nvPicPr>
        <p:blipFill>
          <a:blip r:embed="rId4"/>
          <a:srcRect/>
          <a:stretch>
            <a:fillRect/>
          </a:stretch>
        </p:blipFill>
        <p:spPr bwMode="auto">
          <a:xfrm>
            <a:off x="6742604" y="2822204"/>
            <a:ext cx="1162050" cy="1333500"/>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Velocity Estimation During Hydro </a:t>
            </a:r>
            <a:r>
              <a:rPr lang="en-US" dirty="0" err="1" smtClean="0"/>
              <a:t>Planing</a:t>
            </a:r>
            <a:r>
              <a:rPr lang="en-US" dirty="0" smtClean="0"/>
              <a:t> (BBT test results)</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35</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pic>
        <p:nvPicPr>
          <p:cNvPr id="68610" name="Picture 2"/>
          <p:cNvPicPr>
            <a:picLocks noChangeAspect="1" noChangeArrowheads="1"/>
          </p:cNvPicPr>
          <p:nvPr/>
        </p:nvPicPr>
        <p:blipFill>
          <a:blip r:embed="rId2"/>
          <a:srcRect/>
          <a:stretch>
            <a:fillRect/>
          </a:stretch>
        </p:blipFill>
        <p:spPr bwMode="auto">
          <a:xfrm>
            <a:off x="525771" y="1017314"/>
            <a:ext cx="6350485" cy="4956797"/>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Effect of Tire radius change (Correction Factor) : </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36</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pic>
        <p:nvPicPr>
          <p:cNvPr id="69634" name="Picture 2"/>
          <p:cNvPicPr>
            <a:picLocks noChangeAspect="1" noChangeArrowheads="1"/>
          </p:cNvPicPr>
          <p:nvPr/>
        </p:nvPicPr>
        <p:blipFill>
          <a:blip r:embed="rId2"/>
          <a:srcRect/>
          <a:stretch>
            <a:fillRect/>
          </a:stretch>
        </p:blipFill>
        <p:spPr bwMode="auto">
          <a:xfrm>
            <a:off x="445829" y="1196752"/>
            <a:ext cx="5904656" cy="4672972"/>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Velocity Estimation During Traction (All wheels slipping)</a:t>
            </a:r>
            <a:br>
              <a:rPr lang="en-US" dirty="0" smtClean="0"/>
            </a:br>
            <a:r>
              <a:rPr lang="en-US" dirty="0" smtClean="0"/>
              <a:t>Limitation of VDY </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37</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pic>
        <p:nvPicPr>
          <p:cNvPr id="70658" name="Picture 2"/>
          <p:cNvPicPr>
            <a:picLocks noChangeAspect="1" noChangeArrowheads="1"/>
          </p:cNvPicPr>
          <p:nvPr/>
        </p:nvPicPr>
        <p:blipFill>
          <a:blip r:embed="rId2"/>
          <a:srcRect/>
          <a:stretch>
            <a:fillRect/>
          </a:stretch>
        </p:blipFill>
        <p:spPr bwMode="auto">
          <a:xfrm>
            <a:off x="179512" y="1154513"/>
            <a:ext cx="6170973" cy="4862960"/>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cstate="print"/>
          <a:srcRect/>
          <a:stretch>
            <a:fillRect/>
          </a:stretch>
        </p:blipFill>
        <p:spPr bwMode="auto">
          <a:xfrm>
            <a:off x="182884" y="597691"/>
            <a:ext cx="8681697" cy="5110163"/>
          </a:xfrm>
          <a:prstGeom prst="rect">
            <a:avLst/>
          </a:prstGeom>
          <a:noFill/>
          <a:ln w="9525">
            <a:noFill/>
            <a:miter lim="800000"/>
            <a:headEnd/>
            <a:tailEnd/>
          </a:ln>
          <a:effectLst/>
        </p:spPr>
      </p:pic>
      <p:sp>
        <p:nvSpPr>
          <p:cNvPr id="7" name="Title 2"/>
          <p:cNvSpPr>
            <a:spLocks noGrp="1"/>
          </p:cNvSpPr>
          <p:nvPr>
            <p:ph type="title"/>
          </p:nvPr>
        </p:nvSpPr>
        <p:spPr>
          <a:xfrm>
            <a:off x="268072" y="-92737"/>
            <a:ext cx="8353425" cy="719137"/>
          </a:xfrm>
        </p:spPr>
        <p:txBody>
          <a:bodyPr/>
          <a:lstStyle/>
          <a:p>
            <a:r>
              <a:rPr lang="en-US" dirty="0" smtClean="0"/>
              <a:t>Yaw Rate Estimation</a:t>
            </a: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23370" y="70834"/>
            <a:ext cx="8353425" cy="719137"/>
          </a:xfrm>
        </p:spPr>
        <p:txBody>
          <a:bodyPr/>
          <a:lstStyle/>
          <a:p>
            <a:r>
              <a:rPr lang="en-US" dirty="0" smtClean="0"/>
              <a:t>Yaw rate estimated from wheel speeds</a:t>
            </a:r>
            <a:endParaRPr lang="en-US" dirty="0"/>
          </a:p>
        </p:txBody>
      </p:sp>
      <p:sp>
        <p:nvSpPr>
          <p:cNvPr id="4" name="Date Placeholder 3"/>
          <p:cNvSpPr>
            <a:spLocks noGrp="1"/>
          </p:cNvSpPr>
          <p:nvPr>
            <p:ph type="dt" sz="half" idx="10"/>
          </p:nvPr>
        </p:nvSpPr>
        <p:spPr/>
        <p:txBody>
          <a:bodyPr/>
          <a:lstStyle/>
          <a:p>
            <a:fld id="{599AB9BC-EC3C-4486-9684-3F656F14D41E}"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39</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pic>
        <p:nvPicPr>
          <p:cNvPr id="46082" name="Picture 2"/>
          <p:cNvPicPr>
            <a:picLocks noChangeAspect="1" noChangeArrowheads="1"/>
          </p:cNvPicPr>
          <p:nvPr/>
        </p:nvPicPr>
        <p:blipFill>
          <a:blip r:embed="rId2"/>
          <a:srcRect/>
          <a:stretch>
            <a:fillRect/>
          </a:stretch>
        </p:blipFill>
        <p:spPr bwMode="auto">
          <a:xfrm>
            <a:off x="395288" y="1052916"/>
            <a:ext cx="6120680" cy="4723163"/>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Yaw Rate Based On Rear Wheel speeds</a:t>
            </a:r>
            <a:endParaRPr lang="en-US" dirty="0"/>
          </a:p>
        </p:txBody>
      </p:sp>
      <p:sp>
        <p:nvSpPr>
          <p:cNvPr id="4" name="Date Placeholder 3"/>
          <p:cNvSpPr>
            <a:spLocks noGrp="1"/>
          </p:cNvSpPr>
          <p:nvPr>
            <p:ph type="dt" sz="half" idx="10"/>
          </p:nvPr>
        </p:nvSpPr>
        <p:spPr/>
        <p:txBody>
          <a:bodyPr/>
          <a:lstStyle/>
          <a:p>
            <a:fld id="{B0F4478A-0E02-40BD-8690-9AB6ECB3BADA}"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pic>
        <p:nvPicPr>
          <p:cNvPr id="47106" name="Picture 2"/>
          <p:cNvPicPr>
            <a:picLocks noChangeAspect="1" noChangeArrowheads="1"/>
          </p:cNvPicPr>
          <p:nvPr/>
        </p:nvPicPr>
        <p:blipFill>
          <a:blip r:embed="rId2"/>
          <a:srcRect/>
          <a:stretch>
            <a:fillRect/>
          </a:stretch>
        </p:blipFill>
        <p:spPr bwMode="auto">
          <a:xfrm>
            <a:off x="395288" y="1412776"/>
            <a:ext cx="7058025" cy="2447925"/>
          </a:xfrm>
          <a:prstGeom prst="rect">
            <a:avLst/>
          </a:prstGeom>
          <a:noFill/>
          <a:ln w="9525">
            <a:noFill/>
            <a:miter lim="800000"/>
            <a:headEnd/>
            <a:tailEnd/>
          </a:ln>
        </p:spPr>
      </p:pic>
      <p:sp>
        <p:nvSpPr>
          <p:cNvPr id="8" name="TextBox 7"/>
          <p:cNvSpPr txBox="1"/>
          <p:nvPr/>
        </p:nvSpPr>
        <p:spPr>
          <a:xfrm>
            <a:off x="467724" y="3912598"/>
            <a:ext cx="7344816" cy="923330"/>
          </a:xfrm>
          <a:prstGeom prst="rect">
            <a:avLst/>
          </a:prstGeom>
          <a:noFill/>
        </p:spPr>
        <p:txBody>
          <a:bodyPr wrap="square" rtlCol="0">
            <a:spAutoFit/>
          </a:bodyPr>
          <a:lstStyle/>
          <a:p>
            <a:r>
              <a:rPr lang="en-US" i="1" dirty="0" smtClean="0"/>
              <a:t>Ref-1 : Yaw Rate and Lateral Acceleration Sensor </a:t>
            </a:r>
            <a:r>
              <a:rPr lang="en-US" i="1" dirty="0" err="1" smtClean="0"/>
              <a:t>Plausibilisation</a:t>
            </a:r>
            <a:r>
              <a:rPr lang="en-US" i="1" dirty="0" smtClean="0"/>
              <a:t> in an Active Front Steering</a:t>
            </a:r>
            <a:r>
              <a:rPr lang="en-US" dirty="0" smtClean="0"/>
              <a:t> Vehicle Master’s thesis performed in Vehicular Systems for ZF </a:t>
            </a:r>
            <a:r>
              <a:rPr lang="en-US" dirty="0" err="1" smtClean="0"/>
              <a:t>Lenksysteme</a:t>
            </a:r>
            <a:r>
              <a:rPr lang="en-US" dirty="0" smtClean="0"/>
              <a:t> [Chapter-4, Equations 4.1 – 4.6]</a:t>
            </a:r>
            <a:endParaRPr lang="en-US" dirty="0"/>
          </a:p>
        </p:txBody>
      </p:sp>
      <p:pic>
        <p:nvPicPr>
          <p:cNvPr id="47107" name="Picture 3"/>
          <p:cNvPicPr>
            <a:picLocks noChangeAspect="1" noChangeArrowheads="1"/>
          </p:cNvPicPr>
          <p:nvPr/>
        </p:nvPicPr>
        <p:blipFill>
          <a:blip r:embed="rId3"/>
          <a:srcRect/>
          <a:stretch>
            <a:fillRect/>
          </a:stretch>
        </p:blipFill>
        <p:spPr bwMode="auto">
          <a:xfrm>
            <a:off x="467724" y="5445224"/>
            <a:ext cx="3419475" cy="561975"/>
          </a:xfrm>
          <a:prstGeom prst="rect">
            <a:avLst/>
          </a:prstGeom>
          <a:noFill/>
          <a:ln w="9525">
            <a:noFill/>
            <a:miter lim="800000"/>
            <a:headEnd/>
            <a:tailEnd/>
          </a:ln>
        </p:spPr>
      </p:pic>
      <p:sp>
        <p:nvSpPr>
          <p:cNvPr id="11" name="TextBox 10"/>
          <p:cNvSpPr txBox="1"/>
          <p:nvPr/>
        </p:nvSpPr>
        <p:spPr>
          <a:xfrm>
            <a:off x="395288" y="5075892"/>
            <a:ext cx="7143943" cy="369332"/>
          </a:xfrm>
          <a:prstGeom prst="rect">
            <a:avLst/>
          </a:prstGeom>
          <a:noFill/>
        </p:spPr>
        <p:txBody>
          <a:bodyPr wrap="none" rtlCol="0">
            <a:spAutoFit/>
          </a:bodyPr>
          <a:lstStyle/>
          <a:p>
            <a:r>
              <a:rPr lang="en-US" dirty="0" smtClean="0"/>
              <a:t>Modified equation of Model-1 is implemented in VDY as given below</a:t>
            </a:r>
            <a:endParaRPr lang="en-US" dirty="0"/>
          </a:p>
        </p:txBody>
      </p:sp>
      <p:sp>
        <p:nvSpPr>
          <p:cNvPr id="12" name="TextBox 11"/>
          <p:cNvSpPr txBox="1"/>
          <p:nvPr/>
        </p:nvSpPr>
        <p:spPr>
          <a:xfrm>
            <a:off x="3976018" y="5394124"/>
            <a:ext cx="3770584" cy="646331"/>
          </a:xfrm>
          <a:prstGeom prst="rect">
            <a:avLst/>
          </a:prstGeom>
          <a:noFill/>
        </p:spPr>
        <p:txBody>
          <a:bodyPr wrap="none" rtlCol="0">
            <a:spAutoFit/>
          </a:bodyPr>
          <a:lstStyle/>
          <a:p>
            <a:r>
              <a:rPr lang="en-US" dirty="0" smtClean="0"/>
              <a:t>When K </a:t>
            </a:r>
            <a:r>
              <a:rPr lang="en-US" dirty="0" smtClean="0">
                <a:sym typeface="Wingdings" pitchFamily="2" charset="2"/>
              </a:rPr>
              <a:t> 1 and </a:t>
            </a:r>
            <a:r>
              <a:rPr lang="en-US" dirty="0" err="1" smtClean="0">
                <a:sym typeface="Wingdings" pitchFamily="2" charset="2"/>
              </a:rPr>
              <a:t>Vx</a:t>
            </a:r>
            <a:r>
              <a:rPr lang="en-US" dirty="0" smtClean="0">
                <a:sym typeface="Wingdings" pitchFamily="2" charset="2"/>
              </a:rPr>
              <a:t> =  (</a:t>
            </a:r>
            <a:r>
              <a:rPr lang="en-US" dirty="0" err="1" smtClean="0">
                <a:sym typeface="Wingdings" pitchFamily="2" charset="2"/>
              </a:rPr>
              <a:t>Vfr</a:t>
            </a:r>
            <a:r>
              <a:rPr lang="en-US" dirty="0" smtClean="0">
                <a:sym typeface="Wingdings" pitchFamily="2" charset="2"/>
              </a:rPr>
              <a:t> + </a:t>
            </a:r>
            <a:r>
              <a:rPr lang="en-US" dirty="0" err="1" smtClean="0">
                <a:sym typeface="Wingdings" pitchFamily="2" charset="2"/>
              </a:rPr>
              <a:t>Vfl</a:t>
            </a:r>
            <a:r>
              <a:rPr lang="en-US" dirty="0" smtClean="0">
                <a:sym typeface="Wingdings" pitchFamily="2" charset="2"/>
              </a:rPr>
              <a:t>)/2</a:t>
            </a:r>
          </a:p>
          <a:p>
            <a:r>
              <a:rPr lang="en-US" dirty="0" smtClean="0">
                <a:sym typeface="Wingdings" pitchFamily="2" charset="2"/>
              </a:rPr>
              <a:t>both the equations are same </a:t>
            </a:r>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438" y="60560"/>
            <a:ext cx="8353425" cy="719137"/>
          </a:xfrm>
        </p:spPr>
        <p:txBody>
          <a:bodyPr/>
          <a:lstStyle/>
          <a:p>
            <a:r>
              <a:rPr lang="en-US" dirty="0" smtClean="0"/>
              <a:t>Yaw Rate Based On Front Wheel speeds</a:t>
            </a:r>
            <a:endParaRPr lang="en-US" dirty="0"/>
          </a:p>
        </p:txBody>
      </p:sp>
      <p:sp>
        <p:nvSpPr>
          <p:cNvPr id="4" name="Date Placeholder 3"/>
          <p:cNvSpPr>
            <a:spLocks noGrp="1"/>
          </p:cNvSpPr>
          <p:nvPr>
            <p:ph type="dt" sz="half" idx="10"/>
          </p:nvPr>
        </p:nvSpPr>
        <p:spPr/>
        <p:txBody>
          <a:bodyPr/>
          <a:lstStyle/>
          <a:p>
            <a:fld id="{51C66B2E-A8CD-4E84-9E2F-6E34F985EE02}"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pic>
        <p:nvPicPr>
          <p:cNvPr id="48130" name="Picture 2"/>
          <p:cNvPicPr>
            <a:picLocks noChangeAspect="1" noChangeArrowheads="1"/>
          </p:cNvPicPr>
          <p:nvPr/>
        </p:nvPicPr>
        <p:blipFill>
          <a:blip r:embed="rId2"/>
          <a:srcRect/>
          <a:stretch>
            <a:fillRect/>
          </a:stretch>
        </p:blipFill>
        <p:spPr bwMode="auto">
          <a:xfrm>
            <a:off x="395536" y="1124744"/>
            <a:ext cx="5629275" cy="2085975"/>
          </a:xfrm>
          <a:prstGeom prst="rect">
            <a:avLst/>
          </a:prstGeom>
          <a:noFill/>
          <a:ln w="9525">
            <a:noFill/>
            <a:miter lim="800000"/>
            <a:headEnd/>
            <a:tailEnd/>
          </a:ln>
        </p:spPr>
      </p:pic>
      <p:pic>
        <p:nvPicPr>
          <p:cNvPr id="48133" name="Picture 5"/>
          <p:cNvPicPr>
            <a:picLocks noChangeAspect="1" noChangeArrowheads="1"/>
          </p:cNvPicPr>
          <p:nvPr/>
        </p:nvPicPr>
        <p:blipFill>
          <a:blip r:embed="rId3"/>
          <a:srcRect/>
          <a:stretch>
            <a:fillRect/>
          </a:stretch>
        </p:blipFill>
        <p:spPr bwMode="auto">
          <a:xfrm>
            <a:off x="280020" y="2924944"/>
            <a:ext cx="5372100" cy="2143125"/>
          </a:xfrm>
          <a:prstGeom prst="rect">
            <a:avLst/>
          </a:prstGeom>
          <a:noFill/>
          <a:ln w="9525">
            <a:noFill/>
            <a:miter lim="800000"/>
            <a:headEnd/>
            <a:tailEnd/>
          </a:ln>
        </p:spPr>
      </p:pic>
      <p:pic>
        <p:nvPicPr>
          <p:cNvPr id="48134" name="Picture 6"/>
          <p:cNvPicPr>
            <a:picLocks noChangeAspect="1" noChangeArrowheads="1"/>
          </p:cNvPicPr>
          <p:nvPr/>
        </p:nvPicPr>
        <p:blipFill>
          <a:blip r:embed="rId4"/>
          <a:srcRect/>
          <a:stretch>
            <a:fillRect/>
          </a:stretch>
        </p:blipFill>
        <p:spPr bwMode="auto">
          <a:xfrm>
            <a:off x="3465029" y="4353289"/>
            <a:ext cx="5283684" cy="234032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YawRatebased</a:t>
            </a:r>
            <a:r>
              <a:rPr lang="en-US" dirty="0" smtClean="0"/>
              <a:t> on lateral </a:t>
            </a:r>
            <a:r>
              <a:rPr lang="en-US" dirty="0" err="1" smtClean="0"/>
              <a:t>accel</a:t>
            </a:r>
            <a:endParaRPr lang="en-US" dirty="0"/>
          </a:p>
        </p:txBody>
      </p:sp>
      <p:sp>
        <p:nvSpPr>
          <p:cNvPr id="4" name="Date Placeholder 3"/>
          <p:cNvSpPr>
            <a:spLocks noGrp="1"/>
          </p:cNvSpPr>
          <p:nvPr>
            <p:ph type="dt" sz="half" idx="10"/>
          </p:nvPr>
        </p:nvSpPr>
        <p:spPr/>
        <p:txBody>
          <a:bodyPr/>
          <a:lstStyle/>
          <a:p>
            <a:fld id="{47C33C8F-5949-438C-89ED-3889E31683D2}"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pic>
        <p:nvPicPr>
          <p:cNvPr id="51202" name="Picture 2"/>
          <p:cNvPicPr>
            <a:picLocks noChangeAspect="1" noChangeArrowheads="1"/>
          </p:cNvPicPr>
          <p:nvPr/>
        </p:nvPicPr>
        <p:blipFill>
          <a:blip r:embed="rId2"/>
          <a:srcRect/>
          <a:stretch>
            <a:fillRect/>
          </a:stretch>
        </p:blipFill>
        <p:spPr bwMode="auto">
          <a:xfrm>
            <a:off x="395288" y="1124924"/>
            <a:ext cx="5049363" cy="467141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YawRatebased</a:t>
            </a:r>
            <a:r>
              <a:rPr lang="en-US" dirty="0" smtClean="0"/>
              <a:t> on lateral </a:t>
            </a:r>
            <a:r>
              <a:rPr lang="en-US" dirty="0" err="1" smtClean="0"/>
              <a:t>accel</a:t>
            </a:r>
            <a:endParaRPr lang="en-US" dirty="0"/>
          </a:p>
        </p:txBody>
      </p:sp>
      <p:sp>
        <p:nvSpPr>
          <p:cNvPr id="4" name="Date Placeholder 3"/>
          <p:cNvSpPr>
            <a:spLocks noGrp="1"/>
          </p:cNvSpPr>
          <p:nvPr>
            <p:ph type="dt" sz="half" idx="10"/>
          </p:nvPr>
        </p:nvSpPr>
        <p:spPr/>
        <p:txBody>
          <a:bodyPr/>
          <a:lstStyle/>
          <a:p>
            <a:fld id="{700207E9-8BA5-48B6-820C-61B6D2B0400B}"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pic>
        <p:nvPicPr>
          <p:cNvPr id="50178" name="Picture 2"/>
          <p:cNvPicPr>
            <a:picLocks noChangeAspect="1" noChangeArrowheads="1"/>
          </p:cNvPicPr>
          <p:nvPr/>
        </p:nvPicPr>
        <p:blipFill>
          <a:blip r:embed="rId2"/>
          <a:srcRect/>
          <a:stretch>
            <a:fillRect/>
          </a:stretch>
        </p:blipFill>
        <p:spPr bwMode="auto">
          <a:xfrm>
            <a:off x="395288" y="1566084"/>
            <a:ext cx="885825" cy="781050"/>
          </a:xfrm>
          <a:prstGeom prst="rect">
            <a:avLst/>
          </a:prstGeom>
          <a:noFill/>
          <a:ln w="9525">
            <a:noFill/>
            <a:miter lim="800000"/>
            <a:headEnd/>
            <a:tailEnd/>
          </a:ln>
        </p:spPr>
      </p:pic>
      <p:sp>
        <p:nvSpPr>
          <p:cNvPr id="8" name="TextBox 7"/>
          <p:cNvSpPr txBox="1"/>
          <p:nvPr/>
        </p:nvSpPr>
        <p:spPr>
          <a:xfrm>
            <a:off x="395288" y="1196752"/>
            <a:ext cx="2441759" cy="369332"/>
          </a:xfrm>
          <a:prstGeom prst="rect">
            <a:avLst/>
          </a:prstGeom>
          <a:noFill/>
        </p:spPr>
        <p:txBody>
          <a:bodyPr wrap="none" rtlCol="0">
            <a:spAutoFit/>
          </a:bodyPr>
          <a:lstStyle/>
          <a:p>
            <a:r>
              <a:rPr lang="en-US" dirty="0" smtClean="0"/>
              <a:t>Measurement Vector :</a:t>
            </a:r>
            <a:endParaRPr lang="en-US" dirty="0"/>
          </a:p>
        </p:txBody>
      </p:sp>
      <p:pic>
        <p:nvPicPr>
          <p:cNvPr id="50179" name="Picture 3"/>
          <p:cNvPicPr>
            <a:picLocks noChangeAspect="1" noChangeArrowheads="1"/>
          </p:cNvPicPr>
          <p:nvPr/>
        </p:nvPicPr>
        <p:blipFill>
          <a:blip r:embed="rId3"/>
          <a:srcRect/>
          <a:stretch>
            <a:fillRect/>
          </a:stretch>
        </p:blipFill>
        <p:spPr bwMode="auto">
          <a:xfrm>
            <a:off x="395288" y="2347134"/>
            <a:ext cx="2581275" cy="1419225"/>
          </a:xfrm>
          <a:prstGeom prst="rect">
            <a:avLst/>
          </a:prstGeom>
          <a:noFill/>
          <a:ln w="9525">
            <a:noFill/>
            <a:miter lim="800000"/>
            <a:headEnd/>
            <a:tailEnd/>
          </a:ln>
        </p:spPr>
      </p:pic>
      <p:sp>
        <p:nvSpPr>
          <p:cNvPr id="10" name="TextBox 9"/>
          <p:cNvSpPr txBox="1"/>
          <p:nvPr/>
        </p:nvSpPr>
        <p:spPr>
          <a:xfrm>
            <a:off x="395288" y="2162468"/>
            <a:ext cx="941283" cy="369332"/>
          </a:xfrm>
          <a:prstGeom prst="rect">
            <a:avLst/>
          </a:prstGeom>
          <a:noFill/>
        </p:spPr>
        <p:txBody>
          <a:bodyPr wrap="none" rtlCol="0">
            <a:spAutoFit/>
          </a:bodyPr>
          <a:lstStyle/>
          <a:p>
            <a:r>
              <a:rPr lang="en-US" dirty="0" smtClean="0"/>
              <a:t>Model :</a:t>
            </a:r>
            <a:endParaRPr lang="en-US" dirty="0"/>
          </a:p>
        </p:txBody>
      </p:sp>
      <p:pic>
        <p:nvPicPr>
          <p:cNvPr id="50180" name="Picture 4"/>
          <p:cNvPicPr>
            <a:picLocks noChangeAspect="1" noChangeArrowheads="1"/>
          </p:cNvPicPr>
          <p:nvPr/>
        </p:nvPicPr>
        <p:blipFill>
          <a:blip r:embed="rId4"/>
          <a:srcRect/>
          <a:stretch>
            <a:fillRect/>
          </a:stretch>
        </p:blipFill>
        <p:spPr bwMode="auto">
          <a:xfrm>
            <a:off x="395288" y="4149080"/>
            <a:ext cx="3114675" cy="676275"/>
          </a:xfrm>
          <a:prstGeom prst="rect">
            <a:avLst/>
          </a:prstGeom>
          <a:noFill/>
          <a:ln w="9525">
            <a:noFill/>
            <a:miter lim="800000"/>
            <a:headEnd/>
            <a:tailEnd/>
          </a:ln>
        </p:spPr>
      </p:pic>
      <p:sp>
        <p:nvSpPr>
          <p:cNvPr id="12" name="TextBox 11"/>
          <p:cNvSpPr txBox="1"/>
          <p:nvPr/>
        </p:nvSpPr>
        <p:spPr>
          <a:xfrm>
            <a:off x="539552" y="3779748"/>
            <a:ext cx="3198311" cy="369332"/>
          </a:xfrm>
          <a:prstGeom prst="rect">
            <a:avLst/>
          </a:prstGeom>
          <a:noFill/>
        </p:spPr>
        <p:txBody>
          <a:bodyPr wrap="none" rtlCol="0">
            <a:spAutoFit/>
          </a:bodyPr>
          <a:lstStyle/>
          <a:p>
            <a:r>
              <a:rPr lang="en-US" dirty="0" smtClean="0"/>
              <a:t>Measurement Equation (</a:t>
            </a:r>
            <a:r>
              <a:rPr lang="en-US" dirty="0" err="1" smtClean="0"/>
              <a:t>Hx</a:t>
            </a:r>
            <a:r>
              <a:rPr lang="en-US" dirty="0" smtClean="0"/>
              <a:t>) :</a:t>
            </a:r>
            <a:endParaRPr lang="en-US" dirty="0"/>
          </a:p>
        </p:txBody>
      </p:sp>
      <p:pic>
        <p:nvPicPr>
          <p:cNvPr id="50181" name="Picture 5"/>
          <p:cNvPicPr>
            <a:picLocks noChangeAspect="1" noChangeArrowheads="1"/>
          </p:cNvPicPr>
          <p:nvPr/>
        </p:nvPicPr>
        <p:blipFill>
          <a:blip r:embed="rId5"/>
          <a:srcRect/>
          <a:stretch>
            <a:fillRect/>
          </a:stretch>
        </p:blipFill>
        <p:spPr bwMode="auto">
          <a:xfrm>
            <a:off x="436812" y="4825355"/>
            <a:ext cx="3314700" cy="790575"/>
          </a:xfrm>
          <a:prstGeom prst="rect">
            <a:avLst/>
          </a:prstGeom>
          <a:noFill/>
          <a:ln w="9525">
            <a:noFill/>
            <a:miter lim="800000"/>
            <a:headEnd/>
            <a:tailEnd/>
          </a:ln>
        </p:spPr>
      </p:pic>
      <p:pic>
        <p:nvPicPr>
          <p:cNvPr id="50182" name="Picture 6"/>
          <p:cNvPicPr>
            <a:picLocks noChangeAspect="1" noChangeArrowheads="1"/>
          </p:cNvPicPr>
          <p:nvPr/>
        </p:nvPicPr>
        <p:blipFill>
          <a:blip r:embed="rId6"/>
          <a:srcRect/>
          <a:stretch>
            <a:fillRect/>
          </a:stretch>
        </p:blipFill>
        <p:spPr bwMode="auto">
          <a:xfrm>
            <a:off x="3509963" y="4325577"/>
            <a:ext cx="5406136" cy="1290353"/>
          </a:xfrm>
          <a:prstGeom prst="rect">
            <a:avLst/>
          </a:prstGeom>
          <a:noFill/>
          <a:ln w="9525">
            <a:noFill/>
            <a:miter lim="800000"/>
            <a:headEnd/>
            <a:tailEnd/>
          </a:ln>
        </p:spPr>
      </p:pic>
      <p:pic>
        <p:nvPicPr>
          <p:cNvPr id="50183" name="Picture 7"/>
          <p:cNvPicPr>
            <a:picLocks noChangeAspect="1" noChangeArrowheads="1"/>
          </p:cNvPicPr>
          <p:nvPr/>
        </p:nvPicPr>
        <p:blipFill>
          <a:blip r:embed="rId7"/>
          <a:srcRect/>
          <a:stretch>
            <a:fillRect/>
          </a:stretch>
        </p:blipFill>
        <p:spPr bwMode="auto">
          <a:xfrm>
            <a:off x="3737863" y="3963342"/>
            <a:ext cx="1647825" cy="3714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YawRatebased</a:t>
            </a:r>
            <a:r>
              <a:rPr lang="en-US" dirty="0" smtClean="0"/>
              <a:t> on SWA</a:t>
            </a:r>
            <a:endParaRPr lang="en-US" dirty="0"/>
          </a:p>
        </p:txBody>
      </p:sp>
      <p:sp>
        <p:nvSpPr>
          <p:cNvPr id="4" name="Date Placeholder 3"/>
          <p:cNvSpPr>
            <a:spLocks noGrp="1"/>
          </p:cNvSpPr>
          <p:nvPr>
            <p:ph type="dt" sz="half" idx="10"/>
          </p:nvPr>
        </p:nvSpPr>
        <p:spPr/>
        <p:txBody>
          <a:bodyPr/>
          <a:lstStyle/>
          <a:p>
            <a:fld id="{F80F39F0-53AE-44B0-A3E3-D4D93042DC29}"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pic>
        <p:nvPicPr>
          <p:cNvPr id="52230" name="Picture 6"/>
          <p:cNvPicPr>
            <a:picLocks noChangeAspect="1" noChangeArrowheads="1"/>
          </p:cNvPicPr>
          <p:nvPr/>
        </p:nvPicPr>
        <p:blipFill>
          <a:blip r:embed="rId2"/>
          <a:srcRect/>
          <a:stretch>
            <a:fillRect/>
          </a:stretch>
        </p:blipFill>
        <p:spPr bwMode="auto">
          <a:xfrm>
            <a:off x="251520" y="3595688"/>
            <a:ext cx="1123950" cy="333375"/>
          </a:xfrm>
          <a:prstGeom prst="rect">
            <a:avLst/>
          </a:prstGeom>
          <a:noFill/>
          <a:ln w="9525">
            <a:noFill/>
            <a:miter lim="800000"/>
            <a:headEnd/>
            <a:tailEnd/>
          </a:ln>
        </p:spPr>
      </p:pic>
      <p:pic>
        <p:nvPicPr>
          <p:cNvPr id="52231" name="Picture 7"/>
          <p:cNvPicPr>
            <a:picLocks noChangeAspect="1" noChangeArrowheads="1"/>
          </p:cNvPicPr>
          <p:nvPr/>
        </p:nvPicPr>
        <p:blipFill>
          <a:blip r:embed="rId3"/>
          <a:srcRect/>
          <a:stretch>
            <a:fillRect/>
          </a:stretch>
        </p:blipFill>
        <p:spPr bwMode="auto">
          <a:xfrm>
            <a:off x="395288" y="4221088"/>
            <a:ext cx="5305425" cy="733425"/>
          </a:xfrm>
          <a:prstGeom prst="rect">
            <a:avLst/>
          </a:prstGeom>
          <a:noFill/>
          <a:ln w="9525">
            <a:noFill/>
            <a:miter lim="800000"/>
            <a:headEnd/>
            <a:tailEnd/>
          </a:ln>
        </p:spPr>
      </p:pic>
      <p:pic>
        <p:nvPicPr>
          <p:cNvPr id="52232" name="Picture 8"/>
          <p:cNvPicPr>
            <a:picLocks noChangeAspect="1" noChangeArrowheads="1"/>
          </p:cNvPicPr>
          <p:nvPr/>
        </p:nvPicPr>
        <p:blipFill>
          <a:blip r:embed="rId4"/>
          <a:srcRect/>
          <a:stretch>
            <a:fillRect/>
          </a:stretch>
        </p:blipFill>
        <p:spPr bwMode="auto">
          <a:xfrm>
            <a:off x="673204" y="4862047"/>
            <a:ext cx="6200775" cy="990600"/>
          </a:xfrm>
          <a:prstGeom prst="rect">
            <a:avLst/>
          </a:prstGeom>
          <a:noFill/>
          <a:ln w="9525">
            <a:noFill/>
            <a:miter lim="800000"/>
            <a:headEnd/>
            <a:tailEnd/>
          </a:ln>
        </p:spPr>
      </p:pic>
      <p:pic>
        <p:nvPicPr>
          <p:cNvPr id="58369" name="Picture 1"/>
          <p:cNvPicPr>
            <a:picLocks noChangeAspect="1" noChangeArrowheads="1"/>
          </p:cNvPicPr>
          <p:nvPr/>
        </p:nvPicPr>
        <p:blipFill>
          <a:blip r:embed="rId5"/>
          <a:srcRect/>
          <a:stretch>
            <a:fillRect/>
          </a:stretch>
        </p:blipFill>
        <p:spPr bwMode="auto">
          <a:xfrm>
            <a:off x="71918" y="1032368"/>
            <a:ext cx="8964488" cy="1099983"/>
          </a:xfrm>
          <a:prstGeom prst="rect">
            <a:avLst/>
          </a:prstGeom>
          <a:noFill/>
          <a:ln w="9525">
            <a:noFill/>
            <a:miter lim="800000"/>
            <a:headEnd/>
            <a:tailEnd/>
          </a:ln>
        </p:spPr>
      </p:pic>
      <p:pic>
        <p:nvPicPr>
          <p:cNvPr id="58370" name="Picture 2"/>
          <p:cNvPicPr>
            <a:picLocks noChangeAspect="1" noChangeArrowheads="1"/>
          </p:cNvPicPr>
          <p:nvPr/>
        </p:nvPicPr>
        <p:blipFill>
          <a:blip r:embed="rId6"/>
          <a:srcRect/>
          <a:stretch>
            <a:fillRect/>
          </a:stretch>
        </p:blipFill>
        <p:spPr bwMode="auto">
          <a:xfrm>
            <a:off x="2067090" y="1773859"/>
            <a:ext cx="5027509" cy="197593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Fusion of Yaw Rate Yaw Rate</a:t>
            </a:r>
            <a:endParaRPr lang="en-US" dirty="0"/>
          </a:p>
        </p:txBody>
      </p:sp>
      <p:sp>
        <p:nvSpPr>
          <p:cNvPr id="4" name="Date Placeholder 3"/>
          <p:cNvSpPr>
            <a:spLocks noGrp="1"/>
          </p:cNvSpPr>
          <p:nvPr>
            <p:ph type="dt" sz="half" idx="10"/>
          </p:nvPr>
        </p:nvSpPr>
        <p:spPr/>
        <p:txBody>
          <a:bodyPr/>
          <a:lstStyle/>
          <a:p>
            <a:fld id="{DAB1F2FC-2A09-48E3-A85C-6DBE368769FA}"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pic>
        <p:nvPicPr>
          <p:cNvPr id="53250" name="Picture 2"/>
          <p:cNvPicPr>
            <a:picLocks noChangeAspect="1" noChangeArrowheads="1"/>
          </p:cNvPicPr>
          <p:nvPr/>
        </p:nvPicPr>
        <p:blipFill>
          <a:blip r:embed="rId2"/>
          <a:srcRect/>
          <a:stretch>
            <a:fillRect/>
          </a:stretch>
        </p:blipFill>
        <p:spPr bwMode="auto">
          <a:xfrm>
            <a:off x="445004" y="1330916"/>
            <a:ext cx="5917282" cy="4511559"/>
          </a:xfrm>
          <a:prstGeom prst="rect">
            <a:avLst/>
          </a:prstGeom>
          <a:noFill/>
          <a:ln w="9525">
            <a:noFill/>
            <a:miter lim="800000"/>
            <a:headEnd/>
            <a:tailEnd/>
          </a:ln>
        </p:spPr>
      </p:pic>
      <p:pic>
        <p:nvPicPr>
          <p:cNvPr id="53251" name="Picture 3"/>
          <p:cNvPicPr>
            <a:picLocks noChangeAspect="1" noChangeArrowheads="1"/>
          </p:cNvPicPr>
          <p:nvPr/>
        </p:nvPicPr>
        <p:blipFill>
          <a:blip r:embed="rId3"/>
          <a:srcRect/>
          <a:stretch>
            <a:fillRect/>
          </a:stretch>
        </p:blipFill>
        <p:spPr bwMode="auto">
          <a:xfrm>
            <a:off x="6019800" y="764704"/>
            <a:ext cx="3124200" cy="1476375"/>
          </a:xfrm>
          <a:prstGeom prst="rect">
            <a:avLst/>
          </a:prstGeom>
          <a:noFill/>
          <a:ln w="9525">
            <a:noFill/>
            <a:miter lim="800000"/>
            <a:headEnd/>
            <a:tailEnd/>
          </a:ln>
        </p:spPr>
      </p:pic>
      <p:pic>
        <p:nvPicPr>
          <p:cNvPr id="53252" name="Picture 4"/>
          <p:cNvPicPr>
            <a:picLocks noChangeAspect="1" noChangeArrowheads="1"/>
          </p:cNvPicPr>
          <p:nvPr/>
        </p:nvPicPr>
        <p:blipFill>
          <a:blip r:embed="rId4"/>
          <a:srcRect/>
          <a:stretch>
            <a:fillRect/>
          </a:stretch>
        </p:blipFill>
        <p:spPr bwMode="auto">
          <a:xfrm>
            <a:off x="6156176" y="2357438"/>
            <a:ext cx="1685925" cy="714375"/>
          </a:xfrm>
          <a:prstGeom prst="rect">
            <a:avLst/>
          </a:prstGeom>
          <a:noFill/>
          <a:ln w="9525">
            <a:noFill/>
            <a:miter lim="800000"/>
            <a:headEnd/>
            <a:tailEnd/>
          </a:ln>
        </p:spPr>
      </p:pic>
      <p:pic>
        <p:nvPicPr>
          <p:cNvPr id="53253" name="Picture 5"/>
          <p:cNvPicPr>
            <a:picLocks noChangeAspect="1" noChangeArrowheads="1"/>
          </p:cNvPicPr>
          <p:nvPr/>
        </p:nvPicPr>
        <p:blipFill>
          <a:blip r:embed="rId5"/>
          <a:srcRect/>
          <a:stretch>
            <a:fillRect/>
          </a:stretch>
        </p:blipFill>
        <p:spPr bwMode="auto">
          <a:xfrm>
            <a:off x="6156176" y="3071813"/>
            <a:ext cx="1095375" cy="1238250"/>
          </a:xfrm>
          <a:prstGeom prst="rect">
            <a:avLst/>
          </a:prstGeom>
          <a:noFill/>
          <a:ln w="9525">
            <a:noFill/>
            <a:miter lim="800000"/>
            <a:headEnd/>
            <a:tailEnd/>
          </a:ln>
        </p:spPr>
      </p:pic>
      <p:pic>
        <p:nvPicPr>
          <p:cNvPr id="53254" name="Picture 6"/>
          <p:cNvPicPr>
            <a:picLocks noChangeAspect="1" noChangeArrowheads="1"/>
          </p:cNvPicPr>
          <p:nvPr/>
        </p:nvPicPr>
        <p:blipFill>
          <a:blip r:embed="rId6"/>
          <a:srcRect/>
          <a:stretch>
            <a:fillRect/>
          </a:stretch>
        </p:blipFill>
        <p:spPr bwMode="auto">
          <a:xfrm>
            <a:off x="6156176" y="4212777"/>
            <a:ext cx="4938712" cy="188654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Curvature from SWA (Driver Intended Curvature)</a:t>
            </a:r>
            <a:endParaRPr lang="en-US" dirty="0"/>
          </a:p>
        </p:txBody>
      </p:sp>
      <p:sp>
        <p:nvSpPr>
          <p:cNvPr id="4" name="Date Placeholder 3"/>
          <p:cNvSpPr>
            <a:spLocks noGrp="1"/>
          </p:cNvSpPr>
          <p:nvPr>
            <p:ph type="dt" sz="half" idx="10"/>
          </p:nvPr>
        </p:nvSpPr>
        <p:spPr/>
        <p:txBody>
          <a:bodyPr/>
          <a:lstStyle/>
          <a:p>
            <a:fld id="{7BA6C947-C8D9-488C-A8F4-18C0C1695A47}"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pic>
        <p:nvPicPr>
          <p:cNvPr id="54274" name="Picture 2"/>
          <p:cNvPicPr>
            <a:picLocks noChangeAspect="1" noChangeArrowheads="1"/>
          </p:cNvPicPr>
          <p:nvPr/>
        </p:nvPicPr>
        <p:blipFill>
          <a:blip r:embed="rId2"/>
          <a:srcRect/>
          <a:stretch>
            <a:fillRect/>
          </a:stretch>
        </p:blipFill>
        <p:spPr bwMode="auto">
          <a:xfrm>
            <a:off x="395288" y="1484784"/>
            <a:ext cx="2181225" cy="1104900"/>
          </a:xfrm>
          <a:prstGeom prst="rect">
            <a:avLst/>
          </a:prstGeom>
          <a:noFill/>
          <a:ln w="9525">
            <a:noFill/>
            <a:miter lim="800000"/>
            <a:headEnd/>
            <a:tailEnd/>
          </a:ln>
        </p:spPr>
      </p:pic>
      <p:pic>
        <p:nvPicPr>
          <p:cNvPr id="54275" name="Picture 3"/>
          <p:cNvPicPr>
            <a:picLocks noChangeAspect="1" noChangeArrowheads="1"/>
          </p:cNvPicPr>
          <p:nvPr/>
        </p:nvPicPr>
        <p:blipFill>
          <a:blip r:embed="rId3"/>
          <a:srcRect/>
          <a:stretch>
            <a:fillRect/>
          </a:stretch>
        </p:blipFill>
        <p:spPr bwMode="auto">
          <a:xfrm>
            <a:off x="395288" y="2589684"/>
            <a:ext cx="1314450" cy="323850"/>
          </a:xfrm>
          <a:prstGeom prst="rect">
            <a:avLst/>
          </a:prstGeom>
          <a:noFill/>
          <a:ln w="9525">
            <a:noFill/>
            <a:miter lim="800000"/>
            <a:headEnd/>
            <a:tailEnd/>
          </a:ln>
        </p:spPr>
      </p:pic>
      <p:pic>
        <p:nvPicPr>
          <p:cNvPr id="54276" name="Picture 4"/>
          <p:cNvPicPr>
            <a:picLocks noChangeAspect="1" noChangeArrowheads="1"/>
          </p:cNvPicPr>
          <p:nvPr/>
        </p:nvPicPr>
        <p:blipFill>
          <a:blip r:embed="rId4"/>
          <a:srcRect/>
          <a:stretch>
            <a:fillRect/>
          </a:stretch>
        </p:blipFill>
        <p:spPr bwMode="auto">
          <a:xfrm>
            <a:off x="395536" y="3068960"/>
            <a:ext cx="5743575" cy="20859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Final Curvature Estimation : (Curvature Blending)</a:t>
            </a:r>
            <a:endParaRPr lang="en-US" dirty="0"/>
          </a:p>
        </p:txBody>
      </p:sp>
      <p:sp>
        <p:nvSpPr>
          <p:cNvPr id="4" name="Date Placeholder 3"/>
          <p:cNvSpPr>
            <a:spLocks noGrp="1"/>
          </p:cNvSpPr>
          <p:nvPr>
            <p:ph type="dt" sz="half" idx="10"/>
          </p:nvPr>
        </p:nvSpPr>
        <p:spPr/>
        <p:txBody>
          <a:bodyPr/>
          <a:lstStyle/>
          <a:p>
            <a:fld id="{FF51C6FC-FF9C-47D6-B01C-EC9C21783AB3}"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pic>
        <p:nvPicPr>
          <p:cNvPr id="55298" name="Picture 2"/>
          <p:cNvPicPr>
            <a:picLocks noChangeAspect="1" noChangeArrowheads="1"/>
          </p:cNvPicPr>
          <p:nvPr/>
        </p:nvPicPr>
        <p:blipFill>
          <a:blip r:embed="rId2"/>
          <a:srcRect/>
          <a:stretch>
            <a:fillRect/>
          </a:stretch>
        </p:blipFill>
        <p:spPr bwMode="auto">
          <a:xfrm>
            <a:off x="395288" y="1371600"/>
            <a:ext cx="6334125" cy="2057400"/>
          </a:xfrm>
          <a:prstGeom prst="rect">
            <a:avLst/>
          </a:prstGeom>
          <a:noFill/>
          <a:ln w="9525">
            <a:noFill/>
            <a:miter lim="800000"/>
            <a:headEnd/>
            <a:tailEnd/>
          </a:ln>
        </p:spPr>
      </p:pic>
      <p:pic>
        <p:nvPicPr>
          <p:cNvPr id="55300" name="Picture 4"/>
          <p:cNvPicPr>
            <a:picLocks noChangeAspect="1" noChangeArrowheads="1"/>
          </p:cNvPicPr>
          <p:nvPr/>
        </p:nvPicPr>
        <p:blipFill>
          <a:blip r:embed="rId3"/>
          <a:srcRect/>
          <a:stretch>
            <a:fillRect/>
          </a:stretch>
        </p:blipFill>
        <p:spPr bwMode="auto">
          <a:xfrm>
            <a:off x="518576" y="3573016"/>
            <a:ext cx="3200970" cy="2090131"/>
          </a:xfrm>
          <a:prstGeom prst="rect">
            <a:avLst/>
          </a:prstGeom>
          <a:noFill/>
          <a:ln w="9525">
            <a:noFill/>
            <a:miter lim="800000"/>
            <a:headEnd/>
            <a:tailEnd/>
          </a:ln>
        </p:spPr>
      </p:pic>
      <p:pic>
        <p:nvPicPr>
          <p:cNvPr id="55301" name="Picture 5"/>
          <p:cNvPicPr>
            <a:picLocks noChangeAspect="1" noChangeArrowheads="1"/>
          </p:cNvPicPr>
          <p:nvPr/>
        </p:nvPicPr>
        <p:blipFill>
          <a:blip r:embed="rId4"/>
          <a:srcRect/>
          <a:stretch>
            <a:fillRect/>
          </a:stretch>
        </p:blipFill>
        <p:spPr bwMode="auto">
          <a:xfrm>
            <a:off x="3457575" y="1509539"/>
            <a:ext cx="1114425" cy="6953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Curve Error</a:t>
            </a:r>
            <a:endParaRPr lang="en-US" dirty="0"/>
          </a:p>
        </p:txBody>
      </p:sp>
      <p:sp>
        <p:nvSpPr>
          <p:cNvPr id="4" name="Date Placeholder 3"/>
          <p:cNvSpPr>
            <a:spLocks noGrp="1"/>
          </p:cNvSpPr>
          <p:nvPr>
            <p:ph type="dt" sz="half" idx="10"/>
          </p:nvPr>
        </p:nvSpPr>
        <p:spPr/>
        <p:txBody>
          <a:bodyPr/>
          <a:lstStyle/>
          <a:p>
            <a:fld id="{55D72865-49C9-40BE-B915-C58430CA85A5}"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graphicFrame>
        <p:nvGraphicFramePr>
          <p:cNvPr id="7" name="Object 6"/>
          <p:cNvGraphicFramePr>
            <a:graphicFrameLocks noChangeAspect="1"/>
          </p:cNvGraphicFramePr>
          <p:nvPr/>
        </p:nvGraphicFramePr>
        <p:xfrm>
          <a:off x="2771800" y="1628800"/>
          <a:ext cx="2045560" cy="1725941"/>
        </p:xfrm>
        <a:graphic>
          <a:graphicData uri="http://schemas.openxmlformats.org/presentationml/2006/ole">
            <mc:AlternateContent xmlns:mc="http://schemas.openxmlformats.org/markup-compatibility/2006">
              <mc:Choice xmlns:v="urn:schemas-microsoft-com:vml" Requires="v">
                <p:oleObj spid="_x0000_s146436" name="Worksheet" showAsIcon="1" r:id="rId3" imgW="914400" imgH="771480" progId="Excel.Sheet.12">
                  <p:embed/>
                </p:oleObj>
              </mc:Choice>
              <mc:Fallback>
                <p:oleObj name="Worksheet" showAsIcon="1" r:id="rId3" imgW="914400" imgH="771480" progId="Excel.Sheet.12">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800" y="1628800"/>
                        <a:ext cx="2045560" cy="17259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Case Study : Endurance Analysis of ARS4D2</a:t>
            </a:r>
            <a:endParaRPr lang="en-US" dirty="0"/>
          </a:p>
        </p:txBody>
      </p:sp>
      <p:sp>
        <p:nvSpPr>
          <p:cNvPr id="3" name="Content Placeholder 2"/>
          <p:cNvSpPr>
            <a:spLocks noGrp="1"/>
          </p:cNvSpPr>
          <p:nvPr>
            <p:ph idx="1"/>
          </p:nvPr>
        </p:nvSpPr>
        <p:spPr/>
        <p:txBody>
          <a:bodyPr>
            <a:normAutofit/>
          </a:bodyPr>
          <a:lstStyle/>
          <a:p>
            <a:r>
              <a:rPr lang="en-US" sz="2000" dirty="0" smtClean="0"/>
              <a:t>Yaw Rate Not </a:t>
            </a:r>
            <a:r>
              <a:rPr lang="en-US" sz="2000" dirty="0" err="1" smtClean="0"/>
              <a:t>Avaialble</a:t>
            </a:r>
            <a:r>
              <a:rPr lang="en-US" sz="2000" dirty="0" smtClean="0"/>
              <a:t> DEM is getting set in the Endurance test results at low speeds.</a:t>
            </a:r>
          </a:p>
          <a:p>
            <a:endParaRPr lang="en-US" sz="2000" dirty="0" smtClean="0"/>
          </a:p>
          <a:p>
            <a:r>
              <a:rPr lang="en-US" sz="2000" dirty="0" smtClean="0">
                <a:solidFill>
                  <a:srgbClr val="FF0000"/>
                </a:solidFill>
              </a:rPr>
              <a:t>Possible Causes :</a:t>
            </a:r>
          </a:p>
          <a:p>
            <a:r>
              <a:rPr lang="en-US" sz="2000" dirty="0" smtClean="0"/>
              <a:t>1. Output Yaw Rate &gt; 150 deg/sec</a:t>
            </a:r>
          </a:p>
          <a:p>
            <a:r>
              <a:rPr lang="en-US" sz="2000" dirty="0" smtClean="0"/>
              <a:t>2.  Invalid / Peak Error / Signal Error can occur simultaneously in Lateral                     	Acceleration and Gyro Yaw Rate</a:t>
            </a:r>
          </a:p>
          <a:p>
            <a:r>
              <a:rPr lang="en-US" sz="2000" dirty="0" smtClean="0"/>
              <a:t>3. Yaw Rate Variance  &gt; Threshold</a:t>
            </a:r>
          </a:p>
          <a:p>
            <a:r>
              <a:rPr lang="en-US" sz="2000" dirty="0" smtClean="0"/>
              <a:t>4. Lateral Acceleration &gt; 15 m/sec</a:t>
            </a:r>
            <a:r>
              <a:rPr lang="en-US" sz="2000" baseline="30000" dirty="0" smtClean="0"/>
              <a:t>2</a:t>
            </a:r>
          </a:p>
        </p:txBody>
      </p:sp>
      <p:sp>
        <p:nvSpPr>
          <p:cNvPr id="4" name="Date Placeholder 3"/>
          <p:cNvSpPr>
            <a:spLocks noGrp="1"/>
          </p:cNvSpPr>
          <p:nvPr>
            <p:ph type="dt" sz="half" idx="10"/>
          </p:nvPr>
        </p:nvSpPr>
        <p:spPr/>
        <p:txBody>
          <a:bodyPr/>
          <a:lstStyle/>
          <a:p>
            <a:fld id="{F55A9565-84CC-42A3-BBBB-7D60462CB82B}"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Analysis of 10.53.13 recording from </a:t>
            </a:r>
            <a:r>
              <a:rPr lang="en-US" dirty="0" err="1" smtClean="0"/>
              <a:t>Kalman</a:t>
            </a:r>
            <a:r>
              <a:rPr lang="en-US" dirty="0" smtClean="0"/>
              <a:t> filter’s perspective</a:t>
            </a:r>
            <a:endParaRPr lang="en-US" dirty="0"/>
          </a:p>
        </p:txBody>
      </p:sp>
      <p:sp>
        <p:nvSpPr>
          <p:cNvPr id="4" name="Date Placeholder 3"/>
          <p:cNvSpPr>
            <a:spLocks noGrp="1"/>
          </p:cNvSpPr>
          <p:nvPr>
            <p:ph type="dt" sz="half" idx="10"/>
          </p:nvPr>
        </p:nvSpPr>
        <p:spPr/>
        <p:txBody>
          <a:bodyPr/>
          <a:lstStyle/>
          <a:p>
            <a:fld id="{17DDE99D-FF0C-41C5-872E-DEF51A88BC51}"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
        <p:nvSpPr>
          <p:cNvPr id="8" name="Subtitle 2"/>
          <p:cNvSpPr txBox="1">
            <a:spLocks/>
          </p:cNvSpPr>
          <p:nvPr/>
        </p:nvSpPr>
        <p:spPr>
          <a:xfrm>
            <a:off x="381000" y="1066800"/>
            <a:ext cx="8382000" cy="5334000"/>
          </a:xfrm>
          <a:prstGeom prst="rect">
            <a:avLst/>
          </a:prstGeom>
        </p:spPr>
        <p:txBody>
          <a:bodyPr vert="horz" lIns="0" tIns="18000" rIns="0" bIns="18000" rtlCol="0">
            <a:normAutofit/>
          </a:bodyPr>
          <a:lstStyle/>
          <a:p>
            <a:pPr marL="177800" marR="0" lvl="0" indent="-177800" algn="l" defTabSz="914400" rtl="0" eaLnBrk="1" fontAlgn="auto" latinLnBrk="0" hangingPunct="1">
              <a:lnSpc>
                <a:spcPct val="100000"/>
              </a:lnSpc>
              <a:spcBef>
                <a:spcPts val="0"/>
              </a:spcBef>
              <a:spcAft>
                <a:spcPts val="1200"/>
              </a:spcAft>
              <a:buClr>
                <a:schemeClr val="accent1"/>
              </a:buClr>
              <a:buSzPct val="125000"/>
              <a:buFont typeface="Arial" pitchFamily="34" charset="0"/>
              <a:buChar char="›"/>
              <a:tabLst/>
              <a:defRPr/>
            </a:pPr>
            <a:r>
              <a:rPr kumimoji="0" lang="en-US" sz="1800" b="0" i="0" u="none" strike="noStrike" kern="1200" cap="none" spc="0" normalizeH="0" baseline="0" noProof="0" dirty="0" smtClean="0">
                <a:ln>
                  <a:noFill/>
                </a:ln>
                <a:solidFill>
                  <a:srgbClr val="BF7300"/>
                </a:solidFill>
                <a:effectLst/>
                <a:uLnTx/>
                <a:uFillTx/>
                <a:latin typeface="Arial"/>
                <a:ea typeface="+mn-ea"/>
                <a:cs typeface="Arial" pitchFamily="34" charset="0"/>
              </a:rPr>
              <a:t>The </a:t>
            </a:r>
            <a:r>
              <a:rPr kumimoji="0" lang="en-US" sz="1600" b="0" i="0" u="none" strike="noStrike" kern="1200" cap="none" spc="0" normalizeH="0" baseline="0" noProof="0" dirty="0" smtClean="0">
                <a:ln>
                  <a:noFill/>
                </a:ln>
                <a:solidFill>
                  <a:srgbClr val="BF7300"/>
                </a:solidFill>
                <a:effectLst/>
                <a:uLnTx/>
                <a:uFillTx/>
                <a:latin typeface="Arial"/>
                <a:ea typeface="+mn-ea"/>
                <a:cs typeface="Arial" pitchFamily="34" charset="0"/>
              </a:rPr>
              <a:t>YWR_NOT_AVAILABLE  DEM </a:t>
            </a:r>
            <a:r>
              <a:rPr kumimoji="0" lang="en-US" sz="1800" b="0" i="0" u="none" strike="noStrike" kern="1200" cap="none" spc="0" normalizeH="0" baseline="0" noProof="0" dirty="0" smtClean="0">
                <a:ln>
                  <a:noFill/>
                </a:ln>
                <a:solidFill>
                  <a:srgbClr val="BF7300"/>
                </a:solidFill>
                <a:effectLst/>
                <a:uLnTx/>
                <a:uFillTx/>
                <a:latin typeface="Arial"/>
                <a:ea typeface="+mn-ea"/>
                <a:cs typeface="Arial" pitchFamily="34" charset="0"/>
              </a:rPr>
              <a:t>is getting set in10.53.13 recording as shown below behavior.</a:t>
            </a:r>
          </a:p>
          <a:p>
            <a:pPr marL="177800" marR="0" lvl="0" indent="-177800" algn="l" defTabSz="914400" rtl="0" eaLnBrk="1" fontAlgn="auto" latinLnBrk="0" hangingPunct="1">
              <a:lnSpc>
                <a:spcPct val="100000"/>
              </a:lnSpc>
              <a:spcBef>
                <a:spcPts val="0"/>
              </a:spcBef>
              <a:spcAft>
                <a:spcPts val="1200"/>
              </a:spcAft>
              <a:buClr>
                <a:schemeClr val="accent1"/>
              </a:buClr>
              <a:buSzPct val="125000"/>
              <a:buFont typeface="Arial" pitchFamily="34" charset="0"/>
              <a:buChar char="›"/>
              <a:tabLst/>
              <a:defRPr/>
            </a:pPr>
            <a:r>
              <a:rPr kumimoji="0" lang="en-US" sz="1800" b="0" i="0" u="none" strike="noStrike" kern="1200" cap="none" spc="0" normalizeH="0" baseline="0" noProof="0" dirty="0" smtClean="0">
                <a:ln>
                  <a:noFill/>
                </a:ln>
                <a:solidFill>
                  <a:srgbClr val="BF7300"/>
                </a:solidFill>
                <a:effectLst/>
                <a:uLnTx/>
                <a:uFillTx/>
                <a:latin typeface="Arial"/>
                <a:ea typeface="+mn-ea"/>
                <a:cs typeface="Arial" pitchFamily="34" charset="0"/>
              </a:rPr>
              <a:t>A deviation of final yaw rate </a:t>
            </a:r>
            <a:r>
              <a:rPr kumimoji="0" lang="en-US" sz="1800" b="0" i="0" u="none" strike="noStrike" kern="1200" cap="none" spc="0" normalizeH="0" baseline="0" noProof="0" dirty="0" err="1" smtClean="0">
                <a:ln>
                  <a:noFill/>
                </a:ln>
                <a:solidFill>
                  <a:srgbClr val="BF7300"/>
                </a:solidFill>
                <a:effectLst/>
                <a:uLnTx/>
                <a:uFillTx/>
                <a:latin typeface="Arial"/>
                <a:ea typeface="+mn-ea"/>
                <a:cs typeface="Arial" pitchFamily="34" charset="0"/>
              </a:rPr>
              <a:t>w.r.t</a:t>
            </a:r>
            <a:r>
              <a:rPr kumimoji="0" lang="en-US" sz="1800" b="0" i="0" u="none" strike="noStrike" kern="1200" cap="none" spc="0" normalizeH="0" baseline="0" noProof="0" dirty="0" smtClean="0">
                <a:ln>
                  <a:noFill/>
                </a:ln>
                <a:solidFill>
                  <a:srgbClr val="BF7300"/>
                </a:solidFill>
                <a:effectLst/>
                <a:uLnTx/>
                <a:uFillTx/>
                <a:latin typeface="Arial"/>
                <a:ea typeface="+mn-ea"/>
                <a:cs typeface="Arial" pitchFamily="34" charset="0"/>
              </a:rPr>
              <a:t> other 4 yaw rates is observed as a problematic area for this </a:t>
            </a:r>
            <a:r>
              <a:rPr kumimoji="0" lang="en-US" sz="1800" b="0" i="0" u="none" strike="noStrike" kern="1200" cap="none" spc="0" normalizeH="0" baseline="0" noProof="0" dirty="0" err="1" smtClean="0">
                <a:ln>
                  <a:noFill/>
                </a:ln>
                <a:solidFill>
                  <a:srgbClr val="BF7300"/>
                </a:solidFill>
                <a:effectLst/>
                <a:uLnTx/>
                <a:uFillTx/>
                <a:latin typeface="Arial"/>
                <a:ea typeface="+mn-ea"/>
                <a:cs typeface="Arial" pitchFamily="34" charset="0"/>
              </a:rPr>
              <a:t>dem</a:t>
            </a:r>
            <a:r>
              <a:rPr kumimoji="0" lang="en-US" sz="1800" b="0" i="0" u="none" strike="noStrike" kern="1200" cap="none" spc="0" normalizeH="0" baseline="0" noProof="0" dirty="0" smtClean="0">
                <a:ln>
                  <a:noFill/>
                </a:ln>
                <a:solidFill>
                  <a:srgbClr val="BF7300"/>
                </a:solidFill>
                <a:effectLst/>
                <a:uLnTx/>
                <a:uFillTx/>
                <a:latin typeface="Arial"/>
                <a:ea typeface="+mn-ea"/>
                <a:cs typeface="Arial" pitchFamily="34" charset="0"/>
              </a:rPr>
              <a:t> getting set.</a:t>
            </a:r>
          </a:p>
          <a:p>
            <a:pPr marL="177800" marR="0" lvl="0" indent="-177800" algn="l" defTabSz="914400" rtl="0" eaLnBrk="1" fontAlgn="auto" latinLnBrk="0" hangingPunct="1">
              <a:lnSpc>
                <a:spcPct val="100000"/>
              </a:lnSpc>
              <a:spcBef>
                <a:spcPts val="0"/>
              </a:spcBef>
              <a:spcAft>
                <a:spcPts val="1200"/>
              </a:spcAft>
              <a:buClr>
                <a:schemeClr val="accent1"/>
              </a:buClr>
              <a:buSzPct val="125000"/>
              <a:buFont typeface="Arial" pitchFamily="34" charset="0"/>
              <a:buChar char="›"/>
              <a:tabLst/>
              <a:defRPr/>
            </a:pPr>
            <a:r>
              <a:rPr kumimoji="0" lang="en-US" sz="1800" b="0" i="0" u="none" strike="noStrike" kern="1200" cap="none" spc="0" normalizeH="0" baseline="0" noProof="0" dirty="0" smtClean="0">
                <a:ln>
                  <a:noFill/>
                </a:ln>
                <a:solidFill>
                  <a:srgbClr val="BF7300"/>
                </a:solidFill>
                <a:effectLst/>
                <a:uLnTx/>
                <a:uFillTx/>
                <a:latin typeface="Arial"/>
                <a:ea typeface="+mn-ea"/>
                <a:cs typeface="Arial" pitchFamily="34" charset="0"/>
              </a:rPr>
              <a:t>The below screenshot shows the deviation.</a:t>
            </a:r>
          </a:p>
          <a:p>
            <a:pPr marL="177800" marR="0" lvl="0" indent="-177800" algn="l" defTabSz="914400" rtl="0" eaLnBrk="1" fontAlgn="auto" latinLnBrk="0" hangingPunct="1">
              <a:lnSpc>
                <a:spcPct val="100000"/>
              </a:lnSpc>
              <a:spcBef>
                <a:spcPts val="0"/>
              </a:spcBef>
              <a:spcAft>
                <a:spcPts val="1200"/>
              </a:spcAft>
              <a:buClr>
                <a:schemeClr val="accent1"/>
              </a:buClr>
              <a:buSzPct val="125000"/>
              <a:buFont typeface="Arial" pitchFamily="34" charset="0"/>
              <a:buChar char="›"/>
              <a:tabLst/>
              <a:defRPr/>
            </a:pPr>
            <a:endParaRPr kumimoji="0" lang="en-US" sz="1800" b="0" i="0" u="none" strike="noStrike" kern="1200" cap="none" spc="0" normalizeH="0" baseline="0" noProof="0" dirty="0">
              <a:ln>
                <a:noFill/>
              </a:ln>
              <a:solidFill>
                <a:schemeClr val="tx1"/>
              </a:solidFill>
              <a:effectLst/>
              <a:uLnTx/>
              <a:uFillTx/>
              <a:latin typeface="+mn-lt"/>
              <a:ea typeface="+mn-ea"/>
              <a:cs typeface="Arial" pitchFamily="34" charset="0"/>
            </a:endParaRPr>
          </a:p>
        </p:txBody>
      </p:sp>
      <p:pic>
        <p:nvPicPr>
          <p:cNvPr id="9" name="Picture 2"/>
          <p:cNvPicPr>
            <a:picLocks noChangeAspect="1" noChangeArrowheads="1"/>
          </p:cNvPicPr>
          <p:nvPr/>
        </p:nvPicPr>
        <p:blipFill>
          <a:blip r:embed="rId2" cstate="print"/>
          <a:srcRect/>
          <a:stretch>
            <a:fillRect/>
          </a:stretch>
        </p:blipFill>
        <p:spPr bwMode="auto">
          <a:xfrm>
            <a:off x="533400" y="2971799"/>
            <a:ext cx="5181600" cy="339545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2940490-72B8-43F9-A51E-BEC3A8A2E9F2}"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pic>
        <p:nvPicPr>
          <p:cNvPr id="76802" name="Picture 2"/>
          <p:cNvPicPr>
            <a:picLocks noChangeAspect="1" noChangeArrowheads="1"/>
          </p:cNvPicPr>
          <p:nvPr/>
        </p:nvPicPr>
        <p:blipFill>
          <a:blip r:embed="rId2"/>
          <a:srcRect/>
          <a:stretch>
            <a:fillRect/>
          </a:stretch>
        </p:blipFill>
        <p:spPr bwMode="auto">
          <a:xfrm>
            <a:off x="-806898" y="515740"/>
            <a:ext cx="10963276" cy="3733800"/>
          </a:xfrm>
          <a:prstGeom prst="rect">
            <a:avLst/>
          </a:prstGeom>
          <a:noFill/>
          <a:ln w="9525">
            <a:noFill/>
            <a:miter lim="800000"/>
            <a:headEnd/>
            <a:tailEnd/>
          </a:ln>
          <a:effectLst/>
        </p:spPr>
      </p:pic>
      <p:sp>
        <p:nvSpPr>
          <p:cNvPr id="10" name="Title 1"/>
          <p:cNvSpPr>
            <a:spLocks noGrp="1"/>
          </p:cNvSpPr>
          <p:nvPr>
            <p:ph type="title"/>
          </p:nvPr>
        </p:nvSpPr>
        <p:spPr>
          <a:xfrm>
            <a:off x="179512" y="0"/>
            <a:ext cx="8353425" cy="719137"/>
          </a:xfrm>
        </p:spPr>
        <p:txBody>
          <a:bodyPr/>
          <a:lstStyle/>
          <a:p>
            <a:r>
              <a:rPr lang="en-US" dirty="0" smtClean="0"/>
              <a:t>ARS4D2 Endurance – Yaw Rate Not Available is set</a:t>
            </a:r>
            <a:endParaRPr lang="en-US" dirty="0"/>
          </a:p>
        </p:txBody>
      </p:sp>
      <p:pic>
        <p:nvPicPr>
          <p:cNvPr id="76804" name="Picture 4"/>
          <p:cNvPicPr>
            <a:picLocks noChangeAspect="1" noChangeArrowheads="1"/>
          </p:cNvPicPr>
          <p:nvPr/>
        </p:nvPicPr>
        <p:blipFill>
          <a:blip r:embed="rId3"/>
          <a:srcRect/>
          <a:stretch>
            <a:fillRect/>
          </a:stretch>
        </p:blipFill>
        <p:spPr bwMode="auto">
          <a:xfrm>
            <a:off x="-166688" y="3005157"/>
            <a:ext cx="9477376" cy="30289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ARS4D2 Endurance – Yaw Rate Not Available is set</a:t>
            </a:r>
            <a:endParaRPr lang="en-US" dirty="0"/>
          </a:p>
        </p:txBody>
      </p:sp>
      <p:sp>
        <p:nvSpPr>
          <p:cNvPr id="4" name="Date Placeholder 3"/>
          <p:cNvSpPr>
            <a:spLocks noGrp="1"/>
          </p:cNvSpPr>
          <p:nvPr>
            <p:ph type="dt" sz="half" idx="10"/>
          </p:nvPr>
        </p:nvSpPr>
        <p:spPr/>
        <p:txBody>
          <a:bodyPr/>
          <a:lstStyle/>
          <a:p>
            <a:fld id="{EE42E310-2AC1-4484-9677-6501F6932B40}"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pic>
        <p:nvPicPr>
          <p:cNvPr id="71682" name="Picture 2"/>
          <p:cNvPicPr>
            <a:picLocks noChangeAspect="1" noChangeArrowheads="1"/>
          </p:cNvPicPr>
          <p:nvPr/>
        </p:nvPicPr>
        <p:blipFill>
          <a:blip r:embed="rId2"/>
          <a:srcRect/>
          <a:stretch>
            <a:fillRect/>
          </a:stretch>
        </p:blipFill>
        <p:spPr bwMode="auto">
          <a:xfrm>
            <a:off x="900113" y="1305613"/>
            <a:ext cx="5976143" cy="4518925"/>
          </a:xfrm>
          <a:prstGeom prst="rect">
            <a:avLst/>
          </a:prstGeom>
          <a:noFill/>
          <a:ln w="9525">
            <a:noFill/>
            <a:miter lim="800000"/>
            <a:headEnd/>
            <a:tailEnd/>
          </a:ln>
        </p:spPr>
      </p:pic>
      <p:sp>
        <p:nvSpPr>
          <p:cNvPr id="8" name="TextBox 7"/>
          <p:cNvSpPr txBox="1"/>
          <p:nvPr/>
        </p:nvSpPr>
        <p:spPr>
          <a:xfrm>
            <a:off x="5220072" y="2276872"/>
            <a:ext cx="2903359" cy="369332"/>
          </a:xfrm>
          <a:prstGeom prst="rect">
            <a:avLst/>
          </a:prstGeom>
          <a:noFill/>
        </p:spPr>
        <p:txBody>
          <a:bodyPr wrap="none" rtlCol="0">
            <a:spAutoFit/>
          </a:bodyPr>
          <a:lstStyle/>
          <a:p>
            <a:r>
              <a:rPr lang="en-US" dirty="0" smtClean="0">
                <a:solidFill>
                  <a:srgbClr val="FF0000"/>
                </a:solidFill>
              </a:rPr>
              <a:t>Please Refer Slide No : 43</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96862"/>
            <a:ext cx="8353425" cy="719137"/>
          </a:xfrm>
        </p:spPr>
        <p:txBody>
          <a:bodyPr/>
          <a:lstStyle/>
          <a:p>
            <a:r>
              <a:rPr lang="en-US" dirty="0" smtClean="0"/>
              <a:t>ARS4D2 Endurance – Yaw Rate Not Available is set</a:t>
            </a:r>
            <a:endParaRPr lang="en-US" dirty="0"/>
          </a:p>
        </p:txBody>
      </p:sp>
      <p:sp>
        <p:nvSpPr>
          <p:cNvPr id="4" name="Date Placeholder 3"/>
          <p:cNvSpPr>
            <a:spLocks noGrp="1"/>
          </p:cNvSpPr>
          <p:nvPr>
            <p:ph type="dt" sz="half" idx="10"/>
          </p:nvPr>
        </p:nvSpPr>
        <p:spPr/>
        <p:txBody>
          <a:bodyPr/>
          <a:lstStyle/>
          <a:p>
            <a:fld id="{0C85B500-1F06-4053-8E0A-88F9CD3D7103}"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pic>
        <p:nvPicPr>
          <p:cNvPr id="72706" name="Picture 2"/>
          <p:cNvPicPr>
            <a:picLocks noChangeAspect="1" noChangeArrowheads="1"/>
          </p:cNvPicPr>
          <p:nvPr/>
        </p:nvPicPr>
        <p:blipFill>
          <a:blip r:embed="rId2"/>
          <a:srcRect/>
          <a:stretch>
            <a:fillRect/>
          </a:stretch>
        </p:blipFill>
        <p:spPr bwMode="auto">
          <a:xfrm>
            <a:off x="395288" y="1412776"/>
            <a:ext cx="6991350" cy="3362325"/>
          </a:xfrm>
          <a:prstGeom prst="rect">
            <a:avLst/>
          </a:prstGeom>
          <a:noFill/>
          <a:ln w="9525">
            <a:noFill/>
            <a:miter lim="800000"/>
            <a:headEnd/>
            <a:tailEnd/>
          </a:ln>
        </p:spPr>
      </p:pic>
      <p:sp>
        <p:nvSpPr>
          <p:cNvPr id="8" name="TextBox 7"/>
          <p:cNvSpPr txBox="1"/>
          <p:nvPr/>
        </p:nvSpPr>
        <p:spPr>
          <a:xfrm>
            <a:off x="5220072" y="2276872"/>
            <a:ext cx="2903359" cy="369332"/>
          </a:xfrm>
          <a:prstGeom prst="rect">
            <a:avLst/>
          </a:prstGeom>
          <a:noFill/>
        </p:spPr>
        <p:txBody>
          <a:bodyPr wrap="none" rtlCol="0">
            <a:spAutoFit/>
          </a:bodyPr>
          <a:lstStyle/>
          <a:p>
            <a:r>
              <a:rPr lang="en-US" dirty="0" smtClean="0">
                <a:solidFill>
                  <a:srgbClr val="FF0000"/>
                </a:solidFill>
              </a:rPr>
              <a:t>Please Refer Slide No : 43</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ARS4D2 – Endurance Analysis (Calculation of R)</a:t>
            </a:r>
            <a:endParaRPr lang="en-US" dirty="0"/>
          </a:p>
        </p:txBody>
      </p:sp>
      <p:sp>
        <p:nvSpPr>
          <p:cNvPr id="4" name="Date Placeholder 3"/>
          <p:cNvSpPr>
            <a:spLocks noGrp="1"/>
          </p:cNvSpPr>
          <p:nvPr>
            <p:ph type="dt" sz="half" idx="10"/>
          </p:nvPr>
        </p:nvSpPr>
        <p:spPr/>
        <p:txBody>
          <a:bodyPr/>
          <a:lstStyle/>
          <a:p>
            <a:fld id="{1372F250-4A53-4621-AC3D-C3184AAED756}"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pic>
        <p:nvPicPr>
          <p:cNvPr id="74754" name="Picture 2"/>
          <p:cNvPicPr>
            <a:picLocks noChangeAspect="1" noChangeArrowheads="1"/>
          </p:cNvPicPr>
          <p:nvPr/>
        </p:nvPicPr>
        <p:blipFill>
          <a:blip r:embed="rId2"/>
          <a:srcRect/>
          <a:stretch>
            <a:fillRect/>
          </a:stretch>
        </p:blipFill>
        <p:spPr bwMode="auto">
          <a:xfrm>
            <a:off x="9168" y="1451657"/>
            <a:ext cx="9037512" cy="348652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ARS4D2 – Endurance Analysis (R – Input to KF)</a:t>
            </a:r>
            <a:endParaRPr lang="en-US" dirty="0"/>
          </a:p>
        </p:txBody>
      </p:sp>
      <p:sp>
        <p:nvSpPr>
          <p:cNvPr id="4" name="Date Placeholder 3"/>
          <p:cNvSpPr>
            <a:spLocks noGrp="1"/>
          </p:cNvSpPr>
          <p:nvPr>
            <p:ph type="dt" sz="half" idx="10"/>
          </p:nvPr>
        </p:nvSpPr>
        <p:spPr/>
        <p:txBody>
          <a:bodyPr/>
          <a:lstStyle/>
          <a:p>
            <a:fld id="{BE09E821-1F85-4E0F-A97B-B902C1A3F26E}"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pic>
        <p:nvPicPr>
          <p:cNvPr id="75778" name="Picture 2"/>
          <p:cNvPicPr>
            <a:picLocks noChangeAspect="1" noChangeArrowheads="1"/>
          </p:cNvPicPr>
          <p:nvPr/>
        </p:nvPicPr>
        <p:blipFill>
          <a:blip r:embed="rId2"/>
          <a:srcRect/>
          <a:stretch>
            <a:fillRect/>
          </a:stretch>
        </p:blipFill>
        <p:spPr bwMode="auto">
          <a:xfrm>
            <a:off x="1104900" y="1138238"/>
            <a:ext cx="6934200" cy="45815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ARS4D2 Endurance – Yaw Rate Not Available is set</a:t>
            </a:r>
            <a:endParaRPr lang="en-US" dirty="0"/>
          </a:p>
        </p:txBody>
      </p:sp>
      <p:sp>
        <p:nvSpPr>
          <p:cNvPr id="4" name="Date Placeholder 3"/>
          <p:cNvSpPr>
            <a:spLocks noGrp="1"/>
          </p:cNvSpPr>
          <p:nvPr>
            <p:ph type="dt" sz="half" idx="10"/>
          </p:nvPr>
        </p:nvSpPr>
        <p:spPr/>
        <p:txBody>
          <a:bodyPr/>
          <a:lstStyle/>
          <a:p>
            <a:fld id="{5EB2A7ED-4DD1-4D70-96E2-34A555D58603}"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
        <p:nvSpPr>
          <p:cNvPr id="7" name="Content Placeholder 2"/>
          <p:cNvSpPr>
            <a:spLocks noGrp="1"/>
          </p:cNvSpPr>
          <p:nvPr>
            <p:ph idx="1"/>
            <p:custDataLst>
              <p:tags r:id="rId1"/>
            </p:custDataLst>
          </p:nvPr>
        </p:nvSpPr>
        <p:spPr>
          <a:xfrm>
            <a:off x="457200" y="1144166"/>
            <a:ext cx="6707088" cy="4780384"/>
          </a:xfrm>
        </p:spPr>
        <p:txBody>
          <a:bodyPr>
            <a:normAutofit fontScale="62500" lnSpcReduction="20000"/>
          </a:bodyPr>
          <a:lstStyle/>
          <a:p>
            <a:pPr>
              <a:buClr>
                <a:srgbClr val="000000"/>
              </a:buClr>
              <a:buSzPts val="1800"/>
              <a:buNone/>
            </a:pPr>
            <a:r>
              <a:rPr lang="en-US" sz="1800" dirty="0" smtClean="0">
                <a:solidFill>
                  <a:srgbClr val="BF7300"/>
                </a:solidFill>
                <a:latin typeface="Arial"/>
              </a:rPr>
              <a:t>There are 3 parts in discussion:</a:t>
            </a:r>
          </a:p>
          <a:p>
            <a:pPr>
              <a:buClr>
                <a:srgbClr val="000000"/>
              </a:buClr>
              <a:buSzPts val="1800"/>
              <a:buNone/>
            </a:pPr>
            <a:r>
              <a:rPr lang="en-US" sz="1800" dirty="0" smtClean="0">
                <a:solidFill>
                  <a:srgbClr val="BF7300"/>
                </a:solidFill>
                <a:latin typeface="Arial"/>
              </a:rPr>
              <a:t>1. Divergence of final yaw rate from other yaw rates</a:t>
            </a:r>
          </a:p>
          <a:p>
            <a:pPr>
              <a:buClr>
                <a:srgbClr val="000000"/>
              </a:buClr>
              <a:buSzPts val="1800"/>
              <a:buNone/>
            </a:pPr>
            <a:r>
              <a:rPr lang="en-US" sz="1800" dirty="0" smtClean="0">
                <a:solidFill>
                  <a:srgbClr val="BF7300"/>
                </a:solidFill>
                <a:latin typeface="Arial"/>
              </a:rPr>
              <a:t>2. Convergence of final yaw rate with other yaw rates</a:t>
            </a:r>
          </a:p>
          <a:p>
            <a:pPr>
              <a:buClr>
                <a:srgbClr val="000000"/>
              </a:buClr>
              <a:buSzPts val="1800"/>
              <a:buNone/>
            </a:pPr>
            <a:r>
              <a:rPr lang="en-US" sz="1800" dirty="0" smtClean="0">
                <a:solidFill>
                  <a:srgbClr val="BF7300"/>
                </a:solidFill>
                <a:latin typeface="Arial"/>
              </a:rPr>
              <a:t>3. Reason for Divergence (includes DEM not to set)</a:t>
            </a:r>
          </a:p>
          <a:p>
            <a:pPr>
              <a:buClr>
                <a:srgbClr val="000000"/>
              </a:buClr>
              <a:buSzPts val="1800"/>
              <a:buNone/>
            </a:pPr>
            <a:endParaRPr lang="en-US" sz="1800" dirty="0" smtClean="0">
              <a:solidFill>
                <a:srgbClr val="BF7300"/>
              </a:solidFill>
              <a:latin typeface="Arial"/>
            </a:endParaRPr>
          </a:p>
          <a:p>
            <a:pPr marL="457200" indent="-457200">
              <a:buClr>
                <a:srgbClr val="000000"/>
              </a:buClr>
              <a:buSzPts val="1800"/>
              <a:buNone/>
            </a:pPr>
            <a:r>
              <a:rPr lang="en-US" sz="1900" dirty="0" smtClean="0">
                <a:solidFill>
                  <a:srgbClr val="BF7300"/>
                </a:solidFill>
                <a:latin typeface="Arial"/>
              </a:rPr>
              <a:t>1. </a:t>
            </a:r>
            <a:r>
              <a:rPr lang="en-US" sz="1900" u="sng" dirty="0" smtClean="0">
                <a:solidFill>
                  <a:srgbClr val="BF7300"/>
                </a:solidFill>
                <a:latin typeface="Arial"/>
              </a:rPr>
              <a:t>Divergence of final yaw rate from other yaw rates:</a:t>
            </a:r>
          </a:p>
          <a:p>
            <a:pPr marL="457200" indent="-457200">
              <a:buClr>
                <a:srgbClr val="000000"/>
              </a:buClr>
              <a:buSzPts val="1800"/>
              <a:buNone/>
            </a:pPr>
            <a:endParaRPr lang="en-US" sz="1900" u="sng" dirty="0" smtClean="0">
              <a:solidFill>
                <a:srgbClr val="BF7300"/>
              </a:solidFill>
              <a:latin typeface="Arial"/>
            </a:endParaRPr>
          </a:p>
          <a:p>
            <a:pPr>
              <a:buClr>
                <a:srgbClr val="000000"/>
              </a:buClr>
              <a:buSzPts val="1800"/>
            </a:pPr>
            <a:r>
              <a:rPr lang="en-US" sz="1800" dirty="0" smtClean="0">
                <a:solidFill>
                  <a:srgbClr val="BF7300"/>
                </a:solidFill>
                <a:latin typeface="Arial"/>
              </a:rPr>
              <a:t>The input wheel speed for rear Right wheel is less than 3 m/s.</a:t>
            </a:r>
          </a:p>
          <a:p>
            <a:pPr>
              <a:buClr>
                <a:srgbClr val="000000"/>
              </a:buClr>
              <a:buSzPts val="1800"/>
            </a:pPr>
            <a:r>
              <a:rPr lang="en-US" sz="1800" dirty="0" smtClean="0">
                <a:solidFill>
                  <a:srgbClr val="BF7300"/>
                </a:solidFill>
                <a:latin typeface="Arial"/>
              </a:rPr>
              <a:t>The minimum speed required to make the wheel yaw rate to zero is, one of the wheel speed should be less than 3 m/s. Hence, here, vdy will set the whl yaw rate to zero.</a:t>
            </a:r>
          </a:p>
          <a:p>
            <a:pPr>
              <a:buClr>
                <a:srgbClr val="000000"/>
              </a:buClr>
              <a:buSzPts val="1800"/>
            </a:pPr>
            <a:r>
              <a:rPr lang="en-US" sz="1800" dirty="0" smtClean="0">
                <a:solidFill>
                  <a:srgbClr val="BF7300"/>
                </a:solidFill>
                <a:latin typeface="Arial"/>
              </a:rPr>
              <a:t>Though the whl yaw rate is zero, it is considered in calculating the sensor’s yaw rate mean value which in turn used for calculating the difference between sensor yaw rate mean value and estimated yaw rate mean value.</a:t>
            </a:r>
          </a:p>
          <a:p>
            <a:pPr>
              <a:buClr>
                <a:srgbClr val="000000"/>
              </a:buClr>
              <a:buSzPts val="1800"/>
            </a:pPr>
            <a:r>
              <a:rPr lang="en-US" sz="1800" dirty="0" smtClean="0">
                <a:solidFill>
                  <a:srgbClr val="BF7300"/>
                </a:solidFill>
                <a:latin typeface="Arial"/>
              </a:rPr>
              <a:t>The Q(</a:t>
            </a:r>
            <a:r>
              <a:rPr lang="en-US" sz="1800" dirty="0" err="1" smtClean="0">
                <a:solidFill>
                  <a:srgbClr val="BF7300"/>
                </a:solidFill>
                <a:latin typeface="Arial"/>
              </a:rPr>
              <a:t>Q_gain</a:t>
            </a:r>
            <a:r>
              <a:rPr lang="en-US" sz="1800" dirty="0" smtClean="0">
                <a:solidFill>
                  <a:srgbClr val="BF7300"/>
                </a:solidFill>
                <a:latin typeface="Arial"/>
              </a:rPr>
              <a:t>) is modulated based on the difference between sensor yaw rate mean value and estimated yaw rate mean value. If the difference between the current diff value and the last diff value is more than 0.05, then Q will remain stuck to its previous value. Otherwise, Q gain-change is proportional to the difference.</a:t>
            </a:r>
          </a:p>
          <a:p>
            <a:pPr>
              <a:buClr>
                <a:srgbClr val="000000"/>
              </a:buClr>
              <a:buSzPts val="1800"/>
            </a:pPr>
            <a:r>
              <a:rPr lang="en-US" sz="1800" dirty="0" smtClean="0">
                <a:solidFill>
                  <a:srgbClr val="BF7300"/>
                </a:solidFill>
                <a:latin typeface="Arial"/>
              </a:rPr>
              <a:t>Simultaneously, the distance (Z – </a:t>
            </a:r>
            <a:r>
              <a:rPr lang="en-US" sz="1800" dirty="0" err="1" smtClean="0">
                <a:solidFill>
                  <a:srgbClr val="BF7300"/>
                </a:solidFill>
                <a:latin typeface="Arial"/>
              </a:rPr>
              <a:t>Hx</a:t>
            </a:r>
            <a:r>
              <a:rPr lang="en-US" sz="1800" dirty="0" smtClean="0">
                <a:solidFill>
                  <a:srgbClr val="BF7300"/>
                </a:solidFill>
                <a:latin typeface="Arial"/>
              </a:rPr>
              <a:t>) or ‘nu’ or error factor increases, resulting in the increased value of R(</a:t>
            </a:r>
            <a:r>
              <a:rPr lang="en-US" sz="1800" dirty="0" err="1" smtClean="0">
                <a:solidFill>
                  <a:srgbClr val="BF7300"/>
                </a:solidFill>
                <a:latin typeface="Arial"/>
              </a:rPr>
              <a:t>Mahalanobis</a:t>
            </a:r>
            <a:r>
              <a:rPr lang="en-US" sz="1800" dirty="0" smtClean="0">
                <a:solidFill>
                  <a:srgbClr val="BF7300"/>
                </a:solidFill>
                <a:latin typeface="Arial"/>
              </a:rPr>
              <a:t>  distance). Here, the place where the divergence of the final yaw rate starts.</a:t>
            </a:r>
          </a:p>
          <a:p>
            <a:pPr>
              <a:buClr>
                <a:srgbClr val="000000"/>
              </a:buClr>
              <a:buSzPts val="1800"/>
            </a:pPr>
            <a:r>
              <a:rPr lang="en-US" sz="1800" dirty="0" smtClean="0">
                <a:solidFill>
                  <a:srgbClr val="BF7300"/>
                </a:solidFill>
                <a:latin typeface="Arial"/>
              </a:rPr>
              <a:t>As the R increases, the K gain decreases gradually.</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ARS4D2 Endurance – Yaw Rate Not Available is set</a:t>
            </a:r>
            <a:endParaRPr lang="en-US" dirty="0"/>
          </a:p>
        </p:txBody>
      </p:sp>
      <p:sp>
        <p:nvSpPr>
          <p:cNvPr id="4" name="Date Placeholder 3"/>
          <p:cNvSpPr>
            <a:spLocks noGrp="1"/>
          </p:cNvSpPr>
          <p:nvPr>
            <p:ph type="dt" sz="half" idx="10"/>
          </p:nvPr>
        </p:nvSpPr>
        <p:spPr/>
        <p:txBody>
          <a:bodyPr/>
          <a:lstStyle/>
          <a:p>
            <a:fld id="{2D519927-9B62-4765-A3E5-028A5D28CF74}"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
        <p:nvSpPr>
          <p:cNvPr id="7" name="Content Placeholder 2"/>
          <p:cNvSpPr>
            <a:spLocks noGrp="1"/>
          </p:cNvSpPr>
          <p:nvPr>
            <p:ph idx="1"/>
          </p:nvPr>
        </p:nvSpPr>
        <p:spPr>
          <a:xfrm>
            <a:off x="395288" y="1196752"/>
            <a:ext cx="8229600" cy="3268216"/>
          </a:xfrm>
        </p:spPr>
        <p:txBody>
          <a:bodyPr>
            <a:normAutofit/>
          </a:bodyPr>
          <a:lstStyle/>
          <a:p>
            <a:r>
              <a:rPr lang="en-US" sz="1800" dirty="0" smtClean="0">
                <a:solidFill>
                  <a:srgbClr val="BF7300"/>
                </a:solidFill>
                <a:latin typeface="Arial" pitchFamily="34" charset="0"/>
                <a:cs typeface="Arial" pitchFamily="34" charset="0"/>
              </a:rPr>
              <a:t>As the K gain decreases, more weightage is given for the model prediction compared to measurement. Hence, the final yaw rate is following the model prediction.</a:t>
            </a:r>
          </a:p>
          <a:p>
            <a:r>
              <a:rPr lang="en-US" sz="1800" dirty="0" smtClean="0">
                <a:solidFill>
                  <a:srgbClr val="BF7300"/>
                </a:solidFill>
                <a:latin typeface="Arial" pitchFamily="34" charset="0"/>
                <a:cs typeface="Arial" pitchFamily="34" charset="0"/>
              </a:rPr>
              <a:t>Below gives pictorial presentation for above explanation.</a:t>
            </a:r>
          </a:p>
          <a:p>
            <a:pPr>
              <a:buNone/>
            </a:pPr>
            <a:endParaRPr lang="en-US" sz="1800" dirty="0" smtClean="0">
              <a:solidFill>
                <a:srgbClr val="BF7300"/>
              </a:solidFill>
              <a:latin typeface="Arial" pitchFamily="34" charset="0"/>
              <a:cs typeface="Arial" pitchFamily="34" charset="0"/>
            </a:endParaRPr>
          </a:p>
          <a:p>
            <a:pPr>
              <a:buNone/>
            </a:pPr>
            <a:endParaRPr lang="en-US" sz="1800" dirty="0" smtClean="0">
              <a:solidFill>
                <a:srgbClr val="BF7300"/>
              </a:solidFill>
              <a:latin typeface="Arial" pitchFamily="34" charset="0"/>
              <a:cs typeface="Arial" pitchFamily="34" charset="0"/>
            </a:endParaRPr>
          </a:p>
          <a:p>
            <a:pPr>
              <a:buNone/>
            </a:pPr>
            <a:endParaRPr lang="en-US" sz="1800" dirty="0" smtClean="0">
              <a:solidFill>
                <a:srgbClr val="BF7300"/>
              </a:solidFill>
              <a:latin typeface="Arial" pitchFamily="34" charset="0"/>
              <a:cs typeface="Arial" pitchFamily="34" charset="0"/>
            </a:endParaRPr>
          </a:p>
          <a:p>
            <a:pPr>
              <a:buNone/>
            </a:pPr>
            <a:endParaRPr lang="en-US" sz="1800" dirty="0" smtClean="0">
              <a:solidFill>
                <a:srgbClr val="BF7300"/>
              </a:solidFill>
              <a:latin typeface="Arial" pitchFamily="34" charset="0"/>
              <a:cs typeface="Arial" pitchFamily="34" charset="0"/>
            </a:endParaRPr>
          </a:p>
          <a:p>
            <a:pPr>
              <a:buNone/>
            </a:pPr>
            <a:endParaRPr lang="en-US" sz="1800" dirty="0">
              <a:solidFill>
                <a:srgbClr val="BF7300"/>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FCD249B-33FC-418C-9901-9549A9FE6C16}"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pic>
        <p:nvPicPr>
          <p:cNvPr id="7" name="Picture 6"/>
          <p:cNvPicPr>
            <a:picLocks noChangeAspect="1" noChangeArrowheads="1"/>
          </p:cNvPicPr>
          <p:nvPr/>
        </p:nvPicPr>
        <p:blipFill>
          <a:blip r:embed="rId2" cstate="print"/>
          <a:srcRect/>
          <a:stretch>
            <a:fillRect/>
          </a:stretch>
        </p:blipFill>
        <p:spPr bwMode="auto">
          <a:xfrm>
            <a:off x="5943600" y="2085975"/>
            <a:ext cx="2971800" cy="2133600"/>
          </a:xfrm>
          <a:prstGeom prst="rect">
            <a:avLst/>
          </a:prstGeom>
          <a:noFill/>
          <a:ln w="9525">
            <a:noFill/>
            <a:miter lim="800000"/>
            <a:headEnd/>
            <a:tailEnd/>
          </a:ln>
        </p:spPr>
      </p:pic>
      <p:cxnSp>
        <p:nvCxnSpPr>
          <p:cNvPr id="8" name="Straight Arrow Connector 7"/>
          <p:cNvCxnSpPr/>
          <p:nvPr/>
        </p:nvCxnSpPr>
        <p:spPr>
          <a:xfrm flipH="1">
            <a:off x="4038600" y="3152775"/>
            <a:ext cx="1447800" cy="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pic>
        <p:nvPicPr>
          <p:cNvPr id="9" name="Picture 2"/>
          <p:cNvPicPr>
            <a:picLocks noChangeAspect="1" noChangeArrowheads="1"/>
          </p:cNvPicPr>
          <p:nvPr/>
        </p:nvPicPr>
        <p:blipFill>
          <a:blip r:embed="rId3" cstate="print"/>
          <a:srcRect/>
          <a:stretch>
            <a:fillRect/>
          </a:stretch>
        </p:blipFill>
        <p:spPr bwMode="auto">
          <a:xfrm>
            <a:off x="381001" y="2162175"/>
            <a:ext cx="3200400" cy="2133600"/>
          </a:xfrm>
          <a:prstGeom prst="rect">
            <a:avLst/>
          </a:prstGeom>
          <a:noFill/>
          <a:ln w="9525">
            <a:noFill/>
            <a:miter lim="800000"/>
            <a:headEnd/>
            <a:tailEnd/>
          </a:ln>
        </p:spPr>
      </p:pic>
      <p:cxnSp>
        <p:nvCxnSpPr>
          <p:cNvPr id="10" name="Straight Arrow Connector 9"/>
          <p:cNvCxnSpPr/>
          <p:nvPr/>
        </p:nvCxnSpPr>
        <p:spPr>
          <a:xfrm>
            <a:off x="2057400" y="4295775"/>
            <a:ext cx="0" cy="144780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sp>
        <p:nvSpPr>
          <p:cNvPr id="11" name="Title 1"/>
          <p:cNvSpPr txBox="1">
            <a:spLocks/>
          </p:cNvSpPr>
          <p:nvPr/>
        </p:nvSpPr>
        <p:spPr>
          <a:xfrm>
            <a:off x="304800" y="1143000"/>
            <a:ext cx="8229600" cy="381000"/>
          </a:xfrm>
          <a:prstGeom prst="rect">
            <a:avLst/>
          </a:prstGeom>
        </p:spPr>
        <p:txBody>
          <a:bodyPr vert="horz" lIns="0" tIns="0" rIns="91440" bIns="0" rtlCol="0" anchor="b" anchorCtr="0">
            <a:normAutofit/>
          </a:bodyPr>
          <a:lstStyle/>
          <a:p>
            <a:pPr marL="0" marR="0" lvl="0" indent="0" algn="l" defTabSz="914400" rtl="0" eaLnBrk="1" fontAlgn="auto" latinLnBrk="0" hangingPunct="1">
              <a:lnSpc>
                <a:spcPct val="95000"/>
              </a:lnSpc>
              <a:spcBef>
                <a:spcPct val="0"/>
              </a:spcBef>
              <a:spcAft>
                <a:spcPts val="0"/>
              </a:spcAft>
              <a:buClrTx/>
              <a:buSzTx/>
              <a:buFontTx/>
              <a:buNone/>
              <a:tabLst/>
              <a:defRPr/>
            </a:pPr>
            <a:r>
              <a:rPr kumimoji="0" lang="en-US" sz="1200" b="1" i="0" u="none" strike="noStrike" kern="1200" cap="none" spc="0" normalizeH="0" baseline="0" noProof="0" dirty="0" smtClean="0">
                <a:ln>
                  <a:noFill/>
                </a:ln>
                <a:solidFill>
                  <a:srgbClr val="BF7300"/>
                </a:solidFill>
                <a:effectLst/>
                <a:uLnTx/>
                <a:uFillTx/>
                <a:latin typeface="Arial"/>
                <a:ea typeface="+mj-ea"/>
                <a:cs typeface="Arial" pitchFamily="34" charset="0"/>
              </a:rPr>
              <a:t>Rear Right wheel speed (&lt; 3 m/s) resulting in </a:t>
            </a:r>
            <a:r>
              <a:rPr kumimoji="0" lang="en-US" sz="1200" b="1" i="0" u="none" strike="noStrike" kern="1200" cap="none" spc="0" normalizeH="0" baseline="0" noProof="0" dirty="0" err="1" smtClean="0">
                <a:ln>
                  <a:noFill/>
                </a:ln>
                <a:solidFill>
                  <a:srgbClr val="BF7300"/>
                </a:solidFill>
                <a:effectLst/>
                <a:uLnTx/>
                <a:uFillTx/>
                <a:latin typeface="Arial"/>
                <a:ea typeface="+mj-ea"/>
                <a:cs typeface="Arial" pitchFamily="34" charset="0"/>
              </a:rPr>
              <a:t>vdy</a:t>
            </a:r>
            <a:r>
              <a:rPr kumimoji="0" lang="en-US" sz="1200" b="1" i="0" u="none" strike="noStrike" kern="1200" cap="none" spc="0" normalizeH="0" baseline="0" noProof="0" dirty="0" smtClean="0">
                <a:ln>
                  <a:noFill/>
                </a:ln>
                <a:solidFill>
                  <a:srgbClr val="BF7300"/>
                </a:solidFill>
                <a:effectLst/>
                <a:uLnTx/>
                <a:uFillTx/>
                <a:latin typeface="Arial"/>
                <a:ea typeface="+mj-ea"/>
                <a:cs typeface="Arial" pitchFamily="34" charset="0"/>
              </a:rPr>
              <a:t> setting the wheel yaw rate to zero. </a:t>
            </a:r>
            <a:endParaRPr kumimoji="0" lang="en-US" sz="1200" b="1" i="0" u="none" strike="noStrike" kern="1200" cap="none" spc="0" normalizeH="0" baseline="0" noProof="0" dirty="0">
              <a:ln>
                <a:noFill/>
              </a:ln>
              <a:solidFill>
                <a:srgbClr val="BF7300"/>
              </a:solidFill>
              <a:effectLst/>
              <a:uLnTx/>
              <a:uFillTx/>
              <a:latin typeface="Arial"/>
              <a:ea typeface="+mj-ea"/>
              <a:cs typeface="Arial" pitchFamily="34" charset="0"/>
            </a:endParaRPr>
          </a:p>
        </p:txBody>
      </p:sp>
      <p:sp>
        <p:nvSpPr>
          <p:cNvPr id="12" name="TextBox 11"/>
          <p:cNvSpPr txBox="1"/>
          <p:nvPr/>
        </p:nvSpPr>
        <p:spPr>
          <a:xfrm>
            <a:off x="2133600" y="5133975"/>
            <a:ext cx="3048000" cy="461665"/>
          </a:xfrm>
          <a:prstGeom prst="rect">
            <a:avLst/>
          </a:prstGeom>
          <a:noFill/>
        </p:spPr>
        <p:txBody>
          <a:bodyPr wrap="square" rtlCol="0">
            <a:spAutoFit/>
          </a:bodyPr>
          <a:lstStyle/>
          <a:p>
            <a:r>
              <a:rPr lang="en-US" sz="1200" dirty="0" smtClean="0">
                <a:solidFill>
                  <a:srgbClr val="BF7300"/>
                </a:solidFill>
                <a:cs typeface="Arial" pitchFamily="34" charset="0"/>
              </a:rPr>
              <a:t>This results in difference in sensor yaw rate mean value</a:t>
            </a:r>
            <a:endParaRPr lang="en-US" sz="1200" dirty="0">
              <a:solidFill>
                <a:srgbClr val="BF7300"/>
              </a:solidFill>
              <a:cs typeface="Arial" pitchFamily="34" charset="0"/>
            </a:endParaRPr>
          </a:p>
        </p:txBody>
      </p:sp>
      <p:sp>
        <p:nvSpPr>
          <p:cNvPr id="13" name="Oval 12"/>
          <p:cNvSpPr/>
          <p:nvPr/>
        </p:nvSpPr>
        <p:spPr>
          <a:xfrm>
            <a:off x="1857375" y="5715000"/>
            <a:ext cx="3810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sp>
        <p:nvSpPr>
          <p:cNvPr id="14" name="Title 1"/>
          <p:cNvSpPr>
            <a:spLocks noGrp="1"/>
          </p:cNvSpPr>
          <p:nvPr>
            <p:ph type="title"/>
          </p:nvPr>
        </p:nvSpPr>
        <p:spPr>
          <a:xfrm>
            <a:off x="309563" y="468312"/>
            <a:ext cx="8353425" cy="719137"/>
          </a:xfrm>
        </p:spPr>
        <p:txBody>
          <a:bodyPr/>
          <a:lstStyle/>
          <a:p>
            <a:r>
              <a:rPr lang="en-US" dirty="0" smtClean="0"/>
              <a:t>ARS4D2 Endurance – Yaw Rate Not Available is set</a:t>
            </a:r>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85EACC0-B48C-4964-B4B3-F2C157D6E64C}"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
        <p:nvSpPr>
          <p:cNvPr id="7" name="Title 1"/>
          <p:cNvSpPr>
            <a:spLocks noGrp="1"/>
          </p:cNvSpPr>
          <p:nvPr>
            <p:ph type="title"/>
          </p:nvPr>
        </p:nvSpPr>
        <p:spPr>
          <a:xfrm>
            <a:off x="395288" y="-227013"/>
            <a:ext cx="8353425" cy="719137"/>
          </a:xfrm>
        </p:spPr>
        <p:txBody>
          <a:bodyPr/>
          <a:lstStyle/>
          <a:p>
            <a:r>
              <a:rPr lang="en-US" dirty="0" smtClean="0"/>
              <a:t>ARS4D2 Endurance – Yaw Rate Not Available is set</a:t>
            </a:r>
            <a:endParaRPr lang="en-US" dirty="0"/>
          </a:p>
        </p:txBody>
      </p:sp>
      <p:pic>
        <p:nvPicPr>
          <p:cNvPr id="8" name="Picture 2"/>
          <p:cNvPicPr>
            <a:picLocks noGrp="1" noChangeAspect="1" noChangeArrowheads="1"/>
          </p:cNvPicPr>
          <p:nvPr>
            <p:ph idx="1"/>
          </p:nvPr>
        </p:nvPicPr>
        <p:blipFill>
          <a:blip r:embed="rId2" cstate="print"/>
          <a:srcRect/>
          <a:stretch>
            <a:fillRect/>
          </a:stretch>
        </p:blipFill>
        <p:spPr bwMode="auto">
          <a:xfrm>
            <a:off x="457200" y="1143000"/>
            <a:ext cx="2895599" cy="2153138"/>
          </a:xfrm>
          <a:prstGeom prst="rect">
            <a:avLst/>
          </a:prstGeom>
          <a:noFill/>
          <a:ln w="9525">
            <a:noFill/>
            <a:miter lim="800000"/>
            <a:headEnd/>
            <a:tailEnd/>
          </a:ln>
        </p:spPr>
      </p:pic>
      <p:pic>
        <p:nvPicPr>
          <p:cNvPr id="9" name="Picture 3"/>
          <p:cNvPicPr>
            <a:picLocks noChangeAspect="1" noChangeArrowheads="1"/>
          </p:cNvPicPr>
          <p:nvPr/>
        </p:nvPicPr>
        <p:blipFill>
          <a:blip r:embed="rId3" cstate="print"/>
          <a:srcRect/>
          <a:stretch>
            <a:fillRect/>
          </a:stretch>
        </p:blipFill>
        <p:spPr bwMode="auto">
          <a:xfrm>
            <a:off x="457200" y="3352800"/>
            <a:ext cx="2933700" cy="2209800"/>
          </a:xfrm>
          <a:prstGeom prst="rect">
            <a:avLst/>
          </a:prstGeom>
          <a:noFill/>
          <a:ln w="9525">
            <a:noFill/>
            <a:miter lim="800000"/>
            <a:headEnd/>
            <a:tailEnd/>
          </a:ln>
        </p:spPr>
      </p:pic>
      <p:pic>
        <p:nvPicPr>
          <p:cNvPr id="10" name="Picture 4"/>
          <p:cNvPicPr>
            <a:picLocks noChangeAspect="1" noChangeArrowheads="1"/>
          </p:cNvPicPr>
          <p:nvPr/>
        </p:nvPicPr>
        <p:blipFill>
          <a:blip r:embed="rId4" cstate="print"/>
          <a:srcRect/>
          <a:stretch>
            <a:fillRect/>
          </a:stretch>
        </p:blipFill>
        <p:spPr bwMode="auto">
          <a:xfrm>
            <a:off x="5562600" y="2381738"/>
            <a:ext cx="2962275" cy="2133600"/>
          </a:xfrm>
          <a:prstGeom prst="rect">
            <a:avLst/>
          </a:prstGeom>
          <a:noFill/>
          <a:ln w="9525">
            <a:noFill/>
            <a:miter lim="800000"/>
            <a:headEnd/>
            <a:tailEnd/>
          </a:ln>
        </p:spPr>
      </p:pic>
      <p:cxnSp>
        <p:nvCxnSpPr>
          <p:cNvPr id="11" name="Straight Arrow Connector 10"/>
          <p:cNvCxnSpPr/>
          <p:nvPr/>
        </p:nvCxnSpPr>
        <p:spPr>
          <a:xfrm>
            <a:off x="3810000" y="3448538"/>
            <a:ext cx="1447800" cy="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810000" y="3171539"/>
            <a:ext cx="1295400" cy="276999"/>
          </a:xfrm>
          <a:prstGeom prst="rect">
            <a:avLst/>
          </a:prstGeom>
          <a:noFill/>
        </p:spPr>
        <p:txBody>
          <a:bodyPr wrap="square" rtlCol="0">
            <a:spAutoFit/>
          </a:bodyPr>
          <a:lstStyle/>
          <a:p>
            <a:pPr algn="ctr"/>
            <a:r>
              <a:rPr lang="en-US" sz="1200" dirty="0" smtClean="0">
                <a:solidFill>
                  <a:srgbClr val="BF7300"/>
                </a:solidFill>
                <a:cs typeface="Arial" pitchFamily="34" charset="0"/>
              </a:rPr>
              <a:t>difference</a:t>
            </a:r>
            <a:endParaRPr lang="en-US" sz="1200" dirty="0">
              <a:solidFill>
                <a:srgbClr val="BF7300"/>
              </a:solidFill>
              <a:cs typeface="Arial" pitchFamily="34" charset="0"/>
            </a:endParaRPr>
          </a:p>
        </p:txBody>
      </p:sp>
      <p:cxnSp>
        <p:nvCxnSpPr>
          <p:cNvPr id="13" name="Straight Connector 12"/>
          <p:cNvCxnSpPr/>
          <p:nvPr/>
        </p:nvCxnSpPr>
        <p:spPr>
          <a:xfrm>
            <a:off x="3505200" y="3048000"/>
            <a:ext cx="304800"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505200" y="3810000"/>
            <a:ext cx="304800"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810000" y="3058758"/>
            <a:ext cx="0" cy="751242"/>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096000" y="5114092"/>
            <a:ext cx="1295400" cy="861774"/>
          </a:xfrm>
          <a:prstGeom prst="rect">
            <a:avLst/>
          </a:prstGeom>
          <a:noFill/>
        </p:spPr>
        <p:txBody>
          <a:bodyPr wrap="square" rtlCol="0">
            <a:spAutoFit/>
          </a:bodyPr>
          <a:lstStyle/>
          <a:p>
            <a:pPr algn="ctr"/>
            <a:r>
              <a:rPr lang="en-US" sz="1200" dirty="0" smtClean="0">
                <a:solidFill>
                  <a:srgbClr val="BF7300"/>
                </a:solidFill>
              </a:rPr>
              <a:t>Decision btw(curr_diff1</a:t>
            </a:r>
            <a:r>
              <a:rPr lang="en-US" sz="1400" dirty="0" smtClean="0">
                <a:solidFill>
                  <a:srgbClr val="BF7300"/>
                </a:solidFill>
              </a:rPr>
              <a:t>, </a:t>
            </a:r>
            <a:r>
              <a:rPr lang="en-US" sz="1200" dirty="0" smtClean="0">
                <a:solidFill>
                  <a:srgbClr val="BF7300"/>
                </a:solidFill>
              </a:rPr>
              <a:t>last_diff1)</a:t>
            </a:r>
          </a:p>
          <a:p>
            <a:pPr algn="ctr"/>
            <a:r>
              <a:rPr lang="en-US" sz="1200" dirty="0" smtClean="0">
                <a:solidFill>
                  <a:srgbClr val="BF7300"/>
                </a:solidFill>
              </a:rPr>
              <a:t>to limit to 0.05</a:t>
            </a:r>
            <a:endParaRPr lang="en-US" sz="1200" dirty="0">
              <a:solidFill>
                <a:srgbClr val="BF7300"/>
              </a:solidFill>
            </a:endParaRPr>
          </a:p>
        </p:txBody>
      </p:sp>
      <p:cxnSp>
        <p:nvCxnSpPr>
          <p:cNvPr id="17" name="Straight Arrow Connector 16"/>
          <p:cNvCxnSpPr/>
          <p:nvPr/>
        </p:nvCxnSpPr>
        <p:spPr>
          <a:xfrm>
            <a:off x="6019800" y="4648200"/>
            <a:ext cx="0" cy="129540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1600200" y="381000"/>
            <a:ext cx="3810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19" name="Straight Arrow Connector 18"/>
          <p:cNvCxnSpPr/>
          <p:nvPr/>
        </p:nvCxnSpPr>
        <p:spPr>
          <a:xfrm>
            <a:off x="1828800" y="685800"/>
            <a:ext cx="0" cy="38100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5867400" y="5943600"/>
            <a:ext cx="3810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8F9CF9F-B1F7-4EB8-801B-BBC7586BDAD0}"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
        <p:nvSpPr>
          <p:cNvPr id="7" name="Title 1"/>
          <p:cNvSpPr>
            <a:spLocks noGrp="1"/>
          </p:cNvSpPr>
          <p:nvPr>
            <p:ph type="title"/>
          </p:nvPr>
        </p:nvSpPr>
        <p:spPr>
          <a:xfrm>
            <a:off x="395288" y="-398463"/>
            <a:ext cx="8353425" cy="719137"/>
          </a:xfrm>
        </p:spPr>
        <p:txBody>
          <a:bodyPr/>
          <a:lstStyle/>
          <a:p>
            <a:r>
              <a:rPr lang="en-US" dirty="0" smtClean="0"/>
              <a:t>ARS4D2 Endurance – Yaw Rate Not Available is set</a:t>
            </a:r>
            <a:endParaRPr lang="en-US" dirty="0"/>
          </a:p>
        </p:txBody>
      </p:sp>
      <p:pic>
        <p:nvPicPr>
          <p:cNvPr id="8" name="Picture 5"/>
          <p:cNvPicPr>
            <a:picLocks noChangeAspect="1" noChangeArrowheads="1"/>
          </p:cNvPicPr>
          <p:nvPr/>
        </p:nvPicPr>
        <p:blipFill>
          <a:blip r:embed="rId2" cstate="print"/>
          <a:srcRect/>
          <a:stretch>
            <a:fillRect/>
          </a:stretch>
        </p:blipFill>
        <p:spPr bwMode="auto">
          <a:xfrm>
            <a:off x="5715000" y="380999"/>
            <a:ext cx="2971800" cy="2133600"/>
          </a:xfrm>
          <a:prstGeom prst="rect">
            <a:avLst/>
          </a:prstGeom>
          <a:noFill/>
          <a:ln w="9525">
            <a:noFill/>
            <a:miter lim="800000"/>
            <a:headEnd/>
            <a:tailEnd/>
          </a:ln>
        </p:spPr>
      </p:pic>
      <p:pic>
        <p:nvPicPr>
          <p:cNvPr id="9" name="Picture 2"/>
          <p:cNvPicPr>
            <a:picLocks noChangeAspect="1" noChangeArrowheads="1"/>
          </p:cNvPicPr>
          <p:nvPr/>
        </p:nvPicPr>
        <p:blipFill>
          <a:blip r:embed="rId3" cstate="print"/>
          <a:srcRect/>
          <a:stretch>
            <a:fillRect/>
          </a:stretch>
        </p:blipFill>
        <p:spPr bwMode="auto">
          <a:xfrm>
            <a:off x="1143000" y="304800"/>
            <a:ext cx="2895600" cy="2133599"/>
          </a:xfrm>
          <a:prstGeom prst="rect">
            <a:avLst/>
          </a:prstGeom>
          <a:noFill/>
          <a:ln w="9525">
            <a:noFill/>
            <a:miter lim="800000"/>
            <a:headEnd/>
            <a:tailEnd/>
          </a:ln>
        </p:spPr>
      </p:pic>
      <p:cxnSp>
        <p:nvCxnSpPr>
          <p:cNvPr id="10" name="Straight Arrow Connector 9"/>
          <p:cNvCxnSpPr/>
          <p:nvPr/>
        </p:nvCxnSpPr>
        <p:spPr>
          <a:xfrm>
            <a:off x="4191000" y="1295400"/>
            <a:ext cx="1295400" cy="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sp>
        <p:nvSpPr>
          <p:cNvPr id="11" name="Title 1"/>
          <p:cNvSpPr txBox="1">
            <a:spLocks/>
          </p:cNvSpPr>
          <p:nvPr/>
        </p:nvSpPr>
        <p:spPr>
          <a:xfrm>
            <a:off x="304800" y="2971800"/>
            <a:ext cx="8229600" cy="381000"/>
          </a:xfrm>
          <a:prstGeom prst="rect">
            <a:avLst/>
          </a:prstGeom>
        </p:spPr>
        <p:txBody>
          <a:bodyPr vert="horz" lIns="0" tIns="0" rIns="91440" bIns="0" rtlCol="0" anchor="b" anchorCtr="0">
            <a:normAutofit/>
          </a:bodyPr>
          <a:lstStyle/>
          <a:p>
            <a:pPr marL="0" marR="0" lvl="0" indent="0" algn="l" defTabSz="914400" rtl="0" eaLnBrk="1" fontAlgn="auto" latinLnBrk="0" hangingPunct="1">
              <a:lnSpc>
                <a:spcPct val="95000"/>
              </a:lnSpc>
              <a:spcBef>
                <a:spcPct val="0"/>
              </a:spcBef>
              <a:spcAft>
                <a:spcPts val="0"/>
              </a:spcAft>
              <a:buClrTx/>
              <a:buSzTx/>
              <a:buFontTx/>
              <a:buNone/>
              <a:tabLst/>
              <a:defRPr/>
            </a:pPr>
            <a:r>
              <a:rPr kumimoji="0" lang="en-US" sz="1200" b="1" i="0" u="none" strike="noStrike" kern="1200" cap="none" spc="0" normalizeH="0" baseline="0" noProof="0" smtClean="0">
                <a:ln>
                  <a:noFill/>
                </a:ln>
                <a:solidFill>
                  <a:srgbClr val="BF7300"/>
                </a:solidFill>
                <a:effectLst/>
                <a:uLnTx/>
                <a:uFillTx/>
                <a:latin typeface="Arial"/>
                <a:ea typeface="+mj-ea"/>
                <a:cs typeface="Arial" pitchFamily="34" charset="0"/>
              </a:rPr>
              <a:t>Simultaneously, nu / error factor increases resulting in R increase. </a:t>
            </a:r>
            <a:endParaRPr kumimoji="0" lang="en-US" sz="1200" b="1" i="0" u="none" strike="noStrike" kern="1200" cap="none" spc="0" normalizeH="0" baseline="0" noProof="0" dirty="0">
              <a:ln>
                <a:noFill/>
              </a:ln>
              <a:solidFill>
                <a:srgbClr val="BF7300"/>
              </a:solidFill>
              <a:effectLst/>
              <a:uLnTx/>
              <a:uFillTx/>
              <a:latin typeface="Arial"/>
              <a:ea typeface="+mj-ea"/>
              <a:cs typeface="Arial" pitchFamily="34" charset="0"/>
            </a:endParaRPr>
          </a:p>
        </p:txBody>
      </p:sp>
      <p:pic>
        <p:nvPicPr>
          <p:cNvPr id="12" name="Picture 3"/>
          <p:cNvPicPr>
            <a:picLocks noChangeAspect="1" noChangeArrowheads="1"/>
          </p:cNvPicPr>
          <p:nvPr/>
        </p:nvPicPr>
        <p:blipFill>
          <a:blip r:embed="rId4" cstate="print"/>
          <a:srcRect/>
          <a:stretch>
            <a:fillRect/>
          </a:stretch>
        </p:blipFill>
        <p:spPr bwMode="auto">
          <a:xfrm>
            <a:off x="1143000" y="3505200"/>
            <a:ext cx="2895600" cy="1981200"/>
          </a:xfrm>
          <a:prstGeom prst="rect">
            <a:avLst/>
          </a:prstGeom>
          <a:noFill/>
          <a:ln w="9525">
            <a:noFill/>
            <a:miter lim="800000"/>
            <a:headEnd/>
            <a:tailEnd/>
          </a:ln>
        </p:spPr>
      </p:pic>
      <p:cxnSp>
        <p:nvCxnSpPr>
          <p:cNvPr id="13" name="Straight Arrow Connector 12"/>
          <p:cNvCxnSpPr/>
          <p:nvPr/>
        </p:nvCxnSpPr>
        <p:spPr>
          <a:xfrm>
            <a:off x="4191000" y="4419600"/>
            <a:ext cx="1219200" cy="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pic>
        <p:nvPicPr>
          <p:cNvPr id="14" name="Picture 4"/>
          <p:cNvPicPr>
            <a:picLocks noChangeAspect="1" noChangeArrowheads="1"/>
          </p:cNvPicPr>
          <p:nvPr/>
        </p:nvPicPr>
        <p:blipFill>
          <a:blip r:embed="rId5" cstate="print"/>
          <a:srcRect/>
          <a:stretch>
            <a:fillRect/>
          </a:stretch>
        </p:blipFill>
        <p:spPr bwMode="auto">
          <a:xfrm>
            <a:off x="5638800" y="3429000"/>
            <a:ext cx="2962275" cy="2057400"/>
          </a:xfrm>
          <a:prstGeom prst="rect">
            <a:avLst/>
          </a:prstGeom>
          <a:noFill/>
          <a:ln w="9525">
            <a:noFill/>
            <a:miter lim="800000"/>
            <a:headEnd/>
            <a:tailEnd/>
          </a:ln>
        </p:spPr>
      </p:pic>
      <p:cxnSp>
        <p:nvCxnSpPr>
          <p:cNvPr id="15" name="Straight Arrow Connector 14"/>
          <p:cNvCxnSpPr/>
          <p:nvPr/>
        </p:nvCxnSpPr>
        <p:spPr>
          <a:xfrm>
            <a:off x="7086600" y="5562600"/>
            <a:ext cx="0" cy="68580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191000" y="762000"/>
            <a:ext cx="1219200" cy="461665"/>
          </a:xfrm>
          <a:prstGeom prst="rect">
            <a:avLst/>
          </a:prstGeom>
          <a:noFill/>
        </p:spPr>
        <p:txBody>
          <a:bodyPr wrap="square" rtlCol="0">
            <a:spAutoFit/>
          </a:bodyPr>
          <a:lstStyle/>
          <a:p>
            <a:pPr algn="ctr"/>
            <a:r>
              <a:rPr lang="en-US" sz="1200" dirty="0" smtClean="0">
                <a:solidFill>
                  <a:srgbClr val="BF7300"/>
                </a:solidFill>
                <a:cs typeface="Arial" pitchFamily="34" charset="0"/>
              </a:rPr>
              <a:t>Q gain computation</a:t>
            </a:r>
            <a:endParaRPr lang="en-US" sz="1200" dirty="0">
              <a:solidFill>
                <a:srgbClr val="BF7300"/>
              </a:solidFill>
              <a:cs typeface="Arial" pitchFamily="34" charset="0"/>
            </a:endParaRPr>
          </a:p>
        </p:txBody>
      </p:sp>
      <p:sp>
        <p:nvSpPr>
          <p:cNvPr id="17" name="Oval 16"/>
          <p:cNvSpPr/>
          <p:nvPr/>
        </p:nvSpPr>
        <p:spPr>
          <a:xfrm>
            <a:off x="228600" y="4267200"/>
            <a:ext cx="3810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18" name="Straight Arrow Connector 17"/>
          <p:cNvCxnSpPr/>
          <p:nvPr/>
        </p:nvCxnSpPr>
        <p:spPr>
          <a:xfrm>
            <a:off x="609600" y="4419600"/>
            <a:ext cx="533400" cy="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6934200" y="6248400"/>
            <a:ext cx="3810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3</a:t>
            </a:r>
            <a:endParaRPr lang="en-US" dirty="0"/>
          </a:p>
        </p:txBody>
      </p:sp>
      <p:sp>
        <p:nvSpPr>
          <p:cNvPr id="20" name="Oval 19"/>
          <p:cNvSpPr/>
          <p:nvPr/>
        </p:nvSpPr>
        <p:spPr>
          <a:xfrm>
            <a:off x="228600" y="1143000"/>
            <a:ext cx="3810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en-US" dirty="0"/>
          </a:p>
        </p:txBody>
      </p:sp>
      <p:cxnSp>
        <p:nvCxnSpPr>
          <p:cNvPr id="21" name="Straight Arrow Connector 20"/>
          <p:cNvCxnSpPr/>
          <p:nvPr/>
        </p:nvCxnSpPr>
        <p:spPr>
          <a:xfrm>
            <a:off x="609600" y="1295400"/>
            <a:ext cx="533400" cy="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38C00C1-3E0E-4B8F-A1B5-A03D57130119}"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sp>
        <p:nvSpPr>
          <p:cNvPr id="7" name="Title 1"/>
          <p:cNvSpPr>
            <a:spLocks noGrp="1"/>
          </p:cNvSpPr>
          <p:nvPr>
            <p:ph type="title"/>
          </p:nvPr>
        </p:nvSpPr>
        <p:spPr>
          <a:xfrm>
            <a:off x="395288" y="-312738"/>
            <a:ext cx="8353425" cy="719137"/>
          </a:xfrm>
        </p:spPr>
        <p:txBody>
          <a:bodyPr/>
          <a:lstStyle/>
          <a:p>
            <a:r>
              <a:rPr lang="en-US" dirty="0" smtClean="0"/>
              <a:t>ARS4D2 Endurance – Yaw Rate Not Available is set</a:t>
            </a:r>
            <a:endParaRPr lang="en-US" dirty="0"/>
          </a:p>
        </p:txBody>
      </p:sp>
      <p:pic>
        <p:nvPicPr>
          <p:cNvPr id="8" name="Picture 5"/>
          <p:cNvPicPr>
            <a:picLocks noChangeAspect="1" noChangeArrowheads="1"/>
          </p:cNvPicPr>
          <p:nvPr/>
        </p:nvPicPr>
        <p:blipFill>
          <a:blip r:embed="rId2" cstate="print"/>
          <a:srcRect/>
          <a:stretch>
            <a:fillRect/>
          </a:stretch>
        </p:blipFill>
        <p:spPr bwMode="auto">
          <a:xfrm>
            <a:off x="5715000" y="647699"/>
            <a:ext cx="2971800" cy="2133600"/>
          </a:xfrm>
          <a:prstGeom prst="rect">
            <a:avLst/>
          </a:prstGeom>
          <a:noFill/>
          <a:ln w="9525">
            <a:noFill/>
            <a:miter lim="800000"/>
            <a:headEnd/>
            <a:tailEnd/>
          </a:ln>
        </p:spPr>
      </p:pic>
      <p:pic>
        <p:nvPicPr>
          <p:cNvPr id="9" name="Picture 2"/>
          <p:cNvPicPr>
            <a:picLocks noChangeAspect="1" noChangeArrowheads="1"/>
          </p:cNvPicPr>
          <p:nvPr/>
        </p:nvPicPr>
        <p:blipFill>
          <a:blip r:embed="rId3" cstate="print"/>
          <a:srcRect/>
          <a:stretch>
            <a:fillRect/>
          </a:stretch>
        </p:blipFill>
        <p:spPr bwMode="auto">
          <a:xfrm>
            <a:off x="1143000" y="571500"/>
            <a:ext cx="2895600" cy="2133599"/>
          </a:xfrm>
          <a:prstGeom prst="rect">
            <a:avLst/>
          </a:prstGeom>
          <a:noFill/>
          <a:ln w="9525">
            <a:noFill/>
            <a:miter lim="800000"/>
            <a:headEnd/>
            <a:tailEnd/>
          </a:ln>
        </p:spPr>
      </p:pic>
      <p:cxnSp>
        <p:nvCxnSpPr>
          <p:cNvPr id="10" name="Straight Arrow Connector 9"/>
          <p:cNvCxnSpPr/>
          <p:nvPr/>
        </p:nvCxnSpPr>
        <p:spPr>
          <a:xfrm>
            <a:off x="4191000" y="1562100"/>
            <a:ext cx="1295400" cy="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sp>
        <p:nvSpPr>
          <p:cNvPr id="11" name="Title 1"/>
          <p:cNvSpPr txBox="1">
            <a:spLocks/>
          </p:cNvSpPr>
          <p:nvPr/>
        </p:nvSpPr>
        <p:spPr>
          <a:xfrm>
            <a:off x="304800" y="3238500"/>
            <a:ext cx="8229600" cy="381000"/>
          </a:xfrm>
          <a:prstGeom prst="rect">
            <a:avLst/>
          </a:prstGeom>
        </p:spPr>
        <p:txBody>
          <a:bodyPr vert="horz" lIns="0" tIns="0" rIns="91440" bIns="0" rtlCol="0" anchor="b" anchorCtr="0">
            <a:normAutofit/>
          </a:bodyPr>
          <a:lstStyle/>
          <a:p>
            <a:pPr marL="0" marR="0" lvl="0" indent="0" algn="l" defTabSz="914400" rtl="0" eaLnBrk="1" fontAlgn="auto" latinLnBrk="0" hangingPunct="1">
              <a:lnSpc>
                <a:spcPct val="95000"/>
              </a:lnSpc>
              <a:spcBef>
                <a:spcPct val="0"/>
              </a:spcBef>
              <a:spcAft>
                <a:spcPts val="0"/>
              </a:spcAft>
              <a:buClrTx/>
              <a:buSzTx/>
              <a:buFontTx/>
              <a:buNone/>
              <a:tabLst/>
              <a:defRPr/>
            </a:pPr>
            <a:r>
              <a:rPr kumimoji="0" lang="en-US" sz="1200" b="1" i="0" u="none" strike="noStrike" kern="1200" cap="none" spc="0" normalizeH="0" baseline="0" noProof="0" smtClean="0">
                <a:ln>
                  <a:noFill/>
                </a:ln>
                <a:solidFill>
                  <a:srgbClr val="BF7300"/>
                </a:solidFill>
                <a:effectLst/>
                <a:uLnTx/>
                <a:uFillTx/>
                <a:latin typeface="Arial"/>
                <a:ea typeface="+mj-ea"/>
                <a:cs typeface="Arial" pitchFamily="34" charset="0"/>
              </a:rPr>
              <a:t>Simultaneously, nu / error factor increases resulting in R increase. </a:t>
            </a:r>
            <a:endParaRPr kumimoji="0" lang="en-US" sz="1200" b="1" i="0" u="none" strike="noStrike" kern="1200" cap="none" spc="0" normalizeH="0" baseline="0" noProof="0" dirty="0">
              <a:ln>
                <a:noFill/>
              </a:ln>
              <a:solidFill>
                <a:srgbClr val="BF7300"/>
              </a:solidFill>
              <a:effectLst/>
              <a:uLnTx/>
              <a:uFillTx/>
              <a:latin typeface="Arial"/>
              <a:ea typeface="+mj-ea"/>
              <a:cs typeface="Arial" pitchFamily="34" charset="0"/>
            </a:endParaRPr>
          </a:p>
        </p:txBody>
      </p:sp>
      <p:pic>
        <p:nvPicPr>
          <p:cNvPr id="12" name="Picture 3"/>
          <p:cNvPicPr>
            <a:picLocks noChangeAspect="1" noChangeArrowheads="1"/>
          </p:cNvPicPr>
          <p:nvPr/>
        </p:nvPicPr>
        <p:blipFill>
          <a:blip r:embed="rId4" cstate="print"/>
          <a:srcRect/>
          <a:stretch>
            <a:fillRect/>
          </a:stretch>
        </p:blipFill>
        <p:spPr bwMode="auto">
          <a:xfrm>
            <a:off x="1143000" y="3771900"/>
            <a:ext cx="2895600" cy="1981200"/>
          </a:xfrm>
          <a:prstGeom prst="rect">
            <a:avLst/>
          </a:prstGeom>
          <a:noFill/>
          <a:ln w="9525">
            <a:noFill/>
            <a:miter lim="800000"/>
            <a:headEnd/>
            <a:tailEnd/>
          </a:ln>
        </p:spPr>
      </p:pic>
      <p:cxnSp>
        <p:nvCxnSpPr>
          <p:cNvPr id="13" name="Straight Arrow Connector 12"/>
          <p:cNvCxnSpPr/>
          <p:nvPr/>
        </p:nvCxnSpPr>
        <p:spPr>
          <a:xfrm>
            <a:off x="4191000" y="4686300"/>
            <a:ext cx="1219200" cy="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pic>
        <p:nvPicPr>
          <p:cNvPr id="14" name="Picture 4"/>
          <p:cNvPicPr>
            <a:picLocks noChangeAspect="1" noChangeArrowheads="1"/>
          </p:cNvPicPr>
          <p:nvPr/>
        </p:nvPicPr>
        <p:blipFill>
          <a:blip r:embed="rId5" cstate="print"/>
          <a:srcRect/>
          <a:stretch>
            <a:fillRect/>
          </a:stretch>
        </p:blipFill>
        <p:spPr bwMode="auto">
          <a:xfrm>
            <a:off x="5638800" y="3695700"/>
            <a:ext cx="2962275" cy="2057400"/>
          </a:xfrm>
          <a:prstGeom prst="rect">
            <a:avLst/>
          </a:prstGeom>
          <a:noFill/>
          <a:ln w="9525">
            <a:noFill/>
            <a:miter lim="800000"/>
            <a:headEnd/>
            <a:tailEnd/>
          </a:ln>
        </p:spPr>
      </p:pic>
      <p:cxnSp>
        <p:nvCxnSpPr>
          <p:cNvPr id="15" name="Straight Arrow Connector 14"/>
          <p:cNvCxnSpPr/>
          <p:nvPr/>
        </p:nvCxnSpPr>
        <p:spPr>
          <a:xfrm>
            <a:off x="7086600" y="5829300"/>
            <a:ext cx="0" cy="68580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191000" y="1028700"/>
            <a:ext cx="1219200" cy="461665"/>
          </a:xfrm>
          <a:prstGeom prst="rect">
            <a:avLst/>
          </a:prstGeom>
          <a:noFill/>
        </p:spPr>
        <p:txBody>
          <a:bodyPr wrap="square" rtlCol="0">
            <a:spAutoFit/>
          </a:bodyPr>
          <a:lstStyle/>
          <a:p>
            <a:pPr algn="ctr"/>
            <a:r>
              <a:rPr lang="en-US" sz="1200" dirty="0" smtClean="0">
                <a:solidFill>
                  <a:srgbClr val="BF7300"/>
                </a:solidFill>
                <a:cs typeface="Arial" pitchFamily="34" charset="0"/>
              </a:rPr>
              <a:t>Q gain computation</a:t>
            </a:r>
            <a:endParaRPr lang="en-US" sz="1200" dirty="0">
              <a:solidFill>
                <a:srgbClr val="BF7300"/>
              </a:solidFill>
              <a:cs typeface="Arial" pitchFamily="34" charset="0"/>
            </a:endParaRPr>
          </a:p>
        </p:txBody>
      </p:sp>
      <p:sp>
        <p:nvSpPr>
          <p:cNvPr id="17" name="Oval 16"/>
          <p:cNvSpPr/>
          <p:nvPr/>
        </p:nvSpPr>
        <p:spPr>
          <a:xfrm>
            <a:off x="228600" y="4533900"/>
            <a:ext cx="3810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18" name="Straight Arrow Connector 17"/>
          <p:cNvCxnSpPr/>
          <p:nvPr/>
        </p:nvCxnSpPr>
        <p:spPr>
          <a:xfrm>
            <a:off x="609600" y="4686300"/>
            <a:ext cx="533400" cy="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6934200" y="6515100"/>
            <a:ext cx="3810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3</a:t>
            </a:r>
            <a:endParaRPr lang="en-US" dirty="0"/>
          </a:p>
        </p:txBody>
      </p:sp>
      <p:sp>
        <p:nvSpPr>
          <p:cNvPr id="20" name="Oval 19"/>
          <p:cNvSpPr/>
          <p:nvPr/>
        </p:nvSpPr>
        <p:spPr>
          <a:xfrm>
            <a:off x="228600" y="1409700"/>
            <a:ext cx="3810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en-US" dirty="0"/>
          </a:p>
        </p:txBody>
      </p:sp>
      <p:cxnSp>
        <p:nvCxnSpPr>
          <p:cNvPr id="21" name="Straight Arrow Connector 20"/>
          <p:cNvCxnSpPr/>
          <p:nvPr/>
        </p:nvCxnSpPr>
        <p:spPr>
          <a:xfrm>
            <a:off x="609600" y="1562100"/>
            <a:ext cx="533400" cy="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70A38C9-629B-42EB-96D3-83C05E8C40F9}"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sp>
        <p:nvSpPr>
          <p:cNvPr id="7" name="Title 1"/>
          <p:cNvSpPr>
            <a:spLocks noGrp="1"/>
          </p:cNvSpPr>
          <p:nvPr>
            <p:ph type="title"/>
          </p:nvPr>
        </p:nvSpPr>
        <p:spPr>
          <a:xfrm>
            <a:off x="366713" y="-312738"/>
            <a:ext cx="8353425" cy="719137"/>
          </a:xfrm>
        </p:spPr>
        <p:txBody>
          <a:bodyPr/>
          <a:lstStyle/>
          <a:p>
            <a:r>
              <a:rPr lang="en-US" dirty="0" smtClean="0"/>
              <a:t>ARS4D2 Endurance – Yaw Rate Not Available is set</a:t>
            </a:r>
            <a:endParaRPr lang="en-US" dirty="0"/>
          </a:p>
        </p:txBody>
      </p:sp>
      <p:pic>
        <p:nvPicPr>
          <p:cNvPr id="8" name="Picture 2"/>
          <p:cNvPicPr>
            <a:picLocks noChangeAspect="1" noChangeArrowheads="1"/>
          </p:cNvPicPr>
          <p:nvPr/>
        </p:nvPicPr>
        <p:blipFill>
          <a:blip r:embed="rId2" cstate="print"/>
          <a:srcRect/>
          <a:stretch>
            <a:fillRect/>
          </a:stretch>
        </p:blipFill>
        <p:spPr bwMode="auto">
          <a:xfrm>
            <a:off x="5638800" y="352426"/>
            <a:ext cx="3086100" cy="2133600"/>
          </a:xfrm>
          <a:prstGeom prst="rect">
            <a:avLst/>
          </a:prstGeom>
          <a:noFill/>
          <a:ln w="9525">
            <a:noFill/>
            <a:miter lim="800000"/>
            <a:headEnd/>
            <a:tailEnd/>
          </a:ln>
        </p:spPr>
      </p:pic>
      <p:cxnSp>
        <p:nvCxnSpPr>
          <p:cNvPr id="9" name="Straight Arrow Connector 8"/>
          <p:cNvCxnSpPr/>
          <p:nvPr/>
        </p:nvCxnSpPr>
        <p:spPr>
          <a:xfrm flipH="1">
            <a:off x="3886200" y="1419225"/>
            <a:ext cx="1447800" cy="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810000" y="504825"/>
            <a:ext cx="1600200" cy="830997"/>
          </a:xfrm>
          <a:prstGeom prst="rect">
            <a:avLst/>
          </a:prstGeom>
          <a:noFill/>
        </p:spPr>
        <p:txBody>
          <a:bodyPr wrap="square" rtlCol="0">
            <a:spAutoFit/>
          </a:bodyPr>
          <a:lstStyle/>
          <a:p>
            <a:pPr algn="ctr"/>
            <a:r>
              <a:rPr lang="en-US" sz="1200" dirty="0" smtClean="0">
                <a:solidFill>
                  <a:srgbClr val="BF7300"/>
                </a:solidFill>
              </a:rPr>
              <a:t>K decrease leads to dependency on model prediction for yaw rate calc</a:t>
            </a:r>
            <a:endParaRPr lang="en-US" sz="1200" dirty="0">
              <a:solidFill>
                <a:srgbClr val="BF7300"/>
              </a:solidFill>
            </a:endParaRPr>
          </a:p>
        </p:txBody>
      </p:sp>
      <p:pic>
        <p:nvPicPr>
          <p:cNvPr id="11" name="Picture 3"/>
          <p:cNvPicPr>
            <a:picLocks noChangeAspect="1" noChangeArrowheads="1"/>
          </p:cNvPicPr>
          <p:nvPr/>
        </p:nvPicPr>
        <p:blipFill>
          <a:blip r:embed="rId3" cstate="print"/>
          <a:srcRect/>
          <a:stretch>
            <a:fillRect/>
          </a:stretch>
        </p:blipFill>
        <p:spPr bwMode="auto">
          <a:xfrm>
            <a:off x="381000" y="428625"/>
            <a:ext cx="3200400" cy="2133600"/>
          </a:xfrm>
          <a:prstGeom prst="rect">
            <a:avLst/>
          </a:prstGeom>
          <a:noFill/>
          <a:ln w="9525">
            <a:noFill/>
            <a:miter lim="800000"/>
            <a:headEnd/>
            <a:tailEnd/>
          </a:ln>
        </p:spPr>
      </p:pic>
      <p:pic>
        <p:nvPicPr>
          <p:cNvPr id="12" name="Picture 2"/>
          <p:cNvPicPr>
            <a:picLocks noChangeAspect="1" noChangeArrowheads="1"/>
          </p:cNvPicPr>
          <p:nvPr/>
        </p:nvPicPr>
        <p:blipFill>
          <a:blip r:embed="rId4" cstate="print"/>
          <a:srcRect/>
          <a:stretch>
            <a:fillRect/>
          </a:stretch>
        </p:blipFill>
        <p:spPr bwMode="auto">
          <a:xfrm>
            <a:off x="304800" y="3629024"/>
            <a:ext cx="3281508" cy="2133600"/>
          </a:xfrm>
          <a:prstGeom prst="rect">
            <a:avLst/>
          </a:prstGeom>
          <a:noFill/>
          <a:ln w="9525">
            <a:noFill/>
            <a:miter lim="800000"/>
            <a:headEnd/>
            <a:tailEnd/>
          </a:ln>
        </p:spPr>
      </p:pic>
      <p:cxnSp>
        <p:nvCxnSpPr>
          <p:cNvPr id="13" name="Straight Arrow Connector 12"/>
          <p:cNvCxnSpPr/>
          <p:nvPr/>
        </p:nvCxnSpPr>
        <p:spPr>
          <a:xfrm>
            <a:off x="1981200" y="2714625"/>
            <a:ext cx="0" cy="83820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838200" y="5762625"/>
            <a:ext cx="2209800" cy="276999"/>
          </a:xfrm>
          <a:prstGeom prst="rect">
            <a:avLst/>
          </a:prstGeom>
          <a:noFill/>
        </p:spPr>
        <p:txBody>
          <a:bodyPr wrap="square" rtlCol="0">
            <a:spAutoFit/>
          </a:bodyPr>
          <a:lstStyle/>
          <a:p>
            <a:pPr algn="ctr"/>
            <a:r>
              <a:rPr lang="en-US" sz="1200" dirty="0" smtClean="0">
                <a:solidFill>
                  <a:srgbClr val="BF7300"/>
                </a:solidFill>
              </a:rPr>
              <a:t>Final yaw rate (aqua color)</a:t>
            </a:r>
            <a:endParaRPr lang="en-US" sz="1200" dirty="0">
              <a:solidFill>
                <a:srgbClr val="BF7300"/>
              </a:solidFill>
            </a:endParaRPr>
          </a:p>
        </p:txBody>
      </p:sp>
      <p:sp>
        <p:nvSpPr>
          <p:cNvPr id="15" name="Oval 14"/>
          <p:cNvSpPr/>
          <p:nvPr/>
        </p:nvSpPr>
        <p:spPr>
          <a:xfrm>
            <a:off x="6934200" y="-333375"/>
            <a:ext cx="3810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3</a:t>
            </a:r>
            <a:endParaRPr lang="en-US" dirty="0"/>
          </a:p>
        </p:txBody>
      </p:sp>
      <p:cxnSp>
        <p:nvCxnSpPr>
          <p:cNvPr id="16" name="Straight Arrow Connector 15"/>
          <p:cNvCxnSpPr/>
          <p:nvPr/>
        </p:nvCxnSpPr>
        <p:spPr>
          <a:xfrm>
            <a:off x="7162800" y="-28575"/>
            <a:ext cx="0" cy="38100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4D61F-1CA0-4E98-AF94-FE2D78F1AE8F}"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sp>
        <p:nvSpPr>
          <p:cNvPr id="7" name="Title 1"/>
          <p:cNvSpPr>
            <a:spLocks noGrp="1"/>
          </p:cNvSpPr>
          <p:nvPr>
            <p:ph type="title"/>
          </p:nvPr>
        </p:nvSpPr>
        <p:spPr>
          <a:xfrm>
            <a:off x="395288" y="-360363"/>
            <a:ext cx="8353425" cy="719137"/>
          </a:xfrm>
        </p:spPr>
        <p:txBody>
          <a:bodyPr/>
          <a:lstStyle/>
          <a:p>
            <a:r>
              <a:rPr lang="en-US" dirty="0" smtClean="0"/>
              <a:t>ARS4D2 Endurance – Yaw Rate Not Available is set</a:t>
            </a:r>
            <a:endParaRPr lang="en-US" dirty="0"/>
          </a:p>
        </p:txBody>
      </p:sp>
      <p:sp>
        <p:nvSpPr>
          <p:cNvPr id="8" name="Content Placeholder 2"/>
          <p:cNvSpPr>
            <a:spLocks noGrp="1"/>
          </p:cNvSpPr>
          <p:nvPr>
            <p:ph idx="1"/>
          </p:nvPr>
        </p:nvSpPr>
        <p:spPr>
          <a:xfrm>
            <a:off x="457200" y="457200"/>
            <a:ext cx="7355160" cy="5572472"/>
          </a:xfrm>
        </p:spPr>
        <p:txBody>
          <a:bodyPr>
            <a:normAutofit fontScale="92500" lnSpcReduction="20000"/>
          </a:bodyPr>
          <a:lstStyle/>
          <a:p>
            <a:pPr>
              <a:buAutoNum type="arabicPeriod" startAt="2"/>
            </a:pPr>
            <a:r>
              <a:rPr lang="en-US" sz="1800" u="sng" dirty="0" smtClean="0">
                <a:solidFill>
                  <a:srgbClr val="BF7300"/>
                </a:solidFill>
                <a:latin typeface="Arial"/>
              </a:rPr>
              <a:t>Conversion of final yaw rate with other yaw rates</a:t>
            </a:r>
            <a:r>
              <a:rPr lang="en-US" sz="1800" u="sng" dirty="0" smtClean="0">
                <a:solidFill>
                  <a:srgbClr val="BF7300"/>
                </a:solidFill>
                <a:latin typeface="Arial" pitchFamily="34" charset="0"/>
                <a:cs typeface="Arial" pitchFamily="34" charset="0"/>
              </a:rPr>
              <a:t>:</a:t>
            </a:r>
          </a:p>
          <a:p>
            <a:pPr>
              <a:buAutoNum type="arabicPeriod" startAt="2"/>
            </a:pPr>
            <a:endParaRPr lang="en-US" sz="1800" u="sng" dirty="0" smtClean="0">
              <a:solidFill>
                <a:srgbClr val="BF7300"/>
              </a:solidFill>
              <a:latin typeface="Arial" pitchFamily="34" charset="0"/>
              <a:cs typeface="Arial" pitchFamily="34" charset="0"/>
            </a:endParaRPr>
          </a:p>
          <a:p>
            <a:r>
              <a:rPr lang="en-US" sz="1800" dirty="0" smtClean="0">
                <a:solidFill>
                  <a:srgbClr val="BF7300"/>
                </a:solidFill>
                <a:latin typeface="Arial"/>
              </a:rPr>
              <a:t>Eventually, when the difference decreases and crosses the value 0.05, the Q abruptly changes from last value (last stuck value) to a value close to 0.05 (observed value = 0.047).</a:t>
            </a:r>
          </a:p>
          <a:p>
            <a:r>
              <a:rPr lang="en-US" sz="1800" dirty="0" smtClean="0">
                <a:solidFill>
                  <a:srgbClr val="BF7300"/>
                </a:solidFill>
                <a:latin typeface="Arial"/>
              </a:rPr>
              <a:t>Due to increase in Q, the covariance matrix (P) increases suddenly.</a:t>
            </a:r>
          </a:p>
          <a:p>
            <a:r>
              <a:rPr lang="en-US" sz="1800" dirty="0" smtClean="0">
                <a:solidFill>
                  <a:srgbClr val="BF7300"/>
                </a:solidFill>
                <a:latin typeface="Arial"/>
              </a:rPr>
              <a:t>Parallely the measurement covariance matrix R decreases gradually, leading to gradual increase in k gain.</a:t>
            </a:r>
          </a:p>
          <a:p>
            <a:r>
              <a:rPr lang="en-US" sz="1800" dirty="0" smtClean="0">
                <a:solidFill>
                  <a:srgbClr val="BF7300"/>
                </a:solidFill>
                <a:latin typeface="Arial"/>
              </a:rPr>
              <a:t>The two components of covariance matrix (P</a:t>
            </a:r>
            <a:r>
              <a:rPr lang="en-US" sz="1200" dirty="0" smtClean="0">
                <a:solidFill>
                  <a:srgbClr val="BF7300"/>
                </a:solidFill>
                <a:latin typeface="Arial"/>
              </a:rPr>
              <a:t>k</a:t>
            </a:r>
            <a:r>
              <a:rPr lang="en-US" sz="1800" dirty="0" smtClean="0">
                <a:solidFill>
                  <a:srgbClr val="BF7300"/>
                </a:solidFill>
                <a:latin typeface="Arial"/>
              </a:rPr>
              <a:t>) are </a:t>
            </a:r>
          </a:p>
          <a:p>
            <a:pPr>
              <a:buNone/>
            </a:pPr>
            <a:r>
              <a:rPr lang="en-US" sz="1800" dirty="0" smtClean="0">
                <a:solidFill>
                  <a:srgbClr val="BF7300"/>
                </a:solidFill>
                <a:latin typeface="Arial"/>
              </a:rPr>
              <a:t>			I – KH [as K increases, P</a:t>
            </a:r>
            <a:r>
              <a:rPr lang="en-US" sz="1200" dirty="0" smtClean="0">
                <a:solidFill>
                  <a:srgbClr val="BF7300"/>
                </a:solidFill>
                <a:latin typeface="Arial"/>
              </a:rPr>
              <a:t>k</a:t>
            </a:r>
            <a:r>
              <a:rPr lang="en-US" sz="1800" dirty="0" smtClean="0">
                <a:solidFill>
                  <a:srgbClr val="BF7300"/>
                </a:solidFill>
                <a:latin typeface="Arial"/>
              </a:rPr>
              <a:t> should decrease]</a:t>
            </a:r>
          </a:p>
          <a:p>
            <a:pPr>
              <a:buNone/>
            </a:pPr>
            <a:r>
              <a:rPr lang="en-US" sz="1800" dirty="0" smtClean="0">
                <a:solidFill>
                  <a:srgbClr val="BF7300"/>
                </a:solidFill>
                <a:latin typeface="Arial"/>
              </a:rPr>
              <a:t>			P</a:t>
            </a:r>
            <a:r>
              <a:rPr lang="en-US" sz="1200" dirty="0" smtClean="0">
                <a:solidFill>
                  <a:srgbClr val="BF7300"/>
                </a:solidFill>
                <a:latin typeface="Arial"/>
              </a:rPr>
              <a:t>k</a:t>
            </a:r>
            <a:r>
              <a:rPr lang="en-US" sz="1800" dirty="0" smtClean="0">
                <a:solidFill>
                  <a:srgbClr val="BF7300"/>
                </a:solidFill>
                <a:latin typeface="Arial"/>
              </a:rPr>
              <a:t>(minus) [as Q increases, P</a:t>
            </a:r>
            <a:r>
              <a:rPr lang="en-US" sz="1200" dirty="0" smtClean="0">
                <a:solidFill>
                  <a:srgbClr val="BF7300"/>
                </a:solidFill>
                <a:latin typeface="Arial"/>
              </a:rPr>
              <a:t>k</a:t>
            </a:r>
            <a:r>
              <a:rPr lang="en-US" sz="1800" dirty="0" smtClean="0">
                <a:solidFill>
                  <a:srgbClr val="BF7300"/>
                </a:solidFill>
                <a:latin typeface="Arial"/>
              </a:rPr>
              <a:t> should increase]</a:t>
            </a:r>
            <a:endParaRPr lang="en-US" sz="1400" baseline="-25000" dirty="0" smtClean="0">
              <a:solidFill>
                <a:srgbClr val="BF7300"/>
              </a:solidFill>
              <a:latin typeface="Arial"/>
            </a:endParaRPr>
          </a:p>
          <a:p>
            <a:endParaRPr lang="en-US" sz="1800" dirty="0" smtClean="0">
              <a:solidFill>
                <a:srgbClr val="BF7300"/>
              </a:solidFill>
              <a:latin typeface="Arial"/>
            </a:endParaRPr>
          </a:p>
          <a:p>
            <a:r>
              <a:rPr lang="en-US" sz="1800" dirty="0" smtClean="0">
                <a:solidFill>
                  <a:srgbClr val="BF7300"/>
                </a:solidFill>
                <a:latin typeface="Arial"/>
              </a:rPr>
              <a:t>The </a:t>
            </a:r>
            <a:r>
              <a:rPr lang="en-US" sz="1800" dirty="0" err="1" smtClean="0">
                <a:solidFill>
                  <a:srgbClr val="BF7300"/>
                </a:solidFill>
                <a:latin typeface="Arial"/>
              </a:rPr>
              <a:t>P</a:t>
            </a:r>
            <a:r>
              <a:rPr lang="en-US" sz="1200" dirty="0" err="1" smtClean="0">
                <a:solidFill>
                  <a:srgbClr val="BF7300"/>
                </a:solidFill>
                <a:latin typeface="Arial"/>
              </a:rPr>
              <a:t>k</a:t>
            </a:r>
            <a:r>
              <a:rPr lang="en-US" sz="1800" dirty="0" smtClean="0">
                <a:solidFill>
                  <a:srgbClr val="BF7300"/>
                </a:solidFill>
                <a:latin typeface="Arial"/>
              </a:rPr>
              <a:t>(minus) is more dependent on Q factor and K is more dependent on R factor.</a:t>
            </a:r>
          </a:p>
          <a:p>
            <a:r>
              <a:rPr lang="en-US" sz="1800" dirty="0" smtClean="0">
                <a:solidFill>
                  <a:srgbClr val="BF7300"/>
                </a:solidFill>
                <a:latin typeface="Arial"/>
              </a:rPr>
              <a:t>As the shoot up in P</a:t>
            </a:r>
            <a:r>
              <a:rPr lang="en-US" sz="1200" dirty="0" smtClean="0">
                <a:solidFill>
                  <a:srgbClr val="BF7300"/>
                </a:solidFill>
                <a:latin typeface="Arial"/>
              </a:rPr>
              <a:t>k</a:t>
            </a:r>
            <a:r>
              <a:rPr lang="en-US" sz="1800" dirty="0" smtClean="0">
                <a:solidFill>
                  <a:srgbClr val="BF7300"/>
                </a:solidFill>
                <a:latin typeface="Arial"/>
              </a:rPr>
              <a:t>(minus) is more compared to reduction in (I – KH), due to which the P</a:t>
            </a:r>
            <a:r>
              <a:rPr lang="en-US" sz="1200" dirty="0" smtClean="0">
                <a:solidFill>
                  <a:srgbClr val="BF7300"/>
                </a:solidFill>
                <a:latin typeface="Arial"/>
              </a:rPr>
              <a:t>k</a:t>
            </a:r>
            <a:r>
              <a:rPr lang="en-US" sz="1800" dirty="0" smtClean="0">
                <a:solidFill>
                  <a:srgbClr val="BF7300"/>
                </a:solidFill>
                <a:latin typeface="Arial"/>
              </a:rPr>
              <a:t> is abruptly increased. </a:t>
            </a:r>
          </a:p>
          <a:p>
            <a:r>
              <a:rPr lang="en-US" sz="1800" dirty="0" err="1" smtClean="0">
                <a:solidFill>
                  <a:srgbClr val="BF7300"/>
                </a:solidFill>
                <a:latin typeface="Arial"/>
              </a:rPr>
              <a:t>P</a:t>
            </a:r>
            <a:r>
              <a:rPr lang="en-US" sz="1200" dirty="0" err="1" smtClean="0">
                <a:solidFill>
                  <a:srgbClr val="BF7300"/>
                </a:solidFill>
                <a:latin typeface="Arial"/>
              </a:rPr>
              <a:t>k</a:t>
            </a:r>
            <a:r>
              <a:rPr lang="en-US" sz="1800" dirty="0" smtClean="0">
                <a:solidFill>
                  <a:srgbClr val="BF7300"/>
                </a:solidFill>
                <a:latin typeface="Arial"/>
              </a:rPr>
              <a:t>(2,2) is (final variance of yaw rate) crossing threshold of 0.025 and the velocity &gt; 1 m/s, results in setting the DEM.</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4E9ED69-8F37-43FB-8FB0-645D574B6F33}"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sp>
        <p:nvSpPr>
          <p:cNvPr id="7" name="Title 1"/>
          <p:cNvSpPr>
            <a:spLocks noGrp="1"/>
          </p:cNvSpPr>
          <p:nvPr>
            <p:ph type="title"/>
          </p:nvPr>
        </p:nvSpPr>
        <p:spPr>
          <a:xfrm>
            <a:off x="395288" y="-350838"/>
            <a:ext cx="8353425" cy="719137"/>
          </a:xfrm>
        </p:spPr>
        <p:txBody>
          <a:bodyPr/>
          <a:lstStyle/>
          <a:p>
            <a:r>
              <a:rPr lang="en-US" dirty="0" smtClean="0"/>
              <a:t>ARS4D2 Endurance – Yaw Rate Not Available is set</a:t>
            </a:r>
            <a:endParaRPr lang="en-US" dirty="0"/>
          </a:p>
        </p:txBody>
      </p:sp>
      <p:pic>
        <p:nvPicPr>
          <p:cNvPr id="8" name="Picture 5"/>
          <p:cNvPicPr>
            <a:picLocks noChangeAspect="1" noChangeArrowheads="1"/>
          </p:cNvPicPr>
          <p:nvPr/>
        </p:nvPicPr>
        <p:blipFill>
          <a:blip r:embed="rId2" cstate="print"/>
          <a:srcRect/>
          <a:stretch>
            <a:fillRect/>
          </a:stretch>
        </p:blipFill>
        <p:spPr bwMode="auto">
          <a:xfrm>
            <a:off x="381000" y="485775"/>
            <a:ext cx="2943225" cy="2133600"/>
          </a:xfrm>
          <a:prstGeom prst="rect">
            <a:avLst/>
          </a:prstGeom>
          <a:noFill/>
          <a:ln w="9525">
            <a:noFill/>
            <a:miter lim="800000"/>
            <a:headEnd/>
            <a:tailEnd/>
          </a:ln>
        </p:spPr>
      </p:pic>
      <p:pic>
        <p:nvPicPr>
          <p:cNvPr id="9" name="Picture 6"/>
          <p:cNvPicPr>
            <a:picLocks noChangeAspect="1" noChangeArrowheads="1"/>
          </p:cNvPicPr>
          <p:nvPr/>
        </p:nvPicPr>
        <p:blipFill>
          <a:blip r:embed="rId3" cstate="print"/>
          <a:srcRect/>
          <a:stretch>
            <a:fillRect/>
          </a:stretch>
        </p:blipFill>
        <p:spPr bwMode="auto">
          <a:xfrm>
            <a:off x="5715000" y="409575"/>
            <a:ext cx="3009900" cy="2209800"/>
          </a:xfrm>
          <a:prstGeom prst="rect">
            <a:avLst/>
          </a:prstGeom>
          <a:noFill/>
          <a:ln w="9525">
            <a:noFill/>
            <a:miter lim="800000"/>
            <a:headEnd/>
            <a:tailEnd/>
          </a:ln>
        </p:spPr>
      </p:pic>
      <p:cxnSp>
        <p:nvCxnSpPr>
          <p:cNvPr id="10" name="Straight Arrow Connector 9"/>
          <p:cNvCxnSpPr/>
          <p:nvPr/>
        </p:nvCxnSpPr>
        <p:spPr>
          <a:xfrm>
            <a:off x="3733800" y="1607229"/>
            <a:ext cx="1447800" cy="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581400" y="1095376"/>
            <a:ext cx="1828800" cy="461665"/>
          </a:xfrm>
          <a:prstGeom prst="rect">
            <a:avLst/>
          </a:prstGeom>
          <a:noFill/>
        </p:spPr>
        <p:txBody>
          <a:bodyPr wrap="square" rtlCol="0">
            <a:spAutoFit/>
          </a:bodyPr>
          <a:lstStyle/>
          <a:p>
            <a:pPr algn="ctr"/>
            <a:r>
              <a:rPr lang="en-US" sz="1200" dirty="0" smtClean="0">
                <a:solidFill>
                  <a:srgbClr val="BF7300"/>
                </a:solidFill>
              </a:rPr>
              <a:t>Q changing due to decrease in Diff</a:t>
            </a:r>
            <a:endParaRPr lang="en-US" sz="1200" dirty="0">
              <a:solidFill>
                <a:srgbClr val="BF7300"/>
              </a:solidFill>
            </a:endParaRPr>
          </a:p>
        </p:txBody>
      </p:sp>
      <p:pic>
        <p:nvPicPr>
          <p:cNvPr id="12" name="Picture 7"/>
          <p:cNvPicPr>
            <a:picLocks noChangeAspect="1" noChangeArrowheads="1"/>
          </p:cNvPicPr>
          <p:nvPr/>
        </p:nvPicPr>
        <p:blipFill>
          <a:blip r:embed="rId4" cstate="print"/>
          <a:srcRect/>
          <a:stretch>
            <a:fillRect/>
          </a:stretch>
        </p:blipFill>
        <p:spPr bwMode="auto">
          <a:xfrm>
            <a:off x="5810250" y="4067175"/>
            <a:ext cx="2952750" cy="2295525"/>
          </a:xfrm>
          <a:prstGeom prst="rect">
            <a:avLst/>
          </a:prstGeom>
          <a:noFill/>
          <a:ln w="9525">
            <a:noFill/>
            <a:miter lim="800000"/>
            <a:headEnd/>
            <a:tailEnd/>
          </a:ln>
        </p:spPr>
      </p:pic>
      <p:cxnSp>
        <p:nvCxnSpPr>
          <p:cNvPr id="13" name="Straight Arrow Connector 12"/>
          <p:cNvCxnSpPr/>
          <p:nvPr/>
        </p:nvCxnSpPr>
        <p:spPr>
          <a:xfrm>
            <a:off x="7239000" y="3000375"/>
            <a:ext cx="0" cy="83820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7315200" y="3148310"/>
            <a:ext cx="914400" cy="276999"/>
          </a:xfrm>
          <a:prstGeom prst="rect">
            <a:avLst/>
          </a:prstGeom>
          <a:noFill/>
        </p:spPr>
        <p:txBody>
          <a:bodyPr wrap="square" rtlCol="0">
            <a:spAutoFit/>
          </a:bodyPr>
          <a:lstStyle/>
          <a:p>
            <a:pPr algn="ctr"/>
            <a:r>
              <a:rPr lang="en-US" sz="1200" dirty="0" smtClean="0">
                <a:solidFill>
                  <a:srgbClr val="BF7300"/>
                </a:solidFill>
              </a:rPr>
              <a:t>Q changing</a:t>
            </a:r>
            <a:endParaRPr lang="en-US" sz="1200" dirty="0">
              <a:solidFill>
                <a:srgbClr val="BF7300"/>
              </a:solidFill>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57CF957-DF25-474B-8750-85D2D36A6CF6}"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pic>
        <p:nvPicPr>
          <p:cNvPr id="73730" name="Picture 2"/>
          <p:cNvPicPr>
            <a:picLocks noChangeAspect="1" noChangeArrowheads="1"/>
          </p:cNvPicPr>
          <p:nvPr/>
        </p:nvPicPr>
        <p:blipFill>
          <a:blip r:embed="rId2"/>
          <a:srcRect/>
          <a:stretch>
            <a:fillRect/>
          </a:stretch>
        </p:blipFill>
        <p:spPr bwMode="auto">
          <a:xfrm>
            <a:off x="904875" y="605061"/>
            <a:ext cx="6701493" cy="5248052"/>
          </a:xfrm>
          <a:prstGeom prst="rect">
            <a:avLst/>
          </a:prstGeom>
          <a:noFill/>
          <a:ln w="9525">
            <a:noFill/>
            <a:miter lim="800000"/>
            <a:headEnd/>
            <a:tailEnd/>
          </a:ln>
        </p:spPr>
      </p:pic>
      <p:sp>
        <p:nvSpPr>
          <p:cNvPr id="8" name="Title 1"/>
          <p:cNvSpPr>
            <a:spLocks noGrp="1"/>
          </p:cNvSpPr>
          <p:nvPr>
            <p:ph type="title"/>
          </p:nvPr>
        </p:nvSpPr>
        <p:spPr>
          <a:xfrm>
            <a:off x="395288" y="20637"/>
            <a:ext cx="8353425" cy="719137"/>
          </a:xfrm>
        </p:spPr>
        <p:txBody>
          <a:bodyPr/>
          <a:lstStyle/>
          <a:p>
            <a:r>
              <a:rPr lang="en-US" dirty="0" smtClean="0"/>
              <a:t>ARS4D2 Endurance – Yaw Rate Not Available is set</a:t>
            </a:r>
            <a:endParaRPr lang="en-US"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35FC27D-8D9C-4BF1-AE09-173C8DDA3F48}"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
        <p:nvSpPr>
          <p:cNvPr id="8" name="Title 1"/>
          <p:cNvSpPr>
            <a:spLocks noGrp="1"/>
          </p:cNvSpPr>
          <p:nvPr>
            <p:ph type="title"/>
          </p:nvPr>
        </p:nvSpPr>
        <p:spPr>
          <a:xfrm>
            <a:off x="395288" y="-55563"/>
            <a:ext cx="8353425" cy="719137"/>
          </a:xfrm>
        </p:spPr>
        <p:txBody>
          <a:bodyPr/>
          <a:lstStyle/>
          <a:p>
            <a:r>
              <a:rPr lang="en-US" dirty="0" smtClean="0"/>
              <a:t>ARS4D2 Endurance – Yaw Rate Not Available is set</a:t>
            </a:r>
            <a:endParaRPr lang="en-US" dirty="0"/>
          </a:p>
        </p:txBody>
      </p:sp>
      <p:cxnSp>
        <p:nvCxnSpPr>
          <p:cNvPr id="9" name="Straight Arrow Connector 8"/>
          <p:cNvCxnSpPr/>
          <p:nvPr/>
        </p:nvCxnSpPr>
        <p:spPr>
          <a:xfrm>
            <a:off x="1752600" y="914400"/>
            <a:ext cx="0" cy="83820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pic>
        <p:nvPicPr>
          <p:cNvPr id="10" name="Picture 2"/>
          <p:cNvPicPr>
            <a:picLocks noChangeAspect="1" noChangeArrowheads="1"/>
          </p:cNvPicPr>
          <p:nvPr/>
        </p:nvPicPr>
        <p:blipFill>
          <a:blip r:embed="rId2" cstate="print"/>
          <a:srcRect/>
          <a:stretch>
            <a:fillRect/>
          </a:stretch>
        </p:blipFill>
        <p:spPr bwMode="auto">
          <a:xfrm>
            <a:off x="381000" y="1828799"/>
            <a:ext cx="2790825" cy="2133601"/>
          </a:xfrm>
          <a:prstGeom prst="rect">
            <a:avLst/>
          </a:prstGeom>
          <a:noFill/>
          <a:ln w="9525">
            <a:noFill/>
            <a:miter lim="800000"/>
            <a:headEnd/>
            <a:tailEnd/>
          </a:ln>
        </p:spPr>
      </p:pic>
      <p:sp>
        <p:nvSpPr>
          <p:cNvPr id="11" name="TextBox 10"/>
          <p:cNvSpPr txBox="1"/>
          <p:nvPr/>
        </p:nvSpPr>
        <p:spPr>
          <a:xfrm>
            <a:off x="1828800" y="1066800"/>
            <a:ext cx="1295400" cy="461665"/>
          </a:xfrm>
          <a:prstGeom prst="rect">
            <a:avLst/>
          </a:prstGeom>
          <a:noFill/>
        </p:spPr>
        <p:txBody>
          <a:bodyPr wrap="square" rtlCol="0">
            <a:spAutoFit/>
          </a:bodyPr>
          <a:lstStyle/>
          <a:p>
            <a:pPr algn="ctr"/>
            <a:r>
              <a:rPr lang="en-US" sz="1200" dirty="0" smtClean="0">
                <a:solidFill>
                  <a:srgbClr val="BF7300"/>
                </a:solidFill>
              </a:rPr>
              <a:t>Yaw rate variance causing DEM set</a:t>
            </a:r>
            <a:endParaRPr lang="en-US" sz="1200" dirty="0">
              <a:solidFill>
                <a:srgbClr val="BF7300"/>
              </a:solidFill>
            </a:endParaRPr>
          </a:p>
        </p:txBody>
      </p:sp>
      <p:sp>
        <p:nvSpPr>
          <p:cNvPr id="12" name="Oval 11"/>
          <p:cNvSpPr/>
          <p:nvPr/>
        </p:nvSpPr>
        <p:spPr>
          <a:xfrm>
            <a:off x="1600200" y="609600"/>
            <a:ext cx="3810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4</a:t>
            </a:r>
            <a:endParaRPr lang="en-US"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4F0DABD-0544-425C-AB5C-D71EED5720A0}"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
        <p:nvSpPr>
          <p:cNvPr id="7" name="Content Placeholder 2"/>
          <p:cNvSpPr>
            <a:spLocks noGrp="1"/>
          </p:cNvSpPr>
          <p:nvPr>
            <p:ph idx="1"/>
          </p:nvPr>
        </p:nvSpPr>
        <p:spPr>
          <a:xfrm>
            <a:off x="276225" y="950962"/>
            <a:ext cx="8229600" cy="3700264"/>
          </a:xfrm>
        </p:spPr>
        <p:txBody>
          <a:bodyPr>
            <a:normAutofit/>
          </a:bodyPr>
          <a:lstStyle/>
          <a:p>
            <a:pPr>
              <a:buAutoNum type="arabicPeriod" startAt="3"/>
            </a:pPr>
            <a:r>
              <a:rPr lang="en-US" sz="1800" u="sng" dirty="0" smtClean="0">
                <a:solidFill>
                  <a:srgbClr val="BF7300"/>
                </a:solidFill>
                <a:latin typeface="Arial"/>
              </a:rPr>
              <a:t>Reason for Divergence (includes DEM not to set)</a:t>
            </a:r>
            <a:r>
              <a:rPr lang="en-US" sz="1800" u="sng" dirty="0" smtClean="0">
                <a:solidFill>
                  <a:srgbClr val="BF7300"/>
                </a:solidFill>
                <a:latin typeface="Arial" pitchFamily="34" charset="0"/>
                <a:cs typeface="Arial" pitchFamily="34" charset="0"/>
              </a:rPr>
              <a:t>:</a:t>
            </a:r>
          </a:p>
          <a:p>
            <a:pPr>
              <a:buNone/>
            </a:pPr>
            <a:endParaRPr lang="en-US" sz="1800" u="sng" dirty="0" smtClean="0">
              <a:solidFill>
                <a:srgbClr val="BF7300"/>
              </a:solidFill>
              <a:latin typeface="Arial" pitchFamily="34" charset="0"/>
              <a:cs typeface="Arial" pitchFamily="34" charset="0"/>
            </a:endParaRPr>
          </a:p>
          <a:p>
            <a:r>
              <a:rPr lang="en-US" sz="1800" dirty="0" smtClean="0">
                <a:solidFill>
                  <a:srgbClr val="BF7300"/>
                </a:solidFill>
                <a:latin typeface="Arial" pitchFamily="34" charset="0"/>
                <a:cs typeface="Arial" pitchFamily="34" charset="0"/>
              </a:rPr>
              <a:t>The root cause for the problem area is sudden increase in distance(nu factor) resulting in R increase.</a:t>
            </a:r>
          </a:p>
          <a:p>
            <a:r>
              <a:rPr lang="en-US" sz="1800" dirty="0" smtClean="0">
                <a:solidFill>
                  <a:srgbClr val="BF7300"/>
                </a:solidFill>
                <a:latin typeface="Arial" pitchFamily="34" charset="0"/>
                <a:cs typeface="Arial" pitchFamily="34" charset="0"/>
              </a:rPr>
              <a:t>The sudden increase in distance is due to the method of sensor yaw rate mean computation method.</a:t>
            </a:r>
          </a:p>
          <a:p>
            <a:r>
              <a:rPr lang="en-US" sz="1800" dirty="0" smtClean="0">
                <a:solidFill>
                  <a:srgbClr val="BF7300"/>
                </a:solidFill>
                <a:latin typeface="Arial" pitchFamily="34" charset="0"/>
                <a:cs typeface="Arial" pitchFamily="34" charset="0"/>
              </a:rPr>
              <a:t>The current implementation of the way the sensor yaw rate mean value calculated is – (summation of 4 yaw rates / 4) .</a:t>
            </a:r>
          </a:p>
          <a:p>
            <a:r>
              <a:rPr lang="en-US" sz="1800" dirty="0" smtClean="0">
                <a:solidFill>
                  <a:srgbClr val="BF7300"/>
                </a:solidFill>
                <a:latin typeface="Arial" pitchFamily="34" charset="0"/>
                <a:cs typeface="Arial" pitchFamily="34" charset="0"/>
              </a:rPr>
              <a:t>If one of the yaw rate is zero, still the division factor is 4 which reduces the output to less resulting in Q decrease. And hence, divergence point starts.</a:t>
            </a:r>
          </a:p>
          <a:p>
            <a:pPr>
              <a:buNone/>
            </a:pPr>
            <a:endParaRPr lang="en-US" sz="1800" dirty="0" smtClean="0">
              <a:solidFill>
                <a:srgbClr val="BF7300"/>
              </a:solidFill>
              <a:latin typeface="Arial" pitchFamily="34" charset="0"/>
              <a:cs typeface="Arial" pitchFamily="34" charset="0"/>
            </a:endParaRPr>
          </a:p>
        </p:txBody>
      </p:sp>
      <p:sp>
        <p:nvSpPr>
          <p:cNvPr id="8" name="Title 1"/>
          <p:cNvSpPr>
            <a:spLocks noGrp="1"/>
          </p:cNvSpPr>
          <p:nvPr>
            <p:ph type="title"/>
          </p:nvPr>
        </p:nvSpPr>
        <p:spPr>
          <a:xfrm>
            <a:off x="147638" y="-26988"/>
            <a:ext cx="8353425" cy="719137"/>
          </a:xfrm>
        </p:spPr>
        <p:txBody>
          <a:bodyPr/>
          <a:lstStyle/>
          <a:p>
            <a:r>
              <a:rPr lang="en-US" dirty="0" smtClean="0"/>
              <a:t>ARS4D2 Endurance – Yaw Rate Not Available is set</a:t>
            </a:r>
            <a:endParaRPr 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335F764-84EE-40F4-B43C-0AFB3E7E7E57}"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sp>
        <p:nvSpPr>
          <p:cNvPr id="8" name="Title 1"/>
          <p:cNvSpPr>
            <a:spLocks noGrp="1"/>
          </p:cNvSpPr>
          <p:nvPr>
            <p:ph type="title"/>
          </p:nvPr>
        </p:nvSpPr>
        <p:spPr>
          <a:xfrm>
            <a:off x="147638" y="-26988"/>
            <a:ext cx="8353425" cy="719137"/>
          </a:xfrm>
        </p:spPr>
        <p:txBody>
          <a:bodyPr/>
          <a:lstStyle/>
          <a:p>
            <a:r>
              <a:rPr lang="en-US" dirty="0" smtClean="0"/>
              <a:t>ARS4D2 Endurance – Yaw Rate Not Available is set</a:t>
            </a:r>
            <a:endParaRPr lang="en-US" dirty="0"/>
          </a:p>
        </p:txBody>
      </p:sp>
      <p:pic>
        <p:nvPicPr>
          <p:cNvPr id="9" name="Picture 2"/>
          <p:cNvPicPr>
            <a:picLocks noChangeAspect="1" noChangeArrowheads="1"/>
          </p:cNvPicPr>
          <p:nvPr/>
        </p:nvPicPr>
        <p:blipFill>
          <a:blip r:embed="rId2" cstate="print"/>
          <a:srcRect/>
          <a:stretch>
            <a:fillRect/>
          </a:stretch>
        </p:blipFill>
        <p:spPr bwMode="auto">
          <a:xfrm>
            <a:off x="533400" y="885825"/>
            <a:ext cx="3057525" cy="2057400"/>
          </a:xfrm>
          <a:prstGeom prst="rect">
            <a:avLst/>
          </a:prstGeom>
          <a:noFill/>
          <a:ln w="9525">
            <a:noFill/>
            <a:miter lim="800000"/>
            <a:headEnd/>
            <a:tailEnd/>
          </a:ln>
        </p:spPr>
      </p:pic>
      <p:pic>
        <p:nvPicPr>
          <p:cNvPr id="10" name="Picture 3"/>
          <p:cNvPicPr>
            <a:picLocks noChangeAspect="1" noChangeArrowheads="1"/>
          </p:cNvPicPr>
          <p:nvPr/>
        </p:nvPicPr>
        <p:blipFill>
          <a:blip r:embed="rId3" cstate="print"/>
          <a:srcRect/>
          <a:stretch>
            <a:fillRect/>
          </a:stretch>
        </p:blipFill>
        <p:spPr bwMode="auto">
          <a:xfrm>
            <a:off x="533400" y="3019425"/>
            <a:ext cx="3048000" cy="2209800"/>
          </a:xfrm>
          <a:prstGeom prst="rect">
            <a:avLst/>
          </a:prstGeom>
          <a:noFill/>
          <a:ln w="9525">
            <a:noFill/>
            <a:miter lim="800000"/>
            <a:headEnd/>
            <a:tailEnd/>
          </a:ln>
        </p:spPr>
      </p:pic>
      <p:pic>
        <p:nvPicPr>
          <p:cNvPr id="11" name="Picture 4"/>
          <p:cNvPicPr>
            <a:picLocks noChangeAspect="1" noChangeArrowheads="1"/>
          </p:cNvPicPr>
          <p:nvPr/>
        </p:nvPicPr>
        <p:blipFill>
          <a:blip r:embed="rId4" cstate="print"/>
          <a:srcRect/>
          <a:stretch>
            <a:fillRect/>
          </a:stretch>
        </p:blipFill>
        <p:spPr bwMode="auto">
          <a:xfrm>
            <a:off x="5753100" y="1876425"/>
            <a:ext cx="2933700" cy="2209800"/>
          </a:xfrm>
          <a:prstGeom prst="rect">
            <a:avLst/>
          </a:prstGeom>
          <a:noFill/>
          <a:ln w="9525">
            <a:noFill/>
            <a:miter lim="800000"/>
            <a:headEnd/>
            <a:tailEnd/>
          </a:ln>
        </p:spPr>
      </p:pic>
      <p:cxnSp>
        <p:nvCxnSpPr>
          <p:cNvPr id="12" name="Straight Arrow Connector 11"/>
          <p:cNvCxnSpPr/>
          <p:nvPr/>
        </p:nvCxnSpPr>
        <p:spPr>
          <a:xfrm>
            <a:off x="4038600" y="2962763"/>
            <a:ext cx="1447800" cy="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4038600" y="2685764"/>
            <a:ext cx="1295400" cy="276999"/>
          </a:xfrm>
          <a:prstGeom prst="rect">
            <a:avLst/>
          </a:prstGeom>
          <a:noFill/>
        </p:spPr>
        <p:txBody>
          <a:bodyPr wrap="square" rtlCol="0">
            <a:spAutoFit/>
          </a:bodyPr>
          <a:lstStyle/>
          <a:p>
            <a:pPr algn="ctr"/>
            <a:r>
              <a:rPr lang="en-US" sz="1200" dirty="0" smtClean="0">
                <a:solidFill>
                  <a:srgbClr val="BF7300"/>
                </a:solidFill>
                <a:cs typeface="Arial" pitchFamily="34" charset="0"/>
              </a:rPr>
              <a:t>difference</a:t>
            </a:r>
            <a:endParaRPr lang="en-US" sz="1200" dirty="0">
              <a:solidFill>
                <a:srgbClr val="BF7300"/>
              </a:solidFill>
              <a:cs typeface="Arial" pitchFamily="34" charset="0"/>
            </a:endParaRPr>
          </a:p>
        </p:txBody>
      </p:sp>
      <p:cxnSp>
        <p:nvCxnSpPr>
          <p:cNvPr id="14" name="Straight Connector 13"/>
          <p:cNvCxnSpPr/>
          <p:nvPr/>
        </p:nvCxnSpPr>
        <p:spPr>
          <a:xfrm>
            <a:off x="3733800" y="2562225"/>
            <a:ext cx="304800"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733800" y="3324225"/>
            <a:ext cx="304800"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038600" y="2572983"/>
            <a:ext cx="0" cy="751242"/>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7162800" y="4162425"/>
            <a:ext cx="0" cy="68580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7010400" y="4848225"/>
            <a:ext cx="3810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4</a:t>
            </a:r>
            <a:endParaRPr lang="en-US"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E20F9E-8A52-4C50-8BA1-5AC5C1E71289}"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
        <p:nvSpPr>
          <p:cNvPr id="7" name="Title 1"/>
          <p:cNvSpPr>
            <a:spLocks noGrp="1"/>
          </p:cNvSpPr>
          <p:nvPr>
            <p:ph type="title"/>
          </p:nvPr>
        </p:nvSpPr>
        <p:spPr>
          <a:xfrm>
            <a:off x="147638" y="-26988"/>
            <a:ext cx="8353425" cy="719137"/>
          </a:xfrm>
        </p:spPr>
        <p:txBody>
          <a:bodyPr/>
          <a:lstStyle/>
          <a:p>
            <a:r>
              <a:rPr lang="en-US" dirty="0" smtClean="0"/>
              <a:t>ARS4D2 Endurance – Yaw Rate Not Available is set</a:t>
            </a:r>
            <a:endParaRPr lang="en-US" dirty="0"/>
          </a:p>
        </p:txBody>
      </p:sp>
      <p:pic>
        <p:nvPicPr>
          <p:cNvPr id="8" name="Picture 2"/>
          <p:cNvPicPr>
            <a:picLocks noChangeAspect="1" noChangeArrowheads="1"/>
          </p:cNvPicPr>
          <p:nvPr/>
        </p:nvPicPr>
        <p:blipFill>
          <a:blip r:embed="rId2" cstate="print"/>
          <a:srcRect/>
          <a:stretch>
            <a:fillRect/>
          </a:stretch>
        </p:blipFill>
        <p:spPr bwMode="auto">
          <a:xfrm>
            <a:off x="609600" y="257175"/>
            <a:ext cx="2905125" cy="1981200"/>
          </a:xfrm>
          <a:prstGeom prst="rect">
            <a:avLst/>
          </a:prstGeom>
          <a:noFill/>
          <a:ln w="9525">
            <a:noFill/>
            <a:miter lim="800000"/>
            <a:headEnd/>
            <a:tailEnd/>
          </a:ln>
        </p:spPr>
      </p:pic>
      <p:cxnSp>
        <p:nvCxnSpPr>
          <p:cNvPr id="9" name="Straight Arrow Connector 8"/>
          <p:cNvCxnSpPr/>
          <p:nvPr/>
        </p:nvCxnSpPr>
        <p:spPr>
          <a:xfrm>
            <a:off x="3810000" y="1171575"/>
            <a:ext cx="1447800" cy="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pic>
        <p:nvPicPr>
          <p:cNvPr id="10" name="Picture 3"/>
          <p:cNvPicPr>
            <a:picLocks noChangeAspect="1" noChangeArrowheads="1"/>
          </p:cNvPicPr>
          <p:nvPr/>
        </p:nvPicPr>
        <p:blipFill>
          <a:blip r:embed="rId3" cstate="print"/>
          <a:srcRect/>
          <a:stretch>
            <a:fillRect/>
          </a:stretch>
        </p:blipFill>
        <p:spPr bwMode="auto">
          <a:xfrm>
            <a:off x="5486400" y="180975"/>
            <a:ext cx="2990850" cy="2133600"/>
          </a:xfrm>
          <a:prstGeom prst="rect">
            <a:avLst/>
          </a:prstGeom>
          <a:noFill/>
          <a:ln w="9525">
            <a:noFill/>
            <a:miter lim="800000"/>
            <a:headEnd/>
            <a:tailEnd/>
          </a:ln>
        </p:spPr>
      </p:pic>
      <p:sp>
        <p:nvSpPr>
          <p:cNvPr id="11" name="TextBox 10"/>
          <p:cNvSpPr txBox="1"/>
          <p:nvPr/>
        </p:nvSpPr>
        <p:spPr>
          <a:xfrm>
            <a:off x="3657600" y="866775"/>
            <a:ext cx="1600200" cy="276999"/>
          </a:xfrm>
          <a:prstGeom prst="rect">
            <a:avLst/>
          </a:prstGeom>
          <a:noFill/>
        </p:spPr>
        <p:txBody>
          <a:bodyPr wrap="square" rtlCol="0">
            <a:spAutoFit/>
          </a:bodyPr>
          <a:lstStyle/>
          <a:p>
            <a:pPr algn="ctr"/>
            <a:r>
              <a:rPr lang="en-US" sz="1200" dirty="0" smtClean="0">
                <a:solidFill>
                  <a:srgbClr val="BF7300"/>
                </a:solidFill>
                <a:cs typeface="Arial" pitchFamily="34" charset="0"/>
              </a:rPr>
              <a:t>decrease in Q gain</a:t>
            </a:r>
            <a:endParaRPr lang="en-US" sz="1200" dirty="0">
              <a:solidFill>
                <a:srgbClr val="BF7300"/>
              </a:solidFill>
              <a:cs typeface="Arial" pitchFamily="34" charset="0"/>
            </a:endParaRPr>
          </a:p>
        </p:txBody>
      </p:sp>
      <p:cxnSp>
        <p:nvCxnSpPr>
          <p:cNvPr id="12" name="Straight Arrow Connector 11"/>
          <p:cNvCxnSpPr/>
          <p:nvPr/>
        </p:nvCxnSpPr>
        <p:spPr>
          <a:xfrm>
            <a:off x="6400800" y="2390774"/>
            <a:ext cx="0" cy="114300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6477000" y="2543174"/>
            <a:ext cx="1981200" cy="1015663"/>
          </a:xfrm>
          <a:prstGeom prst="rect">
            <a:avLst/>
          </a:prstGeom>
          <a:noFill/>
        </p:spPr>
        <p:txBody>
          <a:bodyPr wrap="square" rtlCol="0">
            <a:spAutoFit/>
          </a:bodyPr>
          <a:lstStyle/>
          <a:p>
            <a:pPr algn="ctr"/>
            <a:r>
              <a:rPr lang="en-US" sz="1200" dirty="0" smtClean="0">
                <a:solidFill>
                  <a:srgbClr val="BF7300"/>
                </a:solidFill>
              </a:rPr>
              <a:t>Eventually reducing the distance factor and keeping yaw rate variance under threshold, resulting in DEM not setting</a:t>
            </a:r>
            <a:endParaRPr lang="en-US" sz="1200" dirty="0">
              <a:solidFill>
                <a:srgbClr val="BF7300"/>
              </a:solidFill>
            </a:endParaRPr>
          </a:p>
        </p:txBody>
      </p:sp>
      <p:pic>
        <p:nvPicPr>
          <p:cNvPr id="14" name="Picture 4"/>
          <p:cNvPicPr>
            <a:picLocks noChangeAspect="1" noChangeArrowheads="1"/>
          </p:cNvPicPr>
          <p:nvPr/>
        </p:nvPicPr>
        <p:blipFill>
          <a:blip r:embed="rId4" cstate="print"/>
          <a:srcRect/>
          <a:stretch>
            <a:fillRect/>
          </a:stretch>
        </p:blipFill>
        <p:spPr bwMode="auto">
          <a:xfrm>
            <a:off x="5562601" y="3609975"/>
            <a:ext cx="2971800" cy="2286000"/>
          </a:xfrm>
          <a:prstGeom prst="rect">
            <a:avLst/>
          </a:prstGeom>
          <a:noFill/>
          <a:ln w="9525">
            <a:noFill/>
            <a:miter lim="800000"/>
            <a:headEnd/>
            <a:tailEnd/>
          </a:ln>
        </p:spPr>
      </p:pic>
      <p:pic>
        <p:nvPicPr>
          <p:cNvPr id="15" name="Picture 5"/>
          <p:cNvPicPr>
            <a:picLocks noChangeAspect="1" noChangeArrowheads="1"/>
          </p:cNvPicPr>
          <p:nvPr/>
        </p:nvPicPr>
        <p:blipFill>
          <a:blip r:embed="rId5" cstate="print"/>
          <a:srcRect/>
          <a:stretch>
            <a:fillRect/>
          </a:stretch>
        </p:blipFill>
        <p:spPr bwMode="auto">
          <a:xfrm>
            <a:off x="609600" y="3686174"/>
            <a:ext cx="2790825" cy="2209800"/>
          </a:xfrm>
          <a:prstGeom prst="rect">
            <a:avLst/>
          </a:prstGeom>
          <a:noFill/>
          <a:ln w="9525">
            <a:noFill/>
            <a:miter lim="800000"/>
            <a:headEnd/>
            <a:tailEnd/>
          </a:ln>
        </p:spPr>
      </p:pic>
      <p:cxnSp>
        <p:nvCxnSpPr>
          <p:cNvPr id="16" name="Straight Arrow Connector 15"/>
          <p:cNvCxnSpPr/>
          <p:nvPr/>
        </p:nvCxnSpPr>
        <p:spPr>
          <a:xfrm flipH="1">
            <a:off x="3733800" y="4524374"/>
            <a:ext cx="1600200" cy="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733800" y="4219574"/>
            <a:ext cx="1600200" cy="276999"/>
          </a:xfrm>
          <a:prstGeom prst="rect">
            <a:avLst/>
          </a:prstGeom>
          <a:noFill/>
        </p:spPr>
        <p:txBody>
          <a:bodyPr wrap="square" rtlCol="0">
            <a:spAutoFit/>
          </a:bodyPr>
          <a:lstStyle/>
          <a:p>
            <a:pPr algn="ctr"/>
            <a:r>
              <a:rPr lang="en-US" sz="1200" dirty="0" smtClean="0">
                <a:solidFill>
                  <a:srgbClr val="BF7300"/>
                </a:solidFill>
              </a:rPr>
              <a:t>DEM not set</a:t>
            </a:r>
            <a:endParaRPr lang="en-US" sz="1200" dirty="0">
              <a:solidFill>
                <a:srgbClr val="BF7300"/>
              </a:solidFill>
            </a:endParaRPr>
          </a:p>
        </p:txBody>
      </p:sp>
      <p:sp>
        <p:nvSpPr>
          <p:cNvPr id="18" name="Oval 17"/>
          <p:cNvSpPr/>
          <p:nvPr/>
        </p:nvSpPr>
        <p:spPr>
          <a:xfrm>
            <a:off x="1752600" y="-581025"/>
            <a:ext cx="3810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4</a:t>
            </a:r>
            <a:endParaRPr lang="en-US" dirty="0"/>
          </a:p>
        </p:txBody>
      </p:sp>
      <p:cxnSp>
        <p:nvCxnSpPr>
          <p:cNvPr id="19" name="Straight Arrow Connector 18"/>
          <p:cNvCxnSpPr/>
          <p:nvPr/>
        </p:nvCxnSpPr>
        <p:spPr>
          <a:xfrm>
            <a:off x="1981200" y="-276225"/>
            <a:ext cx="0" cy="533400"/>
          </a:xfrm>
          <a:prstGeom prst="straightConnector1">
            <a:avLst/>
          </a:prstGeom>
          <a:ln w="25400">
            <a:solidFill>
              <a:schemeClr val="accent2"/>
            </a:solidFill>
            <a:headEnd w="sm" len="sm"/>
            <a:tailEnd type="triangle" w="lg" len="lg"/>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10DD304-B779-4B97-8DA9-9965E22D369A}"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
        <p:nvSpPr>
          <p:cNvPr id="7" name="Title 1"/>
          <p:cNvSpPr>
            <a:spLocks noGrp="1"/>
          </p:cNvSpPr>
          <p:nvPr>
            <p:ph type="title"/>
          </p:nvPr>
        </p:nvSpPr>
        <p:spPr>
          <a:xfrm>
            <a:off x="147638" y="30162"/>
            <a:ext cx="8353425" cy="719137"/>
          </a:xfrm>
        </p:spPr>
        <p:txBody>
          <a:bodyPr/>
          <a:lstStyle/>
          <a:p>
            <a:r>
              <a:rPr lang="en-US" dirty="0" smtClean="0"/>
              <a:t>ARS4D2 Endurance – Yaw Rate Not Available is set</a:t>
            </a:r>
            <a:endParaRPr lang="en-US" dirty="0"/>
          </a:p>
        </p:txBody>
      </p:sp>
      <p:sp>
        <p:nvSpPr>
          <p:cNvPr id="8" name="Content Placeholder 2"/>
          <p:cNvSpPr>
            <a:spLocks noGrp="1"/>
          </p:cNvSpPr>
          <p:nvPr>
            <p:ph idx="1"/>
          </p:nvPr>
        </p:nvSpPr>
        <p:spPr>
          <a:xfrm>
            <a:off x="457200" y="908720"/>
            <a:ext cx="8229600" cy="4896544"/>
          </a:xfrm>
        </p:spPr>
        <p:txBody>
          <a:bodyPr>
            <a:normAutofit/>
          </a:bodyPr>
          <a:lstStyle/>
          <a:p>
            <a:pPr>
              <a:buNone/>
            </a:pPr>
            <a:r>
              <a:rPr lang="en-US" sz="1800" u="sng" dirty="0" smtClean="0">
                <a:solidFill>
                  <a:srgbClr val="BF7300"/>
                </a:solidFill>
                <a:latin typeface="Arial" pitchFamily="34" charset="0"/>
                <a:cs typeface="Arial" pitchFamily="34" charset="0"/>
              </a:rPr>
              <a:t>Proposed solution - Implementation point of view:</a:t>
            </a:r>
          </a:p>
          <a:p>
            <a:pPr>
              <a:buNone/>
            </a:pPr>
            <a:endParaRPr lang="en-US" sz="1800" dirty="0" smtClean="0">
              <a:solidFill>
                <a:srgbClr val="BF7300"/>
              </a:solidFill>
            </a:endParaRPr>
          </a:p>
          <a:p>
            <a:r>
              <a:rPr lang="en-US" sz="1800" dirty="0" smtClean="0">
                <a:solidFill>
                  <a:srgbClr val="BF7300"/>
                </a:solidFill>
                <a:latin typeface="Arial" pitchFamily="34" charset="0"/>
                <a:cs typeface="Arial" pitchFamily="34" charset="0"/>
              </a:rPr>
              <a:t>Ideally, the yaw rate which is zero value should not be considered in division factor. That means, in this case, the whl yaw rate is zero. Hence, the division factor should be 3 i.e.  (summation of 3 yaw rates / 3).</a:t>
            </a:r>
          </a:p>
          <a:p>
            <a:r>
              <a:rPr lang="en-US" sz="1800" dirty="0" smtClean="0">
                <a:solidFill>
                  <a:srgbClr val="BF7300"/>
                </a:solidFill>
                <a:latin typeface="Arial" pitchFamily="34" charset="0"/>
                <a:cs typeface="Arial" pitchFamily="34" charset="0"/>
              </a:rPr>
              <a:t>This avoids the sudden jump resulting in Q and R to be smoother. </a:t>
            </a:r>
          </a:p>
          <a:p>
            <a:endParaRPr lang="en-US" sz="1800" dirty="0" smtClean="0">
              <a:solidFill>
                <a:srgbClr val="BF7300"/>
              </a:solidFill>
              <a:latin typeface="Arial" pitchFamily="34" charset="0"/>
            </a:endParaRPr>
          </a:p>
          <a:p>
            <a:pPr>
              <a:buNone/>
            </a:pPr>
            <a:endParaRPr lang="en-US" sz="1800" dirty="0" smtClean="0">
              <a:solidFill>
                <a:srgbClr val="BF7300"/>
              </a:solidFill>
              <a:latin typeface="Arial"/>
            </a:endParaRPr>
          </a:p>
          <a:p>
            <a:pPr>
              <a:buNone/>
            </a:pPr>
            <a:endParaRPr lang="en-US" sz="1800" dirty="0">
              <a:solidFill>
                <a:srgbClr val="BF7300"/>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and Validation (L2)</a:t>
            </a:r>
            <a:endParaRPr lang="en-US" dirty="0"/>
          </a:p>
        </p:txBody>
      </p:sp>
      <p:sp>
        <p:nvSpPr>
          <p:cNvPr id="4" name="Date Placeholder 3"/>
          <p:cNvSpPr>
            <a:spLocks noGrp="1"/>
          </p:cNvSpPr>
          <p:nvPr>
            <p:ph type="dt" sz="half" idx="10"/>
          </p:nvPr>
        </p:nvSpPr>
        <p:spPr/>
        <p:txBody>
          <a:bodyPr/>
          <a:lstStyle/>
          <a:p>
            <a:fld id="{BEFFBECA-DD1D-4A8A-A836-65682956EF3D}"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pic>
        <p:nvPicPr>
          <p:cNvPr id="7" name="Picture 6"/>
          <p:cNvPicPr/>
          <p:nvPr/>
        </p:nvPicPr>
        <p:blipFill>
          <a:blip r:embed="rId2" cstate="print"/>
          <a:srcRect/>
          <a:stretch>
            <a:fillRect/>
          </a:stretch>
        </p:blipFill>
        <p:spPr bwMode="auto">
          <a:xfrm>
            <a:off x="395288" y="1537742"/>
            <a:ext cx="7364289" cy="4464496"/>
          </a:xfrm>
          <a:prstGeom prst="rect">
            <a:avLst/>
          </a:prstGeom>
          <a:noFill/>
          <a:ln w="9525">
            <a:noFill/>
            <a:miter lim="800000"/>
            <a:headEnd/>
            <a:tailEnd/>
          </a:ln>
        </p:spPr>
      </p:pic>
      <p:sp>
        <p:nvSpPr>
          <p:cNvPr id="8" name="TextBox 7"/>
          <p:cNvSpPr txBox="1"/>
          <p:nvPr/>
        </p:nvSpPr>
        <p:spPr>
          <a:xfrm>
            <a:off x="232285" y="1158874"/>
            <a:ext cx="8778365" cy="553998"/>
          </a:xfrm>
          <a:prstGeom prst="rect">
            <a:avLst/>
          </a:prstGeom>
          <a:noFill/>
        </p:spPr>
        <p:txBody>
          <a:bodyPr wrap="none" rtlCol="0">
            <a:spAutoFit/>
          </a:bodyPr>
          <a:lstStyle/>
          <a:p>
            <a:r>
              <a:rPr lang="en-US" sz="1200" dirty="0" smtClean="0"/>
              <a:t>doors://RBGS854A:40000/?version=2&amp;prodID=0&amp;view=00000001&amp;urn=urn:telelogic::1-503e822e5ec3651e-O-3152-00043322</a:t>
            </a:r>
          </a:p>
          <a:p>
            <a:endParaRPr lang="en-US"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AE9917F-7BF4-4824-A27D-BC03CC628C8A}"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pic>
        <p:nvPicPr>
          <p:cNvPr id="7" name="Picture 6"/>
          <p:cNvPicPr/>
          <p:nvPr/>
        </p:nvPicPr>
        <p:blipFill>
          <a:blip r:embed="rId2" cstate="print"/>
          <a:srcRect/>
          <a:stretch>
            <a:fillRect/>
          </a:stretch>
        </p:blipFill>
        <p:spPr bwMode="auto">
          <a:xfrm>
            <a:off x="423413" y="1467927"/>
            <a:ext cx="7056784" cy="4320480"/>
          </a:xfrm>
          <a:prstGeom prst="rect">
            <a:avLst/>
          </a:prstGeom>
          <a:noFill/>
          <a:ln w="9525">
            <a:noFill/>
            <a:miter lim="800000"/>
            <a:headEnd/>
            <a:tailEnd/>
          </a:ln>
        </p:spPr>
      </p:pic>
      <p:sp>
        <p:nvSpPr>
          <p:cNvPr id="8" name="Title 1"/>
          <p:cNvSpPr>
            <a:spLocks noGrp="1"/>
          </p:cNvSpPr>
          <p:nvPr>
            <p:ph type="title"/>
          </p:nvPr>
        </p:nvSpPr>
        <p:spPr>
          <a:xfrm>
            <a:off x="259816" y="517"/>
            <a:ext cx="8353425" cy="719137"/>
          </a:xfrm>
        </p:spPr>
        <p:txBody>
          <a:bodyPr/>
          <a:lstStyle/>
          <a:p>
            <a:r>
              <a:rPr lang="en-US" dirty="0" smtClean="0"/>
              <a:t>Requirements and Validation (L3)</a:t>
            </a:r>
            <a:endParaRPr lang="en-US" dirty="0"/>
          </a:p>
        </p:txBody>
      </p:sp>
      <p:sp>
        <p:nvSpPr>
          <p:cNvPr id="9" name="TextBox 8"/>
          <p:cNvSpPr txBox="1"/>
          <p:nvPr/>
        </p:nvSpPr>
        <p:spPr>
          <a:xfrm>
            <a:off x="326699" y="1032933"/>
            <a:ext cx="7322838" cy="523220"/>
          </a:xfrm>
          <a:prstGeom prst="rect">
            <a:avLst/>
          </a:prstGeom>
          <a:noFill/>
        </p:spPr>
        <p:txBody>
          <a:bodyPr wrap="none" rtlCol="0">
            <a:spAutoFit/>
          </a:bodyPr>
          <a:lstStyle/>
          <a:p>
            <a:r>
              <a:rPr lang="en-US" sz="1000" dirty="0" smtClean="0"/>
              <a:t>doors://RBGS854A:40000/?version=2&amp;prodID=0&amp;view=00000007&amp;urn=urn:telelogic::1-503e822e5ec3651e-O-1533-000221c8</a:t>
            </a:r>
          </a:p>
          <a:p>
            <a:endParaRPr lang="en-US"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C4E6BD2-B9FA-454D-AF90-68168617BB9E}"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sp>
        <p:nvSpPr>
          <p:cNvPr id="7" name="Title 1"/>
          <p:cNvSpPr>
            <a:spLocks noGrp="1"/>
          </p:cNvSpPr>
          <p:nvPr>
            <p:ph type="title"/>
          </p:nvPr>
        </p:nvSpPr>
        <p:spPr>
          <a:xfrm>
            <a:off x="217481" y="102121"/>
            <a:ext cx="8353425" cy="719137"/>
          </a:xfrm>
        </p:spPr>
        <p:txBody>
          <a:bodyPr/>
          <a:lstStyle/>
          <a:p>
            <a:r>
              <a:rPr lang="en-US" dirty="0" smtClean="0"/>
              <a:t>Requirements and Validation (Test Spec - BBT)</a:t>
            </a:r>
            <a:endParaRPr lang="en-US" dirty="0"/>
          </a:p>
        </p:txBody>
      </p:sp>
      <p:pic>
        <p:nvPicPr>
          <p:cNvPr id="8" name="Picture 7"/>
          <p:cNvPicPr/>
          <p:nvPr/>
        </p:nvPicPr>
        <p:blipFill>
          <a:blip r:embed="rId2" cstate="print"/>
          <a:srcRect/>
          <a:stretch>
            <a:fillRect/>
          </a:stretch>
        </p:blipFill>
        <p:spPr bwMode="auto">
          <a:xfrm>
            <a:off x="323528" y="1173889"/>
            <a:ext cx="6768752" cy="3992001"/>
          </a:xfrm>
          <a:prstGeom prst="rect">
            <a:avLst/>
          </a:prstGeom>
          <a:noFill/>
          <a:ln w="9525">
            <a:noFill/>
            <a:miter lim="800000"/>
            <a:headEnd/>
            <a:tailEnd/>
          </a:ln>
        </p:spPr>
      </p:pic>
      <p:sp>
        <p:nvSpPr>
          <p:cNvPr id="12" name="TextBox 11"/>
          <p:cNvSpPr txBox="1"/>
          <p:nvPr/>
        </p:nvSpPr>
        <p:spPr>
          <a:xfrm>
            <a:off x="251443" y="905546"/>
            <a:ext cx="7263527" cy="261610"/>
          </a:xfrm>
          <a:prstGeom prst="rect">
            <a:avLst/>
          </a:prstGeom>
          <a:noFill/>
        </p:spPr>
        <p:txBody>
          <a:bodyPr wrap="none" rtlCol="0">
            <a:spAutoFit/>
          </a:bodyPr>
          <a:lstStyle/>
          <a:p>
            <a:r>
              <a:rPr lang="en-US" sz="1100" dirty="0" smtClean="0"/>
              <a:t>Test Spec : doors://rbgs854a:40000/?version=2&amp;prodID=0&amp;urn=urn:telelogic::1-503e822e5ec3651e-M-0002220d </a:t>
            </a:r>
            <a:endParaRPr lang="en-US" sz="1100" dirty="0"/>
          </a:p>
        </p:txBody>
      </p:sp>
      <p:sp>
        <p:nvSpPr>
          <p:cNvPr id="13" name="TextBox 12"/>
          <p:cNvSpPr txBox="1"/>
          <p:nvPr/>
        </p:nvSpPr>
        <p:spPr>
          <a:xfrm>
            <a:off x="467544" y="5301208"/>
            <a:ext cx="8007320" cy="523220"/>
          </a:xfrm>
          <a:prstGeom prst="rect">
            <a:avLst/>
          </a:prstGeom>
          <a:noFill/>
        </p:spPr>
        <p:txBody>
          <a:bodyPr wrap="none" rtlCol="0">
            <a:spAutoFit/>
          </a:bodyPr>
          <a:lstStyle/>
          <a:p>
            <a:r>
              <a:rPr lang="en-US" sz="1000" dirty="0" smtClean="0"/>
              <a:t>L2 – Spec : doors://RBGS854A:40000/?version=2&amp;prodID=0&amp;view=00000035&amp;urn=urn:telelogic::1-503e822e5ec3651e-O-1623-0002220d</a:t>
            </a:r>
          </a:p>
          <a:p>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212" y="-329696"/>
            <a:ext cx="8353425" cy="719137"/>
          </a:xfrm>
        </p:spPr>
        <p:txBody>
          <a:bodyPr/>
          <a:lstStyle/>
          <a:p>
            <a:r>
              <a:rPr lang="en-US" dirty="0" smtClean="0"/>
              <a:t>VDY-MTS simulation (Interface)</a:t>
            </a:r>
            <a:endParaRPr lang="en-US" dirty="0"/>
          </a:p>
        </p:txBody>
      </p:sp>
      <p:sp>
        <p:nvSpPr>
          <p:cNvPr id="4" name="Date Placeholder 3"/>
          <p:cNvSpPr>
            <a:spLocks noGrp="1"/>
          </p:cNvSpPr>
          <p:nvPr>
            <p:ph type="dt" sz="half" idx="10"/>
          </p:nvPr>
        </p:nvSpPr>
        <p:spPr/>
        <p:txBody>
          <a:bodyPr/>
          <a:lstStyle/>
          <a:p>
            <a:fld id="{B0F30E94-4449-41FB-8914-C72DF5AA1808}"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grpSp>
        <p:nvGrpSpPr>
          <p:cNvPr id="23" name="Group 22"/>
          <p:cNvGrpSpPr/>
          <p:nvPr/>
        </p:nvGrpSpPr>
        <p:grpSpPr>
          <a:xfrm>
            <a:off x="3021307" y="1211560"/>
            <a:ext cx="4309884" cy="2983980"/>
            <a:chOff x="2267744" y="806654"/>
            <a:chExt cx="4309884" cy="2983980"/>
          </a:xfrm>
        </p:grpSpPr>
        <p:sp>
          <p:nvSpPr>
            <p:cNvPr id="12" name="Right Arrow 11"/>
            <p:cNvSpPr/>
            <p:nvPr/>
          </p:nvSpPr>
          <p:spPr>
            <a:xfrm>
              <a:off x="2267744" y="2048934"/>
              <a:ext cx="800750" cy="369332"/>
            </a:xfrm>
            <a:prstGeom prst="rightArrow">
              <a:avLst/>
            </a:prstGeom>
            <a:solidFill>
              <a:schemeClr val="accent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err="1" smtClean="0">
                <a:solidFill>
                  <a:schemeClr val="bg2">
                    <a:lumMod val="10000"/>
                  </a:schemeClr>
                </a:solidFill>
              </a:endParaRPr>
            </a:p>
          </p:txBody>
        </p:sp>
        <p:sp>
          <p:nvSpPr>
            <p:cNvPr id="13" name="Right Arrow 12"/>
            <p:cNvSpPr/>
            <p:nvPr/>
          </p:nvSpPr>
          <p:spPr>
            <a:xfrm>
              <a:off x="5427434" y="2048934"/>
              <a:ext cx="1150194" cy="369332"/>
            </a:xfrm>
            <a:prstGeom prst="rightArrow">
              <a:avLst/>
            </a:prstGeom>
            <a:solidFill>
              <a:schemeClr val="accent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err="1" smtClean="0">
                <a:solidFill>
                  <a:schemeClr val="bg2">
                    <a:lumMod val="10000"/>
                  </a:schemeClr>
                </a:solidFill>
              </a:endParaRPr>
            </a:p>
          </p:txBody>
        </p:sp>
        <p:grpSp>
          <p:nvGrpSpPr>
            <p:cNvPr id="22" name="Group 21"/>
            <p:cNvGrpSpPr/>
            <p:nvPr/>
          </p:nvGrpSpPr>
          <p:grpSpPr>
            <a:xfrm>
              <a:off x="2267744" y="806654"/>
              <a:ext cx="4102147" cy="2983980"/>
              <a:chOff x="2267744" y="781253"/>
              <a:chExt cx="4102147" cy="2983980"/>
            </a:xfrm>
          </p:grpSpPr>
          <p:grpSp>
            <p:nvGrpSpPr>
              <p:cNvPr id="17" name="Group 16"/>
              <p:cNvGrpSpPr/>
              <p:nvPr/>
            </p:nvGrpSpPr>
            <p:grpSpPr>
              <a:xfrm>
                <a:off x="3068494" y="1196752"/>
                <a:ext cx="2358940" cy="2106816"/>
                <a:chOff x="3068494" y="1196752"/>
                <a:chExt cx="2358940" cy="2106816"/>
              </a:xfrm>
            </p:grpSpPr>
            <p:grpSp>
              <p:nvGrpSpPr>
                <p:cNvPr id="15" name="Group 14"/>
                <p:cNvGrpSpPr/>
                <p:nvPr/>
              </p:nvGrpSpPr>
              <p:grpSpPr>
                <a:xfrm>
                  <a:off x="3068494" y="1566084"/>
                  <a:ext cx="2358940" cy="1737484"/>
                  <a:chOff x="3068494" y="1566084"/>
                  <a:chExt cx="2358940" cy="1737484"/>
                </a:xfrm>
              </p:grpSpPr>
              <p:grpSp>
                <p:nvGrpSpPr>
                  <p:cNvPr id="11" name="Group 10"/>
                  <p:cNvGrpSpPr/>
                  <p:nvPr/>
                </p:nvGrpSpPr>
                <p:grpSpPr>
                  <a:xfrm>
                    <a:off x="3068494" y="1566084"/>
                    <a:ext cx="2358940" cy="1368152"/>
                    <a:chOff x="3068494" y="2082054"/>
                    <a:chExt cx="2358940" cy="1368152"/>
                  </a:xfrm>
                </p:grpSpPr>
                <p:sp>
                  <p:nvSpPr>
                    <p:cNvPr id="7" name="Rectangle 6"/>
                    <p:cNvSpPr/>
                    <p:nvPr/>
                  </p:nvSpPr>
                  <p:spPr>
                    <a:xfrm>
                      <a:off x="3419872" y="2082054"/>
                      <a:ext cx="1656184" cy="1368152"/>
                    </a:xfrm>
                    <a:prstGeom prst="rect">
                      <a:avLst/>
                    </a:prstGeom>
                    <a:noFill/>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err="1" smtClean="0">
                        <a:solidFill>
                          <a:schemeClr val="bg2">
                            <a:lumMod val="10000"/>
                          </a:schemeClr>
                        </a:solidFill>
                      </a:endParaRPr>
                    </a:p>
                  </p:txBody>
                </p:sp>
                <p:sp>
                  <p:nvSpPr>
                    <p:cNvPr id="8" name="TextBox 7"/>
                    <p:cNvSpPr txBox="1"/>
                    <p:nvPr/>
                  </p:nvSpPr>
                  <p:spPr>
                    <a:xfrm>
                      <a:off x="3635896" y="2564904"/>
                      <a:ext cx="1176604" cy="369332"/>
                    </a:xfrm>
                    <a:prstGeom prst="rect">
                      <a:avLst/>
                    </a:prstGeom>
                    <a:noFill/>
                  </p:spPr>
                  <p:txBody>
                    <a:bodyPr wrap="none" rtlCol="0">
                      <a:spAutoFit/>
                    </a:bodyPr>
                    <a:lstStyle/>
                    <a:p>
                      <a:r>
                        <a:rPr lang="en-US" dirty="0" smtClean="0"/>
                        <a:t>VDY-</a:t>
                      </a:r>
                      <a:r>
                        <a:rPr lang="en-US" dirty="0" err="1" smtClean="0"/>
                        <a:t>Algo</a:t>
                      </a:r>
                      <a:endParaRPr lang="en-US" dirty="0"/>
                    </a:p>
                  </p:txBody>
                </p:sp>
                <p:sp>
                  <p:nvSpPr>
                    <p:cNvPr id="9" name="TextBox 8"/>
                    <p:cNvSpPr txBox="1"/>
                    <p:nvPr/>
                  </p:nvSpPr>
                  <p:spPr>
                    <a:xfrm>
                      <a:off x="3068494" y="2348880"/>
                      <a:ext cx="351378" cy="923330"/>
                    </a:xfrm>
                    <a:prstGeom prst="rect">
                      <a:avLst/>
                    </a:prstGeom>
                    <a:noFill/>
                    <a:ln>
                      <a:solidFill>
                        <a:schemeClr val="tx1"/>
                      </a:solidFill>
                    </a:ln>
                  </p:spPr>
                  <p:txBody>
                    <a:bodyPr wrap="none" rtlCol="0">
                      <a:spAutoFit/>
                    </a:bodyPr>
                    <a:lstStyle/>
                    <a:p>
                      <a:r>
                        <a:rPr lang="en-US" dirty="0" smtClean="0"/>
                        <a:t>R</a:t>
                      </a:r>
                    </a:p>
                    <a:p>
                      <a:r>
                        <a:rPr lang="en-US" dirty="0" smtClean="0"/>
                        <a:t>T</a:t>
                      </a:r>
                    </a:p>
                    <a:p>
                      <a:r>
                        <a:rPr lang="en-US" dirty="0" smtClean="0"/>
                        <a:t>E</a:t>
                      </a:r>
                      <a:endParaRPr lang="en-US" dirty="0"/>
                    </a:p>
                  </p:txBody>
                </p:sp>
                <p:sp>
                  <p:nvSpPr>
                    <p:cNvPr id="10" name="TextBox 9"/>
                    <p:cNvSpPr txBox="1"/>
                    <p:nvPr/>
                  </p:nvSpPr>
                  <p:spPr>
                    <a:xfrm>
                      <a:off x="5076056" y="2345566"/>
                      <a:ext cx="351378" cy="923330"/>
                    </a:xfrm>
                    <a:prstGeom prst="rect">
                      <a:avLst/>
                    </a:prstGeom>
                    <a:noFill/>
                    <a:ln>
                      <a:solidFill>
                        <a:schemeClr val="tx1"/>
                      </a:solidFill>
                    </a:ln>
                  </p:spPr>
                  <p:txBody>
                    <a:bodyPr wrap="none" rtlCol="0">
                      <a:spAutoFit/>
                    </a:bodyPr>
                    <a:lstStyle/>
                    <a:p>
                      <a:r>
                        <a:rPr lang="en-US" dirty="0" smtClean="0"/>
                        <a:t>R</a:t>
                      </a:r>
                    </a:p>
                    <a:p>
                      <a:r>
                        <a:rPr lang="en-US" dirty="0" smtClean="0"/>
                        <a:t>T</a:t>
                      </a:r>
                    </a:p>
                    <a:p>
                      <a:r>
                        <a:rPr lang="en-US" dirty="0" smtClean="0"/>
                        <a:t>E</a:t>
                      </a:r>
                      <a:endParaRPr lang="en-US" dirty="0"/>
                    </a:p>
                  </p:txBody>
                </p:sp>
              </p:grpSp>
              <p:sp>
                <p:nvSpPr>
                  <p:cNvPr id="14" name="TextBox 13"/>
                  <p:cNvSpPr txBox="1"/>
                  <p:nvPr/>
                </p:nvSpPr>
                <p:spPr>
                  <a:xfrm>
                    <a:off x="3857829" y="2934236"/>
                    <a:ext cx="894476" cy="369332"/>
                  </a:xfrm>
                  <a:prstGeom prst="rect">
                    <a:avLst/>
                  </a:prstGeom>
                  <a:noFill/>
                  <a:ln>
                    <a:solidFill>
                      <a:schemeClr val="tx1"/>
                    </a:solidFill>
                  </a:ln>
                </p:spPr>
                <p:txBody>
                  <a:bodyPr wrap="none" rtlCol="0">
                    <a:spAutoFit/>
                  </a:bodyPr>
                  <a:lstStyle/>
                  <a:p>
                    <a:r>
                      <a:rPr lang="en-US" dirty="0" smtClean="0"/>
                      <a:t>R  T  E</a:t>
                    </a:r>
                    <a:endParaRPr lang="en-US" dirty="0"/>
                  </a:p>
                </p:txBody>
              </p:sp>
            </p:grpSp>
            <p:sp>
              <p:nvSpPr>
                <p:cNvPr id="16" name="TextBox 15"/>
                <p:cNvSpPr txBox="1"/>
                <p:nvPr/>
              </p:nvSpPr>
              <p:spPr>
                <a:xfrm>
                  <a:off x="3857829" y="1196752"/>
                  <a:ext cx="894476" cy="369332"/>
                </a:xfrm>
                <a:prstGeom prst="rect">
                  <a:avLst/>
                </a:prstGeom>
                <a:noFill/>
                <a:ln>
                  <a:solidFill>
                    <a:schemeClr val="tx1"/>
                  </a:solidFill>
                </a:ln>
              </p:spPr>
              <p:txBody>
                <a:bodyPr wrap="none" rtlCol="0">
                  <a:spAutoFit/>
                </a:bodyPr>
                <a:lstStyle/>
                <a:p>
                  <a:r>
                    <a:rPr lang="en-US" dirty="0" smtClean="0"/>
                    <a:t>R  T  E</a:t>
                  </a:r>
                  <a:endParaRPr lang="en-US" dirty="0"/>
                </a:p>
              </p:txBody>
            </p:sp>
          </p:grpSp>
          <p:sp>
            <p:nvSpPr>
              <p:cNvPr id="18" name="TextBox 17"/>
              <p:cNvSpPr txBox="1"/>
              <p:nvPr/>
            </p:nvSpPr>
            <p:spPr>
              <a:xfrm>
                <a:off x="2267744" y="2328959"/>
                <a:ext cx="772969" cy="461665"/>
              </a:xfrm>
              <a:prstGeom prst="rect">
                <a:avLst/>
              </a:prstGeom>
              <a:noFill/>
            </p:spPr>
            <p:txBody>
              <a:bodyPr wrap="none" rtlCol="0">
                <a:spAutoFit/>
              </a:bodyPr>
              <a:lstStyle/>
              <a:p>
                <a:r>
                  <a:rPr lang="en-US" sz="1200" dirty="0" smtClean="0"/>
                  <a:t>Input</a:t>
                </a:r>
              </a:p>
              <a:p>
                <a:r>
                  <a:rPr lang="en-US" sz="1200" dirty="0" smtClean="0"/>
                  <a:t>interface</a:t>
                </a:r>
                <a:endParaRPr lang="en-US" sz="1200" dirty="0"/>
              </a:p>
            </p:txBody>
          </p:sp>
          <p:sp>
            <p:nvSpPr>
              <p:cNvPr id="19" name="TextBox 18"/>
              <p:cNvSpPr txBox="1"/>
              <p:nvPr/>
            </p:nvSpPr>
            <p:spPr>
              <a:xfrm>
                <a:off x="5596922" y="2294575"/>
                <a:ext cx="772969" cy="461665"/>
              </a:xfrm>
              <a:prstGeom prst="rect">
                <a:avLst/>
              </a:prstGeom>
              <a:noFill/>
            </p:spPr>
            <p:txBody>
              <a:bodyPr wrap="none" rtlCol="0">
                <a:spAutoFit/>
              </a:bodyPr>
              <a:lstStyle/>
              <a:p>
                <a:r>
                  <a:rPr lang="en-US" sz="1200" dirty="0" smtClean="0"/>
                  <a:t>Output</a:t>
                </a:r>
              </a:p>
              <a:p>
                <a:r>
                  <a:rPr lang="en-US" sz="1200" dirty="0" smtClean="0"/>
                  <a:t>interface</a:t>
                </a:r>
                <a:endParaRPr lang="en-US" sz="1200" dirty="0"/>
              </a:p>
            </p:txBody>
          </p:sp>
          <p:sp>
            <p:nvSpPr>
              <p:cNvPr id="20" name="TextBox 19"/>
              <p:cNvSpPr txBox="1"/>
              <p:nvPr/>
            </p:nvSpPr>
            <p:spPr>
              <a:xfrm>
                <a:off x="3742976" y="3303568"/>
                <a:ext cx="901209" cy="461665"/>
              </a:xfrm>
              <a:prstGeom prst="rect">
                <a:avLst/>
              </a:prstGeom>
              <a:noFill/>
            </p:spPr>
            <p:txBody>
              <a:bodyPr wrap="none" rtlCol="0">
                <a:spAutoFit/>
              </a:bodyPr>
              <a:lstStyle/>
              <a:p>
                <a:r>
                  <a:rPr lang="en-US" sz="1200" dirty="0" smtClean="0"/>
                  <a:t>Parameter</a:t>
                </a:r>
              </a:p>
              <a:p>
                <a:r>
                  <a:rPr lang="en-US" sz="1200" dirty="0" smtClean="0"/>
                  <a:t>interface</a:t>
                </a:r>
                <a:endParaRPr lang="en-US" sz="1200" dirty="0"/>
              </a:p>
            </p:txBody>
          </p:sp>
          <p:sp>
            <p:nvSpPr>
              <p:cNvPr id="21" name="TextBox 20"/>
              <p:cNvSpPr txBox="1"/>
              <p:nvPr/>
            </p:nvSpPr>
            <p:spPr>
              <a:xfrm>
                <a:off x="3742976" y="781253"/>
                <a:ext cx="772969" cy="461665"/>
              </a:xfrm>
              <a:prstGeom prst="rect">
                <a:avLst/>
              </a:prstGeom>
              <a:noFill/>
            </p:spPr>
            <p:txBody>
              <a:bodyPr wrap="none" rtlCol="0">
                <a:spAutoFit/>
              </a:bodyPr>
              <a:lstStyle/>
              <a:p>
                <a:r>
                  <a:rPr lang="en-US" sz="1200" dirty="0" smtClean="0"/>
                  <a:t>NVM</a:t>
                </a:r>
              </a:p>
              <a:p>
                <a:r>
                  <a:rPr lang="en-US" sz="1200" dirty="0" smtClean="0"/>
                  <a:t>interface</a:t>
                </a:r>
                <a:endParaRPr lang="en-US" sz="1200" dirty="0"/>
              </a:p>
            </p:txBody>
          </p:sp>
        </p:grpSp>
      </p:grpSp>
      <p:sp>
        <p:nvSpPr>
          <p:cNvPr id="24" name="Rectangle 23"/>
          <p:cNvSpPr/>
          <p:nvPr/>
        </p:nvSpPr>
        <p:spPr>
          <a:xfrm>
            <a:off x="1869178" y="608180"/>
            <a:ext cx="7095309" cy="4320480"/>
          </a:xfrm>
          <a:prstGeom prst="rect">
            <a:avLst/>
          </a:prstGeom>
          <a:noFill/>
          <a:ln w="53975">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err="1" smtClean="0">
              <a:solidFill>
                <a:schemeClr val="bg2">
                  <a:lumMod val="10000"/>
                </a:schemeClr>
              </a:solidFill>
            </a:endParaRPr>
          </a:p>
        </p:txBody>
      </p:sp>
      <p:sp>
        <p:nvSpPr>
          <p:cNvPr id="25" name="TextBox 24"/>
          <p:cNvSpPr txBox="1"/>
          <p:nvPr/>
        </p:nvSpPr>
        <p:spPr>
          <a:xfrm>
            <a:off x="2349328" y="792846"/>
            <a:ext cx="671979" cy="369332"/>
          </a:xfrm>
          <a:prstGeom prst="rect">
            <a:avLst/>
          </a:prstGeom>
          <a:noFill/>
        </p:spPr>
        <p:txBody>
          <a:bodyPr wrap="none" rtlCol="0">
            <a:spAutoFit/>
          </a:bodyPr>
          <a:lstStyle/>
          <a:p>
            <a:r>
              <a:rPr lang="en-US" b="1" dirty="0" smtClean="0">
                <a:solidFill>
                  <a:srgbClr val="92D050"/>
                </a:solidFill>
              </a:rPr>
              <a:t>MTS</a:t>
            </a:r>
            <a:endParaRPr lang="en-US" b="1" dirty="0">
              <a:solidFill>
                <a:srgbClr val="92D050"/>
              </a:solidFill>
            </a:endParaRPr>
          </a:p>
        </p:txBody>
      </p:sp>
      <p:sp>
        <p:nvSpPr>
          <p:cNvPr id="26" name="TextBox 25"/>
          <p:cNvSpPr txBox="1"/>
          <p:nvPr/>
        </p:nvSpPr>
        <p:spPr>
          <a:xfrm>
            <a:off x="2439628" y="1268760"/>
            <a:ext cx="377026" cy="2862322"/>
          </a:xfrm>
          <a:prstGeom prst="rect">
            <a:avLst/>
          </a:prstGeom>
          <a:noFill/>
          <a:ln>
            <a:solidFill>
              <a:srgbClr val="92D050"/>
            </a:solidFill>
          </a:ln>
        </p:spPr>
        <p:txBody>
          <a:bodyPr wrap="none" rtlCol="0">
            <a:spAutoFit/>
          </a:bodyPr>
          <a:lstStyle/>
          <a:p>
            <a:r>
              <a:rPr lang="en-US" dirty="0" smtClean="0"/>
              <a:t>S</a:t>
            </a:r>
          </a:p>
          <a:p>
            <a:r>
              <a:rPr lang="en-US" dirty="0" smtClean="0"/>
              <a:t>I</a:t>
            </a:r>
          </a:p>
          <a:p>
            <a:r>
              <a:rPr lang="en-US" dirty="0" smtClean="0"/>
              <a:t>M</a:t>
            </a:r>
          </a:p>
          <a:p>
            <a:r>
              <a:rPr lang="en-US" dirty="0" smtClean="0"/>
              <a:t>A</a:t>
            </a:r>
          </a:p>
          <a:p>
            <a:r>
              <a:rPr lang="en-US" dirty="0" smtClean="0"/>
              <a:t>D</a:t>
            </a:r>
          </a:p>
          <a:p>
            <a:r>
              <a:rPr lang="en-US" dirty="0" smtClean="0"/>
              <a:t>A</a:t>
            </a:r>
          </a:p>
          <a:p>
            <a:r>
              <a:rPr lang="en-US" dirty="0" smtClean="0"/>
              <a:t>P</a:t>
            </a:r>
          </a:p>
          <a:p>
            <a:r>
              <a:rPr lang="en-US" dirty="0" smtClean="0"/>
              <a:t>T</a:t>
            </a:r>
          </a:p>
          <a:p>
            <a:r>
              <a:rPr lang="en-US" dirty="0" smtClean="0"/>
              <a:t>E</a:t>
            </a:r>
          </a:p>
          <a:p>
            <a:r>
              <a:rPr lang="en-US" dirty="0" smtClean="0"/>
              <a:t>R</a:t>
            </a:r>
            <a:endParaRPr lang="en-US" dirty="0"/>
          </a:p>
        </p:txBody>
      </p:sp>
      <p:sp>
        <p:nvSpPr>
          <p:cNvPr id="27" name="TextBox 26"/>
          <p:cNvSpPr txBox="1"/>
          <p:nvPr/>
        </p:nvSpPr>
        <p:spPr>
          <a:xfrm>
            <a:off x="25857" y="2219980"/>
            <a:ext cx="1595309" cy="646331"/>
          </a:xfrm>
          <a:prstGeom prst="rect">
            <a:avLst/>
          </a:prstGeom>
          <a:noFill/>
          <a:ln>
            <a:solidFill>
              <a:srgbClr val="00B0F0"/>
            </a:solidFill>
          </a:ln>
        </p:spPr>
        <p:txBody>
          <a:bodyPr wrap="none" rtlCol="0">
            <a:spAutoFit/>
          </a:bodyPr>
          <a:lstStyle/>
          <a:p>
            <a:r>
              <a:rPr lang="en-US" dirty="0" smtClean="0"/>
              <a:t>RECORDING</a:t>
            </a:r>
          </a:p>
          <a:p>
            <a:r>
              <a:rPr lang="en-US" dirty="0" smtClean="0"/>
              <a:t>DEVICE</a:t>
            </a:r>
            <a:endParaRPr lang="en-US" dirty="0"/>
          </a:p>
        </p:txBody>
      </p:sp>
      <p:sp>
        <p:nvSpPr>
          <p:cNvPr id="29" name="Right Arrow 28"/>
          <p:cNvSpPr/>
          <p:nvPr/>
        </p:nvSpPr>
        <p:spPr>
          <a:xfrm>
            <a:off x="1621166" y="2386104"/>
            <a:ext cx="818462" cy="323165"/>
          </a:xfrm>
          <a:prstGeom prst="rightArrow">
            <a:avLst/>
          </a:prstGeom>
          <a:solidFill>
            <a:schemeClr val="accent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err="1" smtClean="0">
              <a:solidFill>
                <a:schemeClr val="bg2">
                  <a:lumMod val="10000"/>
                </a:schemeClr>
              </a:solidFill>
            </a:endParaRPr>
          </a:p>
        </p:txBody>
      </p:sp>
      <p:sp>
        <p:nvSpPr>
          <p:cNvPr id="30" name="TextBox 29"/>
          <p:cNvSpPr txBox="1"/>
          <p:nvPr/>
        </p:nvSpPr>
        <p:spPr>
          <a:xfrm>
            <a:off x="7331191" y="2343768"/>
            <a:ext cx="1069524" cy="646331"/>
          </a:xfrm>
          <a:prstGeom prst="rect">
            <a:avLst/>
          </a:prstGeom>
          <a:noFill/>
          <a:ln>
            <a:solidFill>
              <a:srgbClr val="92D050"/>
            </a:solidFill>
          </a:ln>
        </p:spPr>
        <p:txBody>
          <a:bodyPr wrap="none" rtlCol="0">
            <a:spAutoFit/>
          </a:bodyPr>
          <a:lstStyle/>
          <a:p>
            <a:r>
              <a:rPr lang="en-US" dirty="0" smtClean="0"/>
              <a:t> VISUAL</a:t>
            </a:r>
          </a:p>
          <a:p>
            <a:r>
              <a:rPr lang="en-US" dirty="0" smtClean="0"/>
              <a:t> PLOTS</a:t>
            </a:r>
            <a:endParaRPr lang="en-US" dirty="0"/>
          </a:p>
        </p:txBody>
      </p:sp>
      <p:sp>
        <p:nvSpPr>
          <p:cNvPr id="31" name="Rectangle 30"/>
          <p:cNvSpPr/>
          <p:nvPr/>
        </p:nvSpPr>
        <p:spPr>
          <a:xfrm>
            <a:off x="3582138" y="811560"/>
            <a:ext cx="2934077" cy="3568646"/>
          </a:xfrm>
          <a:prstGeom prst="rect">
            <a:avLst/>
          </a:prstGeom>
          <a:noFill/>
          <a:ln w="952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err="1" smtClean="0">
              <a:solidFill>
                <a:schemeClr val="bg2">
                  <a:lumMod val="10000"/>
                </a:schemeClr>
              </a:solidFill>
            </a:endParaRPr>
          </a:p>
        </p:txBody>
      </p:sp>
      <p:sp>
        <p:nvSpPr>
          <p:cNvPr id="32" name="TextBox 31"/>
          <p:cNvSpPr txBox="1"/>
          <p:nvPr/>
        </p:nvSpPr>
        <p:spPr>
          <a:xfrm>
            <a:off x="5121733" y="899428"/>
            <a:ext cx="1415772" cy="369332"/>
          </a:xfrm>
          <a:prstGeom prst="rect">
            <a:avLst/>
          </a:prstGeom>
          <a:noFill/>
        </p:spPr>
        <p:txBody>
          <a:bodyPr wrap="none" rtlCol="0">
            <a:spAutoFit/>
          </a:bodyPr>
          <a:lstStyle/>
          <a:p>
            <a:r>
              <a:rPr lang="en-US" dirty="0" smtClean="0">
                <a:solidFill>
                  <a:schemeClr val="accent2"/>
                </a:solidFill>
              </a:rPr>
              <a:t>ECU-CODE</a:t>
            </a:r>
          </a:p>
        </p:txBody>
      </p:sp>
      <p:sp>
        <p:nvSpPr>
          <p:cNvPr id="33" name="TextBox 32"/>
          <p:cNvSpPr txBox="1"/>
          <p:nvPr/>
        </p:nvSpPr>
        <p:spPr>
          <a:xfrm>
            <a:off x="6537505" y="1697437"/>
            <a:ext cx="1261884" cy="646331"/>
          </a:xfrm>
          <a:prstGeom prst="rect">
            <a:avLst/>
          </a:prstGeom>
          <a:noFill/>
        </p:spPr>
        <p:txBody>
          <a:bodyPr wrap="none" rtlCol="0">
            <a:spAutoFit/>
          </a:bodyPr>
          <a:lstStyle/>
          <a:p>
            <a:r>
              <a:rPr lang="en-US" dirty="0" smtClean="0"/>
              <a:t>Simulation</a:t>
            </a:r>
          </a:p>
          <a:p>
            <a:r>
              <a:rPr lang="en-US" dirty="0" smtClean="0"/>
              <a:t>Results</a:t>
            </a:r>
            <a:endParaRPr lang="en-US" dirty="0"/>
          </a:p>
        </p:txBody>
      </p:sp>
      <p:sp>
        <p:nvSpPr>
          <p:cNvPr id="34" name="Rectangle 33"/>
          <p:cNvSpPr/>
          <p:nvPr/>
        </p:nvSpPr>
        <p:spPr>
          <a:xfrm>
            <a:off x="1005545" y="4447942"/>
            <a:ext cx="6840760" cy="272930"/>
          </a:xfrm>
          <a:prstGeom prst="rect">
            <a:avLst/>
          </a:prstGeom>
          <a:solidFill>
            <a:schemeClr val="accent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err="1" smtClean="0">
              <a:solidFill>
                <a:schemeClr val="bg2">
                  <a:lumMod val="10000"/>
                </a:schemeClr>
              </a:solidFill>
            </a:endParaRPr>
          </a:p>
        </p:txBody>
      </p:sp>
      <p:sp>
        <p:nvSpPr>
          <p:cNvPr id="35" name="Rectangle 34"/>
          <p:cNvSpPr/>
          <p:nvPr/>
        </p:nvSpPr>
        <p:spPr>
          <a:xfrm>
            <a:off x="1005545" y="2866311"/>
            <a:ext cx="254087" cy="1581631"/>
          </a:xfrm>
          <a:prstGeom prst="rect">
            <a:avLst/>
          </a:prstGeom>
          <a:solidFill>
            <a:schemeClr val="accent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err="1" smtClean="0">
              <a:solidFill>
                <a:schemeClr val="bg2">
                  <a:lumMod val="10000"/>
                </a:schemeClr>
              </a:solidFill>
            </a:endParaRPr>
          </a:p>
        </p:txBody>
      </p:sp>
      <p:sp>
        <p:nvSpPr>
          <p:cNvPr id="36" name="Up Arrow 35"/>
          <p:cNvSpPr/>
          <p:nvPr/>
        </p:nvSpPr>
        <p:spPr>
          <a:xfrm>
            <a:off x="7556060" y="3004953"/>
            <a:ext cx="360040" cy="1457843"/>
          </a:xfrm>
          <a:prstGeom prst="upArrow">
            <a:avLst/>
          </a:prstGeom>
          <a:solidFill>
            <a:schemeClr val="accent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err="1" smtClean="0">
              <a:solidFill>
                <a:schemeClr val="bg2">
                  <a:lumMod val="10000"/>
                </a:schemeClr>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VDY-Structures in MTS</a:t>
            </a:r>
            <a:endParaRPr lang="en-US" dirty="0"/>
          </a:p>
        </p:txBody>
      </p:sp>
      <p:sp>
        <p:nvSpPr>
          <p:cNvPr id="4" name="Date Placeholder 3"/>
          <p:cNvSpPr>
            <a:spLocks noGrp="1"/>
          </p:cNvSpPr>
          <p:nvPr>
            <p:ph type="dt" sz="half" idx="10"/>
          </p:nvPr>
        </p:nvSpPr>
        <p:spPr/>
        <p:txBody>
          <a:bodyPr/>
          <a:lstStyle/>
          <a:p>
            <a:fld id="{E0BBFF69-E5CD-404E-AACB-58AD644B6004}"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grpSp>
        <p:nvGrpSpPr>
          <p:cNvPr id="9" name="Group 8"/>
          <p:cNvGrpSpPr/>
          <p:nvPr/>
        </p:nvGrpSpPr>
        <p:grpSpPr>
          <a:xfrm>
            <a:off x="3419872" y="2924944"/>
            <a:ext cx="1656184" cy="1368152"/>
            <a:chOff x="4173435" y="1996391"/>
            <a:chExt cx="1656184" cy="1368152"/>
          </a:xfrm>
        </p:grpSpPr>
        <p:sp>
          <p:nvSpPr>
            <p:cNvPr id="7" name="Rectangle 6"/>
            <p:cNvSpPr/>
            <p:nvPr/>
          </p:nvSpPr>
          <p:spPr>
            <a:xfrm>
              <a:off x="4173435" y="1996391"/>
              <a:ext cx="1656184" cy="1368152"/>
            </a:xfrm>
            <a:prstGeom prst="rect">
              <a:avLst/>
            </a:prstGeom>
            <a:noFill/>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err="1" smtClean="0">
                <a:solidFill>
                  <a:schemeClr val="bg2">
                    <a:lumMod val="10000"/>
                  </a:schemeClr>
                </a:solidFill>
              </a:endParaRPr>
            </a:p>
          </p:txBody>
        </p:sp>
        <p:sp>
          <p:nvSpPr>
            <p:cNvPr id="8" name="TextBox 7"/>
            <p:cNvSpPr txBox="1"/>
            <p:nvPr/>
          </p:nvSpPr>
          <p:spPr>
            <a:xfrm>
              <a:off x="4389459" y="2479241"/>
              <a:ext cx="1176604" cy="369332"/>
            </a:xfrm>
            <a:prstGeom prst="rect">
              <a:avLst/>
            </a:prstGeom>
            <a:noFill/>
          </p:spPr>
          <p:txBody>
            <a:bodyPr wrap="none" rtlCol="0">
              <a:spAutoFit/>
            </a:bodyPr>
            <a:lstStyle/>
            <a:p>
              <a:r>
                <a:rPr lang="en-US" dirty="0" smtClean="0"/>
                <a:t>VDY-</a:t>
              </a:r>
              <a:r>
                <a:rPr lang="en-US" dirty="0" err="1" smtClean="0"/>
                <a:t>Algo</a:t>
              </a:r>
              <a:endParaRPr lang="en-US" dirty="0"/>
            </a:p>
          </p:txBody>
        </p:sp>
      </p:grpSp>
      <p:sp>
        <p:nvSpPr>
          <p:cNvPr id="14" name="TextBox 13"/>
          <p:cNvSpPr txBox="1"/>
          <p:nvPr/>
        </p:nvSpPr>
        <p:spPr>
          <a:xfrm>
            <a:off x="1877363" y="2803798"/>
            <a:ext cx="761747" cy="646331"/>
          </a:xfrm>
          <a:prstGeom prst="rect">
            <a:avLst/>
          </a:prstGeom>
          <a:noFill/>
        </p:spPr>
        <p:txBody>
          <a:bodyPr wrap="none" rtlCol="0">
            <a:spAutoFit/>
          </a:bodyPr>
          <a:lstStyle/>
          <a:p>
            <a:r>
              <a:rPr lang="en-US" dirty="0" smtClean="0"/>
              <a:t>NVM </a:t>
            </a:r>
          </a:p>
          <a:p>
            <a:r>
              <a:rPr lang="en-US" dirty="0" smtClean="0"/>
              <a:t>Read</a:t>
            </a:r>
            <a:endParaRPr lang="en-US" dirty="0"/>
          </a:p>
        </p:txBody>
      </p:sp>
      <p:sp>
        <p:nvSpPr>
          <p:cNvPr id="15" name="TextBox 14"/>
          <p:cNvSpPr txBox="1"/>
          <p:nvPr/>
        </p:nvSpPr>
        <p:spPr>
          <a:xfrm>
            <a:off x="5856818" y="2924944"/>
            <a:ext cx="719108" cy="646331"/>
          </a:xfrm>
          <a:prstGeom prst="rect">
            <a:avLst/>
          </a:prstGeom>
          <a:noFill/>
        </p:spPr>
        <p:txBody>
          <a:bodyPr wrap="none" rtlCol="0">
            <a:spAutoFit/>
          </a:bodyPr>
          <a:lstStyle/>
          <a:p>
            <a:r>
              <a:rPr lang="en-US" dirty="0" smtClean="0"/>
              <a:t>NVM</a:t>
            </a:r>
          </a:p>
          <a:p>
            <a:r>
              <a:rPr lang="en-US" dirty="0" smtClean="0"/>
              <a:t>Write</a:t>
            </a:r>
            <a:endParaRPr lang="en-US" dirty="0"/>
          </a:p>
        </p:txBody>
      </p:sp>
      <p:sp>
        <p:nvSpPr>
          <p:cNvPr id="17" name="Right Arrow 16"/>
          <p:cNvSpPr/>
          <p:nvPr/>
        </p:nvSpPr>
        <p:spPr>
          <a:xfrm>
            <a:off x="2639110" y="3068960"/>
            <a:ext cx="780762" cy="216024"/>
          </a:xfrm>
          <a:prstGeom prst="rightArrow">
            <a:avLst/>
          </a:prstGeom>
          <a:solidFill>
            <a:schemeClr val="accent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err="1" smtClean="0">
              <a:solidFill>
                <a:schemeClr val="bg2">
                  <a:lumMod val="10000"/>
                </a:schemeClr>
              </a:solidFill>
            </a:endParaRPr>
          </a:p>
        </p:txBody>
      </p:sp>
      <p:sp>
        <p:nvSpPr>
          <p:cNvPr id="18" name="Right Arrow 17"/>
          <p:cNvSpPr/>
          <p:nvPr/>
        </p:nvSpPr>
        <p:spPr>
          <a:xfrm>
            <a:off x="5076056" y="3113348"/>
            <a:ext cx="780762" cy="216024"/>
          </a:xfrm>
          <a:prstGeom prst="rightArrow">
            <a:avLst/>
          </a:prstGeom>
          <a:solidFill>
            <a:schemeClr val="accent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err="1" smtClean="0">
              <a:solidFill>
                <a:schemeClr val="bg2">
                  <a:lumMod val="10000"/>
                </a:schemeClr>
              </a:solidFill>
            </a:endParaRPr>
          </a:p>
        </p:txBody>
      </p:sp>
      <p:sp>
        <p:nvSpPr>
          <p:cNvPr id="19" name="TextBox 18"/>
          <p:cNvSpPr txBox="1"/>
          <p:nvPr/>
        </p:nvSpPr>
        <p:spPr>
          <a:xfrm>
            <a:off x="2843808" y="1967634"/>
            <a:ext cx="1394613" cy="369332"/>
          </a:xfrm>
          <a:prstGeom prst="rect">
            <a:avLst/>
          </a:prstGeom>
          <a:noFill/>
        </p:spPr>
        <p:txBody>
          <a:bodyPr wrap="none" rtlCol="0">
            <a:spAutoFit/>
          </a:bodyPr>
          <a:lstStyle/>
          <a:p>
            <a:r>
              <a:rPr lang="en-US" dirty="0" smtClean="0"/>
              <a:t>VDY offsets</a:t>
            </a:r>
            <a:endParaRPr lang="en-US" dirty="0"/>
          </a:p>
        </p:txBody>
      </p:sp>
      <p:sp>
        <p:nvSpPr>
          <p:cNvPr id="20" name="Down Arrow 19"/>
          <p:cNvSpPr/>
          <p:nvPr/>
        </p:nvSpPr>
        <p:spPr>
          <a:xfrm>
            <a:off x="3635896" y="2286164"/>
            <a:ext cx="288032" cy="638780"/>
          </a:xfrm>
          <a:prstGeom prst="downArrow">
            <a:avLst/>
          </a:prstGeom>
          <a:solidFill>
            <a:schemeClr val="accent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err="1" smtClean="0">
              <a:solidFill>
                <a:schemeClr val="bg2">
                  <a:lumMod val="10000"/>
                </a:schemeClr>
              </a:solidFill>
            </a:endParaRPr>
          </a:p>
        </p:txBody>
      </p:sp>
      <p:sp>
        <p:nvSpPr>
          <p:cNvPr id="21" name="TextBox 20"/>
          <p:cNvSpPr txBox="1"/>
          <p:nvPr/>
        </p:nvSpPr>
        <p:spPr>
          <a:xfrm>
            <a:off x="395288" y="3345948"/>
            <a:ext cx="582275" cy="646331"/>
          </a:xfrm>
          <a:prstGeom prst="rect">
            <a:avLst/>
          </a:prstGeom>
          <a:noFill/>
        </p:spPr>
        <p:txBody>
          <a:bodyPr wrap="none" rtlCol="0">
            <a:spAutoFit/>
          </a:bodyPr>
          <a:lstStyle/>
          <a:p>
            <a:r>
              <a:rPr lang="en-US" dirty="0" err="1" smtClean="0"/>
              <a:t>Veh</a:t>
            </a:r>
            <a:endParaRPr lang="en-US" dirty="0" smtClean="0"/>
          </a:p>
          <a:p>
            <a:r>
              <a:rPr lang="en-US" dirty="0" smtClean="0"/>
              <a:t>Sig</a:t>
            </a:r>
            <a:endParaRPr lang="en-US" dirty="0"/>
          </a:p>
        </p:txBody>
      </p:sp>
      <p:sp>
        <p:nvSpPr>
          <p:cNvPr id="22" name="Right Arrow 21"/>
          <p:cNvSpPr/>
          <p:nvPr/>
        </p:nvSpPr>
        <p:spPr>
          <a:xfrm>
            <a:off x="977563" y="3561102"/>
            <a:ext cx="780762" cy="216024"/>
          </a:xfrm>
          <a:prstGeom prst="rightArrow">
            <a:avLst/>
          </a:prstGeom>
          <a:solidFill>
            <a:schemeClr val="accent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err="1" smtClean="0">
              <a:solidFill>
                <a:schemeClr val="bg2">
                  <a:lumMod val="10000"/>
                </a:schemeClr>
              </a:solidFill>
            </a:endParaRPr>
          </a:p>
        </p:txBody>
      </p:sp>
      <p:sp>
        <p:nvSpPr>
          <p:cNvPr id="23" name="TextBox 22"/>
          <p:cNvSpPr txBox="1"/>
          <p:nvPr/>
        </p:nvSpPr>
        <p:spPr>
          <a:xfrm>
            <a:off x="1877363" y="4725144"/>
            <a:ext cx="582275" cy="646331"/>
          </a:xfrm>
          <a:prstGeom prst="rect">
            <a:avLst/>
          </a:prstGeom>
          <a:noFill/>
        </p:spPr>
        <p:txBody>
          <a:bodyPr wrap="none" rtlCol="0">
            <a:spAutoFit/>
          </a:bodyPr>
          <a:lstStyle/>
          <a:p>
            <a:r>
              <a:rPr lang="en-US" dirty="0" err="1" smtClean="0"/>
              <a:t>Veh</a:t>
            </a:r>
            <a:endParaRPr lang="en-US" dirty="0" smtClean="0"/>
          </a:p>
          <a:p>
            <a:r>
              <a:rPr lang="en-US" dirty="0" smtClean="0"/>
              <a:t>Par</a:t>
            </a:r>
            <a:endParaRPr lang="en-US" dirty="0"/>
          </a:p>
        </p:txBody>
      </p:sp>
      <p:sp>
        <p:nvSpPr>
          <p:cNvPr id="24" name="Up Arrow 23"/>
          <p:cNvSpPr/>
          <p:nvPr/>
        </p:nvSpPr>
        <p:spPr>
          <a:xfrm>
            <a:off x="1979713" y="4096460"/>
            <a:ext cx="288032" cy="432048"/>
          </a:xfrm>
          <a:prstGeom prst="upArrow">
            <a:avLst/>
          </a:prstGeom>
          <a:solidFill>
            <a:schemeClr val="accent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err="1" smtClean="0">
              <a:solidFill>
                <a:schemeClr val="bg2">
                  <a:lumMod val="10000"/>
                </a:schemeClr>
              </a:solidFill>
            </a:endParaRPr>
          </a:p>
        </p:txBody>
      </p:sp>
      <p:sp>
        <p:nvSpPr>
          <p:cNvPr id="25" name="TextBox 24"/>
          <p:cNvSpPr txBox="1"/>
          <p:nvPr/>
        </p:nvSpPr>
        <p:spPr>
          <a:xfrm>
            <a:off x="4194965" y="3885138"/>
            <a:ext cx="838756" cy="369332"/>
          </a:xfrm>
          <a:prstGeom prst="rect">
            <a:avLst/>
          </a:prstGeom>
          <a:noFill/>
          <a:ln>
            <a:solidFill>
              <a:srgbClr val="00B050"/>
            </a:solidFill>
          </a:ln>
        </p:spPr>
        <p:txBody>
          <a:bodyPr wrap="none" rtlCol="0">
            <a:spAutoFit/>
          </a:bodyPr>
          <a:lstStyle/>
          <a:p>
            <a:r>
              <a:rPr lang="en-US" dirty="0" err="1" smtClean="0"/>
              <a:t>VehInt</a:t>
            </a:r>
            <a:endParaRPr lang="en-US" dirty="0"/>
          </a:p>
        </p:txBody>
      </p:sp>
      <p:sp>
        <p:nvSpPr>
          <p:cNvPr id="26" name="Right Arrow 25"/>
          <p:cNvSpPr/>
          <p:nvPr/>
        </p:nvSpPr>
        <p:spPr>
          <a:xfrm>
            <a:off x="5076056" y="3669114"/>
            <a:ext cx="780762" cy="216024"/>
          </a:xfrm>
          <a:prstGeom prst="rightArrow">
            <a:avLst/>
          </a:prstGeom>
          <a:solidFill>
            <a:schemeClr val="accent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err="1" smtClean="0">
              <a:solidFill>
                <a:schemeClr val="bg2">
                  <a:lumMod val="10000"/>
                </a:schemeClr>
              </a:solidFill>
            </a:endParaRPr>
          </a:p>
        </p:txBody>
      </p:sp>
      <p:sp>
        <p:nvSpPr>
          <p:cNvPr id="27" name="TextBox 26"/>
          <p:cNvSpPr txBox="1"/>
          <p:nvPr/>
        </p:nvSpPr>
        <p:spPr>
          <a:xfrm>
            <a:off x="5856818" y="3561102"/>
            <a:ext cx="992644" cy="369332"/>
          </a:xfrm>
          <a:prstGeom prst="rect">
            <a:avLst/>
          </a:prstGeom>
          <a:noFill/>
        </p:spPr>
        <p:txBody>
          <a:bodyPr wrap="none" rtlCol="0">
            <a:spAutoFit/>
          </a:bodyPr>
          <a:lstStyle/>
          <a:p>
            <a:r>
              <a:rPr lang="en-US" dirty="0" err="1" smtClean="0"/>
              <a:t>VehDyn</a:t>
            </a:r>
            <a:endParaRPr lang="en-US" dirty="0"/>
          </a:p>
        </p:txBody>
      </p:sp>
      <p:sp>
        <p:nvSpPr>
          <p:cNvPr id="28" name="TextBox 27"/>
          <p:cNvSpPr txBox="1"/>
          <p:nvPr/>
        </p:nvSpPr>
        <p:spPr>
          <a:xfrm>
            <a:off x="1758325" y="3450129"/>
            <a:ext cx="659155" cy="646331"/>
          </a:xfrm>
          <a:prstGeom prst="rect">
            <a:avLst/>
          </a:prstGeom>
          <a:noFill/>
        </p:spPr>
        <p:txBody>
          <a:bodyPr wrap="none" rtlCol="0">
            <a:spAutoFit/>
          </a:bodyPr>
          <a:lstStyle/>
          <a:p>
            <a:r>
              <a:rPr lang="en-US" dirty="0" smtClean="0"/>
              <a:t>VDY</a:t>
            </a:r>
          </a:p>
          <a:p>
            <a:r>
              <a:rPr lang="en-US" dirty="0" smtClean="0"/>
              <a:t>  In</a:t>
            </a:r>
            <a:endParaRPr lang="en-US" dirty="0"/>
          </a:p>
        </p:txBody>
      </p:sp>
      <p:sp>
        <p:nvSpPr>
          <p:cNvPr id="29" name="Right Arrow 28"/>
          <p:cNvSpPr/>
          <p:nvPr/>
        </p:nvSpPr>
        <p:spPr>
          <a:xfrm>
            <a:off x="2267745" y="3571275"/>
            <a:ext cx="1140708" cy="205851"/>
          </a:xfrm>
          <a:prstGeom prst="rightArrow">
            <a:avLst/>
          </a:prstGeom>
          <a:solidFill>
            <a:schemeClr val="accent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err="1" smtClean="0">
              <a:solidFill>
                <a:schemeClr val="bg2">
                  <a:lumMod val="10000"/>
                </a:schemeClr>
              </a:solidFill>
            </a:endParaRPr>
          </a:p>
        </p:txBody>
      </p:sp>
      <p:sp>
        <p:nvSpPr>
          <p:cNvPr id="30" name="Up Arrow 29"/>
          <p:cNvSpPr/>
          <p:nvPr/>
        </p:nvSpPr>
        <p:spPr>
          <a:xfrm>
            <a:off x="4871769" y="2336966"/>
            <a:ext cx="204287" cy="587978"/>
          </a:xfrm>
          <a:prstGeom prst="upArrow">
            <a:avLst/>
          </a:prstGeom>
          <a:solidFill>
            <a:schemeClr val="accent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err="1" smtClean="0">
              <a:solidFill>
                <a:schemeClr val="bg2">
                  <a:lumMod val="10000"/>
                </a:schemeClr>
              </a:solidFill>
            </a:endParaRPr>
          </a:p>
        </p:txBody>
      </p:sp>
      <p:sp>
        <p:nvSpPr>
          <p:cNvPr id="31" name="TextBox 30"/>
          <p:cNvSpPr txBox="1"/>
          <p:nvPr/>
        </p:nvSpPr>
        <p:spPr>
          <a:xfrm>
            <a:off x="4336414" y="1967634"/>
            <a:ext cx="1347485" cy="369332"/>
          </a:xfrm>
          <a:prstGeom prst="rect">
            <a:avLst/>
          </a:prstGeom>
          <a:noFill/>
        </p:spPr>
        <p:txBody>
          <a:bodyPr wrap="none" rtlCol="0">
            <a:spAutoFit/>
          </a:bodyPr>
          <a:lstStyle/>
          <a:p>
            <a:r>
              <a:rPr lang="en-US" dirty="0" smtClean="0"/>
              <a:t>VDY Errors</a:t>
            </a:r>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VDY-Structures in MTS</a:t>
            </a:r>
            <a:endParaRPr lang="en-US" dirty="0"/>
          </a:p>
        </p:txBody>
      </p:sp>
      <p:sp>
        <p:nvSpPr>
          <p:cNvPr id="4" name="Date Placeholder 3"/>
          <p:cNvSpPr>
            <a:spLocks noGrp="1"/>
          </p:cNvSpPr>
          <p:nvPr>
            <p:ph type="dt" sz="half" idx="10"/>
          </p:nvPr>
        </p:nvSpPr>
        <p:spPr/>
        <p:txBody>
          <a:bodyPr/>
          <a:lstStyle/>
          <a:p>
            <a:fld id="{A981F04E-E4C5-40B0-A050-0250606CECFE}"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a:p>
        </p:txBody>
      </p:sp>
      <p:pic>
        <p:nvPicPr>
          <p:cNvPr id="7" name="Picture 5"/>
          <p:cNvPicPr>
            <a:picLocks noChangeAspect="1" noChangeArrowheads="1"/>
          </p:cNvPicPr>
          <p:nvPr/>
        </p:nvPicPr>
        <p:blipFill>
          <a:blip r:embed="rId2"/>
          <a:srcRect/>
          <a:stretch>
            <a:fillRect/>
          </a:stretch>
        </p:blipFill>
        <p:spPr bwMode="auto">
          <a:xfrm>
            <a:off x="6350484" y="1124744"/>
            <a:ext cx="2276475" cy="3448050"/>
          </a:xfrm>
          <a:prstGeom prst="rect">
            <a:avLst/>
          </a:prstGeom>
          <a:noFill/>
          <a:ln w="9525">
            <a:noFill/>
            <a:miter lim="800000"/>
            <a:headEnd/>
            <a:tailEnd/>
          </a:ln>
        </p:spPr>
      </p:pic>
      <p:pic>
        <p:nvPicPr>
          <p:cNvPr id="79874" name="Picture 2"/>
          <p:cNvPicPr>
            <a:picLocks noChangeAspect="1" noChangeArrowheads="1"/>
          </p:cNvPicPr>
          <p:nvPr/>
        </p:nvPicPr>
        <p:blipFill>
          <a:blip r:embed="rId3"/>
          <a:srcRect/>
          <a:stretch>
            <a:fillRect/>
          </a:stretch>
        </p:blipFill>
        <p:spPr bwMode="auto">
          <a:xfrm>
            <a:off x="4067944" y="1268760"/>
            <a:ext cx="2124075" cy="1038225"/>
          </a:xfrm>
          <a:prstGeom prst="rect">
            <a:avLst/>
          </a:prstGeom>
          <a:noFill/>
          <a:ln w="9525">
            <a:noFill/>
            <a:miter lim="800000"/>
            <a:headEnd/>
            <a:tailEnd/>
          </a:ln>
        </p:spPr>
      </p:pic>
      <p:pic>
        <p:nvPicPr>
          <p:cNvPr id="79875" name="Picture 3"/>
          <p:cNvPicPr>
            <a:picLocks noChangeAspect="1" noChangeArrowheads="1"/>
          </p:cNvPicPr>
          <p:nvPr/>
        </p:nvPicPr>
        <p:blipFill>
          <a:blip r:embed="rId4"/>
          <a:srcRect/>
          <a:stretch>
            <a:fillRect/>
          </a:stretch>
        </p:blipFill>
        <p:spPr bwMode="auto">
          <a:xfrm>
            <a:off x="3490913" y="2819400"/>
            <a:ext cx="2162175" cy="1219200"/>
          </a:xfrm>
          <a:prstGeom prst="rect">
            <a:avLst/>
          </a:prstGeom>
          <a:noFill/>
          <a:ln w="9525">
            <a:noFill/>
            <a:miter lim="800000"/>
            <a:headEnd/>
            <a:tailEnd/>
          </a:ln>
        </p:spPr>
      </p:pic>
      <p:pic>
        <p:nvPicPr>
          <p:cNvPr id="79876" name="Picture 4"/>
          <p:cNvPicPr>
            <a:picLocks noChangeAspect="1" noChangeArrowheads="1"/>
          </p:cNvPicPr>
          <p:nvPr/>
        </p:nvPicPr>
        <p:blipFill>
          <a:blip r:embed="rId5"/>
          <a:srcRect/>
          <a:stretch>
            <a:fillRect/>
          </a:stretch>
        </p:blipFill>
        <p:spPr bwMode="auto">
          <a:xfrm>
            <a:off x="1259632" y="1412776"/>
            <a:ext cx="2076450" cy="1228725"/>
          </a:xfrm>
          <a:prstGeom prst="rect">
            <a:avLst/>
          </a:prstGeom>
          <a:noFill/>
          <a:ln w="9525">
            <a:noFill/>
            <a:miter lim="800000"/>
            <a:headEnd/>
            <a:tailEnd/>
          </a:ln>
        </p:spPr>
      </p:pic>
      <p:pic>
        <p:nvPicPr>
          <p:cNvPr id="79877" name="Picture 5"/>
          <p:cNvPicPr>
            <a:picLocks noChangeAspect="1" noChangeArrowheads="1"/>
          </p:cNvPicPr>
          <p:nvPr/>
        </p:nvPicPr>
        <p:blipFill>
          <a:blip r:embed="rId6"/>
          <a:srcRect/>
          <a:stretch>
            <a:fillRect/>
          </a:stretch>
        </p:blipFill>
        <p:spPr bwMode="auto">
          <a:xfrm>
            <a:off x="1259632" y="3163094"/>
            <a:ext cx="2057400" cy="1409700"/>
          </a:xfrm>
          <a:prstGeom prst="rect">
            <a:avLst/>
          </a:prstGeom>
          <a:noFill/>
          <a:ln w="9525">
            <a:noFill/>
            <a:miter lim="800000"/>
            <a:headEnd/>
            <a:tailEnd/>
          </a:ln>
        </p:spPr>
      </p:pic>
      <p:pic>
        <p:nvPicPr>
          <p:cNvPr id="79878" name="Picture 6"/>
          <p:cNvPicPr>
            <a:picLocks noChangeAspect="1" noChangeArrowheads="1"/>
          </p:cNvPicPr>
          <p:nvPr/>
        </p:nvPicPr>
        <p:blipFill>
          <a:blip r:embed="rId7"/>
          <a:srcRect/>
          <a:stretch>
            <a:fillRect/>
          </a:stretch>
        </p:blipFill>
        <p:spPr bwMode="auto">
          <a:xfrm>
            <a:off x="4724400" y="4439980"/>
            <a:ext cx="1857375" cy="2085975"/>
          </a:xfrm>
          <a:prstGeom prst="rect">
            <a:avLst/>
          </a:prstGeom>
          <a:noFill/>
          <a:ln w="9525">
            <a:noFill/>
            <a:miter lim="800000"/>
            <a:headEnd/>
            <a:tailEnd/>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VDY-Structures in MTS</a:t>
            </a:r>
            <a:endParaRPr lang="en-US" dirty="0"/>
          </a:p>
        </p:txBody>
      </p:sp>
      <p:sp>
        <p:nvSpPr>
          <p:cNvPr id="4" name="Date Placeholder 3"/>
          <p:cNvSpPr>
            <a:spLocks noGrp="1"/>
          </p:cNvSpPr>
          <p:nvPr>
            <p:ph type="dt" sz="half" idx="10"/>
          </p:nvPr>
        </p:nvSpPr>
        <p:spPr/>
        <p:txBody>
          <a:bodyPr/>
          <a:lstStyle/>
          <a:p>
            <a:fld id="{0AE86CF8-91C9-4C58-BC93-5CFDAF62D69F}" type="datetime1">
              <a:rPr lang="en-US" smtClean="0"/>
              <a:pPr/>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a:p>
        </p:txBody>
      </p:sp>
      <p:pic>
        <p:nvPicPr>
          <p:cNvPr id="80898" name="Picture 2"/>
          <p:cNvPicPr>
            <a:picLocks noChangeAspect="1" noChangeArrowheads="1"/>
          </p:cNvPicPr>
          <p:nvPr/>
        </p:nvPicPr>
        <p:blipFill>
          <a:blip r:embed="rId2"/>
          <a:srcRect/>
          <a:stretch>
            <a:fillRect/>
          </a:stretch>
        </p:blipFill>
        <p:spPr bwMode="auto">
          <a:xfrm>
            <a:off x="5292080" y="1002011"/>
            <a:ext cx="2628900" cy="6010275"/>
          </a:xfrm>
          <a:prstGeom prst="rect">
            <a:avLst/>
          </a:prstGeom>
          <a:noFill/>
          <a:ln w="9525">
            <a:noFill/>
            <a:miter lim="800000"/>
            <a:headEnd/>
            <a:tailEnd/>
          </a:ln>
        </p:spPr>
      </p:pic>
      <p:pic>
        <p:nvPicPr>
          <p:cNvPr id="80899" name="Picture 3"/>
          <p:cNvPicPr>
            <a:picLocks noChangeAspect="1" noChangeArrowheads="1"/>
          </p:cNvPicPr>
          <p:nvPr/>
        </p:nvPicPr>
        <p:blipFill>
          <a:blip r:embed="rId3"/>
          <a:srcRect/>
          <a:stretch>
            <a:fillRect/>
          </a:stretch>
        </p:blipFill>
        <p:spPr bwMode="auto">
          <a:xfrm>
            <a:off x="2411760" y="1007534"/>
            <a:ext cx="2524125" cy="5867400"/>
          </a:xfrm>
          <a:prstGeom prst="rect">
            <a:avLst/>
          </a:prstGeom>
          <a:noFill/>
          <a:ln w="9525">
            <a:noFill/>
            <a:miter lim="800000"/>
            <a:headEnd/>
            <a:tailEnd/>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Thank You</a:t>
            </a:r>
            <a:endParaRPr lang="en-US" dirty="0"/>
          </a:p>
        </p:txBody>
      </p:sp>
      <p:sp>
        <p:nvSpPr>
          <p:cNvPr id="4" name="Date Placeholder 3"/>
          <p:cNvSpPr>
            <a:spLocks noGrp="1"/>
          </p:cNvSpPr>
          <p:nvPr>
            <p:ph type="dt" sz="half" idx="10"/>
          </p:nvPr>
        </p:nvSpPr>
        <p:spPr/>
        <p:txBody>
          <a:bodyPr/>
          <a:lstStyle/>
          <a:p>
            <a:fld id="{010F3D0A-07C8-47D7-A4F0-C3B4D82D7BAF}" type="datetime3">
              <a:rPr lang="en-US" noProof="0" smtClean="0"/>
              <a:pPr/>
              <a:t>9 February 2018</a:t>
            </a:fld>
            <a:endParaRPr lang="en-US" noProof="0"/>
          </a:p>
        </p:txBody>
      </p:sp>
      <p:sp>
        <p:nvSpPr>
          <p:cNvPr id="5" name="Slide Number Placeholder 4"/>
          <p:cNvSpPr>
            <a:spLocks noGrp="1"/>
          </p:cNvSpPr>
          <p:nvPr>
            <p:ph type="sldNum" sz="quarter" idx="11"/>
          </p:nvPr>
        </p:nvSpPr>
        <p:spPr/>
        <p:txBody>
          <a:bodyPr/>
          <a:lstStyle/>
          <a:p>
            <a:fld id="{ADA48181-2C78-49CB-8C52-912A07842C2E}" type="slidenum">
              <a:rPr lang="en-US" noProof="0" smtClean="0"/>
              <a:pPr/>
              <a:t>78</a:t>
            </a:fld>
            <a:endParaRPr lang="en-US" noProof="0"/>
          </a:p>
        </p:txBody>
      </p:sp>
      <p:sp>
        <p:nvSpPr>
          <p:cNvPr id="6" name="Footer Placeholder 5"/>
          <p:cNvSpPr>
            <a:spLocks noGrp="1"/>
          </p:cNvSpPr>
          <p:nvPr>
            <p:ph type="ftr" sz="quarter" idx="12"/>
          </p:nvPr>
        </p:nvSpPr>
        <p:spPr/>
        <p:txBody>
          <a:bodyPr/>
          <a:lstStyle/>
          <a:p>
            <a:r>
              <a:rPr lang="en-US" noProof="0" smtClean="0"/>
              <a:t>Author, © Continental AG</a:t>
            </a:r>
            <a:endParaRPr lang="en-US" noProof="0"/>
          </a:p>
        </p:txBody>
      </p:sp>
    </p:spTree>
  </p:cSld>
  <p:clrMapOvr>
    <a:masterClrMapping/>
  </p:clrMapOvr>
  <p:transition>
    <p:fad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IO_AGENDA_HASAGENDA" val="True"/>
</p:tagLst>
</file>

<file path=ppt/tags/tag2.xml><?xml version="1.0" encoding="utf-8"?>
<p:tagLst xmlns:a="http://schemas.openxmlformats.org/drawingml/2006/main" xmlns:r="http://schemas.openxmlformats.org/officeDocument/2006/relationships" xmlns:p="http://schemas.openxmlformats.org/presentationml/2006/main">
  <p:tag name="MIO_USER_INPUT_OPTIONS" val="Public;Internal;Confidential"/>
  <p:tag name="MIO_USER_INPUT_REQUIRED" val="Classification and Control of Information;Please select the level of confidentiality:"/>
</p:tagLst>
</file>

<file path=ppt/tags/tag3.xml><?xml version="1.0" encoding="utf-8"?>
<p:tagLst xmlns:a="http://schemas.openxmlformats.org/drawingml/2006/main" xmlns:r="http://schemas.openxmlformats.org/officeDocument/2006/relationships" xmlns:p="http://schemas.openxmlformats.org/presentationml/2006/main">
  <p:tag name="MIO_USER_INPUT_REQUIRED" val="Sender information;Please enter the sender information:"/>
  <p:tag name="MIO_USER_INPUT_TEXT" val="Text"/>
</p:tagLst>
</file>

<file path=ppt/tags/tag4.xml><?xml version="1.0" encoding="utf-8"?>
<p:tagLst xmlns:a="http://schemas.openxmlformats.org/drawingml/2006/main" xmlns:r="http://schemas.openxmlformats.org/officeDocument/2006/relationships" xmlns:p="http://schemas.openxmlformats.org/presentationml/2006/main">
  <p:tag name="MIO_BULLET_IMAGE_BINARY_DATA" val="R0lGODlh4AHgAeZ/AP+WAf/Mk/2YAP+vOP3guf+rMf716vz///6cAP725f/VqP6aBP2rMP/fvP/Upfz++//nxf7q0P6YBf/69f+yQv+uMP+1TP/8/f+wOP3s0fyYAv6wOv768v/Tqfv//fvVpv6yRfyZAP+YBv388vyqMP6aBv/UqfyaA/+WBeGaAP/fwP/q0/+ZCP+0Rf/6+OKYAv7KkfyuMP/s1P6cBP/29f+4U/6ZAP6ZAf+YAf+aAP/+/////f+aAv+ZAv2aAP7///+YAP+sMP6bAP7+/v6sMP6sMf6aAP6ZA/+YA/2aAf/9/v7+/P+tMP+bAP6bAv/9///+/P7//f7+//7/+v//+/2tMP+bAfybAP/++v//+v+aBP2wOv3++fyaAf+bBP7/+/39/f/+/f2ZBf/n1v79///8///9+P2bBvnXp/v/+v3Xqv/37P39//78//2vOP/Xpv79+//Vqv2bBP+XA/+xOv+aAf/++/+3T/+ZBP2bAPqbAf/Ur//QmP////+ZAP///yH5BAEAAH8ALAAAAADgAeABAAf/gH+Cg4SFhoeIiYqLjI2Oj5CRkpOUlZaXmJmam5ydnp+goaKjpKWmp6ipqqusra6vsLGys7S1tre4ubq7vL2+v8DBwsPExcbHyMnKy8zNzs/Q0dLT1NXW19jZ2tvc3d7f4OHi4+Tl5ufopRQFBUEFRCDs8vP09fb0TAxERen9/v+CiggcOJCJDT85gPDwc6Ohw4cQI0p8iKTHgg1MCugjwoRCkA0AQ4qUxg5DlSJBBhCxwbKljRs9fPDoouWGy5s4c+p06SdJDh9GfPgI8TNHAQpEBrBLOrKpU14MKtTYV6AIjhA4gCDAoRPJkRw4klxZuLOsWZZ+DiK84afHERta//wIwPGThxEeQTDkdfe0r99U74hUJWLET1g/iG8cORJCLeLHfowI6GFDAEMeODJr3sy5s+fNTnLcuPvSDxDGPkRoeMlVy1sgSG5UGRCEY4G/uHNfUhqESRDHkIMLH068uPHjyJMHD8K8wAAGuqNLL4RhaYUbTSrjUM69u/fv3ZsAUbpuwPTzTgVGLfDyRogbQngkAU+/vn3uThD6EZKDSJUgVViA3oDmUBBDAb4Z0cMNom2HWUNc3SfhhBLiYIQQfhzRgxE51MREBUWYR+CI2xTBxBZFvOVDQvxZdgMPNiCBAIMU1mhjdw9mx6ENOPQgxA1AbEBESiQWKU0FBVSBQf8IfmAWF0NAKOaDDRy2FQJlN2appXBNOLGdFUAs0IMfXtwgghYCiBZiBRUIaOSbxgyAwZA4CLAQW6YhZpcNOWQHxHZHOEHUloRuCUQSDTkRY2k2CAFEDgeZycMATGDAD5yY8tJOkjjwACkPQODhxA1OvMWWlzROGRMQJTxZ6KsT3uDDo3HhIJ4IfPqwXQk2ZIfQQUUQQQRImRYrywbMBQHrsswym4MfGBFr7LSAMdfstdhuCR+flppI7behUMoEE/Fla+659y3UA11NGBFEEc6BKy8mHymLGRJdoKvvvspRBukROMzQQ6j+UTDvwY9UkE8QCeVHI78QRxwcEGck4UP/bAjFdGFS0CHssSFEUFBEmqBihsMVeLgq8cr6+oCHH1YAWVMXlAGhhQ3ddvzxwW4wUICXmDHkoh8zsGy0vndpAeqYC4UgxJg2LMBVbUzs/O07RWzgL48H5dcEdgIccfTY2MKIg0x2JoaDCC0ixAMSGRFhdaZMEFGBD2TnrTd3yc5dZIgperr34IQT546Ifk+3DhNATKnFs4VHHrkQQaCYuG6+MeGHFlfOOqbkoO/Npw1FVGDw5U9tMEARQtjAw7ZACIFE6LSTvYAYVuSQw7uIo/4PBky0kINdo2bWpA141648yxYSzRYTRejsOzrsANHrHCw9m/YCkC/v/b6x56Do/3aQUj29ORsUcJ2CNsx3AxJAMI3n9/SfKxNCdDU6PNzvnB8OipqrnwBr1zf/bcMC7WjSABdIu3cZMBsYYMBCpsTACkruXUF4IDWCsA62wKd7Fgxh3sSXvtNpsBntqMKLDpIEGwBBhDAkGw4qwgMQnZAZITrIW7YjhLPF8IcsuwEC/jSeFkjrhsRAShB8cASbjElXVQKiFPl1kJvJYVYYMCESg2ESwySkBz/hkQDQMsUynis+c8hBmsQWIultcRfJMqMcCZedKmjxjbhAyRz3uDcRPKo2dMDjLfIxAD4akmw5mAOTbsAUQc6CAUyA0SEnybImJA9GGHTkK1KCAZuIjf+SoOQXEuCSlSO0rgq30eQqKhCEmPhhAS8MpSzPxSMM9QABfkDCHDKnSlSEqAfvocssh5kt17HkCp9qiB+S1EtSvKMCrkuIH3RFzGouywZXekkO8DAaP4hAABZwYzM5YZLCWPOcLCvgODdRBAoADJ3wXFle1pkJSg1ACF+Lpz4hVgW50bMSeVGQGvdJUH31ACVH/KcjUAIXT/WwoBDNlhqZ0DuFKmIAGNEd/oQY0Y4uKyxiq4pFF6E+I8gKfziYgzk9ylItwciJDLjUSA2xgRiwZZQ2aGKT5tfSnlLIhS1pQhWqNlNC/IeMPk1qs9wBgqL+AV4o8IFllEpVZmVtpkX/IAGknrWAqnqVUHzioEKTVIAchMCh2/mqWm2EAy8VoQr0HJcfUGDMJuZnrXiV0E9i185xWmpKK8rBEazgqLwatj5cSQgOPtJL6CGAMpb5kexAeNjKJqdXyAtNEZrqSAT5wC2IkZoTHsVTy5q2OHjgEVgOUoCE3hBBnSrBaWdLIXZkEIl3qAIPfNAEYNL2t/W5QRJQ8toqDGxd1gOucr3DA0f1RoMIKpkPboCDTy73usfh0LogacBxnc2VusMQdsdLHBH0RFfMOd9fedAEHDCIScAhr3zTEqokDIy4qHNsD0owMGGuaL4AZsgQESKEJMQrcZ4FbWNMOboAz7chNhDB/12oW4GKegy2PJDttbQAhD+9CFIO7mh/iPqx3O62t0xq1op6mIMr+CTEEbUvOz6WpONmJb6vel9OgSAHGIsYAQLw58Giq5DpVvdas0OADXrQNB8XlLpeUMnBvPtZvIX3WnhjcpR06uR9xih2tZHXetv73rSU7Vc2wXGXrWkEsflACwXAwLf0y98/Peu/zfrRAkTAgzHVYc36VJARXGiFKnC2WAkW24JbB+JmiUABUCCArUoDaHiOMj+KOgITXGukKqRFzdlCwgd28AMqEIC6PBCAFqzgIpuYeSGiqbQs+YIpqEoVYj6Iww6U8AQp9GEFPsCe63SFhBxQ5gZzAEJoZP8dyoOm0khZ3eorIWaCKeygD32IwhP6EIGwQKrYPcDDimTiQmaDcj4Z6XRZz5qDh+4rBwqYwg/KUOowDGEI3K6IEWKDsrTM4HXmpmQTwHLbEdGGrjCyK79y4AAdRKEPO9gBvn8QhR/82gmMPsi/lRbwSfIgNBaAK4FqAM3ADraw+7rBHg4QcR3oYAdTGIIOLtAHi4/hCEm4WYe9AOqOT3GUh6pCIAeEgbREFj7F5lcPHHDtH7jc4lHYARR0IAWKT0EGbY3MT3xuyBfmQAM9CBl6aKMW0ZKWX0bQtQ4OAIWIS2HbfVACxK+thB9EgAU8Ki3Xy6iFLuABUjcQyHRM9L7/sd3ABNhOvOIXr4Ql6CALfciACF6kalYzxNUHgbXe987AeeqGOWE0POIXT/rE/8DXT/jBDjIQbJbsdobGfkmyl815GMr0L3Lik5mPdvjSl14HU+jDAbTNBR1w29sxMra461Lu2otQTrlhghHiIljR+570S7C40yEOhXvne0P8fpkN/r155wsQCFWowF9+6Sn3Wv/6it+BDpbwcChQ4QA1r/jFM040HnDc/BbkE0xwaE2RRfwBFmnFe6MHf9gmc0sgdcD3BDE3czXXBzeXcy4EBDwHgBYUEzlweyKRJEfQBALwI3OwEArIgIrnAUpwAKrXB1CQbRBYdVFwdVnHIcnD/4ELhCg4gCROQRjuhwMIYFLvp4JYYHwy1wdDoARvh21yF3FxZ3d45346uEAWggRCMCQjUTqR03sq+IWK13iPF3mTl2qr1moHkXlrUYWEcxArcgTBEhIV1nMpCIZ2WHOop3qsJ2yvB26yp2yUxYZj4xNGUCc8IGT9wBxM1oULeIcMCHzCR3zG120+kXzhNm4wEkuCmDe68joJsQ7/MADAFIh544WOyIDZV3PGJ3XeFwH6Fn7+BnCbmDfG80KKIVLpwAAYMF2aODimeIrXJ3/0B4P3l38WtwIY12Abh4KzODZU0gM1USUWNg7jwhYJSDi/CIyl54AQOAUSKHM0Z3M4p/9zGkiHzbhwWLEdn1UFLYAOEhQ1W1c42aiNpMeCLnhtMRh1U0eDNpgfOHiOY3MVs9MeLyF25ZBDR/BC17g380iPiXeESoiETAh3T0h3Uph3AHk0BxEC1mM91OUH0+gN1lI7DemQjiiGkCd5lHeGl5eGChRrGYku2wGK46AsylOSJnmHp9cHqbd6rTdssHdss0eKMcksjwIErCQOvrE8OJmTXwiJw/cExXd8lQhuy0duvViU11I8AgCC3OAGFOA9TemUqKh9q9h9+OaK4HcD/TZ+sqiV2HIVaqQR4MA4YtmIZHmHwlh/xUhxx5iMILaMcJktN8YSQUCA2uAz3zOWeen/e9w4dd44geFogeOYgRs4mNeCFlxhBF6JDQZhjr6Il40Jhvb4gvk4g1aHdf4Yj5jJLDHyOnThQNtQABaAAObFlKI5mgwIkUm4hE0Yd3MXhXeHka2ZmbrnA+JUDSLTVuXHiLr5nHHneCk5eZP3NTGRPz8hYTBZnDYSZtlQAAoyVbgJnc+5kz2ZAe41JrLiBQJgjXwSO/PBnTaiF9iAAaJ4BUewUiSZm+TpkFApiUsQAXhSfV+CFdbDjPI5ITggZ9cQBIciAgl5l/3ZmKm4fVInd09gADDgBGM0GtUHTKCZoNyRAwxQcNMQLEnwUNa1nxOal3tJjPjXB3DgdAYQAMbj/0TtFqIimhxjhCDU8A4M4gNdFZ83yZ8teoqPGYFSsAMHkAU6AAU/kAAw4BWjtSIIuqOIFRQkFg0VsC6q9h4rSjuMeaSk2YKm6XI68AAwuARKAAdS6gdNsBifg6X2cSFws6XOgBFiwwNMojIsSqYmyZsSSQVDIHUuCAX69wM1yhZESafckRWOInLQYJMLNKaASpZUIIM7oKESlgQAMxpckSva2ZxYyhgNUQQM6gyzUUGWeqk5aXFU8HRLIKXbMSN+gAdEmFjw6ajE0RhG8GzNQAR3ValG6qqNKX/XFpw7kAABwBJzwCAFemNXyquacRBJ2Qxkx6rFaqxkuQMPt4ouh/9vHqChXSBYHio2IMqrwmEZfIoDd5QMILAApFqk3DqhZPCA2dYHaxd31zYEGgoWDLFkOaquwbEQ22EDwsIMvTGv9Fqv5PmAO7AEHhAFOmBx8qcDShBxGkqljTM8BPsY2JQDscEjiIgMRAAqFtSqDnuKFfutShCDP+B4D9cHbCAFbgoDcCqnH5sYVAIWMJJuyVAV2BGm9aOyK6uNbdcHU+B4pAZxxqd9i6ofO5sYiFGIPlCyxUABYOQ62nq0R5upUbepMNCpn1qI2ZMaHMKwWil4xyAkeCAEXEasXruysCqrtOoHtoqr7skiRJqgRoEMRbBaG9K1c1uvyIptULiszWr/A88KsFZgoFy7oz0Ykr4gGNPETWobOkZbuC76rU6rA+JKrubKIejaGFjaEHgaDBSgWi7JQJvLuU55r9f2rfiXsUr4r9uBo62DpS60acSwD2lhSn9CuLB7qRArsRRrsS6XsWLLsVaKpaBiBVjrC3ZZiE1gF8RbvGTasvr6sjUns9hWszebsxqCpfEjAAOgfsEgJE6APZDTtwL0utrrlEm7tC+nvBWoqAHAqLxbiDeQurxAqTEkv/M7oWCrsWNrBJ7qXmYrqmkLkNWlEMgCDKgkRQRcwORZtxU7qzBQq2yht4bxngV2jtYzRB8IDBgwO0B0wRj8nIerrMzqrNAKM5A7/61VSF1A0AQGpr68oBIp9kMs3MKj6a36+rmhCwPl2kSkayU6uncUhEtC4Aa+MACTYcHbKsSXKrv5uq+2668wALC628Rc9xLrsh08vAtFMKdAfMVYTKbHO7EV+7nMu7GB0rE2rIMLIhTCBSCaUgBwa8VtPLfci7EwC740a7NvGqfl24w9ywMvIwbAigtMYF5iLKGBzLn1y7T4C7X7K7Wz+EnZAwTDogsAwhV3nL2XLMQHLLZky8BcgQM/QipCMCocCMCzELjTNUVBnMpkqsExe7d5awROIBN/QhlqXHszhgsroVqAzMtY/MKJG8OMSyOu0xDKtpCclwRnTAvx4DbYHP9Cu+zME0rE4Aq6fTCuSFx9PoAo3oQEOWh+Q2cLBWBKntTM4ozBWky7/Hq7X6whRbYgldxlOZB+tnASPtQj9nzP8/vGySvHGssHaNIDoxI2OogHkjoLAyACOZAEdTAUCa3QxTvI3huzDhe+UqADE/AG7JK5siYrtuwKRJAd1BUjHw3S85vJ9+u0iNsHHPAGIkCF5pcDC0BrsjCSchTONu2w8pcFSzoBDjA7dCEUYJGQTuATkEKEXZYVu0MLAmxGSJ3U9foE1/YEURAFIxAHx4YEsCwTYPETUL1mZ3UDBxYLXV1GXw3WrupwMcuTShAFSkADcSAACoIVSLBGY5Kia/b/IDZw0a7wH3x013h9qTtABUvga31wAUy6BC7w1LPTOjjwtiyBS1ltUjYQya3AAIYE2ZF9pDvwBPSHsfhW0kyY0hgiWM11nYDGOU7wXLBQAanNxqtdvFmgf8b3gE7n1xC3BBNgAhyGPM+iYU7GI2JzBKnaChSA2o8N3MGNyYi7BBAXBVTwADsQBix3bTvAAQpwA6wmAu8MY2yhZFv9CkVwSKq93RmsA3AQrtpHBXQXd7H9AxygBoUtXl3WQku2BaadCgbx2/Zt30vd1E/tRVIdwVWtO1Tiak2SPwHtUSxBXXLtCkjB0imr3Q2eymLNk2V91mm91u3n1oaBGCyy4R41/yt3wRDTewpFYARzwOAlvtp67d1P0Nd/HdiDPUOG3ROtcxAvhFSGxbp8WmGt4GnfrMsk3uNtPNmVjW2YfQCazdn7wSOgbQNA9izSJuMQ9Tlq3RAJXgpCIknZbeWR3dqvrQSx/XCz/Qa1fQS3rSvWsyIpZuYFxUS3BB9NYKKoUFbxw+NwntTDbXHFTWoO94TKzdx9/txy4UKhCugEpWzvsUIvPQoVkHWKvuggHYPJ/d3hPd7lDXHord4CwN54414hoCiavk8lcCVgkQQCQNSnAD0xMuU1TerO7HT5Dbr73d90rq8ALuAl6EJzkQJJkFyH9TguyRU3LgpMMNMijsrC3v/j8kcFEI4ESPACKcAa26FsVn3hlXXtoVAAQNYWo97tPf4DTxDHUfAFI4AGL/AC7CUAw9ziF/Pih5U+gIEQVnAC8S7vDS4FDwcHjqcDHvAEgD0aPZAmhS1Yh03geWUD2zwKICB9KXXMXl3lCi/OPzAES4BvvtZ4fr3Z75OiYJ7kom1YTkC5n1AFaaJkp7zCJF/yvJzfFOdyShhx9MbTCoBLtv001FRZ1U0KRMAgqkbfPe/zlzwF+sd9yBqrZL0Dy93c/wXdhkUBiCkKA2ATXjBJ9U31c7sDZPByyBp1GfvwFHve6b3e7b1WZtWZnzAAVdBe4lbrlqz2221xcKAETyv/BUNAcXG3pPhXsQE+4JWl5qagOWD0IlIv+IL/4Fwf4VG9IhSe7ljtUQLQ9KGQ40UTFzu/xpgv+CdO1maN1i+h1kLA1lH91h7FIK1VCkVAZueb8Ksv7D/O134N2IINTEaO8UjOUht9wqOwARggWLGhEL7/+6SO5Za95V0u7l/+2TLfUgux5pzABKvlA1awW9NP/VYu5xSb7LItBbSNEHqu9MAeTzOCBx3vCRsgsPOhBfMPCH6Cg4SFhoeIiYqLjIg3Jn2RkpOUlZaXmJmam5ydnp+goaJZUT99On1LOz86UUp9O0sTJlpANj45fiWNvL2+v8DBiTc3A3/HyMnKy8zN/0FCfjZneDw2wtfY2YqPot3e3+Dh4uOZUJGxsFFUDzthBzs7sBwKN1YCIj7a+vv8wFY4TogUaUawYDMmN3j0AOLDCI9+ECMOg0SuosWLGDNuYgVHh44hpn5QifdKyZBTPzioQSIAmsSXMLNdQWKNicGbBoMEickzJjeNQIMKHXox3pQ+WKI0EGGjhw8etnAAuSGEWDQbOHpqlZijRw4kFXCKZUZkq1l+P4mqXcu2LSUwfX4MQTWFQI8btprcOCJIQI8mPaydHZyNRw4BSIiMXYyMAuHHwdK6nUy5sjgdB3QoQfUFVpsGPZzYEHLLSQ8cQqbyhcyal48bOWzYZLy4QP/r24skW97Nu3emKKfMwTm5REoDvn9t5LjRY0E03NAP2QAg5AgRCrTH2o7OXZBu3+DDU0Yld9IPLDpU9SGQFUk0IThwNOnevUmOEDySzM5uEMR2+tB9J96ABAYFhRnxwLJKJFHsgIoOO6hwQxM8GOFHbAByZwMefnhhDH8GFZFPhrgJWOCJKIoz1wFzLfHgAUrEAw88P6igHA9HaEEidHqchsB+IDrz0I6tmZjikUh6EgUUqCzByjt9KAFcXJpRAVIDOChHZGs4GOFUMUEWhIFgWz5mZJJopumNUUgpxZRTUGE1VVU3XJVVmfzYYINoPhDxYZjLMDAfnoSdqeahiG7/ApdcdNmFlw16reYXYGQSqg0QeNziFQaAMoOBe5aeZWiipJZ6Smab9dHZDp+FNlppp6W2V6jaOAEECz7wVUWnylAwABC0mjWqqcQeCpwOwhFnHHJNKMecc5UGCwxUAsR2g2K8IlMBftJqNWyx4KZI3kmSnJdePOz54d5o8Q3abTA5HPEUEAVkiwwIOSTxLk/fhuvvgAcmSCODDp4S4YQVXhjtvo1MCBAOAlhg7zE73cmwRP3+q3FvK7b4YowK0mhjDjjqeHEveDThZQ54MDDxH0EYdjLGFG1sM4pLNvkkSVOyooSVP2Cp5cyN5FJdNFX8yesArxENUcY3R10gm0kt/9XUvHJSZZWeFjsdxMREYOg0WjVLbfahi87VR1135TWrH5MGNvYgX9tLAQ4azL0P1Gf3vRtmmnHmGWiikeaDaaippnfdvG5QwD1668O335RTdmyyqSzrR3LLNffc3Ix3GkQuI0aOzeSVp07UuOahp16668In3+J2+6BFCKZng7rqvGsU8DkL9tHggwdTaKHYY4cOKBOxrZa7MLv3Ln1FHaf3sYwz1nhjjrRnS0QIRwD7PPRlT28+WzmnsnOUPVd5ZZa5gG5vEDjw0PX4vkR//v5BUe3m1XGSitbqxDVLBQFbnaoAD0KwMPw1rHz8iyBv0taotkHqbXFrIJEQCCgQyP9Hgw7cBgQlSEK3AC5Vq2pV4WCVuLcRioNhGgAexBfC/I2whDhcy+X6MJzMHWdzzeoctEIFwyBVwAYnKF0NH5jDJrKFdeVyHbra8552ETFbBUjIEm3oxC4O5XcKMoXwCgYhCRlPYVfsVAGYkIQbmGyLjNCfF+eYieq56FQgm9EqRlayNC4PCTkgGRyZSMdCViR9TsIMzyLhM6AJLX4v5FUWCzjI3NzQkJjUiP+WIggt7MUGN2hKEo6QJUHo6zZF5M8ksVJJS2bylUSh4NoIgAcjAMEIFgICDgLpBxzg4Sm4SWV2Vnm/VhZCjrBMJiZOKLgn6AAC8amFFeyXBCQsgJT/kGSNMGlDTGNORJngxMgO4QCHWPwgArFxQhLwwEscKREy22RMN715CGSG855QjIQOpNAHKvQBChngUIWcEBsatiaetQklK+lpCHveE5xgpNEU2CSSIaxgcznIQ1dAaBaEakehxWSoQx+aTDuiop9PcEV6lhCJCIjgPp4MpiRBytCGXpKkOP0Nk9SHGSno4AdR+MgP4NGgJURACxzt6EwpWdNBjDSnUJXER55AhVZkQAJGwMENLFQn2PjhBg2xgS5fUi810rSpTr1pVNcKClVEYQoQGgIVZDAhEeirB3DDBRL4AsqXeFQs80TrV9XK1sJuwkEXWFsfniBGGWTpCL+0/0E1mFONU0YEAwMBVGDR+lTDPlQHHogLLOKyBA9ISQamiUYSvJKlTMEESCDabFM769l7guEJE+1DGMToTCzsIAJz6JAPhOADJHALYy7T7FkFS9vaKvMoQ3DQAYCDBVigYgjvWIEInCAAIByhCSGVHGxVuVzOEta56D1FFE7CjlLMiElTsIMBAuAwPBzBJRLpwV9vItuaNje9mYzRDpQgBShshgpPgEJQDQADJMAGNkbQU50kkoSwKJep5gUwgNHTB7UNgcBPiMQr4HGA6s43B0LIZk+KAAKzYni259UwTk17gKH+c4xMkgJQh5AA+uIAAaU0i/JiW14Yyxi9LdoBfP9xO5fEmmIMTQBAPgRA0PC+RGlB6q9IY3zkcDpoCcCBAhUOEJdS9GEFToAPD1LcEgFYWSLYcfFCmcvlLivTSVSCBRSGcJIIIKEHRnBwYGw5hyBvZcjkfbF/62xnWOrgKNN9AhdQEQEcJCE2gATCV3yQBKYkFSJYJrKit9xoz/6An4zdQQZ8MAc98cAHOEDCQ2wgASGobDDjTfScM1xqtirBRVnoQwZEkBABaMEeX60TZKMi2bOEmj9FSMhWBesdRvf6fBz2MIhFrKAonZMFWJkwgPZ7Eybgwc14pfZ/r30zGtvYHA3KMVCn4Fgn+MEIOXgnd8htkALsyQYCoPZg2V3/yCQveQpNFu0YjpAEpAIBCF74NDx5RQSAu5DXBPfil8M85jKbAs2kwdAMeKCFIY17aSKohYoXnfE54pkVeuZzH/wMaAdfgUM2GLm46cPvghSgCIEJuLqt3XLVPboPkZ70zC2N6a78Mt/VMGh3ei4m97gL40Vv4qkXO9RVt1qysAZkYG4wByAQlERUJ0gQqCFxOK4768X6tQ6CPexiHzvgxLCGNR6yHLRnqwh6EvjA4V65bF9321HqthK+He6LlbVTgG+724lOeFO5Ox7wVvI+513ve+fb8X8PvMDfXnnxGPzRTNaBk/uw8IaLFeKS31HamxF5wZO+9ODZ+D87DtSP/6dZOdYYeckZFoTHA6r2o6c87g/1clQoWeY0D/QNbh4NnRPfXsgf+vLPdvSkU5rpNhD7058i1uuHPvZLvP32ebP1VHvd1WHfKNnNvnJaIRpE2afz+qUmd7oTmwfGhmx59xx8t3PScn/8AQJVkFXJt3+HYngdhngjRhKMp1WRUyE+AAQ9wAM3kGtG1ANCp38OqCaXd2Pxtnlv1Xn4pm8zI1l4cAbWIAQIyB9H5DxYN4JHcnpTkHqr13oOB3uRgwM6cmmBsQETMzroF0Lqh4PjoHtiRma9d2a/J3IkZ3Jj8xRW4ANYkQMeCCJMEIIiyIRH0nwx12d/Jn3Ul3MceIFTsf9XOYABRmgvDPB52ieGR9J9USBp33dp4ed0uEB+Ukc0fjEV8pFZ9jIAyHODdlgg7dd1rAZ/sSZ/ZXd2evMQOjIDRmCI2cIEBWCFRraIKNJ/wvZ/AYh3oUSAF2KATsOBXeEHXWhElqWIoEgU8KBPi8dSAqYqFBgB4GaBxpQDzrFafrArL0ME6RaGs6gWO+BMjAVXDtJx/sRP9AYQnseCSxQYDCECODCDXqiKpJaMa0FgNQYHkfAE/LRYWDASEcBwPxhx3lQtCeEDFRBnE8MA3khPSwiOHbYDVOBbJ6EO5LIDK6BQVDh8xqQneoIHrxgkTGB7yqePobAZ5Ehg0cUKQ6D/Am7mB22UhtZnTEBGE0DwbJCHAQ0IkUNRYD4jBfCgAwQwXLngBHjQA+MXdd5kBMRADJzyMsdQFnVokkHhIh6QUnPRAH6ggQJQJ0glifTnTUiQKQmxkFlWkj4JFD8lCSpgafkBBA9BExiyd6noTfmSA7FGjDr5H7I4lZxQi6eweNflEdEVD6xAADRhP4J3CPaDbxsAlbEllWjpCcuoA80IIaaQBXDJT1BgF1rQI8dVl4SAAz5wGhKjkzvJl33JCeL4A+S4WKhwAFIQVEHTS0U5Q3DDmIVQQJr4MgWwE8hYmZsQXf24A/8oF+RCALERcGKZVQhwjKTZS3chBGQpmap5/5asaQkSGSVSEF2SIJfxMRqhdASBFAKgspsK80vGp5PB+YnDuQkoqRkqCQ/skWI3AD+75AS4YHbSKQjACARFoJdBcp0sl52bAJRCqQOg4QekJFmxUXahlC+kcZ69dGmztxg6sZrwaQlVGQlXeWmh5AQPFg1HoHen6J+BkQPcuDS2IFn140352GVqqRkwNxcfUYtxOZdv5p+GIATwYWGSiQwFsABZEica+pDL95eBuSCEGReGiZiK6Ykmqgi6xAQksKLJ0AKchhU8wCHGtKEydpmZ6UxI15k/RZRZgSnAAoY9qghaWJ0rygRbqCkxWpmu6Y/CI5uRQJsAdyFd8mO6ef+liZAVp7mibkABWDEH/ZmkMop7xUmRCbIeSLCcVWEDznkf0cmmiXBfOSmkyFAEOHAFN7CYlaSkGradBDYj37kc4pkD5JkD5kmoipAETVChmwhrWqAFJYo/kApg8rle9IlX92kYNqCfypEEdcqpiIADMdBiiIoMRFAF1mCTX9qXB9oHCboce9KggAqhSXieOCCSW0oTfmBvdsqEHcqWHeaWIsqSJEqr4pWrysAAeDU0rXSqXsaMP+CMg1mY/6SjPeCo2ioMBaCliEoEC6Av91hD4gpOTFqOmwmlnzmlomml7QoM8IqoRbABuWAh0TqCYQqbYypz61GbaIqbaxqwvwD/qi/DBLjAo1t0r8qUp8e5p8qZJX8aqNBJsdcwsIhaADaZrGPDsckkqd25A5UansoxnuUJrSZbsYfKrcjAAPlQr0p4p0eWqkPJqi+an1MRq7Oas71gscVYBRM7eTgYrMO6oMb6oNEQoUzrC057sV/1q9dmkQJzCtUaonCJrRi6tfogFSVgk05QBG/Ks39QADMAsBsrtDgFBbgVCUxyrjiarj2QmOuqsWr7C5I1iLIht8wwAAWAs4+Ktw9VVaGlBFOQh/vqmVIamlVauNngHuHpBwqpuMxgAaU6Pi4rQUOwBE9AHD8ABWT6sGd6m2rKudggL5tjA1XQtTpZBFc3SKcb/0GYgV0OUgYg26ci25zPOai0+wtZQay6q5MUwABg22tjVos/pQoze6mZuqnLCwxNIAQCUAI2oKKiqwzuKbXsNmAQwkj12apIu5+yyrLLiwfE4AMDEIflqwxFML2lJldOMg+2QqwM2nfHmrXyu7x6IQg7m7/IsAFVEEg9gAS4kH6Q60TI4gGmQC6Z0WGpsAMTNQEKYLsI270wYW84cAQxwMDMoEC1QBoLALRz87tS8wSZgR5hcBIxogp76gIdAEhfBYAk7BN+wANFQI8qrKsPmoEPQbiRI8Nmw1Kp4E9K8AQ7ACNLwMN4JQRaEHBHwMRBXCt1sgVHvAxMICJy48V64//EN6MDaYAsQyUjx9kHsyAAnKYybVQN9ffF+sAhIcCecvsrIQAffmGvFZxD1rO+F+BPOzABHZAEMsMD7iGWyuEcehwRWolZY7wM6+lJU0rInqUZQ3As+8QBHeBmCKAXYIUDIjAVz2q3lVwYAvCbmcyiQwwbyvs8ahw18QBaE/AGExoCp0EVONIh0ZChr9wPWIGyR0wBESYaMNyyhYxDQ7BnTzACbzAHsXHCpbQctjADfkCqSVC6x9wLFEq+s3wMFNCJNuhAuZwmF5zBkbDBxOHBixzC+TDC4/wSQOBJXrUhfhC35zwA0JAD3hy0sETDOmDDOBwLatkHPOzDxZbPMaH/BY8ZntVgAwxgxOeMDMUHZHncxNFcOVC8BFJMxVaMxX6gxVyMxhJ9Oj1wBVBhqea80cjAPCcgzjPTzknCxm5cizsQx3Ncx0Zwx+Da0k+TEF2QBBeaXDStDAMgAAhwwMGi00hyyPGQyLDAyI6cC5CMppNs1FwhFUnAQEQsy039B1vAqyztNFR9hyYhylJAyqaMyrC2ynXCXWAtEYZhCzThx0cMAqLhycm0yx7Qy78czEIwzF5QzGud174gYZJlA4x71syQl8/M1iHdN9M8BNV8zdl8n6nYzd9saTjt2I2QKVkCG8rc1PvrWsvhRoGY05ldKu/MwUh3XR38wfZ8b6b9/xhsliVE4NdjHL2uplVO8UbQLEEIrdBRwtA73MO5ENG9PRhIoBdAIAIzTdnJUAFapak8cAV3AdIlNNIlXcW/htIqbZ+NPd1ooQFIQBpmrd09qydAkARdwIGXLS1tPRk87bo+DdQmQMeeOtQJUdTs3ROBpJVMwKzaXQVFUA0hoNS7JN7A6yKIrMha/ciRDD+UfOBaIQYCMANAEKBHzKUgKUgUzj+gDNdy/WN0rcqsjNcerhX20QQDkN3yzaIDENkKleIRRNiGrRzArFWJzReLbaQzrhU+QL8LnOPLUADE2lo+fj6b3dnYjBWgzc05N9rhnOQ9UQsUgONOfgwDQARmN/+AaTzb4lHbGozbqqDbIuzl3BEbAD3muspKeDHlNrPcOnDDza3DkvDQ0Q3Ecg4dPBAETG3nzFB8NpBVYqDnN0PeUWLS590BWbzF6l3o0JEYit5vuZCImM19bezfcHwSQT3gRP3Rmm4WTCDc2q0TCwrpGmPVfYDVi9zIGu7VwLjqt7HanQ4zCACaac59b30Ko1zKLl6/MH7XrszrWnFAv24QjtO2sr4xQO7LQo7Yis3Yzg4Zz+vkA8CAw242VW7NV67N1qDl3gzOpd3t+6AT0X4TAxAEBaR3OYDc3bLfnBBiP5AqwaqSpnABHPAGmdIEsejut2Gpr3YD3z7mJAk34dz/FSGwCwyj75lwdKvAUhZ5EsTRBwbgABogyV+L8AFiwjxQBbga7wZRAxUQYfgdArZyMRaPCXPxBUH1VkMAF2WwWFywBjDQA0yBIXRI8gkPgtXg6p0+7997A7lpuxWv5kLBKB1xDnIBDwzWJSHwnLEhjER/GwH3cFVA4mOeReEJKlFLKzN/CamyA1EQWj6lAz5/Jy4KBNWiacbc9azBEE2wBb6u8slw4/hRs1IdIFDfPy7iIBCiA/OV9QhQHTagBxfiB2KQEL2L99R9C/Ht9wVBBHVSIQwh84UPFAewgw+AGQkAA1+VKcrRA0bepZFv+ZCRA0YwAE2u+T6nqD0O+qUi/wWl32MakCUUbUH+/KCvWgJnD/s9kRW1b/s+p1VHkN9botP87u9i1AcAnxk9BkpCgKTIDx3A5/i4YwNBwODMvwxl7gespuqEkssY/wMa/xEcnwoeHwDV1Evt3v0x8XliqYG7AAgYf4OEhYaHiImKi4yNjEUMQj1+lJWWl5iZmpucnZk3Jn2io6SlpqeoqalDOl9ROlFTQ2B9ZX1PXGswSDd+NjZCTb2exMXGx8jJysvMzc7ENn4hOTc4TTwVNY7b3N3e3ExJfk7P5c6gqunq66g/rHA6ojvuOzsGMDhGPjk+NkBAOKKZG0iwoMGDCJcJyZHDj48ePgoM+EaxokVHFf8G5BCXsKMldOxCikSlJN6OKB76SNGhQxcOSguMNOkhwUeTIzw86tzJs2fPIzhu+OABhAeTi0iTJmXSzydCkCOjjtyxRMcOllcNBJiGQMgRGzdsaMlBFM8Rp2jTql27yR+OHkB6VCmgtK5dbhYK5GRbDqrUv+oOTHnyQMeBBDD83MDzK0ePr15wCAnBw4cVvpgzazYYokeToVXu3B1NOlGVIJuZ+QXMGpWUwgkCaAio5eENIL/8COiBY46Pt6mDCx/eqQQPHDnoll7OnAhZGzmA7BNIHNPq1uqe9PlRso+OH6OkzDugIzZYIXiqq1/P/pOfJEWKMJ9PukARh0Js5KP/3v46dlQ6TNHHPEtsp8MQQ/SRYIFaJYGEHzi81N6EFAq3AFBAVEDfhndtgdoNSQiBgwAV+vefKay4AosstNiCiy68+AKMMBXWaONaAgjhwwBBcOijUnpV8luJoZyYjjs6wCMPPfbgow8//gDE341UVokQAkAQQcGPXF5kAQNhvTTleiYaOUp3J6W0Ukv4wCQTTTbhZOWcdBKUgyBd5kkRBnrZABGRZqpClVVY6aAVV16BJRZZQJhV56OQJgMEBvLpaWk3FNzwVUMUlhmoYIQZhphijEH3mA2RTVbZZZG26qomFRBx6azbBFGFYpN0WmSgrsEmG2224RbNbr39luur/8i6GsRRtDbLCAa3JsGYH9TcoAUQxHnKjnbcxfNdeOOVF8B56SVr7rmUTAMEP37g6ey7iRTQRBK/HHcDRFpku6tUAQ74Q4E/HJjggn00+GCE6CaM7BHUOJFPFczCK3EhdxTA2w3R8XBFD8MIp206Kb4Syyy13JLLLr38EkzHCrdc5w08HAHEAG5MbHMhGMTwCxBJdMHDDSyn9rEqSCrp7xD13JPPPv38E5DLUM8J3RFO+BDxzTdTUAQPNoSQBECcerxvVGiipBJLLrk5U0037RX12zVGZ4UTW0yE9d1M2ICEP2RVN3Qqg15F6KE5dPVVWGOVdRbcjE/ow4NMtHD35P8S2cB1WGNq9jcqoBZ2WGKLNXZqqpRZ1vjp6+VgAwVVTO56AUyEaUO5Yrf2mriziRVsbsT6BhzqwHucnOvEV0BBEk4Ao68pVID3w1VY9BHFEAEXiDR55t2AXvDcr/eL3k3kIEITfhhPPPFBENEDOcuXkmA8fVzQxxJksCSKHQgaDKGE3fcvHGUB8cEccGO+8xGPAUZwwhzaV4qrxGIHoqACBBU0BK3ESGU08p8GNdMDYORrGlXYkgGJNwAMIIeBZ+LODsIQsHpE4QdR0EW+mBalp23whmzJjYSCIMIREq8IQQhbcK7zAy4ETAoDY0UGEkMUK7yJbXLCoRTRcoONFeX/BrLyoQExwAQUiuIJ9XAeeVbAgnFoSnWIY5SjpshGnjAEAV8hAh20OEIPDYeIA9KBEn4QgR4kgWuKcUhASLeqNhrSI9MSQhDsRkcDoqZ2DTRQBCLkA4f4AQk+EBElemesQ3ryIDBDAhEq1UhHYgAYORDGgzAThx0oYQdTOMAesbCCCO3mk7jUCXSA8ZUQUOIG6SulFplAgegIAQhBS0sT3iAKKARMBysAQD78gAABuC2X2LRTJXOAg7iUAAdEYKQwR5g+ogQDMz7owBME1Icx9AIHIdAk/7JJz3JEYxrVuIYTlDNOLRKhCkQRolqAoAYo9GEFNnDCDYwQs8vlYHH1/4woMxbSkIf8Boj9bCQRnCMEzNjABDKwwREQQC+ivOQ2OeioRFeaDKAIhShGcVdGtcjDzDkFBzmhBg4UCIQZUIIoSBAoS4fKCbfARS78nCkdmYABzDDEBzcgRyZ9gKWXrA9bRM0qJzrzGR6ERqnjfGQO3wIQ7eEhqL/5Cli0ylZNGAcHTEgqWOm4gQL4AjkBoV1b9+pR1SXKl0eASFzn2k8QFCEHVbNBE2zK18b2hF3c9GYPEFCEqxG2lBsIQjdVN0/HerYn99TpNXxQBJleVphaO+Y+PsvanlDUIRCBq2VPK8wqFGGnnW2tbg3i0qEUZbC0VSoFgsjY3Rq3GUaNy/9cgjvXDdznuNAdCFdBIxrmzhUEdo2udp3xVuBat7kVsCYlcqCF4m53t7v8qx8CazW5flepQWiqBPjBzfPal1rb7GYPSjDZyr6XthADixasYN77fja0+axMaf8b3CDYlTcFNrBjX2tR2TKYuVWoQBGSIFQJ67a3MPXuhYNLqQh7eK/JReqI31uBLp74uNP1anVX/N3Mvvi43XUvjYNbABNa8sZZ7VoHMYaHXoQAdlvY8YWJUIFqKMbEQG6j5X5xBdVxrYBKvrBEgOCwSkZZovrp6GQvGYMNZJnGG6ADA77M0r1poZtHEAIRenTmHWOACGyW6Gd+aoMgkLLONB5lnuv/mYM5+BKL4gQ0jQsg1kHjUgTrSt8cFX3mIDTa0YdcbAgprWgiMGFrfjACMAKCBBHlYJWYfltOnEAvuIiDh5zmdHx9IAI/aOGPuDLCsVINNXEI4DaWK8AoYx3rTwtABAH0QjV4YARev+0lOIjJDYqQaGIregNMwHNYwjKHezk7anvLgQBsMIAZW5vYTAhvD0SAWB6Q6NsuC11c/3xuYnPRCL3QdW7hba4mCIECPax3vSlAhAIAB8r8plNEdCxwaw+ACAKYVsLRZWkGNPzihJAIEYLyldoYQa8TV096ewmhbfMgBwygN8YvHtcQ0CgoHAs5eyCr3xJUQw42KMKcV85z/0JgIH2UKAEQroBwmacFwdbgQU6aMIAk9/zpg2AAE7hJDlQbfTgUjq1sLQ71rrsBiL++unpAXJQcfL3raCcED8knduKkeC50TnvaCwCxtg8nxl+Vu94HkdlL2x0zxoEdw/fedQpsoZLItNxCw2QEjvxdGUDQAtAaMjt/iCGh+YhQOAdPeLQzIQgb8MG4RRrzojyeGbXhGE5/ATTkRKMERoBd52dvCAwMoArIyQ9jznl6ZdzrCgGtRr4VgwCJmJb2tLd0D/CAg30ApcO97wTQeNCFr/3CYdCxtJmRz/1CaMk5ELKBqKOPjMgmIQSKx00BGN399hvCuQUQyALJf4yT4/8m3BuNu/v3PwgtFYHL9GcMrDdlAyAR/HeAhuBpeBaAxMAYAXEDIoaAEvgHmTUAyTMMX5EEPUAZvoRVzqYFQvcQNlBJlod5RnBSTVAFwzaBLEgIKhgEC3Ab4fMSTrAuPANvORACTnAW3QQW1aA6fgB7pbV+LViEhTAAIMAEP1NfxzEDtAZvftIZ1CJqw3cDxVdCRpiFhpA+RZBAQREUXoaDVrg3P4N9OaB9WpiGhlAABCcAJeAHk8B2zqYfrZcTPbh++qeGevgHNZBtqNED+QJvfyQENxACQJN/e5iIh1AEEON4vDYiinUDsWKAiliJhlAFPOJ3eRYNRuBg1WaJoDj/CMMVBD0gbsPQfLAFVXoDU+8WZGIiAg+SBFalH92Wc8TEdaGYi4cwF/+EAxy2LtjXUVAiIriWVUjAbEhAdA2BBDWYE0bgaceni9JYCEzwaX5QLgmEBE7DEOOwbxG1Sx3UAwIQEMjxT0UQcNOYjofABJgYBFOmGNwUFtxUdIbEEFVmBPhUBBVQANunjv64CMPFVCBCIjgwA18BUUMVEDkAAFpwB542W/8YkaYxZ0wgAGJAUdBXTz9DbTEgORL5kdzAAHRQAAwQj1kVBPsYjSC5ks9SBRvwcytlaZbGkjRpEQUHMV+BJUBzST4gDtwUFECDBF+IMb5ACdHgbpURENek/xb3Ui8L8GvDEg355gTUwFBrpVjRAITAZB/UVpNeiRQWYGkl9GQcczEYox8+MB1hsS4gEiE5ARc8oAXMlhn7gBxxATQ3oI3UcBxFSS29MAk3IAI8MABMFR9feZh2MQBFUAD7SAcnBFVD4Qf/8GYSwAMcgzFHYC3IdBl4EIZrgQOSdwR/NA3l9T2L9RXvwQ/6QFoDUAEVYAGIGZvLsQEbBUQMhUwaszdUWUk+2RB52ZNn4IFrgRvIEVSSwU1vCCEdhAQ9sADYRpLhJJvSuSEa12IM4ESqpR84FRczgAOb4ieYEW3SoTp6E4VLaFtMwAArOJ3sySV5MZKwwzra01EywYpNk7CUaTEiXiAjXMYArWkfsNaeAuoshOlgn1ZafpVMVAQJTFBC1ZiHAxqhNoNtmfV5MimTB3GhGupgKiehHtpIwrZRIjqiJFqiIzpcsLOYnPehLNqiLvqiMBqjMjqjNFqjNnqjOJqjOrqjPNqjPvqjQBqkQjqkRFqkRnqkSJqkSrqkTNqkTpqjgQAAOw=="/>
  <p:tag name="MIO_HDS" val="True"/>
  <p:tag name="MIO_EK" val="2375"/>
  <p:tag name="MIO_UPDATE" val="True"/>
  <p:tag name="MIO_VERSION" val="30.11.2012 11:40:17"/>
  <p:tag name="MIO_DBID" val="ED9FF2F2-6643-46BA-B685-7D49126FFAFF"/>
</p:tagLst>
</file>

<file path=ppt/tags/tag5.xml><?xml version="1.0" encoding="utf-8"?>
<p:tagLst xmlns:a="http://schemas.openxmlformats.org/drawingml/2006/main" xmlns:r="http://schemas.openxmlformats.org/officeDocument/2006/relationships" xmlns:p="http://schemas.openxmlformats.org/presentationml/2006/main">
  <p:tag name="MIO_USER_INPUT_OPTIONS" val="Public;Internal;Confidential"/>
  <p:tag name="MIO_USER_INPUT_REQUIRED" val="Classification and Control of Information;Please select the level of confidentiality:"/>
</p:tagLst>
</file>

<file path=ppt/tags/tag6.xml><?xml version="1.0" encoding="utf-8"?>
<p:tagLst xmlns:a="http://schemas.openxmlformats.org/drawingml/2006/main" xmlns:r="http://schemas.openxmlformats.org/officeDocument/2006/relationships" xmlns:p="http://schemas.openxmlformats.org/presentationml/2006/main">
  <p:tag name="MIO_USER_INPUT_REQUIRED" val="Sender information;Please enter the sender information:"/>
  <p:tag name="MIO_USER_INPUT_TEXT" val="Text"/>
</p:tagLst>
</file>

<file path=ppt/tags/tag7.xml><?xml version="1.0" encoding="utf-8"?>
<p:tagLst xmlns:a="http://schemas.openxmlformats.org/drawingml/2006/main" xmlns:r="http://schemas.openxmlformats.org/officeDocument/2006/relationships" xmlns:p="http://schemas.openxmlformats.org/presentationml/2006/main">
  <p:tag name="MIO_USER_INPUT_OPTIONS" val="Public;Internal;Confidential"/>
  <p:tag name="MIO_USER_INPUT_REQUIRED" val="Classification and Control of Information;Please select the level of confidentiality:"/>
</p:tagLst>
</file>

<file path=ppt/tags/tag8.xml><?xml version="1.0" encoding="utf-8"?>
<p:tagLst xmlns:a="http://schemas.openxmlformats.org/drawingml/2006/main" xmlns:r="http://schemas.openxmlformats.org/officeDocument/2006/relationships" xmlns:p="http://schemas.openxmlformats.org/presentationml/2006/main">
  <p:tag name="MIO_USER_INPUT_REQUIRED" val="Sender information;Please enter the sender information:"/>
  <p:tag name="MIO_USER_INPUT_TEXT" val="Text"/>
</p:tagLst>
</file>

<file path=ppt/tags/tag9.xml><?xml version="1.0" encoding="utf-8"?>
<p:tagLst xmlns:a="http://schemas.openxmlformats.org/drawingml/2006/main" xmlns:r="http://schemas.openxmlformats.org/officeDocument/2006/relationships" xmlns:p="http://schemas.openxmlformats.org/presentationml/2006/main">
  <p:tag name="MIO_USER_INPUT_OPTIONS" val="Public;Internal;Confidential"/>
  <p:tag name="MIO_USER_INPUT_REQUIRED" val="Classification and Control of Information;Please select the level of confidentiality:"/>
</p:tagLst>
</file>

<file path=ppt/tags/tag10.xml><?xml version="1.0" encoding="utf-8"?>
<p:tagLst xmlns:a="http://schemas.openxmlformats.org/drawingml/2006/main" xmlns:r="http://schemas.openxmlformats.org/officeDocument/2006/relationships" xmlns:p="http://schemas.openxmlformats.org/presentationml/2006/main">
  <p:tag name="MIO_USER_INPUT_REQUIRED" val="Sender information;Please enter the sender information:"/>
  <p:tag name="MIO_USER_INPUT_TEXT" val="Text"/>
</p:tagLst>
</file>

<file path=ppt/tags/tag11.xml><?xml version="1.0" encoding="utf-8"?>
<p:tagLst xmlns:a="http://schemas.openxmlformats.org/drawingml/2006/main" xmlns:r="http://schemas.openxmlformats.org/officeDocument/2006/relationships" xmlns:p="http://schemas.openxmlformats.org/presentationml/2006/main">
  <p:tag name="MIO_USER_INPUT_OPTIONS" val="Public;Internal;Confidential"/>
  <p:tag name="MIO_USER_INPUT_REQUIRED" val="Classification and Control of Information;Please select the level of confidentiality:"/>
</p:tagLst>
</file>

<file path=ppt/tags/tag12.xml><?xml version="1.0" encoding="utf-8"?>
<p:tagLst xmlns:a="http://schemas.openxmlformats.org/drawingml/2006/main" xmlns:r="http://schemas.openxmlformats.org/officeDocument/2006/relationships" xmlns:p="http://schemas.openxmlformats.org/presentationml/2006/main">
  <p:tag name="MIO_USER_INPUT_REQUIRED" val="Sender information;Please enter the sender information:"/>
  <p:tag name="MIO_USER_INPUT_TEXT" val="Text"/>
</p:tagLst>
</file>

<file path=ppt/tags/tag13.xml><?xml version="1.0" encoding="utf-8"?>
<p:tagLst xmlns:a="http://schemas.openxmlformats.org/drawingml/2006/main" xmlns:r="http://schemas.openxmlformats.org/officeDocument/2006/relationships" xmlns:p="http://schemas.openxmlformats.org/presentationml/2006/main">
  <p:tag name="EMPOWERBULLET" val="EMPOWERBULLET"/>
</p:tagLst>
</file>

<file path=ppt/theme/theme1.xml><?xml version="1.0" encoding="utf-8"?>
<a:theme xmlns:a="http://schemas.openxmlformats.org/drawingml/2006/main" name="ADAS_4x3">
  <a:themeElements>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fontScheme name="Continental AG">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a:solidFill>
            <a:schemeClr val="tx1"/>
          </a:solidFill>
        </a:ln>
      </a:spPr>
      <a:bodyPr rtlCol="0" anchor="ctr"/>
      <a:lstStyle>
        <a:defPPr algn="ctr">
          <a:defRPr sz="1600" dirty="0" err="1" smtClean="0">
            <a:solidFill>
              <a:schemeClr val="bg2">
                <a:lumMod val="10000"/>
              </a:schemeClr>
            </a:solidFill>
          </a:defRPr>
        </a:defPPr>
      </a:lstStyle>
      <a:style>
        <a:lnRef idx="1">
          <a:schemeClr val="accent1"/>
        </a:lnRef>
        <a:fillRef idx="0">
          <a:schemeClr val="accent1"/>
        </a:fillRef>
        <a:effectRef idx="0">
          <a:schemeClr val="accent1"/>
        </a:effectRef>
        <a:fontRef idx="minor">
          <a:schemeClr val="tx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Continental Screen">
        <a:dk1>
          <a:srgbClr val="000000"/>
        </a:dk1>
        <a:lt1>
          <a:srgbClr val="FFFFFF"/>
        </a:lt1>
        <a:dk2>
          <a:srgbClr val="FFFFFF"/>
        </a:dk2>
        <a:lt2>
          <a:srgbClr val="EBEBEB"/>
        </a:lt2>
        <a:accent1>
          <a:srgbClr val="FF9900"/>
        </a:accent1>
        <a:accent2>
          <a:srgbClr val="BF7300"/>
        </a:accent2>
        <a:accent3>
          <a:srgbClr val="E28700"/>
        </a:accent3>
        <a:accent4>
          <a:srgbClr val="FFC266"/>
        </a:accent4>
        <a:accent5>
          <a:srgbClr val="5F5F5F"/>
        </a:accent5>
        <a:accent6>
          <a:srgbClr val="262626"/>
        </a:accent6>
        <a:hlink>
          <a:srgbClr val="FF9900"/>
        </a:hlink>
        <a:folHlink>
          <a:srgbClr val="777777"/>
        </a:folHlink>
      </a:clrScheme>
    </a:extraClrScheme>
    <a:extraClrScheme>
      <a:clrScheme name="Continental Print">
        <a:dk1>
          <a:srgbClr val="000000"/>
        </a:dk1>
        <a:lt1>
          <a:srgbClr val="FFFFFF"/>
        </a:lt1>
        <a:dk2>
          <a:srgbClr val="000000"/>
        </a:dk2>
        <a:lt2>
          <a:srgbClr val="FFFFFF"/>
        </a:lt2>
        <a:accent1>
          <a:srgbClr val="FF9900"/>
        </a:accent1>
        <a:accent2>
          <a:srgbClr val="BF7300"/>
        </a:accent2>
        <a:accent3>
          <a:srgbClr val="E28700"/>
        </a:accent3>
        <a:accent4>
          <a:srgbClr val="FFC266"/>
        </a:accent4>
        <a:accent5>
          <a:srgbClr val="5F5F5F"/>
        </a:accent5>
        <a:accent6>
          <a:srgbClr val="262626"/>
        </a:accent6>
        <a:hlink>
          <a:srgbClr val="FF9900"/>
        </a:hlink>
        <a:folHlink>
          <a:srgbClr val="777777"/>
        </a:folHlink>
      </a:clrScheme>
    </a:extraClrScheme>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fontScheme name="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OrgFileExt xmlns="721ea4ff-a695-4146-8c6b-5d1a1e6ff939">.pptx</OrgFileExt>
    <CurItemExt xmlns="721ea4ff-a695-4146-8c6b-5d1a1e6ff939">.pptx</CurItemExt>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F1F37176732584B9BE065162195416B" ma:contentTypeVersion="2" ma:contentTypeDescription="Create a new document." ma:contentTypeScope="" ma:versionID="a15517289d2cdf6839f20b8b06cab421">
  <xsd:schema xmlns:xsd="http://www.w3.org/2001/XMLSchema" xmlns:xs="http://www.w3.org/2001/XMLSchema" xmlns:p="http://schemas.microsoft.com/office/2006/metadata/properties" xmlns:ns2="721ea4ff-a695-4146-8c6b-5d1a1e6ff939" targetNamespace="http://schemas.microsoft.com/office/2006/metadata/properties" ma:root="true" ma:fieldsID="b88dccda1dceaf193919b31f857b7e99" ns2:_="">
    <xsd:import namespace="721ea4ff-a695-4146-8c6b-5d1a1e6ff939"/>
    <xsd:element name="properties">
      <xsd:complexType>
        <xsd:sequence>
          <xsd:element name="documentManagement">
            <xsd:complexType>
              <xsd:all>
                <xsd:element ref="ns2:OrgFileExt" minOccurs="0"/>
                <xsd:element ref="ns2:CurItemEx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21ea4ff-a695-4146-8c6b-5d1a1e6ff939" elementFormDefault="qualified">
    <xsd:import namespace="http://schemas.microsoft.com/office/2006/documentManagement/types"/>
    <xsd:import namespace="http://schemas.microsoft.com/office/infopath/2007/PartnerControls"/>
    <xsd:element name="OrgFileExt" ma:index="8" nillable="true" ma:displayName="Orginal Ext" ma:internalName="OrgFileExt" ma:readOnly="true">
      <xsd:simpleType>
        <xsd:restriction base="dms:Text"/>
      </xsd:simpleType>
    </xsd:element>
    <xsd:element name="CurItemExt" ma:index="9" nillable="true" ma:displayName="Current Ext" ma:internalName="CurItemExt"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5CB6810-ABE3-4856-AFF4-B8198127D632}">
  <ds:schemaRefs>
    <ds:schemaRef ds:uri="http://schemas.microsoft.com/office/2006/documentManagement/types"/>
    <ds:schemaRef ds:uri="http://purl.org/dc/elements/1.1/"/>
    <ds:schemaRef ds:uri="http://purl.org/dc/terms/"/>
    <ds:schemaRef ds:uri="http://purl.org/dc/dcmitype/"/>
    <ds:schemaRef ds:uri="http://www.w3.org/XML/1998/namespace"/>
    <ds:schemaRef ds:uri="http://schemas.microsoft.com/office/2006/metadata/properties"/>
    <ds:schemaRef ds:uri="721ea4ff-a695-4146-8c6b-5d1a1e6ff939"/>
    <ds:schemaRef ds:uri="http://schemas.openxmlformats.org/package/2006/metadata/core-properties"/>
    <ds:schemaRef ds:uri="http://schemas.microsoft.com/office/infopath/2007/PartnerControls"/>
  </ds:schemaRefs>
</ds:datastoreItem>
</file>

<file path=customXml/itemProps2.xml><?xml version="1.0" encoding="utf-8"?>
<ds:datastoreItem xmlns:ds="http://schemas.openxmlformats.org/officeDocument/2006/customXml" ds:itemID="{1D46F597-6818-4E84-8FA8-9FCF63E1CE79}">
  <ds:schemaRefs>
    <ds:schemaRef ds:uri="http://schemas.microsoft.com/sharepoint/v3/contenttype/forms"/>
  </ds:schemaRefs>
</ds:datastoreItem>
</file>

<file path=customXml/itemProps3.xml><?xml version="1.0" encoding="utf-8"?>
<ds:datastoreItem xmlns:ds="http://schemas.openxmlformats.org/officeDocument/2006/customXml" ds:itemID="{06A538A0-2A35-4471-8D9A-942B33334F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21ea4ff-a695-4146-8c6b-5d1a1e6ff93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3607</Words>
  <Application>Microsoft Office PowerPoint</Application>
  <PresentationFormat>On-screen Show (4:3)</PresentationFormat>
  <Paragraphs>785</Paragraphs>
  <Slides>78</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2</vt:i4>
      </vt:variant>
      <vt:variant>
        <vt:lpstr>Slide Titles</vt:lpstr>
      </vt:variant>
      <vt:variant>
        <vt:i4>78</vt:i4>
      </vt:variant>
    </vt:vector>
  </HeadingPairs>
  <TitlesOfParts>
    <vt:vector size="84" baseType="lpstr">
      <vt:lpstr>Arial</vt:lpstr>
      <vt:lpstr>Calibri</vt:lpstr>
      <vt:lpstr>Wingdings</vt:lpstr>
      <vt:lpstr>ADAS_4x3</vt:lpstr>
      <vt:lpstr>Worksheet</vt:lpstr>
      <vt:lpstr>Formel</vt:lpstr>
      <vt:lpstr>VDY Component</vt:lpstr>
      <vt:lpstr>Objective :  </vt:lpstr>
      <vt:lpstr>VDY I/Os</vt:lpstr>
      <vt:lpstr>Error Handling in VDY:</vt:lpstr>
      <vt:lpstr>Description of DEMs : (Error Handling in VDY)</vt:lpstr>
      <vt:lpstr>Algorithm Architecture</vt:lpstr>
      <vt:lpstr>Inter Connection of Different VDY processing modules </vt:lpstr>
      <vt:lpstr>Input Signal Checks</vt:lpstr>
      <vt:lpstr>Influence of Different Parameters</vt:lpstr>
      <vt:lpstr>SWA Offset</vt:lpstr>
      <vt:lpstr>Fast Steer Wheel Angle offset computation:</vt:lpstr>
      <vt:lpstr>Next Level SWA offset Learning</vt:lpstr>
      <vt:lpstr>SWA offset</vt:lpstr>
      <vt:lpstr>SWA offset : Plots from BBTtesting</vt:lpstr>
      <vt:lpstr>SWA offset : (Plots from BBT testing)</vt:lpstr>
      <vt:lpstr>Yaw Rate Offset</vt:lpstr>
      <vt:lpstr>Liming standstill Yaw rate offset </vt:lpstr>
      <vt:lpstr>Yaw Rate Offset State (from BBT testing)</vt:lpstr>
      <vt:lpstr>Sensitivity of Brake pressure on Standstill detection </vt:lpstr>
      <vt:lpstr>Dynamic Yaw Rate Offset Learning (from BBT Testing)</vt:lpstr>
      <vt:lpstr>Lateral Accel Offset Learning (similar lines of SWA offset) </vt:lpstr>
      <vt:lpstr>Lateral Accel Offset Learning (fromBBT testing)</vt:lpstr>
      <vt:lpstr>Mtn State Detection</vt:lpstr>
      <vt:lpstr>Mtn State Determination</vt:lpstr>
      <vt:lpstr>Mtn State Determination - Contd</vt:lpstr>
      <vt:lpstr>Mtn State - Contd</vt:lpstr>
      <vt:lpstr>Mtn State-contd (Isolating Wheel Pulse if INVALID)</vt:lpstr>
      <vt:lpstr>Mtn State - Cont</vt:lpstr>
      <vt:lpstr>Motion State – BBT results </vt:lpstr>
      <vt:lpstr>Wheel Speed Processing</vt:lpstr>
      <vt:lpstr>Wheel Speed Computation ----- Pulse based</vt:lpstr>
      <vt:lpstr>Merging Wheel Speed Information</vt:lpstr>
      <vt:lpstr>Wheel Speed Processing ---- Kalman Filter</vt:lpstr>
      <vt:lpstr>Vehicle Velocity Estimation ---- Fusion of 4 wheel speeds</vt:lpstr>
      <vt:lpstr>Velocity Estimation During Hydro Planing (BBT test results)</vt:lpstr>
      <vt:lpstr>Effect of Tire radius change (Correction Factor) : </vt:lpstr>
      <vt:lpstr>Velocity Estimation During Traction (All wheels slipping) Limitation of VDY </vt:lpstr>
      <vt:lpstr>Yaw Rate Estimation</vt:lpstr>
      <vt:lpstr>Yaw rate estimated from wheel speeds</vt:lpstr>
      <vt:lpstr>Yaw Rate Based On Rear Wheel speeds</vt:lpstr>
      <vt:lpstr>Yaw Rate Based On Front Wheel speeds</vt:lpstr>
      <vt:lpstr>YawRatebased on lateral accel</vt:lpstr>
      <vt:lpstr>YawRatebased on lateral accel</vt:lpstr>
      <vt:lpstr>YawRatebased on SWA</vt:lpstr>
      <vt:lpstr>Fusion of Yaw Rate Yaw Rate</vt:lpstr>
      <vt:lpstr>Curvature from SWA (Driver Intended Curvature)</vt:lpstr>
      <vt:lpstr>Final Curvature Estimation : (Curvature Blending)</vt:lpstr>
      <vt:lpstr>Curve Error</vt:lpstr>
      <vt:lpstr>Case Study : Endurance Analysis of ARS4D2</vt:lpstr>
      <vt:lpstr>Analysis of 10.53.13 recording from Kalman filter’s perspective</vt:lpstr>
      <vt:lpstr>ARS4D2 Endurance – Yaw Rate Not Available is set</vt:lpstr>
      <vt:lpstr>ARS4D2 Endurance – Yaw Rate Not Available is set</vt:lpstr>
      <vt:lpstr>ARS4D2 Endurance – Yaw Rate Not Available is set</vt:lpstr>
      <vt:lpstr>ARS4D2 – Endurance Analysis (Calculation of R)</vt:lpstr>
      <vt:lpstr>ARS4D2 – Endurance Analysis (R – Input to KF)</vt:lpstr>
      <vt:lpstr>ARS4D2 Endurance – Yaw Rate Not Available is set</vt:lpstr>
      <vt:lpstr>ARS4D2 Endurance – Yaw Rate Not Available is set</vt:lpstr>
      <vt:lpstr>ARS4D2 Endurance – Yaw Rate Not Available is set</vt:lpstr>
      <vt:lpstr>ARS4D2 Endurance – Yaw Rate Not Available is set</vt:lpstr>
      <vt:lpstr>ARS4D2 Endurance – Yaw Rate Not Available is set</vt:lpstr>
      <vt:lpstr>ARS4D2 Endurance – Yaw Rate Not Available is set</vt:lpstr>
      <vt:lpstr>ARS4D2 Endurance – Yaw Rate Not Available is set</vt:lpstr>
      <vt:lpstr>ARS4D2 Endurance – Yaw Rate Not Available is set</vt:lpstr>
      <vt:lpstr>ARS4D2 Endurance – Yaw Rate Not Available is set</vt:lpstr>
      <vt:lpstr>ARS4D2 Endurance – Yaw Rate Not Available is set</vt:lpstr>
      <vt:lpstr>ARS4D2 Endurance – Yaw Rate Not Available is set</vt:lpstr>
      <vt:lpstr>ARS4D2 Endurance – Yaw Rate Not Available is set</vt:lpstr>
      <vt:lpstr>ARS4D2 Endurance – Yaw Rate Not Available is set</vt:lpstr>
      <vt:lpstr>ARS4D2 Endurance – Yaw Rate Not Available is set</vt:lpstr>
      <vt:lpstr>ARS4D2 Endurance – Yaw Rate Not Available is set</vt:lpstr>
      <vt:lpstr>Requirements and Validation (L2)</vt:lpstr>
      <vt:lpstr>Requirements and Validation (L3)</vt:lpstr>
      <vt:lpstr>Requirements and Validation (Test Spec - BBT)</vt:lpstr>
      <vt:lpstr>VDY-MTS simulation (Interface)</vt:lpstr>
      <vt:lpstr>VDY-Structures in MTS</vt:lpstr>
      <vt:lpstr>VDY-Structures in MTS</vt:lpstr>
      <vt:lpstr>VDY-Structures in MTS</vt:lpstr>
      <vt:lpstr>Thank You</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ADAS</dc:title>
  <dc:creator>Baecker, Stephanie</dc:creator>
  <cp:lastModifiedBy>Hongal-EXT, Tammanna</cp:lastModifiedBy>
  <cp:revision>337</cp:revision>
  <dcterms:created xsi:type="dcterms:W3CDTF">2013-07-08T11:53:44Z</dcterms:created>
  <dcterms:modified xsi:type="dcterms:W3CDTF">2018-02-09T09:22:03Z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0x010100DF1F37176732584B9BE065162195416B</vt:lpwstr>
  </property>
</Properties>
</file>