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85.xml" ContentType="application/vnd.openxmlformats-officedocument.presentationml.tag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emf" ContentType="image/x-emf"/>
  <Default Extension="jpeg" ContentType="image/jpeg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tags/tag68.xml" ContentType="application/vnd.openxmlformats-officedocument.presentationml.tags+xml"/>
  <Override PartName="/ppt/tags/tag77.xml" ContentType="application/vnd.openxmlformats-officedocument.presentationml.tags+xml"/>
  <Override PartName="/ppt/tags/tag86.xml" ContentType="application/vnd.openxmlformats-officedocument.presentationml.tags+xml"/>
  <Override PartName="/ppt/tags/tag88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80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87.xml" ContentType="application/vnd.openxmlformats-officedocument.presentationml.tags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83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335" r:id="rId2"/>
    <p:sldId id="339" r:id="rId3"/>
    <p:sldId id="346" r:id="rId4"/>
    <p:sldId id="340" r:id="rId5"/>
    <p:sldId id="347" r:id="rId6"/>
    <p:sldId id="341" r:id="rId7"/>
    <p:sldId id="348" r:id="rId8"/>
    <p:sldId id="349" r:id="rId9"/>
    <p:sldId id="342" r:id="rId10"/>
    <p:sldId id="352" r:id="rId11"/>
    <p:sldId id="353" r:id="rId12"/>
    <p:sldId id="354" r:id="rId13"/>
    <p:sldId id="343" r:id="rId14"/>
    <p:sldId id="355" r:id="rId15"/>
    <p:sldId id="344" r:id="rId16"/>
    <p:sldId id="336" r:id="rId17"/>
  </p:sldIdLst>
  <p:sldSz cx="9144000" cy="6858000" type="screen4x3"/>
  <p:notesSz cx="6797675" cy="9926638"/>
  <p:custDataLst>
    <p:tags r:id="rId1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>
        <p:scale>
          <a:sx n="110" d="100"/>
          <a:sy n="110" d="100"/>
        </p:scale>
        <p:origin x="-798" y="642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CCA206-28BF-4378-A16D-D082980ECF20}" type="datetimeFigureOut">
              <a:rPr lang="en-US" smtClean="0"/>
              <a:pPr/>
              <a:t>6/8/2015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F09CE-5172-440D-AA4C-674D4F3178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grpSp>
        <p:nvGrpSpPr>
          <p:cNvPr id="4" name="Gruppieren 12"/>
          <p:cNvGrpSpPr>
            <a:grpSpLocks noChangeAspect="1"/>
          </p:cNvGrpSpPr>
          <p:nvPr userDrawn="1"/>
        </p:nvGrpSpPr>
        <p:grpSpPr>
          <a:xfrm>
            <a:off x="7215820" y="6065263"/>
            <a:ext cx="1483200" cy="301083"/>
            <a:chOff x="8299525" y="491257"/>
            <a:chExt cx="1920495" cy="389853"/>
          </a:xfrm>
        </p:grpSpPr>
        <p:pic>
          <p:nvPicPr>
            <p:cNvPr id="18" name="Grafik 1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9124947" y="552419"/>
              <a:ext cx="1095073" cy="259589"/>
            </a:xfrm>
            <a:prstGeom prst="rect">
              <a:avLst/>
            </a:prstGeom>
          </p:spPr>
        </p:pic>
        <p:pic>
          <p:nvPicPr>
            <p:cNvPr id="19" name="Grafik 18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8299525" y="491257"/>
              <a:ext cx="599314" cy="389853"/>
            </a:xfrm>
            <a:prstGeom prst="rect">
              <a:avLst/>
            </a:prstGeom>
          </p:spPr>
        </p:pic>
      </p:grp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grpSp>
        <p:nvGrpSpPr>
          <p:cNvPr id="4" name="Gruppieren 6"/>
          <p:cNvGrpSpPr>
            <a:grpSpLocks noChangeAspect="1"/>
          </p:cNvGrpSpPr>
          <p:nvPr userDrawn="1"/>
        </p:nvGrpSpPr>
        <p:grpSpPr>
          <a:xfrm>
            <a:off x="7215820" y="6065263"/>
            <a:ext cx="1483200" cy="301083"/>
            <a:chOff x="8299525" y="491257"/>
            <a:chExt cx="1920495" cy="389853"/>
          </a:xfrm>
        </p:grpSpPr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9124947" y="552419"/>
              <a:ext cx="1095073" cy="259589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8299525" y="491257"/>
              <a:ext cx="599314" cy="389853"/>
            </a:xfrm>
            <a:prstGeom prst="rect">
              <a:avLst/>
            </a:prstGeom>
          </p:spPr>
        </p:pic>
      </p:grpSp>
      <p:pic>
        <p:nvPicPr>
          <p:cNvPr id="14" name="Grafik 13"/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Division Naming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A8C40B-9933-4842-925C-1685AB340677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746-0B7F-4BA1-8DC7-A666D91D719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7A3C5F-7711-4FF6-AE0A-2DB239087D2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F1258F60-48FC-489A-91BC-6E0B464E8D2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D8E2632B-7ABB-47FF-88A0-4A9B8B63F9DA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2055C603-2F96-4C80-BB05-9921AB8672CA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386431E5-9C6C-4E09-861E-07FDAE421A63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durch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3BD817-D861-487F-9A35-4AAF951B7B3B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0F3D0A-07C8-47D7-A4F0-C3B4D82D7BAF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2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4679;MIO_UPDATE=True;MIO_VERSION=05.08.2013 14:02:34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14"/>
          <p:cNvGrpSpPr>
            <a:grpSpLocks noChangeAspect="1"/>
          </p:cNvGrpSpPr>
          <p:nvPr userDrawn="1"/>
        </p:nvGrpSpPr>
        <p:grpSpPr>
          <a:xfrm>
            <a:off x="7729538" y="381360"/>
            <a:ext cx="1038263" cy="210763"/>
            <a:chOff x="8299525" y="491257"/>
            <a:chExt cx="1920495" cy="389853"/>
          </a:xfrm>
        </p:grpSpPr>
        <p:pic>
          <p:nvPicPr>
            <p:cNvPr id="16" name="Grafik 15"/>
            <p:cNvPicPr>
              <a:picLocks noChangeAspect="1"/>
            </p:cNvPicPr>
            <p:nvPr userDrawn="1"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9124947" y="552419"/>
              <a:ext cx="1095073" cy="259589"/>
            </a:xfrm>
            <a:prstGeom prst="rect">
              <a:avLst/>
            </a:prstGeom>
          </p:spPr>
        </p:pic>
        <p:pic>
          <p:nvPicPr>
            <p:cNvPr id="17" name="Grafik 16"/>
            <p:cNvPicPr>
              <a:picLocks noChangeAspect="1"/>
            </p:cNvPicPr>
            <p:nvPr userDrawn="1"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:lc="http://schemas.openxmlformats.org/drawingml/2006/lockedCanvas" xmlns="" val="0"/>
                </a:ext>
              </a:extLst>
            </a:blip>
            <a:stretch>
              <a:fillRect/>
            </a:stretch>
          </p:blipFill>
          <p:spPr>
            <a:xfrm>
              <a:off x="8299525" y="491257"/>
              <a:ext cx="599314" cy="389853"/>
            </a:xfrm>
            <a:prstGeom prst="rect">
              <a:avLst/>
            </a:prstGeom>
          </p:spPr>
        </p:pic>
      </p:grpSp>
      <p:pic>
        <p:nvPicPr>
          <p:cNvPr id="14" name="Bild 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DD0B995C-0DC4-4194-BBD7-8C3812C84D11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Text Box 23"/>
          <p:cNvSpPr txBox="1">
            <a:spLocks noChangeArrowheads="1"/>
          </p:cNvSpPr>
          <p:nvPr userDrawn="1">
            <p:custDataLst>
              <p:tags r:id="rId16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marL="0" marR="0" indent="0" algn="l" defTabSz="8958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Ellipse 3" hidden="1"/>
          <p:cNvSpPr/>
          <p:nvPr userDrawn="1">
            <p:custDataLst>
              <p:tags r:id="rId18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" Target="slide9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" Target="slide6.xml"/><Relationship Id="rId2" Type="http://schemas.openxmlformats.org/officeDocument/2006/relationships/tags" Target="../tags/tag6.xml"/><Relationship Id="rId16" Type="http://schemas.openxmlformats.org/officeDocument/2006/relationships/slide" Target="slide4.xml"/><Relationship Id="rId20" Type="http://schemas.openxmlformats.org/officeDocument/2006/relationships/slide" Target="slide15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14.xml"/><Relationship Id="rId19" Type="http://schemas.openxmlformats.org/officeDocument/2006/relationships/slide" Target="slide1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" Target="slide9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" Target="slide6.xml"/><Relationship Id="rId2" Type="http://schemas.openxmlformats.org/officeDocument/2006/relationships/tags" Target="../tags/tag20.xml"/><Relationship Id="rId16" Type="http://schemas.openxmlformats.org/officeDocument/2006/relationships/slide" Target="slide2.xml"/><Relationship Id="rId20" Type="http://schemas.openxmlformats.org/officeDocument/2006/relationships/slide" Target="slide15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28.xml"/><Relationship Id="rId19" Type="http://schemas.openxmlformats.org/officeDocument/2006/relationships/slide" Target="slide13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slide" Target="slide9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slide" Target="slide4.xml"/><Relationship Id="rId2" Type="http://schemas.openxmlformats.org/officeDocument/2006/relationships/tags" Target="../tags/tag35.xml"/><Relationship Id="rId16" Type="http://schemas.openxmlformats.org/officeDocument/2006/relationships/slide" Target="slide2.xml"/><Relationship Id="rId20" Type="http://schemas.openxmlformats.org/officeDocument/2006/relationships/slide" Target="slide1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43.xml"/><Relationship Id="rId19" Type="http://schemas.openxmlformats.org/officeDocument/2006/relationships/slide" Target="slide1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" Target="slide6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" Target="slide4.xml"/><Relationship Id="rId2" Type="http://schemas.openxmlformats.org/officeDocument/2006/relationships/tags" Target="../tags/tag49.xml"/><Relationship Id="rId16" Type="http://schemas.openxmlformats.org/officeDocument/2006/relationships/slide" Target="slide2.xml"/><Relationship Id="rId20" Type="http://schemas.openxmlformats.org/officeDocument/2006/relationships/slide" Target="slide15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57.xml"/><Relationship Id="rId19" Type="http://schemas.openxmlformats.org/officeDocument/2006/relationships/slide" Target="slide13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slide" Target="slide6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" Target="slide4.xml"/><Relationship Id="rId2" Type="http://schemas.openxmlformats.org/officeDocument/2006/relationships/tags" Target="../tags/tag63.xml"/><Relationship Id="rId16" Type="http://schemas.openxmlformats.org/officeDocument/2006/relationships/slide" Target="slide2.xml"/><Relationship Id="rId20" Type="http://schemas.openxmlformats.org/officeDocument/2006/relationships/slide" Target="slide15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71.xml"/><Relationship Id="rId19" Type="http://schemas.openxmlformats.org/officeDocument/2006/relationships/slide" Target="slide9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slide" Target="slide6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slide" Target="slide4.xml"/><Relationship Id="rId2" Type="http://schemas.openxmlformats.org/officeDocument/2006/relationships/tags" Target="../tags/tag77.xml"/><Relationship Id="rId16" Type="http://schemas.openxmlformats.org/officeDocument/2006/relationships/slide" Target="slide2.xml"/><Relationship Id="rId20" Type="http://schemas.openxmlformats.org/officeDocument/2006/relationships/slide" Target="slide13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85.xml"/><Relationship Id="rId19" Type="http://schemas.openxmlformats.org/officeDocument/2006/relationships/slide" Target="slide9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/>
          <a:lstStyle/>
          <a:p>
            <a:r>
              <a:rPr lang="en-US" dirty="0" smtClean="0"/>
              <a:t>01. Introduction to Python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7" name="Rectangle 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9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1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3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5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7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</a:t>
            </a:r>
            <a:r>
              <a:rPr lang="de-DE" dirty="0" smtClean="0"/>
              <a:t>  </a:t>
            </a:r>
            <a:r>
              <a:rPr lang="de-DE" dirty="0" err="1" smtClean="0"/>
              <a:t>is</a:t>
            </a:r>
            <a:r>
              <a:rPr lang="de-DE" dirty="0" smtClean="0"/>
              <a:t> Python?</a:t>
            </a:r>
          </a:p>
          <a:p>
            <a:pPr lvl="1"/>
            <a:r>
              <a:rPr lang="en-US" dirty="0" smtClean="0"/>
              <a:t>Open Source</a:t>
            </a:r>
            <a:endParaRPr lang="de-DE" dirty="0" smtClean="0"/>
          </a:p>
          <a:p>
            <a:pPr lvl="1"/>
            <a:r>
              <a:rPr lang="de-DE" dirty="0" smtClean="0"/>
              <a:t>High </a:t>
            </a:r>
            <a:r>
              <a:rPr lang="de-DE" dirty="0" err="1" smtClean="0"/>
              <a:t>level</a:t>
            </a:r>
            <a:r>
              <a:rPr lang="de-DE" dirty="0" smtClean="0"/>
              <a:t> Programming Language</a:t>
            </a:r>
          </a:p>
          <a:p>
            <a:pPr lvl="1"/>
            <a:r>
              <a:rPr lang="en-US" dirty="0" smtClean="0"/>
              <a:t>Object-oriented programming</a:t>
            </a:r>
          </a:p>
          <a:p>
            <a:pPr lvl="1"/>
            <a:r>
              <a:rPr lang="de-DE" dirty="0" smtClean="0"/>
              <a:t>Elegant Syntax </a:t>
            </a:r>
            <a:r>
              <a:rPr lang="de-DE" dirty="0" err="1" smtClean="0"/>
              <a:t>and</a:t>
            </a:r>
            <a:r>
              <a:rPr lang="de-DE" dirty="0" smtClean="0"/>
              <a:t> Dynamically </a:t>
            </a:r>
            <a:r>
              <a:rPr lang="de-DE" dirty="0" err="1" smtClean="0"/>
              <a:t>Typed</a:t>
            </a:r>
            <a:endParaRPr lang="de-DE" dirty="0" smtClean="0"/>
          </a:p>
          <a:p>
            <a:pPr lvl="1"/>
            <a:r>
              <a:rPr lang="de-DE" dirty="0" smtClean="0"/>
              <a:t>Extensible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Scripted</a:t>
            </a:r>
            <a:r>
              <a:rPr lang="de-DE" dirty="0" smtClean="0"/>
              <a:t> </a:t>
            </a:r>
            <a:r>
              <a:rPr lang="de-DE" dirty="0" err="1" smtClean="0"/>
              <a:t>language</a:t>
            </a:r>
            <a:endParaRPr lang="de-DE" dirty="0"/>
          </a:p>
          <a:p>
            <a:r>
              <a:rPr lang="de-DE" dirty="0" err="1" smtClean="0"/>
              <a:t>Where</a:t>
            </a:r>
            <a:r>
              <a:rPr lang="de-DE" dirty="0" smtClean="0"/>
              <a:t> </a:t>
            </a:r>
            <a:r>
              <a:rPr lang="de-DE" dirty="0" err="1" smtClean="0"/>
              <a:t>does</a:t>
            </a:r>
            <a:r>
              <a:rPr lang="de-DE" dirty="0" smtClean="0"/>
              <a:t> </a:t>
            </a:r>
            <a:r>
              <a:rPr lang="de-DE" dirty="0" err="1" smtClean="0"/>
              <a:t>python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?</a:t>
            </a:r>
          </a:p>
          <a:p>
            <a:pPr lvl="1"/>
            <a:r>
              <a:rPr lang="de-DE" dirty="0" err="1" smtClean="0"/>
              <a:t>Used</a:t>
            </a:r>
            <a:r>
              <a:rPr lang="de-DE" dirty="0" smtClean="0"/>
              <a:t> in  </a:t>
            </a:r>
            <a:r>
              <a:rPr lang="de-DE" dirty="0" err="1" smtClean="0"/>
              <a:t>writing</a:t>
            </a:r>
            <a:r>
              <a:rPr lang="de-DE" dirty="0" smtClean="0"/>
              <a:t> GUI Programming, Web </a:t>
            </a:r>
            <a:r>
              <a:rPr lang="de-DE" dirty="0" err="1" smtClean="0"/>
              <a:t>development</a:t>
            </a:r>
            <a:endParaRPr lang="de-DE" dirty="0" smtClean="0"/>
          </a:p>
          <a:p>
            <a:pPr lvl="1"/>
            <a:r>
              <a:rPr lang="de-DE" dirty="0" err="1" smtClean="0"/>
              <a:t>Used</a:t>
            </a:r>
            <a:r>
              <a:rPr lang="de-DE" dirty="0" smtClean="0"/>
              <a:t> in Game </a:t>
            </a:r>
            <a:r>
              <a:rPr lang="de-DE" dirty="0" err="1" smtClean="0"/>
              <a:t>programming</a:t>
            </a:r>
            <a:endParaRPr lang="de-DE" dirty="0" smtClean="0"/>
          </a:p>
          <a:p>
            <a:pPr lvl="1"/>
            <a:r>
              <a:rPr lang="de-DE" dirty="0" err="1" smtClean="0"/>
              <a:t>Used</a:t>
            </a:r>
            <a:r>
              <a:rPr lang="de-DE" dirty="0" smtClean="0"/>
              <a:t> in Rapid </a:t>
            </a:r>
            <a:r>
              <a:rPr lang="de-DE" dirty="0" err="1" smtClean="0"/>
              <a:t>Development,Socket</a:t>
            </a:r>
            <a:r>
              <a:rPr lang="de-DE" dirty="0" smtClean="0"/>
              <a:t> Programming .. So on..</a:t>
            </a:r>
          </a:p>
          <a:p>
            <a:pPr lvl="1"/>
            <a:endParaRPr lang="de-DE" dirty="0" smtClean="0"/>
          </a:p>
          <a:p>
            <a:pPr lvl="1"/>
            <a:endParaRPr lang="de-DE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Introduction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7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9" name="Rectangle 1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1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3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5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7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95288" y="1341437"/>
            <a:ext cx="5400178" cy="4535487"/>
          </a:xfrm>
        </p:spPr>
        <p:txBody>
          <a:bodyPr/>
          <a:lstStyle/>
          <a:p>
            <a:pPr lvl="1">
              <a:buClr>
                <a:srgbClr val="FFA500"/>
              </a:buClr>
              <a:buSzPts val="1600"/>
              <a:buFont typeface="Arial"/>
              <a:buChar char="›"/>
            </a:pPr>
            <a:endParaRPr lang="de-DE" dirty="0" smtClean="0"/>
          </a:p>
          <a:p>
            <a:pPr lvl="1">
              <a:buClr>
                <a:srgbClr val="FFA500"/>
              </a:buClr>
              <a:buSzPts val="1600"/>
              <a:buFont typeface="Arial"/>
              <a:buChar char="›"/>
            </a:pPr>
            <a:r>
              <a:rPr lang="en-US" dirty="0" smtClean="0"/>
              <a:t>Python was Invented  in December 1989 by Guido van </a:t>
            </a:r>
            <a:r>
              <a:rPr lang="en-US" dirty="0" err="1" smtClean="0"/>
              <a:t>Rossum</a:t>
            </a:r>
            <a:r>
              <a:rPr lang="en-US" dirty="0" smtClean="0"/>
              <a:t> </a:t>
            </a:r>
          </a:p>
          <a:p>
            <a:pPr lvl="1">
              <a:buClr>
                <a:srgbClr val="FFA500"/>
              </a:buClr>
              <a:buSzPts val="1600"/>
              <a:buNone/>
            </a:pPr>
            <a:r>
              <a:rPr lang="en-US" i="1" dirty="0" smtClean="0"/>
              <a:t>“ I chose Python as a working title for the project, being in a slightly irreverent mood (and a big fan of Monty Python's Flying Circus.”</a:t>
            </a:r>
          </a:p>
          <a:p>
            <a:pPr lvl="1">
              <a:buClr>
                <a:srgbClr val="FFA500"/>
              </a:buClr>
              <a:buSzPts val="1600"/>
              <a:buNone/>
            </a:pPr>
            <a:r>
              <a:rPr lang="en-US" i="1" dirty="0" smtClean="0"/>
              <a:t>Version : 2.7.10 and 3.5.XX</a:t>
            </a:r>
            <a:endParaRPr lang="de-DE" i="1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History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2050" name="Picture 2" descr="D:\materials\GuidoAvatar_400x4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5466" y="1015999"/>
            <a:ext cx="3090589" cy="309058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7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dirty="0" err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9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3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5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7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Python Interpreter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3568" y="1015998"/>
            <a:ext cx="7559189" cy="4285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Python Interpreter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2051" name="Picture 3" descr="C:\Users\uidj8906\Downloads\as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9592" y="1484784"/>
            <a:ext cx="6912768" cy="230425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7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9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1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5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7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Python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3074" name="Picture 2" descr="C:\Users\uidj8906\Downloads\an-introduction-to-the-zen-of-python-2-72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48342" y="1341438"/>
            <a:ext cx="6047316" cy="453548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/>
              <a:t>Indentation</a:t>
            </a:r>
            <a:endParaRPr lang="en-US" b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1560" y="1268760"/>
            <a:ext cx="16859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064" y="1268760"/>
            <a:ext cx="15906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ight Arrow 10"/>
          <p:cNvSpPr/>
          <p:nvPr/>
        </p:nvSpPr>
        <p:spPr>
          <a:xfrm>
            <a:off x="2699792" y="1700808"/>
            <a:ext cx="1368152" cy="648072"/>
          </a:xfrm>
          <a:prstGeom prst="rightArrow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5717" y="4077072"/>
            <a:ext cx="21240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8024" y="3933056"/>
            <a:ext cx="21526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ight Arrow 13"/>
          <p:cNvSpPr/>
          <p:nvPr/>
        </p:nvSpPr>
        <p:spPr>
          <a:xfrm>
            <a:off x="2852192" y="3970784"/>
            <a:ext cx="1368152" cy="648072"/>
          </a:xfrm>
          <a:prstGeom prst="rightArrow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Comments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99592" y="1484784"/>
            <a:ext cx="6408712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7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9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1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3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7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Literals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variables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counter = </a:t>
            </a:r>
            <a:r>
              <a:rPr lang="en-US" dirty="0" smtClean="0"/>
              <a:t>100	 </a:t>
            </a:r>
            <a:r>
              <a:rPr lang="en-US" dirty="0" smtClean="0"/>
              <a:t># An integer assignment </a:t>
            </a:r>
            <a:endParaRPr lang="en-US" dirty="0" smtClean="0"/>
          </a:p>
          <a:p>
            <a:r>
              <a:rPr lang="en-US" dirty="0" smtClean="0"/>
              <a:t>miles </a:t>
            </a:r>
            <a:r>
              <a:rPr lang="en-US" dirty="0" smtClean="0"/>
              <a:t>= 1000.0 # A floating point </a:t>
            </a:r>
            <a:endParaRPr lang="en-US" dirty="0" smtClean="0"/>
          </a:p>
          <a:p>
            <a:r>
              <a:rPr lang="en-US" dirty="0" smtClean="0"/>
              <a:t>NAME = </a:t>
            </a:r>
            <a:r>
              <a:rPr lang="en-US" dirty="0" smtClean="0"/>
              <a:t>"John" </a:t>
            </a:r>
            <a:r>
              <a:rPr lang="en-US" dirty="0" smtClean="0"/>
              <a:t> 	# </a:t>
            </a:r>
            <a:r>
              <a:rPr lang="en-US" dirty="0" smtClean="0"/>
              <a:t>A string print counter print miles print </a:t>
            </a:r>
            <a:r>
              <a:rPr lang="en-US" dirty="0" smtClean="0"/>
              <a:t>name</a:t>
            </a:r>
          </a:p>
          <a:p>
            <a:endParaRPr lang="en-US" dirty="0" smtClean="0"/>
          </a:p>
          <a:p>
            <a:r>
              <a:rPr lang="en-US" dirty="0" smtClean="0"/>
              <a:t>a = b = c = </a:t>
            </a:r>
            <a:r>
              <a:rPr lang="en-US" dirty="0" smtClean="0"/>
              <a:t>1</a:t>
            </a:r>
          </a:p>
          <a:p>
            <a:r>
              <a:rPr lang="en-US" dirty="0" smtClean="0"/>
              <a:t>a, b, c = 1, 2, "john"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E68C6-1DBC-42CC-9C2B-187673C3493C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395536" y="306176"/>
            <a:ext cx="8496943" cy="3052306"/>
            <a:chOff x="395536" y="306176"/>
            <a:chExt cx="8496943" cy="3052306"/>
          </a:xfrm>
        </p:grpSpPr>
        <p:sp>
          <p:nvSpPr>
            <p:cNvPr id="5" name="Rechteck 17"/>
            <p:cNvSpPr/>
            <p:nvPr>
              <p:custDataLst>
                <p:tags r:id="rId2"/>
              </p:custDataLst>
            </p:nvPr>
          </p:nvSpPr>
          <p:spPr>
            <a:xfrm>
              <a:off x="395536" y="306176"/>
              <a:ext cx="8496943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de-DE" sz="2400" b="1" smtClean="0">
                  <a:solidFill>
                    <a:schemeClr val="accent1"/>
                  </a:solidFill>
                  <a:latin typeface="+mj-lt"/>
                  <a:ea typeface="+mj-ea"/>
                  <a:cs typeface="Arial" pitchFamily="34" charset="0"/>
                </a:rPr>
                <a:t>Agenda</a:t>
              </a:r>
              <a:endParaRPr lang="de-DE" sz="2400" b="1" dirty="0">
                <a:solidFill>
                  <a:schemeClr val="accent1"/>
                </a:solidFill>
                <a:latin typeface="+mj-lt"/>
                <a:ea typeface="+mj-ea"/>
                <a:cs typeface="Arial" pitchFamily="34" charset="0"/>
              </a:endParaRPr>
            </a:p>
          </p:txBody>
        </p:sp>
        <p:sp>
          <p:nvSpPr>
            <p:cNvPr id="6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83568" y="13464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Introduction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7" name="Rectangle 15">
              <a:hlinkClick r:id="rId16" action="ppaction://hlinksldjump"/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5536" y="13464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1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8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3568" y="16912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History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9" name="Rectangle 15">
              <a:hlinkClick r:id="rId17" action="ppaction://hlinksldjump"/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5536" y="16912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2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0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3568" y="2036083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Python Interpreter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1" name="Rectangle 15">
              <a:hlinkClick r:id="rId18" action="ppaction://hlinksldjump"/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5536" y="2036083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3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2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3568" y="23808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Indentation and Comments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3" name="Rectangle 15">
              <a:hlinkClick r:id="rId19" action="ppaction://hlinksldjump"/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5536" y="23808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4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4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3568" y="2725682"/>
              <a:ext cx="8064000" cy="288000"/>
            </a:xfrm>
            <a:prstGeom prst="rect">
              <a:avLst/>
            </a:prstGeom>
            <a:solidFill>
              <a:srgbClr val="EBEBEB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Literals</a:t>
              </a:r>
              <a:endParaRPr lang="de-DE" b="1" dirty="0" smtClean="0">
                <a:solidFill>
                  <a:schemeClr val="bg2">
                    <a:lumMod val="10000"/>
                  </a:schemeClr>
                </a:solidFill>
                <a:latin typeface="Arial"/>
              </a:endParaRPr>
            </a:p>
          </p:txBody>
        </p:sp>
        <p:sp>
          <p:nvSpPr>
            <p:cNvPr id="15" name="Rectangle 15">
              <a:hlinkClick r:id="rId20" action="ppaction://hlinksldjump"/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5536" y="27256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5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3568" y="3070482"/>
              <a:ext cx="8064000" cy="288000"/>
            </a:xfrm>
            <a:prstGeom prst="rect">
              <a:avLst/>
            </a:prstGeom>
            <a:solidFill>
              <a:schemeClr val="accent5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108000" tIns="35120" rIns="4212000" bIns="35120" anchor="ctr">
              <a:normAutofit fontScale="92500" lnSpcReduction="20000"/>
            </a:bodyPr>
            <a:lstStyle/>
            <a:p>
              <a:pPr>
                <a:tabLst>
                  <a:tab pos="4391025" algn="l"/>
                  <a:tab pos="7715250" algn="r"/>
                </a:tabLst>
              </a:pPr>
              <a:r>
                <a:rPr lang="de-DE" b="1" smtClean="0">
                  <a:solidFill>
                    <a:schemeClr val="tx2"/>
                  </a:solidFill>
                  <a:latin typeface="Arial"/>
                </a:rPr>
                <a:t>Assignment</a:t>
              </a:r>
              <a:endParaRPr lang="de-DE" b="1" dirty="0" smtClean="0">
                <a:solidFill>
                  <a:schemeClr val="tx2"/>
                </a:solidFill>
                <a:latin typeface="Arial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5536" y="3070482"/>
              <a:ext cx="288000" cy="28800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36000" tIns="35120" rIns="36000" bIns="35120" anchor="ctr"/>
            <a:lstStyle/>
            <a:p>
              <a:pPr marL="238125" indent="-238125" algn="ctr">
                <a:tabLst>
                  <a:tab pos="446088" algn="l"/>
                </a:tabLst>
              </a:pPr>
              <a:r>
                <a:rPr lang="de-DE" b="1" smtClean="0">
                  <a:solidFill>
                    <a:schemeClr val="bg1"/>
                  </a:solidFill>
                  <a:latin typeface="Arial"/>
                </a:rPr>
                <a:t>6</a:t>
              </a:r>
              <a:endParaRPr lang="de-DE" b="1" dirty="0">
                <a:solidFill>
                  <a:schemeClr val="bg1"/>
                </a:solidFill>
                <a:latin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Assignment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AB9BC-EC3C-4486-9684-3F656F14D41E}" type="datetime3">
              <a:rPr lang="en-US" noProof="0" smtClean="0"/>
              <a:pPr/>
              <a:t>8 June 2015</a:t>
            </a:fld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Author, © Continental AG</a:t>
            </a:r>
            <a:endParaRPr lang="en-US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MST_COLOR_1" val="0,0,0,Dark 1"/>
  <p:tag name="MIO_MST_COLOR_2" val="255,255,255,Light 1"/>
  <p:tag name="MIO_MST_COLOR_3" val="255,255,255,Dark 2"/>
  <p:tag name="MIO_MST_COLOR_4" val="235,235,235,Light 2"/>
  <p:tag name="MIO_MST_COLOR_5" val="255,165,0,Accent 1"/>
  <p:tag name="MIO_MST_COLOR_6" val="191,115,0,Accent 2"/>
  <p:tag name="MIO_MST_COLOR_7" val="226,135,0,Accent 3"/>
  <p:tag name="MIO_MST_COLOR_8" val="255,194,102,Accent 4"/>
  <p:tag name="MIO_MST_COLOR_9" val="95,95,95,Accent 5"/>
  <p:tag name="MIO_MST_COLOR_10" val="38,38,38,Accent 6"/>
  <p:tag name="MIO_MST_COLOR_11" val="255,165,0,"/>
  <p:tag name="MIO_MST_COLOR_12" val="119,119,119,"/>
  <p:tag name="MIO_HDS" val="True"/>
  <p:tag name="MIO_EK" val="4679"/>
  <p:tag name="MIO_UPDATE" val="True"/>
  <p:tag name="MIO_VERSION" val="05.08.2013 14:02:34"/>
  <p:tag name="MIO_DBID" val="ED9FF2F2-6643-46BA-B685-7D49126FFAF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Introduction"/>
  <p:tag name="MIO_EK" val="421"/>
  <p:tag name="MIO_VERSION" val="31.12.9999 23:59:59"/>
  <p:tag name="MIO_DBID" val="ED9FF2F2-6643-46BA-B685-7D49126FFAFF"/>
  <p:tag name="MIO_UPDAT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History"/>
  <p:tag name="MIO_EK" val="421"/>
  <p:tag name="MIO_VERSION" val="31.12.9999 23:59:59"/>
  <p:tag name="MIO_DBID" val="ED9FF2F2-6643-46BA-B685-7D49126FFAFF"/>
  <p:tag name="MIO_UPDAT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" val="EMPOWERBULLE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Python Interpreter"/>
  <p:tag name="MIO_EK" val="421"/>
  <p:tag name="MIO_VERSION" val="31.12.9999 23:59:59"/>
  <p:tag name="MIO_DBID" val="ED9FF2F2-6643-46BA-B685-7D49126FFAFF"/>
  <p:tag name="MIO_UPDATE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Indentation and Comments"/>
  <p:tag name="MIO_EK" val="421"/>
  <p:tag name="MIO_VERSION" val="31.12.9999 23:59:59"/>
  <p:tag name="MIO_DBID" val="ED9FF2F2-6643-46BA-B685-7D49126FFAFF"/>
  <p:tag name="MIO_UPDATE" val="Fal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Literals"/>
  <p:tag name="MIO_EK" val="421"/>
  <p:tag name="MIO_VERSION" val="31.12.9999 23:59:59"/>
  <p:tag name="MIO_DBID" val="ED9FF2F2-6643-46BA-B685-7D49126FFAFF"/>
  <p:tag name="MIO_UPDATE" val="Fals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Assignment"/>
  <p:tag name="MIO_EK" val="421"/>
  <p:tag name="MIO_VERSION" val="31.12.9999 23:59:59"/>
  <p:tag name="MIO_DBID" val="ED9FF2F2-6643-46BA-B685-7D49126FFAFF"/>
  <p:tag name="MIO_UPDATE" val="Fals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  <p:tag name="MIO_SKIP_CDCHECK?" val="True"/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  <p:tag name="MIO_SKIP_CDCHECK?" val="True"/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  <p:tag name="MIO_SKIP_CDCHECK?" val="True"/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  <p:tag name="MIO_SKIP_CDCHECK?" val="True"/>
  <p:tag name="MIO_SKIP_CDCHECK" val="True"/>
</p:tagLst>
</file>

<file path=ppt/theme/theme1.xml><?xml version="1.0" encoding="utf-8"?>
<a:theme xmlns:a="http://schemas.openxmlformats.org/drawingml/2006/main" name="Continental AG, 4x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On-screen Show (4:3)</PresentationFormat>
  <Paragraphs>154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Continental AG, 4x3</vt:lpstr>
      <vt:lpstr>01. Introduction to Python</vt:lpstr>
      <vt:lpstr>Slide 2</vt:lpstr>
      <vt:lpstr>Introduction</vt:lpstr>
      <vt:lpstr>Slide 4</vt:lpstr>
      <vt:lpstr>History</vt:lpstr>
      <vt:lpstr>Slide 6</vt:lpstr>
      <vt:lpstr>Python Interpreter</vt:lpstr>
      <vt:lpstr>Python Interpreter</vt:lpstr>
      <vt:lpstr>Slide 9</vt:lpstr>
      <vt:lpstr>Zen of the Python</vt:lpstr>
      <vt:lpstr>Indentation</vt:lpstr>
      <vt:lpstr>Comments</vt:lpstr>
      <vt:lpstr>Slide 13</vt:lpstr>
      <vt:lpstr>Literals and variables</vt:lpstr>
      <vt:lpstr>Slide 15</vt:lpstr>
      <vt:lpstr>Assignment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Amancharla, Sundaranataraja</dc:creator>
  <cp:lastModifiedBy>uidj8906</cp:lastModifiedBy>
  <cp:revision>6</cp:revision>
  <dcterms:created xsi:type="dcterms:W3CDTF">2013-08-05T12:02:35Z</dcterms:created>
  <dcterms:modified xsi:type="dcterms:W3CDTF">2015-06-08T13:12:50Z</dcterms:modified>
</cp:coreProperties>
</file>