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45" r:id="rId2"/>
    <p:sldId id="343" r:id="rId3"/>
    <p:sldId id="362" r:id="rId4"/>
    <p:sldId id="363" r:id="rId5"/>
    <p:sldId id="364" r:id="rId6"/>
    <p:sldId id="365" r:id="rId7"/>
    <p:sldId id="366" r:id="rId8"/>
    <p:sldId id="377" r:id="rId9"/>
    <p:sldId id="378" r:id="rId10"/>
    <p:sldId id="379" r:id="rId11"/>
    <p:sldId id="380" r:id="rId12"/>
    <p:sldId id="381" r:id="rId13"/>
    <p:sldId id="376" r:id="rId14"/>
    <p:sldId id="341" r:id="rId15"/>
  </p:sldIdLst>
  <p:sldSz cx="9144000" cy="6858000" type="screen4x3"/>
  <p:notesSz cx="6797675" cy="9926638"/>
  <p:custDataLst>
    <p:tags r:id="rId1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747474"/>
    <a:srgbClr val="A6A6A6"/>
    <a:srgbClr val="B2B2B2"/>
    <a:srgbClr val="EAEAEA"/>
    <a:srgbClr val="FFFEFD"/>
    <a:srgbClr val="FFFEFE"/>
    <a:srgbClr val="FFFFFE"/>
    <a:srgbClr val="FFFEFF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0" autoAdjust="0"/>
    <p:restoredTop sz="94660" autoAdjust="0"/>
  </p:normalViewPr>
  <p:slideViewPr>
    <p:cSldViewPr snapToObjects="1" showGuides="1">
      <p:cViewPr varScale="1">
        <p:scale>
          <a:sx n="116" d="100"/>
          <a:sy n="116" d="100"/>
        </p:scale>
        <p:origin x="-1494" y="-114"/>
      </p:cViewPr>
      <p:guideLst>
        <p:guide orient="horz" pos="845"/>
        <p:guide orient="horz" pos="3702"/>
        <p:guide orient="horz" pos="2296"/>
        <p:guide orient="horz" pos="2251"/>
        <p:guide orient="horz" pos="119"/>
        <p:guide orient="horz" pos="4201"/>
        <p:guide orient="horz" pos="2614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76" d="100"/>
          <a:sy n="76" d="100"/>
        </p:scale>
        <p:origin x="-2166" y="-84"/>
      </p:cViewPr>
      <p:guideLst>
        <p:guide orient="horz" pos="3126"/>
        <p:guide pos="214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0BAD0-1087-43A9-B1A9-7A9D8A84A638}" type="datetimeFigureOut">
              <a:rPr lang="de-DE" smtClean="0"/>
              <a:pPr/>
              <a:t>07.10.2015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6FF2-31AE-4F51-8EE2-6B6790F3B26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="" xmlns:p14="http://schemas.microsoft.com/office/powerpoint/2010/main" val="92576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  <a:pPr/>
              <a:t>10/7/2015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7575" y="4714875"/>
            <a:ext cx="4962525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4739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8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693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363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F09CE-5172-440D-AA4C-674D4F31784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3"/>
            <a:ext cx="8785225" cy="3960812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11,0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dirty="0" smtClean="0"/>
              <a:t>Das Quality Seal hat </a:t>
            </a:r>
            <a:r>
              <a:rPr lang="en-US" noProof="0" dirty="0" err="1" smtClean="0"/>
              <a:t>im</a:t>
            </a:r>
            <a:r>
              <a:rPr lang="en-US" noProof="0" dirty="0" smtClean="0"/>
              <a:t> </a:t>
            </a:r>
            <a:r>
              <a:rPr lang="en-US" noProof="0" dirty="0" err="1" smtClean="0"/>
              <a:t>Vordergrund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stehen</a:t>
            </a:r>
            <a:r>
              <a:rPr lang="en-US" noProof="0" dirty="0" smtClean="0"/>
              <a:t>.</a:t>
            </a:r>
            <a:br>
              <a:rPr lang="en-US" noProof="0" dirty="0" smtClean="0"/>
            </a:br>
            <a:r>
              <a:rPr lang="en-US" noProof="0" dirty="0" err="1" smtClean="0"/>
              <a:t>Bitte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ändern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nicht</a:t>
            </a:r>
            <a:r>
              <a:rPr lang="en-US" noProof="0" dirty="0" smtClean="0"/>
              <a:t> die </a:t>
            </a:r>
            <a:r>
              <a:rPr lang="en-US" noProof="0" dirty="0" err="1" smtClean="0"/>
              <a:t>Größe</a:t>
            </a:r>
            <a:r>
              <a:rPr lang="en-US" noProof="0" dirty="0" smtClean="0"/>
              <a:t> </a:t>
            </a:r>
            <a:r>
              <a:rPr lang="en-US" noProof="0" dirty="0" err="1" smtClean="0"/>
              <a:t>oder</a:t>
            </a:r>
            <a:r>
              <a:rPr lang="en-US" noProof="0" dirty="0" smtClean="0"/>
              <a:t> Position.</a:t>
            </a:r>
            <a:br>
              <a:rPr lang="en-US" noProof="0" dirty="0" smtClean="0"/>
            </a:br>
            <a:r>
              <a:rPr lang="en-US" noProof="0" dirty="0" smtClean="0"/>
              <a:t>The Quality Seal has to stay on top.</a:t>
            </a:r>
            <a:br>
              <a:rPr lang="en-US" noProof="0" dirty="0" smtClean="0"/>
            </a:br>
            <a:r>
              <a:rPr lang="en-US" noProof="0" dirty="0" smtClean="0"/>
              <a:t>Please do not change size or position.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177800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D547F8-5145-4EDD-B534-EAB796FE8C9F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2"/>
            <a:ext cx="8785225" cy="64801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18,0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962C32-3614-45BF-BAB1-EB0AB81D0000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erade Verbindung 15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06" y="6375515"/>
            <a:ext cx="2726779" cy="12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88"/>
            <a:r>
              <a:rPr lang="en-US" sz="700" noProof="0" smtClean="0">
                <a:solidFill>
                  <a:schemeClr val="tx1"/>
                </a:solidFill>
                <a:latin typeface="+mn-lt"/>
              </a:rPr>
              <a:t>Confidential</a:t>
            </a:r>
            <a:endParaRPr lang="en-US" sz="700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237312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88"/>
            <a:r>
              <a:rPr lang="en-US" sz="700" b="1" noProof="0" smtClean="0">
                <a:solidFill>
                  <a:schemeClr val="tx1"/>
                </a:solidFill>
                <a:latin typeface="+mn-lt"/>
              </a:rPr>
              <a:t>Space for Sender Information</a:t>
            </a:r>
            <a:endParaRPr lang="en-US" sz="700" b="1" noProof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8833892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C6D8B4-77DF-47E2-8147-84FB9A68446D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81082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CD2B11-5D6A-4947-9A17-825E522F1777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pieren 15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19594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22320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D176-31C0-4543-829D-BDC40D0D81D3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546124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3644900"/>
            <a:ext cx="8353425" cy="2232024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18FB33-42E6-4C23-AA9A-DC66C26B1340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4069862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8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296862"/>
            <a:ext cx="8353424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C7BABF9-9A37-4480-B8E1-6ECF946A432B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6179362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7C39854-43B9-42AC-85AC-FCA66DC81E0C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833559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341437"/>
            <a:ext cx="273685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03575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011863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9CCD7DF1-9E02-48B1-9F7E-E78E9DB199CE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7914532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7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8ED2810E-1EDA-485B-971E-1C5D21BC72CB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/>
          </p:nvPr>
        </p:nvSpPr>
        <p:spPr>
          <a:xfrm>
            <a:off x="395289" y="3644900"/>
            <a:ext cx="4140199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9" name="Inhaltsplatzhalter 3"/>
          <p:cNvSpPr>
            <a:spLocks noGrp="1"/>
          </p:cNvSpPr>
          <p:nvPr>
            <p:ph sz="half" idx="14"/>
          </p:nvPr>
        </p:nvSpPr>
        <p:spPr>
          <a:xfrm>
            <a:off x="4606926" y="3644900"/>
            <a:ext cx="4141788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63279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BFA864-0AB0-4002-B4A1-740B7BFB9834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 smtClean="0"/>
              <a:t>Binoy</a:t>
            </a:r>
            <a:r>
              <a:rPr lang="en-US" dirty="0" smtClean="0"/>
              <a:t> </a:t>
            </a:r>
            <a:r>
              <a:rPr lang="en-US" dirty="0" err="1" smtClean="0"/>
              <a:t>Udayan</a:t>
            </a:r>
            <a:r>
              <a:rPr lang="en-US" dirty="0" smtClean="0"/>
              <a:t>, © Continental AG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43D375-E1C0-48EC-AB31-6B48A871004A}" type="datetime3">
              <a:rPr lang="en-US" noProof="0" smtClean="0"/>
              <a:pPr/>
              <a:t>7 October 2015</a:t>
            </a:fld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891307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51ACA-D671-4872-8C6B-2BE97895414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229844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EC1612-35BA-4475-AFB4-82B852300840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169119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D244AE-CCC2-4529-B090-394013E1C3A7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uppieren 14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749887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2375;MIO_UPDATE=True;MIO_VERSION=30.11.2012 11:40:17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12"/>
          <p:cNvCxnSpPr/>
          <p:nvPr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341438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6350484" y="6224489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B42CB046-44F0-41AE-B1DD-030791EC58EC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6350485" y="6375515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4" y="6375515"/>
            <a:ext cx="360289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Ellipse 3" hidden="1"/>
          <p:cNvSpPr/>
          <p:nvPr>
            <p:custDataLst>
              <p:tags r:id="rId21"/>
            </p:custDataLst>
          </p:nvPr>
        </p:nvSpPr>
        <p:spPr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0" r:id="rId2"/>
    <p:sldLayoutId id="2147483649" r:id="rId3"/>
    <p:sldLayoutId id="2147483670" r:id="rId4"/>
    <p:sldLayoutId id="2147483661" r:id="rId5"/>
    <p:sldLayoutId id="2147483659" r:id="rId6"/>
    <p:sldLayoutId id="214748366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66" r:id="rId16"/>
    <p:sldLayoutId id="2147483667" r:id="rId17"/>
    <p:sldLayoutId id="2147483668" r:id="rId18"/>
    <p:sldLayoutId id="2147483671" r:id="rId19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38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12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slideLayout" Target="../slideLayouts/slideLayout14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/glossary.html" TargetMode="External"/><Relationship Id="rId2" Type="http://schemas.openxmlformats.org/officeDocument/2006/relationships/hyperlink" Target="https://docs.python.org/2/library/pickle.htm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437112"/>
            <a:ext cx="8172140" cy="418502"/>
          </a:xfrm>
        </p:spPr>
        <p:txBody>
          <a:bodyPr>
            <a:noAutofit/>
          </a:bodyPr>
          <a:lstStyle/>
          <a:p>
            <a:r>
              <a:rPr lang="en-US" sz="3200" dirty="0" smtClean="0"/>
              <a:t>06. Python – Miscellaneous Topics - I  </a:t>
            </a:r>
            <a:endParaRPr lang="en-US" sz="3200" dirty="0"/>
          </a:p>
        </p:txBody>
      </p:sp>
      <p:pic>
        <p:nvPicPr>
          <p:cNvPr id="1026" name="Picture 2" descr="D:\materials\Keep_calm_and_learn_Pyth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306075"/>
            <a:ext cx="3024336" cy="353323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br>
              <a:rPr lang="en-US" dirty="0" smtClean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5DD7-AAF9-42D2-A0BC-FAC01AD5E57F}" type="datetime3">
              <a:rPr lang="en-US" smtClean="0"/>
              <a:pPr/>
              <a:t>7 October 2015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 smtClean="0"/>
              <a:t>Binoy</a:t>
            </a:r>
            <a:r>
              <a:rPr lang="en-US" dirty="0" smtClean="0"/>
              <a:t> </a:t>
            </a:r>
            <a:r>
              <a:rPr lang="en-US" dirty="0" err="1" smtClean="0"/>
              <a:t>Udayan</a:t>
            </a:r>
            <a:r>
              <a:rPr lang="en-US" dirty="0" smtClean="0"/>
              <a:t>, © Continental AG</a:t>
            </a:r>
            <a:endParaRPr lang="en-US" dirty="0"/>
          </a:p>
        </p:txBody>
      </p:sp>
      <p:sp>
        <p:nvSpPr>
          <p:cNvPr id="6" name="Rectangle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538" y="1340721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File Operations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538" y="1340721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1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Rectangle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1205" y="2440109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JSON</a:t>
            </a:r>
          </a:p>
        </p:txBody>
      </p:sp>
      <p:sp>
        <p:nvSpPr>
          <p:cNvPr id="25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2461" y="2440109"/>
            <a:ext cx="28915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3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6" name="Rectangle 15">
            <a:hlinkClick r:id="rId14" action="ppaction://hlinksldjump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51205" y="2988600"/>
            <a:ext cx="81117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10000"/>
                  </a:schemeClr>
                </a:solidFill>
              </a:rPr>
              <a:t>Config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Parser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7" name="Rectangle 15">
            <a:hlinkClick r:id="rId14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2461" y="2988600"/>
            <a:ext cx="28966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4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8" name="Rectangle 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97825" y="4055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Problems</a:t>
            </a:r>
          </a:p>
        </p:txBody>
      </p:sp>
      <p:sp>
        <p:nvSpPr>
          <p:cNvPr id="21" name="Rectangle 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09825" y="4055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I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Rectangle 1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97825" y="4436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Assignments</a:t>
            </a:r>
          </a:p>
        </p:txBody>
      </p:sp>
      <p:sp>
        <p:nvSpPr>
          <p:cNvPr id="23" name="Rectangle 1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9825" y="4436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II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2" name="Rectangle 1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65492" y="1923509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Pickle</a:t>
            </a:r>
          </a:p>
        </p:txBody>
      </p:sp>
      <p:sp>
        <p:nvSpPr>
          <p:cNvPr id="33" name="Rectangle 1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95288" y="1923509"/>
            <a:ext cx="32061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2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Opening and Closing Files: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The </a:t>
            </a:r>
            <a:r>
              <a:rPr lang="en-US" sz="2000" i="1" dirty="0" smtClean="0"/>
              <a:t>open </a:t>
            </a:r>
            <a:r>
              <a:rPr lang="en-US" sz="2000" dirty="0" smtClean="0"/>
              <a:t>Function:</a:t>
            </a:r>
          </a:p>
          <a:p>
            <a:endParaRPr lang="en-US" sz="2000" dirty="0" smtClean="0"/>
          </a:p>
          <a:p>
            <a:r>
              <a:rPr lang="en-US" sz="2000" dirty="0" smtClean="0"/>
              <a:t>	file object = open(</a:t>
            </a:r>
            <a:r>
              <a:rPr lang="en-US" sz="2000" dirty="0" err="1" smtClean="0"/>
              <a:t>file_name</a:t>
            </a:r>
            <a:r>
              <a:rPr lang="en-US" sz="2000" dirty="0" smtClean="0"/>
              <a:t> , </a:t>
            </a:r>
            <a:r>
              <a:rPr lang="en-US" sz="2000" dirty="0" err="1" smtClean="0"/>
              <a:t>access_mode</a:t>
            </a:r>
            <a:r>
              <a:rPr lang="en-US" sz="2000" dirty="0" smtClean="0"/>
              <a:t>, buffering)</a:t>
            </a:r>
          </a:p>
          <a:p>
            <a:r>
              <a:rPr lang="en-GB" sz="2000" dirty="0" smtClean="0"/>
              <a:t>	with open(</a:t>
            </a:r>
            <a:r>
              <a:rPr lang="en-GB" sz="2000" dirty="0" err="1" smtClean="0"/>
              <a:t>file_name</a:t>
            </a:r>
            <a:r>
              <a:rPr lang="en-GB" sz="2000" dirty="0" smtClean="0"/>
              <a:t>, </a:t>
            </a:r>
            <a:r>
              <a:rPr lang="en-GB" sz="2000" dirty="0" err="1" smtClean="0"/>
              <a:t>access_mode</a:t>
            </a:r>
            <a:r>
              <a:rPr lang="en-GB" sz="2000" dirty="0" smtClean="0"/>
              <a:t>, buffering) as handle:</a:t>
            </a:r>
          </a:p>
          <a:p>
            <a:r>
              <a:rPr lang="en-GB" sz="2000" dirty="0" smtClean="0"/>
              <a:t>		your code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err="1" smtClean="0"/>
              <a:t>access_mode</a:t>
            </a:r>
            <a:r>
              <a:rPr lang="en-US" sz="2000" b="1" dirty="0" smtClean="0"/>
              <a:t>:</a:t>
            </a:r>
          </a:p>
          <a:p>
            <a:endParaRPr lang="en-US" sz="2000" dirty="0" smtClean="0"/>
          </a:p>
          <a:p>
            <a:endParaRPr lang="en-US" sz="2000" dirty="0" smtClean="0">
              <a:sym typeface="Wingdings" pitchFamily="2" charset="2"/>
            </a:endParaRP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181" y="3810000"/>
            <a:ext cx="7819019" cy="19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108427"/>
            <a:ext cx="6781800" cy="4835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b="1" i="1" dirty="0" smtClean="0"/>
              <a:t>close() </a:t>
            </a:r>
            <a:r>
              <a:rPr lang="en-US" sz="2000" dirty="0" smtClean="0"/>
              <a:t>Method:</a:t>
            </a:r>
          </a:p>
          <a:p>
            <a:endParaRPr lang="en-US" sz="2000" dirty="0" smtClean="0"/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fileObject.close</a:t>
            </a:r>
            <a:r>
              <a:rPr lang="en-US" sz="2000" dirty="0" smtClean="0"/>
              <a:t>()</a:t>
            </a:r>
          </a:p>
          <a:p>
            <a:endParaRPr lang="en-US" sz="2000" dirty="0" smtClean="0"/>
          </a:p>
          <a:p>
            <a:r>
              <a:rPr lang="en-US" sz="2000" b="1" dirty="0" smtClean="0"/>
              <a:t>Reading and Writing Files: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The </a:t>
            </a:r>
            <a:r>
              <a:rPr lang="en-US" sz="2000" i="1" dirty="0" smtClean="0"/>
              <a:t>write() </a:t>
            </a:r>
            <a:r>
              <a:rPr lang="en-US" sz="2000" dirty="0" smtClean="0"/>
              <a:t>Method:</a:t>
            </a:r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 lvl="1"/>
            <a:r>
              <a:rPr lang="en-US" sz="2000" dirty="0" err="1" smtClean="0"/>
              <a:t>fileObject.write</a:t>
            </a:r>
            <a:r>
              <a:rPr lang="en-US" sz="2000" dirty="0" smtClean="0"/>
              <a:t>(string)</a:t>
            </a:r>
          </a:p>
          <a:p>
            <a:pPr lvl="1"/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sz="2000" dirty="0" smtClean="0"/>
              <a:t>The </a:t>
            </a:r>
            <a:r>
              <a:rPr lang="en-US" sz="2000" i="1" dirty="0" smtClean="0"/>
              <a:t>read() </a:t>
            </a:r>
            <a:r>
              <a:rPr lang="en-US" sz="2000" dirty="0" smtClean="0"/>
              <a:t>Method: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 lvl="1"/>
            <a:r>
              <a:rPr lang="en-US" sz="2000" dirty="0" err="1" smtClean="0"/>
              <a:t>fileObject.read</a:t>
            </a:r>
            <a:r>
              <a:rPr lang="en-US" sz="2000" dirty="0" smtClean="0"/>
              <a:t>([count]</a:t>
            </a: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File Object Methods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4381" y="2057400"/>
            <a:ext cx="8352419" cy="2226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123045"/>
            <a:ext cx="5715000" cy="489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288" y="1219200"/>
            <a:ext cx="8353425" cy="3849469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 The </a:t>
            </a:r>
            <a:r>
              <a:rPr lang="en-GB" dirty="0" smtClean="0">
                <a:hlinkClick r:id="rId2" tooltip="pickle: Convert Python objects to streams of bytes and back."/>
              </a:rPr>
              <a:t>pickle</a:t>
            </a:r>
            <a:r>
              <a:rPr lang="en-GB" dirty="0" smtClean="0"/>
              <a:t> module implements a fundamental, but powerful algorithm for serializing and de-serializing a Python object structure. 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“Pickling” is the process whereby a Python object hierarchy is converted into a byte stream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And “</a:t>
            </a:r>
            <a:r>
              <a:rPr lang="en-GB" dirty="0" err="1" smtClean="0"/>
              <a:t>unpickling</a:t>
            </a:r>
            <a:r>
              <a:rPr lang="en-GB" dirty="0" smtClean="0"/>
              <a:t>” is the reverse operation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There are currently 3 different protocols which can be used for pickling.</a:t>
            </a:r>
          </a:p>
          <a:p>
            <a:pPr lvl="2"/>
            <a:r>
              <a:rPr lang="en-GB" sz="1300" b="1" dirty="0" smtClean="0"/>
              <a:t>Protocol version 0 is the original ASCII protocol and is backwards compatible with earlier versions of Python.</a:t>
            </a:r>
          </a:p>
          <a:p>
            <a:pPr lvl="2"/>
            <a:r>
              <a:rPr lang="en-GB" sz="1300" b="1" dirty="0" smtClean="0"/>
              <a:t>Protocol version 1 is the old binary format which is also compatible with earlier versions of Python.</a:t>
            </a:r>
          </a:p>
          <a:p>
            <a:pPr lvl="2"/>
            <a:r>
              <a:rPr lang="en-GB" sz="1300" b="1" dirty="0" smtClean="0"/>
              <a:t>Protocol version 2 was introduced in Python 2.3. It provides much more efficient pickling of </a:t>
            </a:r>
            <a:r>
              <a:rPr lang="en-GB" sz="1300" b="1" i="1" dirty="0" smtClean="0">
                <a:hlinkClick r:id="rId3"/>
              </a:rPr>
              <a:t>new-style class</a:t>
            </a:r>
            <a:r>
              <a:rPr lang="en-GB" sz="1300" b="1" dirty="0" smtClean="0"/>
              <a:t>es.</a:t>
            </a:r>
          </a:p>
          <a:p>
            <a:pPr>
              <a:buFont typeface="Arial" pitchFamily="34" charset="0"/>
              <a:buChar char="•"/>
            </a:pPr>
            <a:endParaRPr lang="en-GB" dirty="0" smtClean="0"/>
          </a:p>
          <a:p>
            <a:pPr>
              <a:buFont typeface="Arial" pitchFamily="34" charset="0"/>
              <a:buChar char="•"/>
            </a:pPr>
            <a:endParaRPr lang="en-GB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95288" y="5068669"/>
            <a:ext cx="835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Warning : Never </a:t>
            </a:r>
            <a:r>
              <a:rPr lang="en-GB" dirty="0" err="1" smtClean="0">
                <a:solidFill>
                  <a:srgbClr val="FF0000"/>
                </a:solidFill>
              </a:rPr>
              <a:t>unpickle</a:t>
            </a:r>
            <a:r>
              <a:rPr lang="en-GB" dirty="0" smtClean="0">
                <a:solidFill>
                  <a:srgbClr val="FF0000"/>
                </a:solidFill>
              </a:rPr>
              <a:t> data received from an </a:t>
            </a:r>
            <a:r>
              <a:rPr lang="en-GB" dirty="0" err="1" smtClean="0">
                <a:solidFill>
                  <a:srgbClr val="FF0000"/>
                </a:solidFill>
              </a:rPr>
              <a:t>untrusted</a:t>
            </a:r>
            <a:r>
              <a:rPr lang="en-GB" dirty="0" smtClean="0">
                <a:solidFill>
                  <a:srgbClr val="FF0000"/>
                </a:solidFill>
              </a:rPr>
              <a:t> or unauthenticated source.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18589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pickle.load</a:t>
            </a:r>
            <a:r>
              <a:rPr lang="en-US" dirty="0" smtClean="0"/>
              <a:t>(</a:t>
            </a:r>
            <a:r>
              <a:rPr lang="en-US" i="1" dirty="0" smtClean="0"/>
              <a:t>file</a:t>
            </a:r>
            <a:r>
              <a:rPr lang="en-US" dirty="0" smtClean="0"/>
              <a:t>) / </a:t>
            </a:r>
            <a:r>
              <a:rPr lang="en-US" dirty="0" err="1" smtClean="0"/>
              <a:t>Unpickler</a:t>
            </a:r>
            <a:r>
              <a:rPr lang="en-US" dirty="0" smtClean="0"/>
              <a:t>(file).load()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pickle.dumps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[, </a:t>
            </a:r>
            <a:r>
              <a:rPr lang="en-US" i="1" dirty="0" smtClean="0"/>
              <a:t>protocol</a:t>
            </a:r>
            <a:r>
              <a:rPr lang="en-US" dirty="0" smtClean="0"/>
              <a:t>])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pickle.dump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, </a:t>
            </a:r>
            <a:r>
              <a:rPr lang="en-US" i="1" dirty="0" smtClean="0"/>
              <a:t>file</a:t>
            </a:r>
            <a:r>
              <a:rPr lang="en-US" dirty="0" smtClean="0"/>
              <a:t>[, </a:t>
            </a:r>
            <a:r>
              <a:rPr lang="en-US" i="1" dirty="0" smtClean="0"/>
              <a:t>protocol</a:t>
            </a:r>
            <a:r>
              <a:rPr lang="en-US" dirty="0" smtClean="0"/>
              <a:t>])/ </a:t>
            </a:r>
            <a:r>
              <a:rPr lang="en-US" dirty="0" err="1" smtClean="0"/>
              <a:t>Pickler</a:t>
            </a:r>
            <a:r>
              <a:rPr lang="en-US" dirty="0" smtClean="0"/>
              <a:t>(file, protocol).dump(</a:t>
            </a:r>
            <a:r>
              <a:rPr lang="en-US" dirty="0" err="1" smtClean="0"/>
              <a:t>obj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</a:t>
            </a:r>
            <a:r>
              <a:rPr lang="en-US" dirty="0" err="1" smtClean="0"/>
              <a:t>pickle.loads</a:t>
            </a:r>
            <a:r>
              <a:rPr lang="en-US" dirty="0" smtClean="0"/>
              <a:t>(</a:t>
            </a:r>
            <a:r>
              <a:rPr lang="en-US" i="1" dirty="0" smtClean="0"/>
              <a:t>string)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399" y="3429000"/>
            <a:ext cx="679969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1706563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 JSON stands for </a:t>
            </a:r>
            <a:r>
              <a:rPr lang="en-GB" b="1" dirty="0" smtClean="0"/>
              <a:t>J</a:t>
            </a:r>
            <a:r>
              <a:rPr lang="en-GB" dirty="0" smtClean="0"/>
              <a:t>ava</a:t>
            </a:r>
            <a:r>
              <a:rPr lang="en-GB" b="1" dirty="0" smtClean="0"/>
              <a:t>S</a:t>
            </a:r>
            <a:r>
              <a:rPr lang="en-GB" dirty="0" smtClean="0"/>
              <a:t>cript </a:t>
            </a:r>
            <a:r>
              <a:rPr lang="en-GB" b="1" dirty="0" smtClean="0"/>
              <a:t>O</a:t>
            </a:r>
            <a:r>
              <a:rPr lang="en-GB" dirty="0" smtClean="0"/>
              <a:t>bject </a:t>
            </a:r>
            <a:r>
              <a:rPr lang="en-GB" b="1" dirty="0" smtClean="0"/>
              <a:t>N</a:t>
            </a:r>
            <a:r>
              <a:rPr lang="en-GB" dirty="0" smtClean="0"/>
              <a:t>otation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JSON is a lightweight data-interchange format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JSON is language independent 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JSON is "self-describing" and easy to understand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JSON(JavaScript Object Notation)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Binoy Udayan, © Continental AG</a:t>
            </a:r>
            <a:endParaRPr lang="en-US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657599"/>
            <a:ext cx="6324600" cy="1790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31641" y="1015998"/>
            <a:ext cx="3041171" cy="2641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json.dump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, </a:t>
            </a:r>
            <a:r>
              <a:rPr lang="en-US" i="1" dirty="0" err="1" smtClean="0"/>
              <a:t>fp</a:t>
            </a:r>
            <a:r>
              <a:rPr lang="en-US" i="1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json.dumps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json.load</a:t>
            </a:r>
            <a:r>
              <a:rPr lang="en-US" dirty="0" smtClean="0"/>
              <a:t>(</a:t>
            </a:r>
            <a:r>
              <a:rPr lang="en-US" i="1" dirty="0" err="1" smtClean="0"/>
              <a:t>fp</a:t>
            </a:r>
            <a:r>
              <a:rPr lang="en-US" i="1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json.loads</a:t>
            </a:r>
            <a:r>
              <a:rPr lang="en-US" dirty="0" smtClean="0"/>
              <a:t>(</a:t>
            </a:r>
            <a:r>
              <a:rPr lang="en-US" i="1" dirty="0" smtClean="0"/>
              <a:t>s)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JSON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Binoy Udayan, © Continental AG</a:t>
            </a:r>
            <a:endParaRPr lang="en-US" noProof="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err="1" smtClean="0"/>
              <a:t>ConfigParser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Binoy Udayan, © Continental AG</a:t>
            </a:r>
            <a:endParaRPr lang="en-US" noProof="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5288" y="1371600"/>
            <a:ext cx="621792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7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143000"/>
            <a:ext cx="7778824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 smtClean="0"/>
              <a:t>Write a program to copy the contents from “input.txt” to “output.txt” using file “read” and “write” operations.</a:t>
            </a:r>
            <a:endParaRPr lang="en-US" sz="2000" smtClean="0"/>
          </a:p>
          <a:p>
            <a:pPr marL="457200" indent="-457200">
              <a:buAutoNum type="arabicParenR"/>
            </a:pPr>
            <a:endParaRPr lang="en-US" sz="2000" dirty="0" smtClean="0"/>
          </a:p>
          <a:p>
            <a:pPr marL="457200" indent="-457200"/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smtClean="0"/>
              <a:t>for your attention!</a:t>
            </a:r>
            <a:endParaRPr lang="en-US" noProof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Thank you</a:t>
            </a:r>
            <a:endParaRPr lang="en-US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042F8-CEA3-49F3-B751-D92902D0DDAB}" type="datetime3">
              <a:rPr lang="en-US" smtClean="0"/>
              <a:pPr/>
              <a:t>7 October 2015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 smtClean="0"/>
              <a:t>Binoy</a:t>
            </a:r>
            <a:r>
              <a:rPr lang="en-US" dirty="0" smtClean="0"/>
              <a:t> </a:t>
            </a:r>
            <a:r>
              <a:rPr lang="en-US" dirty="0" err="1" smtClean="0"/>
              <a:t>Udayan</a:t>
            </a:r>
            <a:r>
              <a:rPr lang="en-US" dirty="0" smtClean="0"/>
              <a:t>, © Continental 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21480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HDS" val="True"/>
  <p:tag name="MIO_EK" val="2375"/>
  <p:tag name="MIO_UPDATE" val="True"/>
  <p:tag name="MIO_VERSION" val="30.11.2012 11:40:17"/>
  <p:tag name="MIO_DBID" val="ED9FF2F2-6643-46BA-B685-7D49126FFA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heme/theme1.xml><?xml version="1.0" encoding="utf-8"?>
<a:theme xmlns:a="http://schemas.openxmlformats.org/drawingml/2006/main" name="ppt_template_continental_automotive_en-4-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ppt_template_continental_automotive_en-4-3</Template>
  <TotalTime>0</TotalTime>
  <Words>238</Words>
  <Application>Microsoft Office PowerPoint</Application>
  <PresentationFormat>On-screen Show (4:3)</PresentationFormat>
  <Paragraphs>187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ppt_template_continental_automotive_en-4-3</vt:lpstr>
      <vt:lpstr>06. Python – Miscellaneous Topics - I  </vt:lpstr>
      <vt:lpstr>Topics </vt:lpstr>
      <vt:lpstr>File Operations</vt:lpstr>
      <vt:lpstr>File Operations</vt:lpstr>
      <vt:lpstr>File Operations</vt:lpstr>
      <vt:lpstr>File Operations</vt:lpstr>
      <vt:lpstr>File Operations</vt:lpstr>
      <vt:lpstr>Pickle</vt:lpstr>
      <vt:lpstr>Pickle</vt:lpstr>
      <vt:lpstr>JSON(JavaScript Object Notation)</vt:lpstr>
      <vt:lpstr>JSON</vt:lpstr>
      <vt:lpstr>ConfigParser</vt:lpstr>
      <vt:lpstr>Assignments</vt:lpstr>
      <vt:lpstr>Thank you</vt:lpstr>
    </vt:vector>
  </TitlesOfParts>
  <Company>Continental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uidt5719</dc:creator>
  <cp:lastModifiedBy>pushpavathi</cp:lastModifiedBy>
  <cp:revision>502</cp:revision>
  <dcterms:created xsi:type="dcterms:W3CDTF">2013-12-05T05:21:14Z</dcterms:created>
  <dcterms:modified xsi:type="dcterms:W3CDTF">2015-10-07T06:50:53Z</dcterms:modified>
</cp:coreProperties>
</file>