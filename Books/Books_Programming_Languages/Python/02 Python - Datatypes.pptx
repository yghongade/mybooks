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45" r:id="rId2"/>
    <p:sldId id="343" r:id="rId3"/>
    <p:sldId id="339" r:id="rId4"/>
    <p:sldId id="347" r:id="rId5"/>
    <p:sldId id="348" r:id="rId6"/>
    <p:sldId id="351" r:id="rId7"/>
    <p:sldId id="352" r:id="rId8"/>
    <p:sldId id="353" r:id="rId9"/>
    <p:sldId id="349" r:id="rId10"/>
    <p:sldId id="354" r:id="rId11"/>
    <p:sldId id="355" r:id="rId12"/>
    <p:sldId id="350" r:id="rId13"/>
    <p:sldId id="357" r:id="rId14"/>
    <p:sldId id="358" r:id="rId15"/>
    <p:sldId id="340" r:id="rId16"/>
    <p:sldId id="356" r:id="rId17"/>
    <p:sldId id="341" r:id="rId18"/>
  </p:sldIdLst>
  <p:sldSz cx="9144000" cy="6858000" type="screen4x3"/>
  <p:notesSz cx="6797675" cy="9926638"/>
  <p:custDataLst>
    <p:tags r:id="rId2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747474"/>
    <a:srgbClr val="A6A6A6"/>
    <a:srgbClr val="B2B2B2"/>
    <a:srgbClr val="EAEAEA"/>
    <a:srgbClr val="FFFEFD"/>
    <a:srgbClr val="FFFEFE"/>
    <a:srgbClr val="FFFFFE"/>
    <a:srgbClr val="FFFEFF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4660" autoAdjust="0"/>
  </p:normalViewPr>
  <p:slideViewPr>
    <p:cSldViewPr snapToObjects="1" showGuides="1">
      <p:cViewPr>
        <p:scale>
          <a:sx n="100" d="100"/>
          <a:sy n="100" d="100"/>
        </p:scale>
        <p:origin x="-972" y="-78"/>
      </p:cViewPr>
      <p:guideLst>
        <p:guide orient="horz" pos="845"/>
        <p:guide orient="horz" pos="3702"/>
        <p:guide orient="horz" pos="2296"/>
        <p:guide orient="horz" pos="2251"/>
        <p:guide orient="horz" pos="119"/>
        <p:guide orient="horz" pos="4201"/>
        <p:guide orient="horz" pos="2614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outlineViewPr>
    <p:cViewPr>
      <p:scale>
        <a:sx n="33" d="100"/>
        <a:sy n="33" d="100"/>
      </p:scale>
      <p:origin x="0" y="24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76" d="100"/>
          <a:sy n="76" d="100"/>
        </p:scale>
        <p:origin x="-2166" y="-84"/>
      </p:cViewPr>
      <p:guideLst>
        <p:guide orient="horz" pos="3126"/>
        <p:guide pos="214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0BAD0-1087-43A9-B1A9-7A9D8A84A638}" type="datetimeFigureOut">
              <a:rPr lang="de-DE" smtClean="0"/>
              <a:pPr/>
              <a:t>10.06.2015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6FF2-31AE-4F51-8EE2-6B6790F3B26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="" xmlns:p14="http://schemas.microsoft.com/office/powerpoint/2010/main" val="92576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7575" y="4714875"/>
            <a:ext cx="4962525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4739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8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693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363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F09CE-5172-440D-AA4C-674D4F31784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3"/>
            <a:ext cx="8785225" cy="3960812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11,0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dirty="0" smtClean="0"/>
              <a:t>Das Quality Seal hat </a:t>
            </a:r>
            <a:r>
              <a:rPr lang="en-US" noProof="0" dirty="0" err="1" smtClean="0"/>
              <a:t>im</a:t>
            </a:r>
            <a:r>
              <a:rPr lang="en-US" noProof="0" dirty="0" smtClean="0"/>
              <a:t> </a:t>
            </a:r>
            <a:r>
              <a:rPr lang="en-US" noProof="0" dirty="0" err="1" smtClean="0"/>
              <a:t>Vordergrund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stehen</a:t>
            </a:r>
            <a:r>
              <a:rPr lang="en-US" noProof="0" dirty="0" smtClean="0"/>
              <a:t>.</a:t>
            </a:r>
            <a:br>
              <a:rPr lang="en-US" noProof="0" dirty="0" smtClean="0"/>
            </a:br>
            <a:r>
              <a:rPr lang="en-US" noProof="0" dirty="0" err="1" smtClean="0"/>
              <a:t>Bitte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ändern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nicht</a:t>
            </a:r>
            <a:r>
              <a:rPr lang="en-US" noProof="0" dirty="0" smtClean="0"/>
              <a:t> die </a:t>
            </a:r>
            <a:r>
              <a:rPr lang="en-US" noProof="0" dirty="0" err="1" smtClean="0"/>
              <a:t>Größe</a:t>
            </a:r>
            <a:r>
              <a:rPr lang="en-US" noProof="0" dirty="0" smtClean="0"/>
              <a:t> </a:t>
            </a:r>
            <a:r>
              <a:rPr lang="en-US" noProof="0" dirty="0" err="1" smtClean="0"/>
              <a:t>oder</a:t>
            </a:r>
            <a:r>
              <a:rPr lang="en-US" noProof="0" dirty="0" smtClean="0"/>
              <a:t> Position.</a:t>
            </a:r>
            <a:br>
              <a:rPr lang="en-US" noProof="0" dirty="0" smtClean="0"/>
            </a:br>
            <a:r>
              <a:rPr lang="en-US" noProof="0" dirty="0" smtClean="0"/>
              <a:t>The Quality Seal has to stay on top.</a:t>
            </a:r>
            <a:br>
              <a:rPr lang="en-US" noProof="0" dirty="0" smtClean="0"/>
            </a:br>
            <a:r>
              <a:rPr lang="en-US" noProof="0" dirty="0" smtClean="0"/>
              <a:t>Please do not change size or position.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177800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D547F8-5145-4EDD-B534-EAB796FE8C9F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2"/>
            <a:ext cx="8785225" cy="64801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18,0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962C32-3614-45BF-BAB1-EB0AB81D0000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erade Verbindung 15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06" y="6375515"/>
            <a:ext cx="2726779" cy="12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88"/>
            <a:r>
              <a:rPr lang="en-US" sz="700" noProof="0" smtClean="0">
                <a:solidFill>
                  <a:schemeClr val="tx1"/>
                </a:solidFill>
                <a:latin typeface="+mn-lt"/>
              </a:rPr>
              <a:t>Confidential</a:t>
            </a:r>
            <a:endParaRPr lang="en-US" sz="700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237312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88"/>
            <a:r>
              <a:rPr lang="en-US" sz="700" b="1" noProof="0" smtClean="0">
                <a:solidFill>
                  <a:schemeClr val="tx1"/>
                </a:solidFill>
                <a:latin typeface="+mn-lt"/>
              </a:rPr>
              <a:t>Space for Sender Information</a:t>
            </a:r>
            <a:endParaRPr lang="en-US" sz="700" b="1" noProof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8833892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C6D8B4-77DF-47E2-8147-84FB9A68446D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81082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CD2B11-5D6A-4947-9A17-825E522F1777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pieren 15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19594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22320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D176-31C0-4543-829D-BDC40D0D81D3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546124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3644900"/>
            <a:ext cx="8353425" cy="2232024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18FB33-42E6-4C23-AA9A-DC66C26B1340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4069862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8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296862"/>
            <a:ext cx="8353424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C7BABF9-9A37-4480-B8E1-6ECF946A432B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6179362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7C39854-43B9-42AC-85AC-FCA66DC81E0C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833559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341437"/>
            <a:ext cx="273685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03575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011863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9CCD7DF1-9E02-48B1-9F7E-E78E9DB199CE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7914532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7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8ED2810E-1EDA-485B-971E-1C5D21BC72CB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/>
          </p:nvPr>
        </p:nvSpPr>
        <p:spPr>
          <a:xfrm>
            <a:off x="395289" y="3644900"/>
            <a:ext cx="4140199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9" name="Inhaltsplatzhalter 3"/>
          <p:cNvSpPr>
            <a:spLocks noGrp="1"/>
          </p:cNvSpPr>
          <p:nvPr>
            <p:ph sz="half" idx="14"/>
          </p:nvPr>
        </p:nvSpPr>
        <p:spPr>
          <a:xfrm>
            <a:off x="4606926" y="3644900"/>
            <a:ext cx="4141788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63279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BFA864-0AB0-4002-B4A1-740B7BFB9834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43D375-E1C0-48EC-AB31-6B48A871004A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891307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51ACA-D671-4872-8C6B-2BE97895414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229844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EC1612-35BA-4475-AFB4-82B852300840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169119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D244AE-CCC2-4529-B090-394013E1C3A7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uppieren 14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749887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2375;MIO_UPDATE=True;MIO_VERSION=30.11.2012 11:40:17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12"/>
          <p:cNvCxnSpPr/>
          <p:nvPr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341438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6350484" y="6224489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B42CB046-44F0-41AE-B1DD-030791EC58EC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6350485" y="6375515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4" y="6375515"/>
            <a:ext cx="360289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Ellipse 3" hidden="1"/>
          <p:cNvSpPr/>
          <p:nvPr>
            <p:custDataLst>
              <p:tags r:id="rId21"/>
            </p:custDataLst>
          </p:nvPr>
        </p:nvSpPr>
        <p:spPr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0" r:id="rId2"/>
    <p:sldLayoutId id="2147483649" r:id="rId3"/>
    <p:sldLayoutId id="2147483670" r:id="rId4"/>
    <p:sldLayoutId id="2147483661" r:id="rId5"/>
    <p:sldLayoutId id="2147483659" r:id="rId6"/>
    <p:sldLayoutId id="214748366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66" r:id="rId16"/>
    <p:sldLayoutId id="2147483667" r:id="rId17"/>
    <p:sldLayoutId id="2147483668" r:id="rId18"/>
    <p:sldLayoutId id="2147483671" r:id="rId19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38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12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slide" Target="slide9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slideLayout" Target="../slideLayouts/slideLayout14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slide" Target="slide17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437112"/>
            <a:ext cx="8172140" cy="418502"/>
          </a:xfrm>
        </p:spPr>
        <p:txBody>
          <a:bodyPr>
            <a:noAutofit/>
          </a:bodyPr>
          <a:lstStyle/>
          <a:p>
            <a:r>
              <a:rPr lang="en-US" sz="3200" dirty="0" smtClean="0"/>
              <a:t>02. Python - </a:t>
            </a:r>
            <a:r>
              <a:rPr lang="en-US" sz="3200" dirty="0" err="1" smtClean="0"/>
              <a:t>Datatypes</a:t>
            </a:r>
            <a:r>
              <a:rPr lang="en-US" sz="3200" dirty="0" smtClean="0"/>
              <a:t> </a:t>
            </a:r>
            <a:endParaRPr lang="en-US" sz="3200" dirty="0"/>
          </a:p>
        </p:txBody>
      </p:sp>
      <p:pic>
        <p:nvPicPr>
          <p:cNvPr id="1026" name="Picture 2" descr="D:\materials\Keep_calm_and_learn_Pyth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306075"/>
            <a:ext cx="3024336" cy="353323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br>
              <a:rPr lang="en-US" dirty="0" smtClean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5DD7-AAF9-42D2-A0BC-FAC01AD5E57F}" type="datetime3">
              <a:rPr lang="en-US" smtClean="0"/>
              <a:pPr/>
              <a:t>10 June 2015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Ganesh Hegde, © Continental AG</a:t>
            </a:r>
            <a:endParaRPr lang="en-US" dirty="0"/>
          </a:p>
        </p:txBody>
      </p:sp>
      <p:sp>
        <p:nvSpPr>
          <p:cNvPr id="6" name="Rectangle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538" y="1340721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err="1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Datatypes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538" y="1340721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1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8" name="Rectangle 15">
            <a:hlinkClick r:id="rId18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94119" y="1736812"/>
            <a:ext cx="7668881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Number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9" name="Rectangle 15">
            <a:hlinkClick r:id="rId18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5000" y="1736812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a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Rectangle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08405" y="2120233"/>
            <a:ext cx="76545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String</a:t>
            </a:r>
          </a:p>
        </p:txBody>
      </p:sp>
      <p:sp>
        <p:nvSpPr>
          <p:cNvPr id="25" name="Rectangle 1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69661" y="2120233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b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6" name="Rectangle 15">
            <a:hlinkClick r:id="rId18" action="ppaction://hlinksldjump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108405" y="2516324"/>
            <a:ext cx="76545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List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7" name="Rectangle 15">
            <a:hlinkClick r:id="rId18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69661" y="2516324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c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8" name="Rectangle 15">
            <a:hlinkClick r:id="rId19" action="ppaction://hlinksldjump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108405" y="2912400"/>
            <a:ext cx="76545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Tuple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9" name="Rectangle 15">
            <a:hlinkClick r:id="rId19" action="ppaction://hlinksldjump"/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69661" y="2912400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d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9" name="Rectangle 15">
            <a:hlinkClick r:id="rId19" action="ppaction://hlinksldjump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108405" y="3293400"/>
            <a:ext cx="76545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Dictionary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0" name="Rectangle 15">
            <a:hlinkClick r:id="rId19" action="ppaction://hlinksldjump"/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69661" y="3293400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e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8" name="Rectangl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97825" y="3674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Problems on </a:t>
            </a:r>
            <a:r>
              <a:rPr lang="en-US" b="1" dirty="0" err="1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datatypes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1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09825" y="3674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2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Rectangle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97825" y="4055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Assignments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3" name="Rectangle 1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09825" y="4055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3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Number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218486"/>
            <a:ext cx="77788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 </a:t>
            </a:r>
            <a:r>
              <a:rPr lang="en-US" b="1" dirty="0" smtClean="0"/>
              <a:t>Integer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a = 10</a:t>
            </a:r>
          </a:p>
          <a:p>
            <a:r>
              <a:rPr lang="en-US" dirty="0" smtClean="0"/>
              <a:t>	b = -786</a:t>
            </a:r>
          </a:p>
          <a:p>
            <a:r>
              <a:rPr lang="en-US" dirty="0" smtClean="0"/>
              <a:t>• </a:t>
            </a:r>
            <a:r>
              <a:rPr lang="en-US" b="1" dirty="0" smtClean="0"/>
              <a:t>long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M = 51924361L</a:t>
            </a:r>
          </a:p>
          <a:p>
            <a:r>
              <a:rPr lang="en-US" dirty="0" smtClean="0"/>
              <a:t>	N = -052318172735L</a:t>
            </a:r>
          </a:p>
          <a:p>
            <a:r>
              <a:rPr lang="en-US" dirty="0" smtClean="0"/>
              <a:t>• </a:t>
            </a:r>
            <a:r>
              <a:rPr lang="en-US" b="1" dirty="0" smtClean="0"/>
              <a:t>float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X = 15.20</a:t>
            </a:r>
          </a:p>
          <a:p>
            <a:r>
              <a:rPr lang="en-US" dirty="0" smtClean="0"/>
              <a:t>	Y = -32.54e100</a:t>
            </a:r>
          </a:p>
          <a:p>
            <a:r>
              <a:rPr lang="en-US" dirty="0" smtClean="0"/>
              <a:t>• </a:t>
            </a:r>
            <a:r>
              <a:rPr lang="en-US" b="1" dirty="0" smtClean="0"/>
              <a:t>Complex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var1 = 4.53e-7j</a:t>
            </a:r>
          </a:p>
          <a:p>
            <a:r>
              <a:rPr lang="en-US" dirty="0" smtClean="0"/>
              <a:t>	var2 = 3.14j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String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314270"/>
            <a:ext cx="7778824" cy="790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/>
              <a:t>str</a:t>
            </a:r>
            <a:r>
              <a:rPr lang="en-US" sz="2000" b="1" dirty="0" smtClean="0"/>
              <a:t> = 'Hello World!‘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String Operations :</a:t>
            </a:r>
          </a:p>
          <a:p>
            <a:r>
              <a:rPr lang="en-US" sz="2000" dirty="0" smtClean="0"/>
              <a:t>1) Subscripting of strings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str</a:t>
            </a:r>
            <a:r>
              <a:rPr lang="en-US" sz="2000" dirty="0" smtClean="0"/>
              <a:t>[0] </a:t>
            </a:r>
          </a:p>
          <a:p>
            <a:endParaRPr lang="en-US" sz="2000" dirty="0" smtClean="0"/>
          </a:p>
          <a:p>
            <a:r>
              <a:rPr lang="en-US" sz="2000" dirty="0" smtClean="0"/>
              <a:t>2) Slicing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str</a:t>
            </a:r>
            <a:r>
              <a:rPr lang="en-US" sz="2000" dirty="0" smtClean="0"/>
              <a:t>[2:5] 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str</a:t>
            </a:r>
            <a:r>
              <a:rPr lang="en-US" sz="2000" dirty="0" smtClean="0"/>
              <a:t>[2:] </a:t>
            </a:r>
          </a:p>
          <a:p>
            <a:endParaRPr lang="en-US" sz="2000" dirty="0" smtClean="0"/>
          </a:p>
          <a:p>
            <a:r>
              <a:rPr lang="en-US" sz="2000" dirty="0" smtClean="0"/>
              <a:t>3) Repetition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str</a:t>
            </a:r>
            <a:r>
              <a:rPr lang="en-US" sz="2000" dirty="0" smtClean="0"/>
              <a:t> * 2 </a:t>
            </a:r>
            <a:endParaRPr lang="en-US" sz="2000" dirty="0" smtClean="0">
              <a:sym typeface="Wingdings" pitchFamily="2" charset="2"/>
            </a:endParaRPr>
          </a:p>
          <a:p>
            <a:endParaRPr lang="en-US" sz="2000" dirty="0" smtClean="0">
              <a:sym typeface="Wingdings" pitchFamily="2" charset="2"/>
            </a:endParaRPr>
          </a:p>
          <a:p>
            <a:r>
              <a:rPr lang="en-US" sz="2000" dirty="0" smtClean="0">
                <a:sym typeface="Wingdings" pitchFamily="2" charset="2"/>
              </a:rPr>
              <a:t>4) Concatenation</a:t>
            </a:r>
          </a:p>
          <a:p>
            <a:r>
              <a:rPr lang="en-US" sz="2000" dirty="0" smtClean="0">
                <a:sym typeface="Wingdings" pitchFamily="2" charset="2"/>
              </a:rPr>
              <a:t>	</a:t>
            </a:r>
            <a:r>
              <a:rPr lang="en-US" sz="2000" dirty="0" smtClean="0"/>
              <a:t>print </a:t>
            </a:r>
            <a:r>
              <a:rPr lang="en-US" sz="2000" dirty="0" err="1" smtClean="0"/>
              <a:t>str</a:t>
            </a:r>
            <a:r>
              <a:rPr lang="en-US" sz="2000" dirty="0" smtClean="0"/>
              <a:t> + "TEST"</a:t>
            </a:r>
            <a:r>
              <a:rPr lang="en-US" sz="2000" dirty="0" smtClean="0">
                <a:sym typeface="Wingdings" pitchFamily="2" charset="2"/>
              </a:rPr>
              <a:t> </a:t>
            </a:r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list = [ '</a:t>
            </a:r>
            <a:r>
              <a:rPr lang="en-US" sz="2000" dirty="0" err="1" smtClean="0"/>
              <a:t>abcd</a:t>
            </a:r>
            <a:r>
              <a:rPr lang="en-US" sz="2000" dirty="0" smtClean="0"/>
              <a:t>', 786 , 2.23, 'john', 70.2 ]</a:t>
            </a:r>
          </a:p>
          <a:p>
            <a:r>
              <a:rPr lang="en-US" sz="2000" dirty="0" err="1" smtClean="0"/>
              <a:t>tinylist</a:t>
            </a:r>
            <a:r>
              <a:rPr lang="en-US" sz="2000" dirty="0" smtClean="0"/>
              <a:t> = [123, 'john']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List Operations :</a:t>
            </a:r>
          </a:p>
          <a:p>
            <a:r>
              <a:rPr lang="en-US" sz="2000" dirty="0" smtClean="0"/>
              <a:t>1) Indexing :</a:t>
            </a:r>
          </a:p>
          <a:p>
            <a:r>
              <a:rPr lang="en-US" sz="2000" dirty="0" smtClean="0"/>
              <a:t>	print list[0]</a:t>
            </a:r>
          </a:p>
          <a:p>
            <a:endParaRPr lang="en-US" sz="2000" dirty="0" smtClean="0"/>
          </a:p>
          <a:p>
            <a:r>
              <a:rPr lang="en-US" sz="2000" dirty="0" smtClean="0"/>
              <a:t>2) Slicing :</a:t>
            </a:r>
          </a:p>
          <a:p>
            <a:r>
              <a:rPr lang="en-US" sz="2000" dirty="0" smtClean="0"/>
              <a:t>	print list[1:3]</a:t>
            </a:r>
          </a:p>
          <a:p>
            <a:r>
              <a:rPr lang="en-US" sz="2000" dirty="0" smtClean="0"/>
              <a:t>	print list[2:-1]</a:t>
            </a:r>
          </a:p>
          <a:p>
            <a:endParaRPr lang="en-US" sz="2000" dirty="0" smtClean="0"/>
          </a:p>
          <a:p>
            <a:r>
              <a:rPr lang="en-US" sz="2000" dirty="0" smtClean="0"/>
              <a:t>3) Repetition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tinylist</a:t>
            </a:r>
            <a:r>
              <a:rPr lang="en-US" sz="2000" dirty="0" smtClean="0"/>
              <a:t> * 2</a:t>
            </a:r>
            <a:endParaRPr lang="en-US" sz="2000" dirty="0" smtClean="0">
              <a:sym typeface="Wingdings" pitchFamily="2" charset="2"/>
            </a:endParaRPr>
          </a:p>
          <a:p>
            <a:endParaRPr lang="en-US" sz="2000" dirty="0" smtClean="0">
              <a:sym typeface="Wingdings" pitchFamily="2" charset="2"/>
            </a:endParaRPr>
          </a:p>
          <a:p>
            <a:r>
              <a:rPr lang="en-US" sz="2000" dirty="0" smtClean="0">
                <a:sym typeface="Wingdings" pitchFamily="2" charset="2"/>
              </a:rPr>
              <a:t>4) Concatenation</a:t>
            </a:r>
          </a:p>
          <a:p>
            <a:r>
              <a:rPr lang="en-US" sz="2000" dirty="0" smtClean="0">
                <a:sym typeface="Wingdings" pitchFamily="2" charset="2"/>
              </a:rPr>
              <a:t>	</a:t>
            </a:r>
            <a:r>
              <a:rPr lang="en-US" sz="2000" dirty="0" smtClean="0"/>
              <a:t>print list + </a:t>
            </a:r>
            <a:r>
              <a:rPr lang="en-US" sz="2000" dirty="0" err="1" smtClean="0"/>
              <a:t>tinylist</a:t>
            </a:r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list = [ '</a:t>
            </a:r>
            <a:r>
              <a:rPr lang="en-US" sz="2000" dirty="0" err="1" smtClean="0"/>
              <a:t>abcd</a:t>
            </a:r>
            <a:r>
              <a:rPr lang="en-US" sz="2000" dirty="0" smtClean="0"/>
              <a:t>', 786 , 2.23, 'john', 70.2 ]</a:t>
            </a:r>
          </a:p>
          <a:p>
            <a:endParaRPr lang="en-US" sz="2000" dirty="0" smtClean="0"/>
          </a:p>
          <a:p>
            <a:r>
              <a:rPr lang="en-US" sz="2000" dirty="0" smtClean="0"/>
              <a:t>5) Length of the list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len</a:t>
            </a:r>
            <a:r>
              <a:rPr lang="en-US" sz="2000" dirty="0" smtClean="0"/>
              <a:t>(list)</a:t>
            </a:r>
          </a:p>
          <a:p>
            <a:endParaRPr lang="en-US" sz="2000" dirty="0" smtClean="0"/>
          </a:p>
          <a:p>
            <a:r>
              <a:rPr lang="en-US" sz="2000" dirty="0" smtClean="0"/>
              <a:t>6) Membership :</a:t>
            </a:r>
          </a:p>
          <a:p>
            <a:r>
              <a:rPr lang="en-US" sz="2000" dirty="0" smtClean="0"/>
              <a:t>	3 in [1,2,3]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Ans</a:t>
            </a:r>
            <a:r>
              <a:rPr lang="en-US" sz="2000" dirty="0" smtClean="0"/>
              <a:t> : True</a:t>
            </a:r>
          </a:p>
          <a:p>
            <a:endParaRPr lang="en-US" sz="2000" dirty="0" smtClean="0"/>
          </a:p>
          <a:p>
            <a:r>
              <a:rPr lang="en-US" sz="2000" dirty="0" smtClean="0"/>
              <a:t>7) Iteration :</a:t>
            </a:r>
          </a:p>
          <a:p>
            <a:r>
              <a:rPr lang="en-US" sz="2000" dirty="0" smtClean="0"/>
              <a:t>	for x in list:</a:t>
            </a:r>
          </a:p>
          <a:p>
            <a:r>
              <a:rPr lang="en-US" sz="2000" dirty="0" smtClean="0">
                <a:sym typeface="Wingdings" pitchFamily="2" charset="2"/>
              </a:rPr>
              <a:t>	    print x</a:t>
            </a:r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list = [ '</a:t>
            </a:r>
            <a:r>
              <a:rPr lang="en-US" sz="2000" dirty="0" err="1" smtClean="0"/>
              <a:t>abcd</a:t>
            </a:r>
            <a:r>
              <a:rPr lang="en-US" sz="2000" dirty="0" smtClean="0"/>
              <a:t>', 786 , 2.23, 'john', 70.2 ]</a:t>
            </a:r>
          </a:p>
          <a:p>
            <a:endParaRPr lang="en-US" sz="2000" dirty="0" smtClean="0"/>
          </a:p>
          <a:p>
            <a:r>
              <a:rPr lang="en-US" sz="2000" b="1" dirty="0" smtClean="0"/>
              <a:t>Built-In Functions :</a:t>
            </a:r>
            <a:endParaRPr lang="en-US" sz="2000" dirty="0" smtClean="0"/>
          </a:p>
          <a:p>
            <a:r>
              <a:rPr lang="en-US" sz="2000" dirty="0" smtClean="0"/>
              <a:t>1) </a:t>
            </a:r>
            <a:r>
              <a:rPr lang="en-US" sz="2000" dirty="0" err="1" smtClean="0"/>
              <a:t>cmp</a:t>
            </a:r>
            <a:r>
              <a:rPr lang="en-US" sz="2000" dirty="0" smtClean="0"/>
              <a:t>(list1,list2)</a:t>
            </a:r>
          </a:p>
          <a:p>
            <a:r>
              <a:rPr lang="en-US" sz="2000" dirty="0" smtClean="0"/>
              <a:t>	- Compares elements of both lists.</a:t>
            </a:r>
          </a:p>
          <a:p>
            <a:endParaRPr lang="en-US" sz="2000" dirty="0" smtClean="0"/>
          </a:p>
          <a:p>
            <a:r>
              <a:rPr lang="en-US" sz="2000" dirty="0" smtClean="0"/>
              <a:t>2) </a:t>
            </a:r>
            <a:r>
              <a:rPr lang="en-US" sz="2000" dirty="0" err="1" smtClean="0"/>
              <a:t>len</a:t>
            </a:r>
            <a:r>
              <a:rPr lang="en-US" sz="2000" dirty="0" smtClean="0"/>
              <a:t>(list) :</a:t>
            </a:r>
          </a:p>
          <a:p>
            <a:r>
              <a:rPr lang="en-US" sz="2000" dirty="0" smtClean="0"/>
              <a:t>	- Gives the total length of the list.</a:t>
            </a:r>
          </a:p>
          <a:p>
            <a:endParaRPr lang="en-US" sz="2000" dirty="0" smtClean="0"/>
          </a:p>
          <a:p>
            <a:r>
              <a:rPr lang="en-US" sz="2000" dirty="0" smtClean="0"/>
              <a:t>3) max(list) :</a:t>
            </a:r>
          </a:p>
          <a:p>
            <a:r>
              <a:rPr lang="en-US" sz="2000" dirty="0" smtClean="0"/>
              <a:t>	- Returns item from the list with max value.</a:t>
            </a:r>
          </a:p>
          <a:p>
            <a:endParaRPr lang="en-US" sz="2000" b="1" dirty="0" smtClean="0"/>
          </a:p>
          <a:p>
            <a:r>
              <a:rPr lang="en-US" sz="2000" dirty="0" smtClean="0"/>
              <a:t>4) min(list) </a:t>
            </a:r>
            <a:r>
              <a:rPr lang="en-US" sz="2000" b="1" dirty="0" smtClean="0"/>
              <a:t>:</a:t>
            </a:r>
          </a:p>
          <a:p>
            <a:r>
              <a:rPr lang="en-US" sz="2000" b="1" dirty="0" smtClean="0"/>
              <a:t>	</a:t>
            </a:r>
            <a:r>
              <a:rPr lang="en-US" sz="2000" dirty="0" smtClean="0"/>
              <a:t>-</a:t>
            </a:r>
            <a:r>
              <a:rPr lang="en-US" sz="2000" b="1" dirty="0" smtClean="0"/>
              <a:t> </a:t>
            </a:r>
            <a:r>
              <a:rPr lang="en-US" sz="2000" dirty="0" smtClean="0"/>
              <a:t>Returns item from the list with min value.</a:t>
            </a:r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List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list = [ '</a:t>
            </a:r>
            <a:r>
              <a:rPr lang="en-US" sz="2000" dirty="0" err="1" smtClean="0"/>
              <a:t>abcd</a:t>
            </a:r>
            <a:r>
              <a:rPr lang="en-US" sz="2000" dirty="0" smtClean="0"/>
              <a:t>', 786 , 2.23, 'john', 70.2 ]</a:t>
            </a:r>
          </a:p>
          <a:p>
            <a:endParaRPr lang="en-US" sz="2000" dirty="0" smtClean="0"/>
          </a:p>
          <a:p>
            <a:r>
              <a:rPr lang="en-US" sz="2000" b="1" dirty="0" smtClean="0"/>
              <a:t>Built-In Methods :</a:t>
            </a:r>
            <a:endParaRPr lang="en-US" sz="2000" dirty="0" smtClean="0"/>
          </a:p>
          <a:p>
            <a:r>
              <a:rPr lang="en-US" sz="2000" dirty="0" smtClean="0"/>
              <a:t>1) </a:t>
            </a:r>
            <a:r>
              <a:rPr lang="en-US" sz="2000" dirty="0" err="1" smtClean="0"/>
              <a:t>list.append</a:t>
            </a:r>
            <a:r>
              <a:rPr lang="en-US" sz="2000" dirty="0" smtClean="0"/>
              <a:t>(</a:t>
            </a:r>
            <a:r>
              <a:rPr lang="en-US" sz="2000" dirty="0" err="1" smtClean="0"/>
              <a:t>obj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	- Appends object ‘</a:t>
            </a:r>
            <a:r>
              <a:rPr lang="en-US" sz="2000" dirty="0" err="1" smtClean="0"/>
              <a:t>obj</a:t>
            </a:r>
            <a:r>
              <a:rPr lang="en-US" sz="2000" dirty="0" smtClean="0"/>
              <a:t>’ to list.</a:t>
            </a:r>
          </a:p>
          <a:p>
            <a:endParaRPr lang="en-US" sz="2000" b="1" dirty="0" smtClean="0"/>
          </a:p>
          <a:p>
            <a:r>
              <a:rPr lang="en-US" sz="2000" dirty="0" smtClean="0"/>
              <a:t>2) </a:t>
            </a:r>
            <a:r>
              <a:rPr lang="en-US" sz="2000" dirty="0" err="1" smtClean="0"/>
              <a:t>list.index</a:t>
            </a:r>
            <a:r>
              <a:rPr lang="en-US" sz="2000" dirty="0" smtClean="0"/>
              <a:t>(</a:t>
            </a:r>
            <a:r>
              <a:rPr lang="en-US" sz="2000" dirty="0" err="1" smtClean="0"/>
              <a:t>obj</a:t>
            </a:r>
            <a:r>
              <a:rPr lang="en-US" sz="2000" dirty="0" smtClean="0"/>
              <a:t>):</a:t>
            </a:r>
          </a:p>
          <a:p>
            <a:r>
              <a:rPr lang="en-US" sz="2000" b="1" dirty="0" smtClean="0"/>
              <a:t>	</a:t>
            </a:r>
            <a:r>
              <a:rPr lang="en-US" sz="2000" dirty="0" smtClean="0"/>
              <a:t>-</a:t>
            </a:r>
            <a:r>
              <a:rPr lang="en-US" sz="2000" b="1" dirty="0" smtClean="0"/>
              <a:t> </a:t>
            </a:r>
            <a:r>
              <a:rPr lang="en-US" sz="2000" dirty="0" smtClean="0"/>
              <a:t>Returns the lowest index in list that </a:t>
            </a:r>
            <a:r>
              <a:rPr lang="en-US" sz="2000" dirty="0" err="1" smtClean="0"/>
              <a:t>obj</a:t>
            </a:r>
            <a:r>
              <a:rPr lang="en-US" sz="2000" dirty="0" smtClean="0"/>
              <a:t> appears.</a:t>
            </a:r>
          </a:p>
          <a:p>
            <a:endParaRPr lang="en-US" sz="2000" b="1" dirty="0" smtClean="0"/>
          </a:p>
          <a:p>
            <a:r>
              <a:rPr lang="en-US" sz="2000" dirty="0" smtClean="0"/>
              <a:t>3) </a:t>
            </a:r>
            <a:r>
              <a:rPr lang="en-US" sz="2000" dirty="0" err="1" smtClean="0"/>
              <a:t>list.reverse</a:t>
            </a:r>
            <a:r>
              <a:rPr lang="en-US" sz="2000" dirty="0" smtClean="0"/>
              <a:t>() </a:t>
            </a:r>
            <a:r>
              <a:rPr lang="en-US" sz="2000" b="1" dirty="0" smtClean="0"/>
              <a:t>:</a:t>
            </a:r>
          </a:p>
          <a:p>
            <a:r>
              <a:rPr lang="en-US" sz="2000" b="1" dirty="0" smtClean="0"/>
              <a:t>	- </a:t>
            </a:r>
            <a:r>
              <a:rPr lang="en-US" sz="2000" dirty="0" smtClean="0"/>
              <a:t>Reverses objects of list in place</a:t>
            </a:r>
          </a:p>
          <a:p>
            <a:endParaRPr lang="en-US" sz="2000" b="1" dirty="0" smtClean="0"/>
          </a:p>
          <a:p>
            <a:r>
              <a:rPr lang="en-US" sz="2000" dirty="0" smtClean="0"/>
              <a:t>4) </a:t>
            </a:r>
            <a:r>
              <a:rPr lang="en-US" sz="2000" dirty="0" err="1" smtClean="0"/>
              <a:t>list.remove</a:t>
            </a:r>
            <a:r>
              <a:rPr lang="en-US" sz="2000" dirty="0" smtClean="0"/>
              <a:t>(</a:t>
            </a:r>
            <a:r>
              <a:rPr lang="en-US" sz="2000" dirty="0" err="1" smtClean="0"/>
              <a:t>obj</a:t>
            </a:r>
            <a:r>
              <a:rPr lang="en-US" sz="2000" dirty="0" smtClean="0"/>
              <a:t>) </a:t>
            </a:r>
            <a:r>
              <a:rPr lang="en-US" sz="2000" b="1" dirty="0" smtClean="0"/>
              <a:t>:</a:t>
            </a:r>
          </a:p>
          <a:p>
            <a:r>
              <a:rPr lang="en-US" sz="2000" b="1" dirty="0" smtClean="0"/>
              <a:t>	- </a:t>
            </a:r>
            <a:r>
              <a:rPr lang="en-US" sz="2000" dirty="0" smtClean="0"/>
              <a:t>Removes object </a:t>
            </a:r>
            <a:r>
              <a:rPr lang="en-US" sz="2000" dirty="0" err="1" smtClean="0"/>
              <a:t>obj</a:t>
            </a:r>
            <a:r>
              <a:rPr lang="en-US" sz="2000" dirty="0" smtClean="0"/>
              <a:t> from list</a:t>
            </a:r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</a:t>
            </a:r>
            <a:r>
              <a:rPr lang="en-US" dirty="0" err="1" smtClean="0"/>
              <a:t>Tuple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tuple</a:t>
            </a:r>
            <a:r>
              <a:rPr lang="en-US" sz="2000" dirty="0" smtClean="0"/>
              <a:t> = ('physics', 'chemistry', 1997, 2000)</a:t>
            </a:r>
          </a:p>
          <a:p>
            <a:endParaRPr lang="en-US" sz="2000" b="1" dirty="0" smtClean="0"/>
          </a:p>
          <a:p>
            <a:r>
              <a:rPr lang="en-US" sz="2000" b="1" dirty="0" err="1" smtClean="0"/>
              <a:t>Tuple</a:t>
            </a:r>
            <a:r>
              <a:rPr lang="en-US" sz="2000" b="1" dirty="0" smtClean="0"/>
              <a:t> Operations :</a:t>
            </a:r>
          </a:p>
          <a:p>
            <a:r>
              <a:rPr lang="en-US" sz="2000" dirty="0" smtClean="0"/>
              <a:t>1) Indexing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tuple</a:t>
            </a:r>
            <a:r>
              <a:rPr lang="en-US" sz="2000" dirty="0" smtClean="0"/>
              <a:t>[0]</a:t>
            </a:r>
          </a:p>
          <a:p>
            <a:endParaRPr lang="en-US" sz="2000" dirty="0" smtClean="0"/>
          </a:p>
          <a:p>
            <a:r>
              <a:rPr lang="en-US" sz="2000" dirty="0" smtClean="0"/>
              <a:t>2) Slicing :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tuple</a:t>
            </a:r>
            <a:r>
              <a:rPr lang="en-US" sz="2000" dirty="0" smtClean="0"/>
              <a:t> [1:3]</a:t>
            </a:r>
          </a:p>
          <a:p>
            <a:r>
              <a:rPr lang="en-US" sz="2000" dirty="0" smtClean="0"/>
              <a:t>	print </a:t>
            </a:r>
            <a:r>
              <a:rPr lang="en-US" sz="2000" dirty="0" err="1" smtClean="0"/>
              <a:t>tuple</a:t>
            </a:r>
            <a:r>
              <a:rPr lang="en-US" sz="2000" dirty="0" smtClean="0"/>
              <a:t> [2:-1]</a:t>
            </a:r>
          </a:p>
          <a:p>
            <a:endParaRPr lang="en-US" sz="2000" dirty="0" smtClean="0"/>
          </a:p>
          <a:p>
            <a:r>
              <a:rPr lang="en-US" sz="2000" dirty="0" smtClean="0"/>
              <a:t>3) Repetition :</a:t>
            </a:r>
          </a:p>
          <a:p>
            <a:r>
              <a:rPr lang="en-US" sz="2000" dirty="0" smtClean="0"/>
              <a:t>	(‘Hi’) * 4 </a:t>
            </a:r>
          </a:p>
          <a:p>
            <a:r>
              <a:rPr lang="en-US" sz="2000" dirty="0" smtClean="0">
                <a:sym typeface="Wingdings" pitchFamily="2" charset="2"/>
              </a:rPr>
              <a:t>	</a:t>
            </a:r>
            <a:r>
              <a:rPr lang="en-US" sz="2000" dirty="0" err="1" smtClean="0">
                <a:sym typeface="Wingdings" pitchFamily="2" charset="2"/>
              </a:rPr>
              <a:t>Ans</a:t>
            </a:r>
            <a:r>
              <a:rPr lang="en-US" sz="2000" dirty="0" smtClean="0">
                <a:sym typeface="Wingdings" pitchFamily="2" charset="2"/>
              </a:rPr>
              <a:t> – (</a:t>
            </a:r>
            <a:r>
              <a:rPr lang="en-US" sz="2000" dirty="0" smtClean="0"/>
              <a:t>‘</a:t>
            </a:r>
            <a:r>
              <a:rPr lang="en-US" sz="2000" dirty="0" err="1" smtClean="0"/>
              <a:t>Hi’,‘Hi</a:t>
            </a:r>
            <a:r>
              <a:rPr lang="en-US" sz="2000" dirty="0" smtClean="0"/>
              <a:t>’, ‘Hi’, ‘Hi’)</a:t>
            </a:r>
            <a:endParaRPr lang="en-US" sz="2000" dirty="0" smtClean="0">
              <a:sym typeface="Wingdings" pitchFamily="2" charset="2"/>
            </a:endParaRPr>
          </a:p>
          <a:p>
            <a:endParaRPr lang="en-US" sz="2000" dirty="0" smtClean="0">
              <a:sym typeface="Wingdings" pitchFamily="2" charset="2"/>
            </a:endParaRPr>
          </a:p>
          <a:p>
            <a:r>
              <a:rPr lang="en-US" sz="2000" dirty="0" smtClean="0">
                <a:sym typeface="Wingdings" pitchFamily="2" charset="2"/>
              </a:rPr>
              <a:t>4) Concatenation</a:t>
            </a:r>
          </a:p>
          <a:p>
            <a:r>
              <a:rPr lang="en-US" sz="2000" dirty="0" smtClean="0">
                <a:sym typeface="Wingdings" pitchFamily="2" charset="2"/>
              </a:rPr>
              <a:t>	(1,2,3) + (4,5,6)</a:t>
            </a:r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</a:t>
            </a:r>
            <a:r>
              <a:rPr lang="en-US" dirty="0" err="1" smtClean="0"/>
              <a:t>Tuple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tuple</a:t>
            </a:r>
            <a:r>
              <a:rPr lang="en-US" sz="2000" dirty="0" smtClean="0"/>
              <a:t> = ('physics', 'chemistry', 1997, 2000)</a:t>
            </a:r>
          </a:p>
          <a:p>
            <a:endParaRPr lang="en-US" sz="2000" b="1" dirty="0" smtClean="0"/>
          </a:p>
          <a:p>
            <a:r>
              <a:rPr lang="en-US" sz="2000" b="1" dirty="0" err="1" smtClean="0"/>
              <a:t>Tuple</a:t>
            </a:r>
            <a:r>
              <a:rPr lang="en-US" sz="2000" b="1" dirty="0" smtClean="0"/>
              <a:t> Operations :</a:t>
            </a:r>
          </a:p>
          <a:p>
            <a:r>
              <a:rPr lang="en-US" sz="2000" dirty="0" smtClean="0"/>
              <a:t>5) Length of the </a:t>
            </a:r>
            <a:r>
              <a:rPr lang="en-US" sz="2000" dirty="0" err="1" smtClean="0"/>
              <a:t>tuple</a:t>
            </a:r>
            <a:r>
              <a:rPr lang="en-US" sz="2000" dirty="0" smtClean="0"/>
              <a:t> :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len</a:t>
            </a:r>
            <a:r>
              <a:rPr lang="en-US" sz="2000" dirty="0" smtClean="0"/>
              <a:t>(</a:t>
            </a:r>
            <a:r>
              <a:rPr lang="en-US" sz="2000" dirty="0" err="1" smtClean="0"/>
              <a:t>tuple</a:t>
            </a:r>
            <a:r>
              <a:rPr lang="en-US" sz="2000" dirty="0" smtClean="0"/>
              <a:t> )</a:t>
            </a:r>
          </a:p>
          <a:p>
            <a:endParaRPr lang="en-US" sz="2000" dirty="0" smtClean="0"/>
          </a:p>
          <a:p>
            <a:r>
              <a:rPr lang="en-US" sz="2000" dirty="0" smtClean="0"/>
              <a:t>6) Membership :</a:t>
            </a:r>
          </a:p>
          <a:p>
            <a:r>
              <a:rPr lang="en-US" sz="2000" dirty="0" smtClean="0"/>
              <a:t>	3 in (1,2,3)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Ans</a:t>
            </a:r>
            <a:r>
              <a:rPr lang="en-US" sz="2000" dirty="0" smtClean="0"/>
              <a:t> : True</a:t>
            </a:r>
          </a:p>
          <a:p>
            <a:endParaRPr lang="en-US" sz="2000" dirty="0" smtClean="0"/>
          </a:p>
          <a:p>
            <a:r>
              <a:rPr lang="en-US" sz="2000" dirty="0" smtClean="0"/>
              <a:t>7) Iteration :</a:t>
            </a:r>
          </a:p>
          <a:p>
            <a:r>
              <a:rPr lang="en-US" sz="2000" dirty="0" smtClean="0"/>
              <a:t>	for x in </a:t>
            </a:r>
            <a:r>
              <a:rPr lang="en-US" sz="2000" dirty="0" err="1" smtClean="0"/>
              <a:t>tuple</a:t>
            </a:r>
            <a:r>
              <a:rPr lang="en-US" sz="2000" dirty="0" smtClean="0"/>
              <a:t>:</a:t>
            </a:r>
          </a:p>
          <a:p>
            <a:r>
              <a:rPr lang="en-US" sz="2000" dirty="0" smtClean="0">
                <a:sym typeface="Wingdings" pitchFamily="2" charset="2"/>
              </a:rPr>
              <a:t>	    print x</a:t>
            </a:r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</a:t>
            </a:r>
            <a:r>
              <a:rPr lang="en-US" dirty="0" err="1" smtClean="0"/>
              <a:t>Tuple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No Enclosing Delimiters :</a:t>
            </a:r>
          </a:p>
          <a:p>
            <a:r>
              <a:rPr lang="en-US" sz="2000" dirty="0" smtClean="0"/>
              <a:t>Any set of multiple objects, comma-separated, written without identifying symbols, i.e., brackets for lists, parentheses for </a:t>
            </a:r>
            <a:r>
              <a:rPr lang="en-US" sz="2000" dirty="0" err="1" smtClean="0"/>
              <a:t>tuples</a:t>
            </a:r>
            <a:r>
              <a:rPr lang="en-US" sz="2000" dirty="0" smtClean="0"/>
              <a:t>, etc., default to </a:t>
            </a:r>
            <a:r>
              <a:rPr lang="en-US" sz="2000" dirty="0" err="1" smtClean="0"/>
              <a:t>tuples</a:t>
            </a:r>
            <a:endParaRPr lang="en-US" sz="2000" dirty="0" smtClean="0"/>
          </a:p>
          <a:p>
            <a:endParaRPr lang="en-US" sz="2000" b="1" dirty="0" smtClean="0"/>
          </a:p>
          <a:p>
            <a:r>
              <a:rPr lang="en-US" sz="2000" dirty="0" smtClean="0"/>
              <a:t>1) x = 1, 2</a:t>
            </a:r>
          </a:p>
          <a:p>
            <a:r>
              <a:rPr lang="en-US" sz="2000" dirty="0" smtClean="0"/>
              <a:t>print type(x)</a:t>
            </a:r>
          </a:p>
          <a:p>
            <a:endParaRPr lang="en-US" sz="2000" dirty="0" smtClean="0"/>
          </a:p>
          <a:p>
            <a:r>
              <a:rPr lang="en-US" sz="2000" dirty="0" smtClean="0"/>
              <a:t>2) x, y = 3, 4</a:t>
            </a:r>
          </a:p>
          <a:p>
            <a:r>
              <a:rPr lang="en-US" sz="2000" dirty="0" smtClean="0"/>
              <a:t>print x</a:t>
            </a:r>
          </a:p>
          <a:p>
            <a:r>
              <a:rPr lang="en-US" sz="2000" dirty="0" smtClean="0"/>
              <a:t>print y</a:t>
            </a:r>
          </a:p>
          <a:p>
            <a:endParaRPr lang="en-US" sz="2000" dirty="0" smtClean="0"/>
          </a:p>
          <a:p>
            <a:r>
              <a:rPr lang="en-US" sz="2000" dirty="0" smtClean="0"/>
              <a:t>3) </a:t>
            </a:r>
            <a:r>
              <a:rPr lang="en-US" sz="2000" dirty="0" err="1" smtClean="0"/>
              <a:t>x,y</a:t>
            </a:r>
            <a:r>
              <a:rPr lang="en-US" sz="2000" dirty="0" smtClean="0"/>
              <a:t> = 1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Dictionary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dict</a:t>
            </a:r>
            <a:r>
              <a:rPr lang="en-US" sz="2000" dirty="0" smtClean="0"/>
              <a:t> = {'Name': 'Zara', 'Age': 7, 'Class': 'First</a:t>
            </a:r>
            <a:r>
              <a:rPr lang="en-US" sz="2000" dirty="0" smtClean="0"/>
              <a:t>'}</a:t>
            </a:r>
          </a:p>
          <a:p>
            <a:endParaRPr lang="en-US" sz="2000" dirty="0" smtClean="0"/>
          </a:p>
          <a:p>
            <a:r>
              <a:rPr lang="en-US" sz="2000" b="1" dirty="0" smtClean="0"/>
              <a:t>Properties of Dictionary </a:t>
            </a:r>
            <a:r>
              <a:rPr lang="en-US" sz="2000" b="1" dirty="0" smtClean="0"/>
              <a:t>Keys :</a:t>
            </a:r>
            <a:endParaRPr lang="en-US" sz="2000" b="1" dirty="0" smtClean="0"/>
          </a:p>
          <a:p>
            <a:pPr marL="457200" indent="-457200">
              <a:buAutoNum type="arabicParenR"/>
            </a:pPr>
            <a:r>
              <a:rPr lang="en-US" sz="2000" dirty="0" smtClean="0"/>
              <a:t>More </a:t>
            </a:r>
            <a:r>
              <a:rPr lang="en-US" sz="2000" dirty="0" smtClean="0"/>
              <a:t>than one entry per key not allowed</a:t>
            </a:r>
            <a:r>
              <a:rPr lang="en-US" sz="2000" dirty="0" smtClean="0"/>
              <a:t> :</a:t>
            </a:r>
          </a:p>
          <a:p>
            <a:pPr marL="914400" lvl="1" indent="-457200"/>
            <a:r>
              <a:rPr lang="en-US" sz="2000" dirty="0" smtClean="0"/>
              <a:t>dict1 </a:t>
            </a:r>
            <a:r>
              <a:rPr lang="en-US" sz="2000" dirty="0" smtClean="0"/>
              <a:t>= {'Name': 'Zara', 'Age': 7, 'Name': </a:t>
            </a:r>
            <a:r>
              <a:rPr lang="en-US" sz="2000" dirty="0" smtClean="0"/>
              <a:t>‘Alisha'}</a:t>
            </a:r>
            <a:endParaRPr lang="en-US" sz="2000" dirty="0" smtClean="0"/>
          </a:p>
          <a:p>
            <a:endParaRPr lang="en-US" sz="2000" dirty="0" smtClean="0"/>
          </a:p>
          <a:p>
            <a:pPr marL="457200" indent="-457200">
              <a:buAutoNum type="arabicParenR" startAt="2"/>
            </a:pPr>
            <a:r>
              <a:rPr lang="en-US" sz="2000" dirty="0" smtClean="0"/>
              <a:t>Keys </a:t>
            </a:r>
            <a:r>
              <a:rPr lang="en-US" sz="2000" dirty="0" smtClean="0"/>
              <a:t>must be immutable</a:t>
            </a:r>
            <a:r>
              <a:rPr lang="en-US" sz="2000" dirty="0" smtClean="0"/>
              <a:t> :</a:t>
            </a:r>
          </a:p>
          <a:p>
            <a:pPr marL="457200" indent="-457200"/>
            <a:r>
              <a:rPr lang="en-US" sz="2000" dirty="0" smtClean="0"/>
              <a:t>	you </a:t>
            </a:r>
            <a:r>
              <a:rPr lang="en-US" sz="2000" dirty="0" smtClean="0"/>
              <a:t>can use strings, numbers or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as dictionary </a:t>
            </a:r>
            <a:r>
              <a:rPr lang="en-US" sz="2000" dirty="0" smtClean="0"/>
              <a:t>keys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r>
              <a:rPr lang="en-US" sz="2000" dirty="0" smtClean="0"/>
              <a:t>	Following example is not allowed</a:t>
            </a:r>
            <a:endParaRPr lang="en-US" sz="2000" dirty="0" smtClean="0"/>
          </a:p>
          <a:p>
            <a:r>
              <a:rPr lang="en-US" sz="2000" dirty="0" smtClean="0"/>
              <a:t> </a:t>
            </a:r>
            <a:r>
              <a:rPr lang="en-US" sz="2000" dirty="0" smtClean="0"/>
              <a:t>     </a:t>
            </a:r>
            <a:r>
              <a:rPr lang="en-US" sz="2000" dirty="0" smtClean="0"/>
              <a:t>dict2 </a:t>
            </a:r>
            <a:r>
              <a:rPr lang="en-US" sz="2000" dirty="0" smtClean="0"/>
              <a:t>= {['Name']: 'Zara', 'Age': 7</a:t>
            </a:r>
            <a:r>
              <a:rPr lang="en-US" sz="2000" dirty="0" smtClean="0"/>
              <a:t>}</a:t>
            </a:r>
          </a:p>
          <a:p>
            <a:r>
              <a:rPr lang="en-US" sz="2000" dirty="0" smtClean="0"/>
              <a:t>	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 : Dictionary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90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dict</a:t>
            </a:r>
            <a:r>
              <a:rPr lang="en-US" sz="2000" dirty="0" smtClean="0"/>
              <a:t> = {'Name': 'Zara', 'Age': 7, 'Class': 'First</a:t>
            </a:r>
            <a:r>
              <a:rPr lang="en-US" sz="2000" dirty="0" smtClean="0"/>
              <a:t>'}</a:t>
            </a:r>
          </a:p>
          <a:p>
            <a:endParaRPr lang="en-US" sz="2000" dirty="0" smtClean="0"/>
          </a:p>
          <a:p>
            <a:r>
              <a:rPr lang="en-US" sz="2000" b="1" dirty="0" smtClean="0"/>
              <a:t>Built-In Methods </a:t>
            </a:r>
            <a:r>
              <a:rPr lang="en-US" sz="2000" b="1" dirty="0" smtClean="0"/>
              <a:t>:</a:t>
            </a:r>
            <a:endParaRPr lang="en-US" sz="2000" b="1" dirty="0" smtClean="0"/>
          </a:p>
          <a:p>
            <a:pPr marL="457200" indent="-457200">
              <a:buAutoNum type="arabicParenR"/>
            </a:pPr>
            <a:r>
              <a:rPr lang="en-US" sz="2000" dirty="0" err="1" smtClean="0"/>
              <a:t>dict.keys</a:t>
            </a:r>
            <a:r>
              <a:rPr lang="en-US" sz="2000" dirty="0" smtClean="0"/>
              <a:t>()</a:t>
            </a:r>
          </a:p>
          <a:p>
            <a:pPr marL="914400" lvl="1" indent="-457200"/>
            <a:r>
              <a:rPr lang="en-US" sz="2000" dirty="0" smtClean="0"/>
              <a:t>- Returns </a:t>
            </a:r>
            <a:r>
              <a:rPr lang="en-US" sz="2000" dirty="0" smtClean="0"/>
              <a:t>list of dictionary </a:t>
            </a:r>
            <a:r>
              <a:rPr lang="en-US" sz="2000" dirty="0" err="1" smtClean="0"/>
              <a:t>dict's</a:t>
            </a:r>
            <a:r>
              <a:rPr lang="en-US" sz="2000" dirty="0" smtClean="0"/>
              <a:t> </a:t>
            </a:r>
            <a:r>
              <a:rPr lang="en-US" sz="2000" dirty="0" smtClean="0"/>
              <a:t>keys</a:t>
            </a:r>
          </a:p>
          <a:p>
            <a:pPr marL="914400" lvl="1" indent="-457200"/>
            <a:endParaRPr lang="en-US" sz="2000" dirty="0" smtClean="0"/>
          </a:p>
          <a:p>
            <a:pPr marL="457200" indent="-457200">
              <a:buAutoNum type="arabicParenR" startAt="2"/>
            </a:pPr>
            <a:r>
              <a:rPr lang="en-US" sz="2000" dirty="0" err="1" smtClean="0"/>
              <a:t>dict.values</a:t>
            </a:r>
            <a:r>
              <a:rPr lang="en-US" sz="2000" dirty="0" smtClean="0"/>
              <a:t>() </a:t>
            </a:r>
            <a:endParaRPr lang="en-US" sz="2000" dirty="0" smtClean="0"/>
          </a:p>
          <a:p>
            <a:pPr marL="457200" indent="-457200"/>
            <a:r>
              <a:rPr lang="en-US" sz="2000" dirty="0" smtClean="0"/>
              <a:t>	 </a:t>
            </a:r>
            <a:r>
              <a:rPr lang="en-US" sz="2000" dirty="0" smtClean="0"/>
              <a:t>- Returns </a:t>
            </a:r>
            <a:r>
              <a:rPr lang="en-US" sz="2000" dirty="0" smtClean="0"/>
              <a:t>list of dictionary </a:t>
            </a:r>
            <a:r>
              <a:rPr lang="en-US" sz="2000" i="1" dirty="0" err="1" smtClean="0"/>
              <a:t>dict</a:t>
            </a:r>
            <a:r>
              <a:rPr lang="en-US" sz="2000" dirty="0" err="1" smtClean="0"/>
              <a:t>'s</a:t>
            </a:r>
            <a:r>
              <a:rPr lang="en-US" sz="2000" dirty="0" smtClean="0"/>
              <a:t> </a:t>
            </a:r>
            <a:r>
              <a:rPr lang="en-US" sz="2000" dirty="0" smtClean="0"/>
              <a:t>values</a:t>
            </a:r>
          </a:p>
          <a:p>
            <a:pPr marL="457200" indent="-457200"/>
            <a:r>
              <a:rPr lang="en-US" sz="2000" dirty="0" smtClean="0"/>
              <a:t> 	</a:t>
            </a:r>
          </a:p>
          <a:p>
            <a:pPr marL="457200" indent="-457200"/>
            <a:r>
              <a:rPr lang="en-US" sz="2000" dirty="0" smtClean="0"/>
              <a:t>3)   </a:t>
            </a:r>
            <a:r>
              <a:rPr lang="en-US" sz="2000" dirty="0" err="1" smtClean="0"/>
              <a:t>dict.items</a:t>
            </a:r>
            <a:r>
              <a:rPr lang="en-US" sz="2000" dirty="0" smtClean="0"/>
              <a:t>()</a:t>
            </a:r>
          </a:p>
          <a:p>
            <a:pPr marL="457200" indent="-457200"/>
            <a:r>
              <a:rPr lang="en-US" sz="2000" dirty="0" smtClean="0"/>
              <a:t>	</a:t>
            </a:r>
            <a:r>
              <a:rPr lang="en-US" sz="2000" dirty="0" smtClean="0"/>
              <a:t>- </a:t>
            </a:r>
            <a:r>
              <a:rPr lang="en-US" sz="2000" dirty="0" smtClean="0"/>
              <a:t>Returns a list of </a:t>
            </a:r>
            <a:r>
              <a:rPr lang="en-US" sz="2000" i="1" dirty="0" err="1" smtClean="0"/>
              <a:t>dict</a:t>
            </a:r>
            <a:r>
              <a:rPr lang="en-US" sz="2000" dirty="0" err="1" smtClean="0"/>
              <a:t>'s</a:t>
            </a:r>
            <a:r>
              <a:rPr lang="en-US" sz="2000" dirty="0" smtClean="0"/>
              <a:t> (key, value) </a:t>
            </a:r>
            <a:r>
              <a:rPr lang="en-US" sz="2000" dirty="0" err="1" smtClean="0"/>
              <a:t>tuple</a:t>
            </a:r>
            <a:r>
              <a:rPr lang="en-US" sz="2000" dirty="0" smtClean="0"/>
              <a:t> </a:t>
            </a:r>
            <a:r>
              <a:rPr lang="en-US" sz="2000" dirty="0" smtClean="0"/>
              <a:t>pairs</a:t>
            </a:r>
          </a:p>
          <a:p>
            <a:pPr marL="457200" indent="-457200"/>
            <a:endParaRPr lang="en-US" sz="2000" dirty="0" smtClean="0"/>
          </a:p>
          <a:p>
            <a:pPr marL="457200" indent="-457200">
              <a:buAutoNum type="arabicParenR" startAt="4"/>
            </a:pPr>
            <a:r>
              <a:rPr lang="en-US" sz="2000" dirty="0" err="1" smtClean="0"/>
              <a:t>dict.clear</a:t>
            </a:r>
            <a:r>
              <a:rPr lang="en-US" sz="2000" dirty="0" smtClean="0"/>
              <a:t>()</a:t>
            </a:r>
          </a:p>
          <a:p>
            <a:pPr marL="457200" indent="-457200"/>
            <a:r>
              <a:rPr lang="en-US" sz="2000" dirty="0" smtClean="0"/>
              <a:t>	</a:t>
            </a:r>
            <a:r>
              <a:rPr lang="en-US" sz="2000" dirty="0" smtClean="0"/>
              <a:t>- </a:t>
            </a:r>
            <a:r>
              <a:rPr lang="en-US" sz="2000" dirty="0" smtClean="0"/>
              <a:t>Removes all elements of dictionary </a:t>
            </a:r>
            <a:r>
              <a:rPr lang="en-US" sz="2000" i="1" dirty="0" err="1" smtClean="0"/>
              <a:t>dict</a:t>
            </a:r>
            <a:endParaRPr lang="en-US" sz="2000" dirty="0" smtClean="0"/>
          </a:p>
          <a:p>
            <a:r>
              <a:rPr lang="en-US" sz="2000" dirty="0" smtClean="0"/>
              <a:t>	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288" y="0"/>
            <a:ext cx="8353425" cy="719137"/>
          </a:xfrm>
        </p:spPr>
        <p:txBody>
          <a:bodyPr>
            <a:normAutofit/>
          </a:bodyPr>
          <a:lstStyle/>
          <a:p>
            <a:r>
              <a:rPr lang="en-US" dirty="0" smtClean="0"/>
              <a:t>Data Type Conversion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762000"/>
            <a:ext cx="7778824" cy="10987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 smtClean="0"/>
              <a:t>     To </a:t>
            </a:r>
            <a:r>
              <a:rPr lang="en-US" sz="2000" dirty="0" smtClean="0"/>
              <a:t>convert from a numeric type to a string: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str</a:t>
            </a:r>
            <a:r>
              <a:rPr lang="en-US" sz="2000" dirty="0" smtClean="0"/>
              <a:t>(100)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   To </a:t>
            </a:r>
            <a:r>
              <a:rPr lang="en-US" sz="2000" dirty="0" smtClean="0"/>
              <a:t>convert from a string to an </a:t>
            </a:r>
            <a:r>
              <a:rPr lang="en-US" sz="2000" dirty="0" err="1" smtClean="0"/>
              <a:t>int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             </a:t>
            </a:r>
            <a:r>
              <a:rPr lang="en-US" sz="2000" dirty="0" err="1" smtClean="0"/>
              <a:t>int</a:t>
            </a:r>
            <a:r>
              <a:rPr lang="en-US" sz="2000" dirty="0" smtClean="0"/>
              <a:t>("100</a:t>
            </a:r>
            <a:r>
              <a:rPr lang="en-US" sz="2000" dirty="0" smtClean="0"/>
              <a:t>")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   To </a:t>
            </a:r>
            <a:r>
              <a:rPr lang="en-US" sz="2000" dirty="0" smtClean="0"/>
              <a:t>convert from a string to a float:</a:t>
            </a:r>
          </a:p>
          <a:p>
            <a:r>
              <a:rPr lang="en-US" sz="2000" dirty="0" smtClean="0"/>
              <a:t>            float</a:t>
            </a:r>
            <a:r>
              <a:rPr lang="en-US" sz="2000" dirty="0" smtClean="0"/>
              <a:t>("100") </a:t>
            </a:r>
            <a:endParaRPr lang="en-US" sz="2000" dirty="0" smtClean="0"/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   To convert “s” into </a:t>
            </a:r>
            <a:r>
              <a:rPr lang="en-US" sz="2000" dirty="0" err="1" smtClean="0"/>
              <a:t>tuple</a:t>
            </a:r>
            <a:endParaRPr lang="en-US" sz="2000" dirty="0" smtClean="0"/>
          </a:p>
          <a:p>
            <a:r>
              <a:rPr lang="en-US" sz="2000" dirty="0" smtClean="0"/>
              <a:t> </a:t>
            </a:r>
            <a:r>
              <a:rPr lang="en-US" sz="2000" dirty="0" smtClean="0"/>
              <a:t>           </a:t>
            </a:r>
            <a:r>
              <a:rPr lang="en-US" sz="2000" dirty="0" err="1" smtClean="0"/>
              <a:t>tuple</a:t>
            </a:r>
            <a:r>
              <a:rPr lang="en-US" sz="2000" dirty="0" smtClean="0"/>
              <a:t>(s)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   To convert “s” into list</a:t>
            </a:r>
          </a:p>
          <a:p>
            <a:r>
              <a:rPr lang="en-US" sz="2000" dirty="0" smtClean="0"/>
              <a:t>	</a:t>
            </a:r>
            <a:r>
              <a:rPr lang="en-US" sz="2000" dirty="0" smtClean="0"/>
              <a:t>list(s)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   To convert “d” into </a:t>
            </a:r>
            <a:r>
              <a:rPr lang="en-US" sz="2000" dirty="0" err="1" smtClean="0"/>
              <a:t>dict</a:t>
            </a:r>
            <a:endParaRPr lang="en-US" sz="2000" dirty="0" smtClean="0"/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dict</a:t>
            </a:r>
            <a:r>
              <a:rPr lang="en-US" sz="2000" dirty="0" smtClean="0"/>
              <a:t>(d)</a:t>
            </a:r>
          </a:p>
          <a:p>
            <a:endParaRPr lang="en-US" sz="2000" dirty="0" smtClean="0"/>
          </a:p>
          <a:p>
            <a:r>
              <a:rPr lang="en-US" sz="2000" dirty="0" smtClean="0"/>
              <a:t>             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	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EF6D-6D5F-4702-828D-16036BB28BDB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7778824" cy="790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 smtClean="0"/>
              <a:t>list = ['a', 'b', 'c', 'd', 'e']</a:t>
            </a:r>
          </a:p>
          <a:p>
            <a:pPr marL="457200" indent="-457200"/>
            <a:r>
              <a:rPr lang="en-US" sz="2000" dirty="0" smtClean="0"/>
              <a:t>	print list[10]</a:t>
            </a:r>
          </a:p>
          <a:p>
            <a:pPr marL="457200" indent="-457200"/>
            <a:r>
              <a:rPr lang="en-US" sz="2000" dirty="0" smtClean="0"/>
              <a:t>	print list[10:] ?</a:t>
            </a:r>
          </a:p>
          <a:p>
            <a:pPr marL="457200" indent="-457200"/>
            <a:endParaRPr lang="en-US" sz="2000" dirty="0" smtClean="0"/>
          </a:p>
          <a:p>
            <a:pPr marL="457200" indent="-457200">
              <a:buAutoNum type="arabicParenR" startAt="2"/>
            </a:pPr>
            <a:r>
              <a:rPr lang="en-US" sz="2000" dirty="0" smtClean="0"/>
              <a:t>Given a list of </a:t>
            </a:r>
            <a:r>
              <a:rPr lang="en-US" sz="2000" dirty="0" err="1" smtClean="0"/>
              <a:t>ints</a:t>
            </a:r>
            <a:r>
              <a:rPr lang="en-US" sz="2000" dirty="0" smtClean="0"/>
              <a:t>, return True if 6 appears as either the first or last element in the list. The list will be length 1 or more.</a:t>
            </a:r>
          </a:p>
          <a:p>
            <a:pPr marL="457200" indent="-457200"/>
            <a:r>
              <a:rPr lang="en-US" sz="2000" dirty="0" smtClean="0"/>
              <a:t>	list1 = [13, 6, 1, 2, 3]</a:t>
            </a:r>
          </a:p>
          <a:p>
            <a:endParaRPr lang="en-US" sz="2000" dirty="0" smtClean="0">
              <a:sym typeface="Wingdings" pitchFamily="2" charset="2"/>
            </a:endParaRPr>
          </a:p>
          <a:p>
            <a:pPr marL="457200" indent="-457200"/>
            <a:r>
              <a:rPr lang="en-US" sz="2000" dirty="0" smtClean="0"/>
              <a:t>3)   Given a list of </a:t>
            </a:r>
            <a:r>
              <a:rPr lang="en-US" sz="2000" dirty="0" err="1" smtClean="0"/>
              <a:t>ints</a:t>
            </a:r>
            <a:r>
              <a:rPr lang="en-US" sz="2000" dirty="0" smtClean="0"/>
              <a:t>, return a new list with the elements in reverse order.</a:t>
            </a:r>
          </a:p>
          <a:p>
            <a:pPr marL="457200" indent="-457200"/>
            <a:r>
              <a:rPr lang="en-US" sz="2000" dirty="0" smtClean="0"/>
              <a:t>	List2 = [67,89,43]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r>
              <a:rPr lang="en-US" sz="2000" dirty="0" smtClean="0"/>
              <a:t>4)   Given a list of </a:t>
            </a:r>
            <a:r>
              <a:rPr lang="en-US" sz="2000" dirty="0" err="1" smtClean="0"/>
              <a:t>ints</a:t>
            </a:r>
            <a:r>
              <a:rPr lang="en-US" sz="2000" dirty="0" smtClean="0"/>
              <a:t>, return True if .. 1, 2, 3, .. appears in the list somewhere.</a:t>
            </a:r>
          </a:p>
          <a:p>
            <a:pPr marL="457200" indent="-457200"/>
            <a:r>
              <a:rPr lang="en-US" sz="2000" dirty="0" smtClean="0"/>
              <a:t>	List3 = [4,5,1,2,3,5,6,7]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EF6D-6D5F-4702-828D-16036BB28BDB}" type="datetime3">
              <a:rPr lang="en-US" noProof="0" smtClean="0"/>
              <a:pPr/>
              <a:t>10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777882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 startAt="5"/>
            </a:pPr>
            <a:r>
              <a:rPr lang="en-US" sz="2000" dirty="0" smtClean="0"/>
              <a:t>Given a list of </a:t>
            </a:r>
            <a:r>
              <a:rPr lang="en-US" sz="2000" dirty="0" err="1" smtClean="0"/>
              <a:t>ints</a:t>
            </a:r>
            <a:r>
              <a:rPr lang="en-US" sz="2000" dirty="0" smtClean="0"/>
              <a:t>, return the number of 9's in the list.</a:t>
            </a:r>
          </a:p>
          <a:p>
            <a:pPr marL="457200" indent="-457200"/>
            <a:r>
              <a:rPr lang="en-US" sz="2000" dirty="0" smtClean="0"/>
              <a:t>	List5 = [3,9,9,5,9]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r>
              <a:rPr lang="en-US" sz="2000" dirty="0" smtClean="0"/>
              <a:t>6)   Given a string, return a version without the first and last char, so "Hello" yields "ell". The string length will be at least 2.</a:t>
            </a:r>
          </a:p>
          <a:p>
            <a:pPr marL="457200" indent="-457200"/>
            <a:r>
              <a:rPr lang="en-US" sz="2000" dirty="0" smtClean="0"/>
              <a:t>	Str1 = ‘Python’</a:t>
            </a:r>
          </a:p>
          <a:p>
            <a:pPr marL="457200" indent="-457200"/>
            <a:endParaRPr lang="en-US" sz="2000" dirty="0" smtClean="0">
              <a:sym typeface="Wingdings" pitchFamily="2" charset="2"/>
            </a:endParaRPr>
          </a:p>
          <a:p>
            <a:pPr marL="457200" indent="-457200"/>
            <a:r>
              <a:rPr lang="en-US" sz="2000" dirty="0" smtClean="0"/>
              <a:t>7)   Given an list of </a:t>
            </a:r>
            <a:r>
              <a:rPr lang="en-US" sz="2000" dirty="0" err="1" smtClean="0"/>
              <a:t>ints</a:t>
            </a:r>
            <a:r>
              <a:rPr lang="en-US" sz="2000" dirty="0" smtClean="0"/>
              <a:t>, return the average of the </a:t>
            </a:r>
            <a:r>
              <a:rPr lang="en-US" sz="2000" dirty="0" err="1" smtClean="0"/>
              <a:t>ints</a:t>
            </a:r>
            <a:r>
              <a:rPr lang="en-US" sz="2000" dirty="0" smtClean="0"/>
              <a:t> in the list.</a:t>
            </a:r>
          </a:p>
          <a:p>
            <a:pPr marL="457200" indent="-457200"/>
            <a:r>
              <a:rPr lang="en-US" sz="2000" dirty="0" smtClean="0"/>
              <a:t>	List6 = [43,89,90,32]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smtClean="0"/>
              <a:t>for your attention!</a:t>
            </a:r>
            <a:endParaRPr lang="en-US" noProof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Thank you</a:t>
            </a:r>
            <a:endParaRPr lang="en-US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042F8-CEA3-49F3-B751-D92902D0DDAB}" type="datetime3">
              <a:rPr lang="en-US" smtClean="0"/>
              <a:pPr/>
              <a:t>10 June 2015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Ganesh Hegde, © Continental 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21480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HDS" val="True"/>
  <p:tag name="MIO_EK" val="2375"/>
  <p:tag name="MIO_UPDATE" val="True"/>
  <p:tag name="MIO_VERSION" val="30.11.2012 11:40:17"/>
  <p:tag name="MIO_DBID" val="ED9FF2F2-6643-46BA-B685-7D49126FFA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heme/theme1.xml><?xml version="1.0" encoding="utf-8"?>
<a:theme xmlns:a="http://schemas.openxmlformats.org/drawingml/2006/main" name="ppt_template_continental_automotive_en-4-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ppt_template_continental_automotive_en-4-3</Template>
  <TotalTime>0</TotalTime>
  <Words>529</Words>
  <Application>Microsoft Office PowerPoint</Application>
  <PresentationFormat>On-screen Show (4:3)</PresentationFormat>
  <Paragraphs>434</Paragraphs>
  <Slides>17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ppt_template_continental_automotive_en-4-3</vt:lpstr>
      <vt:lpstr>02. Python - Datatypes </vt:lpstr>
      <vt:lpstr>Topics </vt:lpstr>
      <vt:lpstr>Datatype : Number</vt:lpstr>
      <vt:lpstr>Datatype : String</vt:lpstr>
      <vt:lpstr>Datatype : List</vt:lpstr>
      <vt:lpstr>Datatype : List</vt:lpstr>
      <vt:lpstr>Datatype : List</vt:lpstr>
      <vt:lpstr>Datatype : List</vt:lpstr>
      <vt:lpstr>Datatype : Tuple</vt:lpstr>
      <vt:lpstr>Datatype : Tuple</vt:lpstr>
      <vt:lpstr>Datatype : Tuple</vt:lpstr>
      <vt:lpstr>Datatype : Dictionary</vt:lpstr>
      <vt:lpstr>Datatype : Dictionary</vt:lpstr>
      <vt:lpstr>Data Type Conversion</vt:lpstr>
      <vt:lpstr>Problems</vt:lpstr>
      <vt:lpstr>Problems</vt:lpstr>
      <vt:lpstr>Thank you</vt:lpstr>
    </vt:vector>
  </TitlesOfParts>
  <Company>Continental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uidt5719</dc:creator>
  <cp:lastModifiedBy>uidt5719</cp:lastModifiedBy>
  <cp:revision>405</cp:revision>
  <dcterms:created xsi:type="dcterms:W3CDTF">2013-12-05T05:21:14Z</dcterms:created>
  <dcterms:modified xsi:type="dcterms:W3CDTF">2015-06-10T11:14:41Z</dcterms:modified>
</cp:coreProperties>
</file>