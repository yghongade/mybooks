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5" r:id="rId2"/>
    <p:sldId id="343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39" r:id="rId18"/>
    <p:sldId id="347" r:id="rId19"/>
    <p:sldId id="375" r:id="rId20"/>
    <p:sldId id="373" r:id="rId21"/>
    <p:sldId id="374" r:id="rId22"/>
    <p:sldId id="376" r:id="rId23"/>
    <p:sldId id="341" r:id="rId24"/>
  </p:sldIdLst>
  <p:sldSz cx="9144000" cy="6858000" type="screen4x3"/>
  <p:notesSz cx="6797675" cy="9926638"/>
  <p:custDataLst>
    <p:tags r:id="rId2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87" autoAdjust="0"/>
    <p:restoredTop sz="94660" autoAdjust="0"/>
  </p:normalViewPr>
  <p:slideViewPr>
    <p:cSldViewPr snapToObjects="1" showGuides="1">
      <p:cViewPr>
        <p:scale>
          <a:sx n="100" d="100"/>
          <a:sy n="100" d="100"/>
        </p:scale>
        <p:origin x="-1944" y="-450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24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-2166" y="-84"/>
      </p:cViewPr>
      <p:guideLst>
        <p:guide orient="horz" pos="3126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23.06.2015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="" xmlns:p14="http://schemas.microsoft.com/office/powerpoint/2010/main" val="92576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6/23/2015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739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547F8-5145-4EDD-B534-EAB796FE8C9F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962C32-3614-45BF-BAB1-EB0AB81D0000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erade Verbindung 15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88"/>
            <a:r>
              <a:rPr lang="en-US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883389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C6D8B4-77DF-47E2-8147-84FB9A68446D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CD2B11-5D6A-4947-9A17-825E522F1777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9594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D176-31C0-4543-829D-BDC40D0D81D3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18FB33-42E6-4C23-AA9A-DC66C26B1340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C7BABF9-9A37-4480-B8E1-6ECF946A432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7C39854-43B9-42AC-85AC-FCA66DC81E0C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CCD7DF1-9E02-48B1-9F7E-E78E9DB199CE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8ED2810E-1EDA-485B-971E-1C5D21BC72C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BFA864-0AB0-4002-B4A1-740B7BFB9834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43D375-E1C0-48EC-AB31-6B48A871004A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51ACA-D671-4872-8C6B-2BE97895414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229844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EC1612-35BA-4475-AFB4-82B852300840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D244AE-CCC2-4529-B090-394013E1C3A7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uppieren 14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74988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B42CB046-44F0-41AE-B1DD-030791EC58EC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Ellipse 3" hidden="1"/>
          <p:cNvSpPr/>
          <p:nvPr>
            <p:custDataLst>
              <p:tags r:id="rId21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49" r:id="rId3"/>
    <p:sldLayoutId id="2147483670" r:id="rId4"/>
    <p:sldLayoutId id="2147483661" r:id="rId5"/>
    <p:sldLayoutId id="2147483659" r:id="rId6"/>
    <p:sldLayoutId id="214748366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66" r:id="rId16"/>
    <p:sldLayoutId id="2147483667" r:id="rId17"/>
    <p:sldLayoutId id="2147483668" r:id="rId18"/>
    <p:sldLayoutId id="2147483671" r:id="rId19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" Target="slide9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Layout" Target="../slideLayouts/slideLayout14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slide" Target="slide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>
            <a:noAutofit/>
          </a:bodyPr>
          <a:lstStyle/>
          <a:p>
            <a:r>
              <a:rPr lang="en-US" sz="3200" dirty="0" smtClean="0"/>
              <a:t>06. Python – Miscellaneous </a:t>
            </a:r>
            <a:r>
              <a:rPr lang="en-US" sz="3200" dirty="0" smtClean="0"/>
              <a:t>Topics - I  </a:t>
            </a:r>
            <a:endParaRPr lang="en-US" sz="3200" dirty="0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br>
              <a:rPr lang="en-US" dirty="0" smtClean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DD7-AAF9-42D2-A0BC-FAC01AD5E57F}" type="datetime3">
              <a:rPr lang="en-US" smtClean="0"/>
              <a:pPr/>
              <a:t>23 June 2015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Ganesh Hegde, © Continental AG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538" y="1340721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Comprehension</a:t>
            </a:r>
          </a:p>
        </p:txBody>
      </p:sp>
      <p:sp>
        <p:nvSpPr>
          <p:cNvPr id="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538" y="1340721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1205" y="2057400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File Operations</a:t>
            </a:r>
          </a:p>
        </p:txBody>
      </p:sp>
      <p:sp>
        <p:nvSpPr>
          <p:cNvPr id="25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2461" y="2057400"/>
            <a:ext cx="28915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3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1205" y="2453491"/>
            <a:ext cx="81117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Exception Handling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7" name="Rectangle 15">
            <a:hlinkClick r:id="rId18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2461" y="2453491"/>
            <a:ext cx="28966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4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8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1205" y="2849567"/>
            <a:ext cx="81117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Modules</a:t>
            </a:r>
          </a:p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9" name="Rectangle 15">
            <a:hlinkClick r:id="rId19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12461" y="2849567"/>
            <a:ext cx="28966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5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8" name="Rectangle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97825" y="4055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Problems</a:t>
            </a:r>
          </a:p>
        </p:txBody>
      </p:sp>
      <p:sp>
        <p:nvSpPr>
          <p:cNvPr id="21" name="Rectangle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9825" y="4055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1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97825" y="4436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Assignments</a:t>
            </a:r>
          </a:p>
        </p:txBody>
      </p:sp>
      <p:sp>
        <p:nvSpPr>
          <p:cNvPr id="23" name="Rectangle 1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09825" y="4436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0" name="Rectangl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65492" y="3230567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Packages</a:t>
            </a:r>
          </a:p>
        </p:txBody>
      </p:sp>
      <p:sp>
        <p:nvSpPr>
          <p:cNvPr id="31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95288" y="3230567"/>
            <a:ext cx="32061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6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2" name="Rectangle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65492" y="1693200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Global and Local Variables</a:t>
            </a:r>
          </a:p>
        </p:txBody>
      </p:sp>
      <p:sp>
        <p:nvSpPr>
          <p:cNvPr id="33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95288" y="1693200"/>
            <a:ext cx="32061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2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Comprehension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852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 </a:t>
            </a:r>
            <a:r>
              <a:rPr lang="en-US" sz="2000" b="1" dirty="0" smtClean="0"/>
              <a:t>List Comprehension</a:t>
            </a:r>
          </a:p>
          <a:p>
            <a:r>
              <a:rPr lang="en-US" sz="2000" dirty="0" smtClean="0"/>
              <a:t>*result* = [*transform* *iteration* *filter* ] </a:t>
            </a:r>
          </a:p>
          <a:p>
            <a:endParaRPr lang="en-US" sz="2000" dirty="0" smtClean="0"/>
          </a:p>
          <a:p>
            <a:r>
              <a:rPr lang="en-US" sz="2000" dirty="0" smtClean="0"/>
              <a:t>Examples:</a:t>
            </a:r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	S = [x**2 for x in range(10)]</a:t>
            </a:r>
            <a:br>
              <a:rPr lang="en-US" sz="2000" dirty="0" smtClean="0"/>
            </a:br>
            <a:r>
              <a:rPr lang="en-US" sz="2000" dirty="0" smtClean="0"/>
              <a:t>	V = [2**</a:t>
            </a:r>
            <a:r>
              <a:rPr lang="en-US" sz="2000" dirty="0" err="1" smtClean="0"/>
              <a:t>i</a:t>
            </a:r>
            <a:r>
              <a:rPr lang="en-US" sz="2000" dirty="0" smtClean="0"/>
              <a:t> for </a:t>
            </a:r>
            <a:r>
              <a:rPr lang="en-US" sz="2000" dirty="0" err="1" smtClean="0"/>
              <a:t>i</a:t>
            </a:r>
            <a:r>
              <a:rPr lang="en-US" sz="2000" dirty="0" smtClean="0"/>
              <a:t> in range(13)]</a:t>
            </a:r>
            <a:br>
              <a:rPr lang="en-US" sz="2000" dirty="0" smtClean="0"/>
            </a:br>
            <a:r>
              <a:rPr lang="en-US" sz="2000" dirty="0" smtClean="0"/>
              <a:t>	M = [x for x in S if x % 2 == 0]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 </a:t>
            </a:r>
            <a:r>
              <a:rPr lang="en-US" sz="2000" b="1" dirty="0" smtClean="0"/>
              <a:t>Dictionary Comprehension</a:t>
            </a:r>
          </a:p>
          <a:p>
            <a:endParaRPr lang="en-US" sz="2000" dirty="0" smtClean="0"/>
          </a:p>
          <a:p>
            <a:r>
              <a:rPr lang="en-US" sz="2000" dirty="0" smtClean="0"/>
              <a:t>Examples:</a:t>
            </a:r>
          </a:p>
          <a:p>
            <a:r>
              <a:rPr lang="en-US" sz="2000" dirty="0" smtClean="0"/>
              <a:t>	</a:t>
            </a:r>
          </a:p>
          <a:p>
            <a:r>
              <a:rPr lang="en-US" sz="2000" dirty="0" smtClean="0"/>
              <a:t>	C = {x: x**2 for x in [1,2,3,4,5]}</a:t>
            </a:r>
          </a:p>
          <a:p>
            <a:r>
              <a:rPr lang="en-US" sz="2000" dirty="0" smtClean="0"/>
              <a:t>	 D = {</a:t>
            </a:r>
            <a:r>
              <a:rPr lang="en-US" sz="2000" dirty="0" err="1" smtClean="0"/>
              <a:t>x.upper</a:t>
            </a:r>
            <a:r>
              <a:rPr lang="en-US" sz="2000" dirty="0" smtClean="0"/>
              <a:t>(): x*3 for x in '</a:t>
            </a:r>
            <a:r>
              <a:rPr lang="en-US" sz="2000" dirty="0" err="1" smtClean="0"/>
              <a:t>abcd</a:t>
            </a:r>
            <a:r>
              <a:rPr lang="en-US" sz="2000" dirty="0" smtClean="0"/>
              <a:t>'}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and Global Variables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Local variables can be accessed only inside the function in which they are declared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Global variables can be accessed throughout the program body by all functions</a:t>
            </a:r>
          </a:p>
          <a:p>
            <a:endParaRPr lang="en-US" sz="2000" dirty="0" smtClean="0"/>
          </a:p>
          <a:p>
            <a:r>
              <a:rPr lang="en-US" sz="2000" dirty="0" smtClean="0"/>
              <a:t>Examples: 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testVar</a:t>
            </a:r>
            <a:r>
              <a:rPr lang="en-US" sz="2000" dirty="0" smtClean="0"/>
              <a:t> = 0 </a:t>
            </a:r>
          </a:p>
          <a:p>
            <a:endParaRPr lang="en-US" sz="2000" dirty="0" smtClean="0"/>
          </a:p>
          <a:p>
            <a:r>
              <a:rPr lang="en-US" sz="2000" dirty="0" smtClean="0"/>
              <a:t>def </a:t>
            </a:r>
            <a:r>
              <a:rPr lang="en-US" sz="2000" dirty="0" err="1" smtClean="0"/>
              <a:t>testFunc</a:t>
            </a:r>
            <a:r>
              <a:rPr lang="en-US" sz="2000" dirty="0" smtClean="0"/>
              <a:t>(): </a:t>
            </a:r>
          </a:p>
          <a:p>
            <a:r>
              <a:rPr lang="en-US" sz="2000" dirty="0" smtClean="0"/>
              <a:t>    global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+= 1 </a:t>
            </a:r>
          </a:p>
          <a:p>
            <a:r>
              <a:rPr lang="en-US" sz="2000" dirty="0" smtClean="0"/>
              <a:t>    </a:t>
            </a:r>
          </a:p>
          <a:p>
            <a:r>
              <a:rPr lang="en-US" sz="2000" dirty="0" smtClean="0"/>
              <a:t>print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</a:t>
            </a:r>
          </a:p>
          <a:p>
            <a:r>
              <a:rPr lang="en-US" sz="2000" dirty="0" err="1" smtClean="0"/>
              <a:t>testFunc</a:t>
            </a:r>
            <a:r>
              <a:rPr lang="en-US" sz="2000" dirty="0" smtClean="0"/>
              <a:t>() </a:t>
            </a:r>
          </a:p>
          <a:p>
            <a:r>
              <a:rPr lang="en-US" sz="2000" dirty="0" smtClean="0"/>
              <a:t>print </a:t>
            </a:r>
            <a:r>
              <a:rPr lang="en-US" sz="2000" dirty="0" err="1" smtClean="0"/>
              <a:t>testVar</a:t>
            </a:r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and Global Variables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testVar</a:t>
            </a:r>
            <a:r>
              <a:rPr lang="en-US" sz="2000" dirty="0" smtClean="0"/>
              <a:t> = [] </a:t>
            </a:r>
          </a:p>
          <a:p>
            <a:endParaRPr lang="en-US" sz="2000" dirty="0" smtClean="0"/>
          </a:p>
          <a:p>
            <a:r>
              <a:rPr lang="en-US" sz="2000" dirty="0" smtClean="0"/>
              <a:t>def testFunc1(): 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= [2]              </a:t>
            </a:r>
            <a:r>
              <a:rPr lang="en-US" sz="1600" dirty="0" smtClean="0"/>
              <a:t># Will create a local </a:t>
            </a:r>
            <a:r>
              <a:rPr lang="en-US" sz="1600" dirty="0" err="1" smtClean="0"/>
              <a:t>testVar</a:t>
            </a:r>
            <a:r>
              <a:rPr lang="en-US" sz="1600" dirty="0" smtClean="0"/>
              <a:t> and assign it [2],             but will not change the global variable. </a:t>
            </a:r>
          </a:p>
          <a:p>
            <a:endParaRPr lang="en-US" sz="1600" dirty="0" smtClean="0"/>
          </a:p>
          <a:p>
            <a:r>
              <a:rPr lang="en-US" sz="2000" dirty="0" smtClean="0"/>
              <a:t>def testFunc2(): </a:t>
            </a:r>
          </a:p>
          <a:p>
            <a:r>
              <a:rPr lang="en-US" sz="2000" dirty="0" smtClean="0"/>
              <a:t>    global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testVar</a:t>
            </a:r>
            <a:r>
              <a:rPr lang="en-US" sz="2000" dirty="0" smtClean="0"/>
              <a:t> = [2]             </a:t>
            </a:r>
            <a:r>
              <a:rPr lang="en-US" sz="1600" dirty="0" smtClean="0"/>
              <a:t># Will change the global variable. </a:t>
            </a:r>
          </a:p>
          <a:p>
            <a:endParaRPr lang="en-US" sz="1600" dirty="0" smtClean="0"/>
          </a:p>
          <a:p>
            <a:r>
              <a:rPr lang="en-US" sz="2000" dirty="0" smtClean="0"/>
              <a:t>def testFunc3(): 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testVar.append</a:t>
            </a:r>
            <a:r>
              <a:rPr lang="en-US" sz="2000" dirty="0" smtClean="0"/>
              <a:t>(2)    </a:t>
            </a:r>
            <a:r>
              <a:rPr lang="en-US" sz="1600" dirty="0" smtClean="0"/>
              <a:t># Will change the global variable.</a:t>
            </a:r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Reading Keyboard Input:</a:t>
            </a:r>
          </a:p>
          <a:p>
            <a:r>
              <a:rPr lang="en-US" sz="2000" dirty="0" smtClean="0"/>
              <a:t>• </a:t>
            </a:r>
            <a:r>
              <a:rPr lang="en-US" sz="2000" dirty="0" err="1" smtClean="0"/>
              <a:t>raw_input</a:t>
            </a:r>
            <a:endParaRPr lang="en-US" sz="2000" dirty="0" smtClean="0"/>
          </a:p>
          <a:p>
            <a:r>
              <a:rPr lang="en-US" sz="2000" dirty="0" smtClean="0"/>
              <a:t>• input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Opening and Closing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The </a:t>
            </a:r>
            <a:r>
              <a:rPr lang="en-US" sz="2000" i="1" dirty="0" smtClean="0"/>
              <a:t>open </a:t>
            </a:r>
            <a:r>
              <a:rPr lang="en-US" sz="2000" dirty="0" smtClean="0"/>
              <a:t>Function:</a:t>
            </a:r>
          </a:p>
          <a:p>
            <a:endParaRPr lang="en-US" sz="2000" dirty="0" smtClean="0"/>
          </a:p>
          <a:p>
            <a:r>
              <a:rPr lang="en-US" sz="2000" dirty="0" smtClean="0"/>
              <a:t>	file object = open(</a:t>
            </a:r>
            <a:r>
              <a:rPr lang="en-US" sz="2000" dirty="0" err="1" smtClean="0"/>
              <a:t>file_name</a:t>
            </a:r>
            <a:r>
              <a:rPr lang="en-US" sz="2000" dirty="0" smtClean="0"/>
              <a:t> , </a:t>
            </a:r>
            <a:r>
              <a:rPr lang="en-US" sz="2000" dirty="0" err="1" smtClean="0"/>
              <a:t>access_mode</a:t>
            </a:r>
            <a:r>
              <a:rPr lang="en-US" sz="2000" dirty="0" smtClean="0"/>
              <a:t>, buffering)</a:t>
            </a:r>
          </a:p>
          <a:p>
            <a:endParaRPr lang="en-US" sz="2000" dirty="0" smtClean="0"/>
          </a:p>
          <a:p>
            <a:r>
              <a:rPr lang="en-US" sz="2000" b="1" dirty="0" err="1" smtClean="0"/>
              <a:t>access_mode</a:t>
            </a:r>
            <a:r>
              <a:rPr lang="en-US" sz="2000" b="1" dirty="0" smtClean="0"/>
              <a:t>:</a:t>
            </a:r>
          </a:p>
          <a:p>
            <a:endParaRPr lang="en-US" sz="2000" dirty="0" smtClean="0"/>
          </a:p>
          <a:p>
            <a:endParaRPr lang="en-US" sz="2000" dirty="0" smtClean="0">
              <a:sym typeface="Wingdings" pitchFamily="2" charset="2"/>
            </a:endParaRP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181" y="4179386"/>
            <a:ext cx="7819019" cy="19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108427"/>
            <a:ext cx="6781800" cy="4835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b="1" i="1" dirty="0" smtClean="0"/>
              <a:t>close() </a:t>
            </a:r>
            <a:r>
              <a:rPr lang="en-US" sz="2000" dirty="0" smtClean="0"/>
              <a:t>Method:</a:t>
            </a:r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fileObject.close</a:t>
            </a:r>
            <a:r>
              <a:rPr lang="en-US" sz="2000" dirty="0" smtClean="0"/>
              <a:t>()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Reading and Writing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The </a:t>
            </a:r>
            <a:r>
              <a:rPr lang="en-US" sz="2000" i="1" dirty="0" smtClean="0"/>
              <a:t>write()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 lvl="1"/>
            <a:r>
              <a:rPr lang="en-US" sz="2000" dirty="0" err="1" smtClean="0"/>
              <a:t>fileObject.write</a:t>
            </a:r>
            <a:r>
              <a:rPr lang="en-US" sz="2000" dirty="0" smtClean="0"/>
              <a:t>(string)</a:t>
            </a:r>
          </a:p>
          <a:p>
            <a:pPr lvl="1"/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000" dirty="0" smtClean="0"/>
              <a:t>The </a:t>
            </a:r>
            <a:r>
              <a:rPr lang="en-US" sz="2000" i="1" dirty="0" smtClean="0"/>
              <a:t>read()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 lvl="1"/>
            <a:r>
              <a:rPr lang="en-US" sz="2000" dirty="0" err="1" smtClean="0"/>
              <a:t>fileObject.read</a:t>
            </a:r>
            <a:r>
              <a:rPr lang="en-US" sz="2000" dirty="0" smtClean="0"/>
              <a:t>([count]</a:t>
            </a: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File Object Methods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381" y="2057400"/>
            <a:ext cx="8352419" cy="222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123045"/>
            <a:ext cx="5715000" cy="489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9079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 </a:t>
            </a:r>
            <a:r>
              <a:rPr lang="en-US" sz="2000" b="1" dirty="0" smtClean="0"/>
              <a:t>Assertions: </a:t>
            </a:r>
          </a:p>
          <a:p>
            <a:r>
              <a:rPr lang="en-US" sz="2000" dirty="0" smtClean="0"/>
              <a:t>	 An assertion is a sanity-check that you can turn on or turn off when you are done with your testing of the program. 	</a:t>
            </a:r>
          </a:p>
          <a:p>
            <a:endParaRPr lang="en-US" sz="2000" dirty="0" smtClean="0"/>
          </a:p>
          <a:p>
            <a:r>
              <a:rPr lang="en-US" sz="2000" b="1" dirty="0" smtClean="0"/>
              <a:t>&gt;&gt; </a:t>
            </a:r>
            <a:r>
              <a:rPr lang="en-US" sz="2000" dirty="0" smtClean="0"/>
              <a:t>assert  condition</a:t>
            </a:r>
          </a:p>
          <a:p>
            <a:endParaRPr lang="en-US" sz="2000" dirty="0" smtClean="0"/>
          </a:p>
          <a:p>
            <a:r>
              <a:rPr lang="en-US" sz="2000" dirty="0" smtClean="0"/>
              <a:t>it's roughly equivalent to this:</a:t>
            </a:r>
          </a:p>
          <a:p>
            <a:r>
              <a:rPr lang="en-US" sz="2000" dirty="0" smtClean="0"/>
              <a:t>	</a:t>
            </a:r>
          </a:p>
          <a:p>
            <a:r>
              <a:rPr lang="en-US" sz="2000" dirty="0" smtClean="0"/>
              <a:t>&gt;&gt; if not condition: </a:t>
            </a:r>
          </a:p>
          <a:p>
            <a:r>
              <a:rPr lang="en-US" sz="2000" dirty="0" smtClean="0"/>
              <a:t>         raise </a:t>
            </a:r>
            <a:r>
              <a:rPr lang="en-US" sz="2000" dirty="0" err="1" smtClean="0"/>
              <a:t>AssertionError</a:t>
            </a:r>
            <a:r>
              <a:rPr lang="en-US" sz="2000" dirty="0" smtClean="0"/>
              <a:t>()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 </a:t>
            </a:r>
            <a:r>
              <a:rPr lang="en-US" sz="2000" b="1" dirty="0" smtClean="0"/>
              <a:t>Exceptions:</a:t>
            </a:r>
          </a:p>
          <a:p>
            <a:r>
              <a:rPr lang="en-US" sz="2000" b="1" dirty="0" smtClean="0"/>
              <a:t>	 </a:t>
            </a:r>
            <a:r>
              <a:rPr lang="en-US" sz="2000" dirty="0" smtClean="0"/>
              <a:t>An exception is an event, which occurs during the execution of a program, that disrupts the normal flow of the</a:t>
            </a:r>
          </a:p>
          <a:p>
            <a:r>
              <a:rPr lang="en-US" sz="2000" dirty="0" smtClean="0"/>
              <a:t>program's instructions.</a:t>
            </a:r>
            <a:endParaRPr lang="en-US" sz="2000" b="1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288" y="347663"/>
            <a:ext cx="8353425" cy="719137"/>
          </a:xfrm>
        </p:spPr>
        <p:txBody>
          <a:bodyPr>
            <a:normAutofit/>
          </a:bodyPr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143000"/>
            <a:ext cx="7778824" cy="852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try:</a:t>
            </a:r>
          </a:p>
          <a:p>
            <a:r>
              <a:rPr lang="en-US" sz="2000" dirty="0" smtClean="0"/>
              <a:t>    You do your operations here;</a:t>
            </a:r>
          </a:p>
          <a:p>
            <a:r>
              <a:rPr lang="en-US" sz="2000" dirty="0" smtClean="0"/>
              <a:t>    ......................</a:t>
            </a:r>
          </a:p>
          <a:p>
            <a:r>
              <a:rPr lang="en-US" sz="2000" dirty="0" smtClean="0"/>
              <a:t>except </a:t>
            </a:r>
            <a:r>
              <a:rPr lang="en-US" sz="2000" i="1" dirty="0" err="1" smtClean="0"/>
              <a:t>ExceptionI</a:t>
            </a:r>
            <a:r>
              <a:rPr lang="en-US" sz="2000" i="1" dirty="0" smtClean="0"/>
              <a:t>:</a:t>
            </a:r>
          </a:p>
          <a:p>
            <a:r>
              <a:rPr lang="en-US" sz="2000" dirty="0" smtClean="0"/>
              <a:t>    If there is </a:t>
            </a:r>
            <a:r>
              <a:rPr lang="en-US" sz="2000" dirty="0" err="1" smtClean="0"/>
              <a:t>ExceptionI</a:t>
            </a:r>
            <a:r>
              <a:rPr lang="en-US" sz="2000" dirty="0" smtClean="0"/>
              <a:t>, then execute this block.</a:t>
            </a:r>
          </a:p>
          <a:p>
            <a:r>
              <a:rPr lang="en-US" sz="2000" dirty="0" smtClean="0"/>
              <a:t>    ------------------</a:t>
            </a:r>
          </a:p>
          <a:p>
            <a:r>
              <a:rPr lang="en-US" sz="2000" dirty="0" smtClean="0"/>
              <a:t>except </a:t>
            </a:r>
            <a:r>
              <a:rPr lang="en-US" sz="2000" i="1" dirty="0" err="1" smtClean="0"/>
              <a:t>ExceptionII</a:t>
            </a:r>
            <a:r>
              <a:rPr lang="en-US" sz="2000" i="1" dirty="0" smtClean="0"/>
              <a:t>:</a:t>
            </a:r>
          </a:p>
          <a:p>
            <a:r>
              <a:rPr lang="en-US" sz="2000" dirty="0" smtClean="0"/>
              <a:t>    If there is </a:t>
            </a:r>
            <a:r>
              <a:rPr lang="en-US" sz="2000" dirty="0" err="1" smtClean="0"/>
              <a:t>ExceptionII</a:t>
            </a:r>
            <a:r>
              <a:rPr lang="en-US" sz="2000" dirty="0" smtClean="0"/>
              <a:t>, then execute this block.</a:t>
            </a:r>
          </a:p>
          <a:p>
            <a:r>
              <a:rPr lang="en-US" sz="2000" dirty="0" smtClean="0"/>
              <a:t>    ......................</a:t>
            </a:r>
          </a:p>
          <a:p>
            <a:r>
              <a:rPr lang="en-US" sz="2000" dirty="0" smtClean="0"/>
              <a:t>else:</a:t>
            </a:r>
          </a:p>
          <a:p>
            <a:r>
              <a:rPr lang="en-US" sz="2000" dirty="0" smtClean="0"/>
              <a:t>    If there is no exception then execute this block.             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try:</a:t>
            </a:r>
          </a:p>
          <a:p>
            <a:r>
              <a:rPr lang="en-US" sz="2000" dirty="0" smtClean="0"/>
              <a:t>    You do your operations here;</a:t>
            </a:r>
          </a:p>
          <a:p>
            <a:r>
              <a:rPr lang="en-US" sz="2000" dirty="0" smtClean="0"/>
              <a:t>    ......................</a:t>
            </a:r>
          </a:p>
          <a:p>
            <a:r>
              <a:rPr lang="en-US" sz="2000" dirty="0" smtClean="0"/>
              <a:t>    Due to any exception, this may be skipped.</a:t>
            </a:r>
          </a:p>
          <a:p>
            <a:r>
              <a:rPr lang="en-US" sz="2000" dirty="0" smtClean="0"/>
              <a:t>finally:</a:t>
            </a:r>
          </a:p>
          <a:p>
            <a:r>
              <a:rPr lang="en-US" sz="2000" dirty="0" smtClean="0"/>
              <a:t>    This would always be executed.</a:t>
            </a:r>
          </a:p>
          <a:p>
            <a:r>
              <a:rPr lang="en-US" sz="2000" dirty="0" smtClean="0"/>
              <a:t>    ......................</a:t>
            </a:r>
          </a:p>
          <a:p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 </a:t>
            </a:r>
            <a:r>
              <a:rPr lang="en-US" sz="2000" b="1" dirty="0" smtClean="0"/>
              <a:t>Raising an exceptions:</a:t>
            </a:r>
          </a:p>
          <a:p>
            <a:r>
              <a:rPr lang="en-US" sz="2000" b="1" dirty="0" smtClean="0"/>
              <a:t> </a:t>
            </a:r>
            <a:r>
              <a:rPr lang="en-US" sz="2000" dirty="0" smtClean="0"/>
              <a:t>def </a:t>
            </a:r>
            <a:r>
              <a:rPr lang="en-US" sz="2000" dirty="0" err="1" smtClean="0"/>
              <a:t>functionName</a:t>
            </a:r>
            <a:r>
              <a:rPr lang="en-US" sz="2000" dirty="0" smtClean="0"/>
              <a:t>( level ):</a:t>
            </a:r>
          </a:p>
          <a:p>
            <a:r>
              <a:rPr lang="en-US" sz="2000" dirty="0" smtClean="0"/>
              <a:t>    if level &lt; 1:</a:t>
            </a:r>
          </a:p>
          <a:p>
            <a:r>
              <a:rPr lang="en-US" sz="2000" dirty="0" smtClean="0"/>
              <a:t>    raise "Invalid level!", level</a:t>
            </a:r>
          </a:p>
          <a:p>
            <a:r>
              <a:rPr lang="en-US" sz="2000" dirty="0" smtClean="0"/>
              <a:t>    # The code below to this would not be executed</a:t>
            </a:r>
          </a:p>
          <a:p>
            <a:r>
              <a:rPr lang="en-US" sz="2000" dirty="0" smtClean="0"/>
              <a:t>    # if we raise the exception</a:t>
            </a:r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try:</a:t>
            </a:r>
          </a:p>
          <a:p>
            <a:r>
              <a:rPr lang="en-US" sz="2000" dirty="0" smtClean="0"/>
              <a:t>    Business Logic here...</a:t>
            </a:r>
          </a:p>
          <a:p>
            <a:r>
              <a:rPr lang="en-US" sz="2000" dirty="0" smtClean="0"/>
              <a:t>except "Invalid level!":</a:t>
            </a:r>
          </a:p>
          <a:p>
            <a:r>
              <a:rPr lang="en-US" sz="2000" dirty="0" smtClean="0"/>
              <a:t>    Exception handling here...</a:t>
            </a:r>
          </a:p>
          <a:p>
            <a:r>
              <a:rPr lang="en-US" sz="2000" dirty="0" smtClean="0"/>
              <a:t>else: </a:t>
            </a:r>
          </a:p>
          <a:p>
            <a:r>
              <a:rPr lang="en-US" sz="2000" dirty="0" smtClean="0"/>
              <a:t>    Rest of the code here...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b="1" dirty="0" smtClean="0"/>
              <a:t>User Defined Exceptions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90600"/>
            <a:ext cx="6705600" cy="5020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EF6D-6D5F-4702-828D-16036BB28BDB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777882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4315" y="1049536"/>
            <a:ext cx="5436085" cy="489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218486"/>
            <a:ext cx="77788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A module is a file consisting of Python code. </a:t>
            </a:r>
          </a:p>
          <a:p>
            <a:endParaRPr lang="en-US" dirty="0" smtClean="0"/>
          </a:p>
          <a:p>
            <a:r>
              <a:rPr lang="en-US" dirty="0" smtClean="0"/>
              <a:t>• A module can define functions, classes and variables. </a:t>
            </a:r>
          </a:p>
          <a:p>
            <a:r>
              <a:rPr lang="en-US" dirty="0" smtClean="0"/>
              <a:t>  A module can also include </a:t>
            </a:r>
            <a:r>
              <a:rPr lang="en-US" dirty="0" err="1" smtClean="0"/>
              <a:t>runnable</a:t>
            </a:r>
            <a:r>
              <a:rPr lang="en-US" dirty="0" smtClean="0"/>
              <a:t> code.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• The </a:t>
            </a:r>
            <a:r>
              <a:rPr lang="en-US" b="1" i="1" dirty="0" smtClean="0"/>
              <a:t>import</a:t>
            </a:r>
            <a:r>
              <a:rPr lang="en-US" i="1" dirty="0" smtClean="0"/>
              <a:t> </a:t>
            </a:r>
            <a:r>
              <a:rPr lang="en-US" dirty="0" smtClean="0"/>
              <a:t>Statement: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	 import module1, module2,... </a:t>
            </a:r>
            <a:r>
              <a:rPr lang="en-US" dirty="0" err="1" smtClean="0"/>
              <a:t>moduleN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The </a:t>
            </a:r>
            <a:r>
              <a:rPr lang="en-US" b="1" i="1" dirty="0" smtClean="0"/>
              <a:t>from...import </a:t>
            </a:r>
            <a:r>
              <a:rPr lang="en-US" dirty="0" smtClean="0"/>
              <a:t>Statement</a:t>
            </a:r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  <a:r>
              <a:rPr lang="en-US" dirty="0" smtClean="0"/>
              <a:t> from </a:t>
            </a:r>
            <a:r>
              <a:rPr lang="en-US" dirty="0" err="1" smtClean="0"/>
              <a:t>modname</a:t>
            </a:r>
            <a:r>
              <a:rPr lang="en-US" dirty="0" smtClean="0"/>
              <a:t> import name1, name2, ... </a:t>
            </a:r>
            <a:r>
              <a:rPr lang="en-US" dirty="0" err="1" smtClean="0"/>
              <a:t>nameN</a:t>
            </a:r>
            <a:endParaRPr lang="en-US" dirty="0" smtClean="0"/>
          </a:p>
          <a:p>
            <a:endParaRPr lang="en-US" b="1" dirty="0" smtClean="0"/>
          </a:p>
          <a:p>
            <a:r>
              <a:rPr lang="en-US" dirty="0" smtClean="0"/>
              <a:t>For example, to import the function </a:t>
            </a:r>
            <a:r>
              <a:rPr lang="en-US" dirty="0" err="1" smtClean="0"/>
              <a:t>fibonacci</a:t>
            </a:r>
            <a:r>
              <a:rPr lang="en-US" dirty="0" smtClean="0"/>
              <a:t> from the module fib, use the following statement: 	</a:t>
            </a:r>
          </a:p>
          <a:p>
            <a:r>
              <a:rPr lang="en-US" dirty="0" smtClean="0"/>
              <a:t>	from fib import </a:t>
            </a:r>
            <a:r>
              <a:rPr lang="en-US" dirty="0" err="1" smtClean="0"/>
              <a:t>fibonacci</a:t>
            </a:r>
            <a:endParaRPr lang="en-US" b="1" dirty="0" smtClean="0"/>
          </a:p>
          <a:p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18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852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The </a:t>
            </a:r>
            <a:r>
              <a:rPr lang="en-US" sz="2000" b="1" i="1" dirty="0" smtClean="0"/>
              <a:t>from...import* </a:t>
            </a:r>
            <a:r>
              <a:rPr lang="en-US" sz="2000" dirty="0" smtClean="0"/>
              <a:t>Statement: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	</a:t>
            </a:r>
            <a:r>
              <a:rPr lang="en-US" sz="2000" dirty="0" smtClean="0"/>
              <a:t> from </a:t>
            </a:r>
            <a:r>
              <a:rPr lang="en-US" sz="2000" dirty="0" err="1" smtClean="0"/>
              <a:t>modname</a:t>
            </a:r>
            <a:r>
              <a:rPr lang="en-US" sz="2000" dirty="0" smtClean="0"/>
              <a:t> import *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b="1" dirty="0" smtClean="0"/>
              <a:t>Locating Modules: </a:t>
            </a:r>
            <a:r>
              <a:rPr lang="en-US" sz="2000" dirty="0" smtClean="0"/>
              <a:t>	</a:t>
            </a:r>
          </a:p>
          <a:p>
            <a:pPr marL="457200" indent="-457200">
              <a:buAutoNum type="arabicParenR"/>
            </a:pPr>
            <a:r>
              <a:rPr lang="en-US" sz="2000" dirty="0" smtClean="0"/>
              <a:t>The current directory.</a:t>
            </a:r>
          </a:p>
          <a:p>
            <a:pPr marL="457200" indent="-457200">
              <a:buAutoNum type="arabicParenR"/>
            </a:pPr>
            <a:r>
              <a:rPr lang="en-US" sz="2000" dirty="0" smtClean="0"/>
              <a:t>If the module isn't found, Python then searches each directory in the shell variable PYTHONPATH.</a:t>
            </a:r>
          </a:p>
          <a:p>
            <a:pPr marL="457200" indent="-457200">
              <a:buAutoNum type="arabicParenR"/>
            </a:pPr>
            <a:r>
              <a:rPr lang="en-US" sz="2000" dirty="0" smtClean="0"/>
              <a:t>If all else fails, Python checks the default path. On UNIX, this default path is normally /</a:t>
            </a:r>
            <a:r>
              <a:rPr lang="en-US" sz="2000" dirty="0" err="1" smtClean="0"/>
              <a:t>usr</a:t>
            </a:r>
            <a:r>
              <a:rPr lang="en-US" sz="2000" dirty="0" smtClean="0"/>
              <a:t>/local/lib/python/.</a:t>
            </a:r>
          </a:p>
          <a:p>
            <a:pPr marL="457200" indent="-457200">
              <a:buAutoNum type="arabicParenR"/>
            </a:pP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b="1" dirty="0" smtClean="0"/>
              <a:t>dir() </a:t>
            </a:r>
            <a:r>
              <a:rPr lang="en-US" sz="2000" dirty="0" smtClean="0"/>
              <a:t>Function: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  The dir() built-in function returns a sorted list of strings containing the names defined by a module.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  The list contains the names of all the modules, variables and functions that are defined in a module.</a:t>
            </a: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19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Example: </a:t>
            </a:r>
          </a:p>
          <a:p>
            <a:endParaRPr lang="en-US" sz="2000" dirty="0" smtClean="0"/>
          </a:p>
          <a:p>
            <a:r>
              <a:rPr lang="en-US" sz="2000" dirty="0" smtClean="0"/>
              <a:t>import math</a:t>
            </a:r>
          </a:p>
          <a:p>
            <a:r>
              <a:rPr lang="en-US" sz="2000" dirty="0" smtClean="0"/>
              <a:t>content = dir(math)</a:t>
            </a:r>
          </a:p>
          <a:p>
            <a:r>
              <a:rPr lang="en-US" sz="2000" dirty="0" smtClean="0"/>
              <a:t>print content;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20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78766"/>
            <a:ext cx="7778824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 A package is a hierarchical file directory structure that defines a single Python application environment that</a:t>
            </a:r>
          </a:p>
          <a:p>
            <a:r>
              <a:rPr lang="en-US" sz="2000" dirty="0" smtClean="0"/>
              <a:t>consists of modules and </a:t>
            </a:r>
            <a:r>
              <a:rPr lang="en-US" sz="2000" dirty="0" err="1" smtClean="0"/>
              <a:t>subpackages</a:t>
            </a:r>
            <a:r>
              <a:rPr lang="en-US" sz="2000" dirty="0" smtClean="0"/>
              <a:t> and sub-</a:t>
            </a:r>
            <a:r>
              <a:rPr lang="en-US" sz="2000" dirty="0" err="1" smtClean="0"/>
              <a:t>subpackages</a:t>
            </a:r>
            <a:r>
              <a:rPr lang="en-US" sz="2000" dirty="0" smtClean="0"/>
              <a:t>, and so on.</a:t>
            </a:r>
          </a:p>
          <a:p>
            <a:r>
              <a:rPr lang="en-US" sz="2000" dirty="0" smtClean="0"/>
              <a:t>Examples:</a:t>
            </a:r>
          </a:p>
          <a:p>
            <a:r>
              <a:rPr lang="en-US" sz="2000" b="1" dirty="0" smtClean="0"/>
              <a:t>Package Name: Phone</a:t>
            </a:r>
          </a:p>
          <a:p>
            <a:r>
              <a:rPr lang="en-US" sz="2000" dirty="0" smtClean="0"/>
              <a:t>__</a:t>
            </a:r>
            <a:r>
              <a:rPr lang="en-US" sz="2000" dirty="0" err="1" smtClean="0"/>
              <a:t>init__.py</a:t>
            </a:r>
            <a:endParaRPr lang="en-US" sz="2000" dirty="0" smtClean="0"/>
          </a:p>
          <a:p>
            <a:r>
              <a:rPr lang="en-US" sz="2000" i="1" dirty="0" smtClean="0"/>
              <a:t>Pots.py</a:t>
            </a:r>
          </a:p>
          <a:p>
            <a:r>
              <a:rPr lang="en-US" sz="2000" i="1" dirty="0" smtClean="0"/>
              <a:t>Isdn.py</a:t>
            </a:r>
          </a:p>
          <a:p>
            <a:r>
              <a:rPr lang="en-US" sz="2000" i="1" dirty="0" smtClean="0"/>
              <a:t>G3.py</a:t>
            </a:r>
          </a:p>
          <a:p>
            <a:endParaRPr lang="en-US" sz="2000" b="1" i="1" dirty="0" smtClean="0"/>
          </a:p>
          <a:p>
            <a:r>
              <a:rPr lang="en-US" sz="2000" b="1" i="1" dirty="0" smtClean="0"/>
              <a:t>__</a:t>
            </a:r>
            <a:r>
              <a:rPr lang="en-US" sz="2000" b="1" i="1" dirty="0" err="1" smtClean="0"/>
              <a:t>init__.py</a:t>
            </a:r>
            <a:r>
              <a:rPr lang="en-US" sz="2000" b="1" i="1" dirty="0" smtClean="0"/>
              <a:t> File:</a:t>
            </a:r>
          </a:p>
          <a:p>
            <a:r>
              <a:rPr lang="en-US" sz="2000" dirty="0" smtClean="0"/>
              <a:t>from Pots import Pots</a:t>
            </a:r>
          </a:p>
          <a:p>
            <a:r>
              <a:rPr lang="en-US" sz="2000" dirty="0" smtClean="0"/>
              <a:t>from Isdn import Isdn</a:t>
            </a:r>
          </a:p>
          <a:p>
            <a:r>
              <a:rPr lang="en-US" sz="2000" dirty="0" smtClean="0"/>
              <a:t>from G3 import G3</a:t>
            </a:r>
            <a:endParaRPr lang="en-US" sz="2000" b="1" i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21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143000"/>
            <a:ext cx="777882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 Now import your Phone Package.</a:t>
            </a:r>
          </a:p>
          <a:p>
            <a:r>
              <a:rPr lang="en-US" sz="2000" dirty="0" smtClean="0"/>
              <a:t>import Phone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Phone.Pots</a:t>
            </a:r>
            <a:r>
              <a:rPr lang="en-US" sz="2000" dirty="0" smtClean="0"/>
              <a:t>()</a:t>
            </a:r>
          </a:p>
          <a:p>
            <a:r>
              <a:rPr lang="en-US" sz="2000" dirty="0" err="1" smtClean="0"/>
              <a:t>Phone.Isdn</a:t>
            </a:r>
            <a:r>
              <a:rPr lang="en-US" sz="2000" dirty="0" smtClean="0"/>
              <a:t>()</a:t>
            </a:r>
          </a:p>
          <a:p>
            <a:r>
              <a:rPr lang="en-US" sz="2000" dirty="0" smtClean="0"/>
              <a:t>Phone.G3()</a:t>
            </a:r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23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22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1430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 smtClean="0"/>
              <a:t>Write a program to</a:t>
            </a:r>
          </a:p>
          <a:p>
            <a:pPr marL="457200" indent="-457200"/>
            <a:r>
              <a:rPr lang="en-US" sz="2000" b="1" dirty="0" smtClean="0"/>
              <a:t>	</a:t>
            </a:r>
            <a:r>
              <a:rPr lang="en-US" sz="2000" dirty="0" smtClean="0"/>
              <a:t>a) list1 = list all the integer numbers between 1 and 100 using list comprehension.</a:t>
            </a:r>
          </a:p>
          <a:p>
            <a:pPr marL="457200" indent="-457200"/>
            <a:r>
              <a:rPr lang="en-US" sz="2000" dirty="0" smtClean="0"/>
              <a:t>	b) list2 = list containing the squares of the integer numbers in list1 using map and lambda.</a:t>
            </a:r>
          </a:p>
          <a:p>
            <a:pPr marL="457200" indent="-457200"/>
            <a:r>
              <a:rPr lang="en-US" sz="2000" dirty="0" smtClean="0"/>
              <a:t>	c) list3 = list of all even numbers in list2 using filter.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2)	Write a program to copy the contents from “input.txt” to “output.txt” using file “read” and “write” operations.</a:t>
            </a:r>
          </a:p>
          <a:p>
            <a:pPr marL="457200" indent="-457200"/>
            <a:endParaRPr lang="en-US" sz="2000" dirty="0" smtClean="0"/>
          </a:p>
          <a:p>
            <a:pPr marL="457200" indent="-457200"/>
            <a:r>
              <a:rPr lang="en-US" sz="2000" dirty="0" smtClean="0"/>
              <a:t>3)	Write a program to solve the following </a:t>
            </a:r>
            <a:r>
              <a:rPr lang="en-US" sz="2000" dirty="0" err="1" smtClean="0"/>
              <a:t>sudoku</a:t>
            </a:r>
            <a:r>
              <a:rPr lang="en-US" sz="2000" dirty="0" smtClean="0"/>
              <a:t>.</a:t>
            </a:r>
          </a:p>
          <a:p>
            <a:pPr marL="457200" indent="-457200"/>
            <a:r>
              <a:rPr lang="en-US" sz="2000" dirty="0" smtClean="0"/>
              <a:t>	(Note that the table is in an excel file.)</a:t>
            </a:r>
          </a:p>
          <a:p>
            <a:pPr marL="457200" indent="-457200"/>
            <a:r>
              <a:rPr lang="en-US" sz="2000" b="1" dirty="0" smtClean="0"/>
              <a:t>  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52800" y="4953000"/>
          <a:ext cx="2438400" cy="78105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smtClean="0"/>
              <a:t>for your attention!</a:t>
            </a:r>
            <a:endParaRPr lang="en-US" noProof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Thank you</a:t>
            </a:r>
            <a:endParaRPr lang="en-US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42F8-CEA3-49F3-B751-D92902D0DDAB}" type="datetime3">
              <a:rPr lang="en-US" smtClean="0"/>
              <a:pPr/>
              <a:t>23 June 2015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Ganesh Hegde, © Continental 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148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heme/theme1.xml><?xml version="1.0" encoding="utf-8"?>
<a:theme xmlns:a="http://schemas.openxmlformats.org/drawingml/2006/main" name="ppt_template_continental_automotive_en-4-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ppt_template_continental_automotive_en-4-3</Template>
  <TotalTime>0</TotalTime>
  <Words>734</Words>
  <Application>Microsoft Office PowerPoint</Application>
  <PresentationFormat>On-screen Show (4:3)</PresentationFormat>
  <Paragraphs>533</Paragraphs>
  <Slides>23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ppt_template_continental_automotive_en-4-3</vt:lpstr>
      <vt:lpstr>06. Python – Miscellaneous Topics - I  </vt:lpstr>
      <vt:lpstr>Topics </vt:lpstr>
      <vt:lpstr>Comprehension</vt:lpstr>
      <vt:lpstr>Local and Global Variables</vt:lpstr>
      <vt:lpstr>Local and Global Variables</vt:lpstr>
      <vt:lpstr>File Operations</vt:lpstr>
      <vt:lpstr>File Operations</vt:lpstr>
      <vt:lpstr>File Operations</vt:lpstr>
      <vt:lpstr>File Operations</vt:lpstr>
      <vt:lpstr>File Operations</vt:lpstr>
      <vt:lpstr>Exception Handling</vt:lpstr>
      <vt:lpstr>Exception Handling</vt:lpstr>
      <vt:lpstr>Exception Handling</vt:lpstr>
      <vt:lpstr>Exception Handling</vt:lpstr>
      <vt:lpstr>Exception Handling</vt:lpstr>
      <vt:lpstr>Exception Handling</vt:lpstr>
      <vt:lpstr>Modules</vt:lpstr>
      <vt:lpstr>Modules</vt:lpstr>
      <vt:lpstr>Modules</vt:lpstr>
      <vt:lpstr>Packages</vt:lpstr>
      <vt:lpstr>Packages</vt:lpstr>
      <vt:lpstr>Assignments</vt:lpstr>
      <vt:lpstr>Thank you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uidt5719</dc:creator>
  <cp:lastModifiedBy>uidt5719</cp:lastModifiedBy>
  <cp:revision>473</cp:revision>
  <dcterms:created xsi:type="dcterms:W3CDTF">2013-12-05T05:21:14Z</dcterms:created>
  <dcterms:modified xsi:type="dcterms:W3CDTF">2015-06-23T05:08:05Z</dcterms:modified>
</cp:coreProperties>
</file>