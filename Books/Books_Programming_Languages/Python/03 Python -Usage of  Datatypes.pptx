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45" r:id="rId2"/>
    <p:sldId id="343" r:id="rId3"/>
    <p:sldId id="339" r:id="rId4"/>
    <p:sldId id="347" r:id="rId5"/>
    <p:sldId id="348" r:id="rId6"/>
    <p:sldId id="351" r:id="rId7"/>
    <p:sldId id="352" r:id="rId8"/>
    <p:sldId id="353" r:id="rId9"/>
    <p:sldId id="349" r:id="rId10"/>
    <p:sldId id="354" r:id="rId11"/>
    <p:sldId id="355" r:id="rId12"/>
    <p:sldId id="350" r:id="rId13"/>
    <p:sldId id="356" r:id="rId14"/>
    <p:sldId id="341" r:id="rId15"/>
  </p:sldIdLst>
  <p:sldSz cx="9144000" cy="6858000" type="screen4x3"/>
  <p:notesSz cx="6797675" cy="9926638"/>
  <p:custDataLst>
    <p:tags r:id="rId1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4660" autoAdjust="0"/>
  </p:normalViewPr>
  <p:slideViewPr>
    <p:cSldViewPr snapToObjects="1" showGuides="1">
      <p:cViewPr>
        <p:scale>
          <a:sx n="100" d="100"/>
          <a:sy n="100" d="100"/>
        </p:scale>
        <p:origin x="-78" y="648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24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-2166" y="-84"/>
      </p:cViewPr>
      <p:guideLst>
        <p:guide orient="horz" pos="3126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12.06.2015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="" xmlns:p14="http://schemas.microsoft.com/office/powerpoint/2010/main" val="92576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6/12/2015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739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547F8-5145-4EDD-B534-EAB796FE8C9F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962C32-3614-45BF-BAB1-EB0AB81D0000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erade Verbindung 15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88"/>
            <a:r>
              <a:rPr lang="en-US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883389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C6D8B4-77DF-47E2-8147-84FB9A68446D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CD2B11-5D6A-4947-9A17-825E522F1777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9594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D176-31C0-4543-829D-BDC40D0D81D3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18FB33-42E6-4C23-AA9A-DC66C26B1340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C7BABF9-9A37-4480-B8E1-6ECF946A432B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7C39854-43B9-42AC-85AC-FCA66DC81E0C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CCD7DF1-9E02-48B1-9F7E-E78E9DB199CE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8ED2810E-1EDA-485B-971E-1C5D21BC72CB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BFA864-0AB0-4002-B4A1-740B7BFB9834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43D375-E1C0-48EC-AB31-6B48A871004A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51ACA-D671-4872-8C6B-2BE97895414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229844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EC1612-35BA-4475-AFB4-82B852300840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D244AE-CCC2-4529-B090-394013E1C3A7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uppieren 14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74988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B42CB046-44F0-41AE-B1DD-030791EC58EC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smtClean="0"/>
              <a:t>Ganesh Hegde, © Continental AG</a:t>
            </a:r>
            <a:endParaRPr lang="en-US" noProof="0" dirty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Ellipse 3" hidden="1"/>
          <p:cNvSpPr/>
          <p:nvPr>
            <p:custDataLst>
              <p:tags r:id="rId21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49" r:id="rId3"/>
    <p:sldLayoutId id="2147483670" r:id="rId4"/>
    <p:sldLayoutId id="2147483661" r:id="rId5"/>
    <p:sldLayoutId id="2147483659" r:id="rId6"/>
    <p:sldLayoutId id="214748366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66" r:id="rId16"/>
    <p:sldLayoutId id="2147483667" r:id="rId17"/>
    <p:sldLayoutId id="2147483668" r:id="rId18"/>
    <p:sldLayoutId id="2147483671" r:id="rId19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slideLayout" Target="../slideLayouts/slideLayout14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slide" Target="slide14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ionic" TargetMode="External"/><Relationship Id="rId3" Type="http://schemas.openxmlformats.org/officeDocument/2006/relationships/hyperlink" Target="https://en.wikipedia.org/wiki/Organism" TargetMode="External"/><Relationship Id="rId7" Type="http://schemas.openxmlformats.org/officeDocument/2006/relationships/hyperlink" Target="https://en.wikipedia.org/wiki/Cyborg" TargetMode="External"/><Relationship Id="rId2" Type="http://schemas.openxmlformats.org/officeDocument/2006/relationships/hyperlink" Target="https://en.wikipedia.org/wiki/Cybernetic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Nathan_S._Kline" TargetMode="External"/><Relationship Id="rId11" Type="http://schemas.openxmlformats.org/officeDocument/2006/relationships/hyperlink" Target="https://en.wikipedia.org/w/index.php?title=Future_human_evolution&amp;action=edit&amp;redlink=1" TargetMode="External"/><Relationship Id="rId5" Type="http://schemas.openxmlformats.org/officeDocument/2006/relationships/hyperlink" Target="https://en.wikipedia.org/wiki/Manfred_Clynes" TargetMode="External"/><Relationship Id="rId10" Type="http://schemas.openxmlformats.org/officeDocument/2006/relationships/hyperlink" Target="https://en.wikipedia.org/wiki/Mammal" TargetMode="External"/><Relationship Id="rId4" Type="http://schemas.openxmlformats.org/officeDocument/2006/relationships/hyperlink" Target="https://en.wikipedia.org/wiki/Biomechatronic" TargetMode="External"/><Relationship Id="rId9" Type="http://schemas.openxmlformats.org/officeDocument/2006/relationships/hyperlink" Target="https://en.wikipedia.org/wiki/Feedback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>
            <a:noAutofit/>
          </a:bodyPr>
          <a:lstStyle/>
          <a:p>
            <a:r>
              <a:rPr lang="en-US" sz="3200" dirty="0" smtClean="0"/>
              <a:t>03. Python – Usage of Data types </a:t>
            </a:r>
            <a:endParaRPr lang="en-US" sz="3200" dirty="0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br>
              <a:rPr lang="en-US" dirty="0" smtClean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DD7-AAF9-42D2-A0BC-FAC01AD5E57F}" type="datetime3">
              <a:rPr lang="en-US" smtClean="0"/>
              <a:pPr/>
              <a:t>12 June 2015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Shreyas.K, © Continental AG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340721"/>
            <a:ext cx="8128594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Referencing in python</a:t>
            </a:r>
          </a:p>
        </p:txBody>
      </p:sp>
      <p:sp>
        <p:nvSpPr>
          <p:cNvPr id="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1340721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8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0119" y="2607600"/>
            <a:ext cx="8128594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Numbers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9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6076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4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Rectangle 1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9744" y="2958433"/>
            <a:ext cx="8128969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String</a:t>
            </a:r>
          </a:p>
        </p:txBody>
      </p:sp>
      <p:sp>
        <p:nvSpPr>
          <p:cNvPr id="25" name="Rectangle 1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81000" y="2958433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5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9744" y="3354524"/>
            <a:ext cx="8128969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List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7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81000" y="3354524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6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8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19744" y="3750600"/>
            <a:ext cx="8128969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Tuple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9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81000" y="3750600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7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9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9744" y="4131600"/>
            <a:ext cx="8128969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Dictionary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0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81000" y="4131600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8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97825" y="49530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Assignments</a:t>
            </a:r>
          </a:p>
        </p:txBody>
      </p:sp>
      <p:sp>
        <p:nvSpPr>
          <p:cNvPr id="23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09825" y="49530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10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0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09600" y="1676400"/>
            <a:ext cx="8128594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Basics of If and else statements</a:t>
            </a:r>
          </a:p>
        </p:txBody>
      </p:sp>
      <p:sp>
        <p:nvSpPr>
          <p:cNvPr id="31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70481" y="1676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2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2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09600" y="1998000"/>
            <a:ext cx="8128594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Basics of for , while</a:t>
            </a:r>
          </a:p>
        </p:txBody>
      </p:sp>
      <p:sp>
        <p:nvSpPr>
          <p:cNvPr id="33" name="Rectangle 15">
            <a:hlinkClick r:id="rId22" action="ppaction://hlinksldjump"/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70481" y="19980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3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4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19744" y="4495800"/>
            <a:ext cx="8128969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Usage of Sets</a:t>
            </a:r>
            <a:endParaRPr lang="en-US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35" name="Rectangle 15">
            <a:hlinkClick r:id="rId23" action="ppaction://hlinksldjump"/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81000" y="4495800"/>
            <a:ext cx="273339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9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Refrencing</a:t>
            </a:r>
            <a:r>
              <a:rPr lang="en-US" dirty="0" smtClean="0"/>
              <a:t> in python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218486"/>
            <a:ext cx="77788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Sort function:</a:t>
            </a:r>
          </a:p>
          <a:p>
            <a:r>
              <a:rPr lang="en-US" dirty="0" smtClean="0"/>
              <a:t>a = [5,4,1,4,3,2]</a:t>
            </a:r>
          </a:p>
          <a:p>
            <a:r>
              <a:rPr lang="en-US" dirty="0" err="1" smtClean="0"/>
              <a:t>a.sort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[1,2,3,4,4,5]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Problem:</a:t>
            </a:r>
          </a:p>
          <a:p>
            <a:r>
              <a:rPr lang="en-US" dirty="0" smtClean="0"/>
              <a:t>a = [5,4,1,4,3,2]</a:t>
            </a:r>
          </a:p>
          <a:p>
            <a:r>
              <a:rPr lang="en-US" dirty="0" smtClean="0"/>
              <a:t>b = a</a:t>
            </a:r>
          </a:p>
          <a:p>
            <a:r>
              <a:rPr lang="en-US" dirty="0" err="1" smtClean="0"/>
              <a:t>b.sort</a:t>
            </a:r>
            <a:r>
              <a:rPr lang="en-US" dirty="0" smtClean="0"/>
              <a:t>()</a:t>
            </a:r>
          </a:p>
          <a:p>
            <a:r>
              <a:rPr lang="en-US" dirty="0" smtClean="0"/>
              <a:t>print a</a:t>
            </a:r>
          </a:p>
          <a:p>
            <a:r>
              <a:rPr lang="en-US" dirty="0" smtClean="0"/>
              <a:t>print b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if and else statements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31427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If , </a:t>
            </a:r>
            <a:r>
              <a:rPr lang="en-US" sz="2000" dirty="0" err="1" smtClean="0"/>
              <a:t>elif</a:t>
            </a:r>
            <a:r>
              <a:rPr lang="en-US" sz="2000" dirty="0" smtClean="0"/>
              <a:t> and else statement</a:t>
            </a:r>
          </a:p>
          <a:p>
            <a:r>
              <a:rPr lang="en-US" sz="2000" dirty="0" smtClean="0"/>
              <a:t>Ex: </a:t>
            </a:r>
          </a:p>
          <a:p>
            <a:endParaRPr lang="en-US" sz="2000" dirty="0" smtClean="0"/>
          </a:p>
          <a:p>
            <a:r>
              <a:rPr lang="en-US" sz="2000" dirty="0" smtClean="0"/>
              <a:t>a = input(“please enter a value for a : ”)</a:t>
            </a:r>
          </a:p>
          <a:p>
            <a:r>
              <a:rPr lang="en-US" sz="2000" dirty="0" smtClean="0"/>
              <a:t>b = input(“please enter a value for b : ”)</a:t>
            </a:r>
          </a:p>
          <a:p>
            <a:endParaRPr lang="en-US" sz="2000" dirty="0" smtClean="0"/>
          </a:p>
          <a:p>
            <a:r>
              <a:rPr lang="en-US" sz="2000" dirty="0" smtClean="0"/>
              <a:t>If a&gt;b:</a:t>
            </a:r>
          </a:p>
          <a:p>
            <a:r>
              <a:rPr lang="en-US" sz="2000" dirty="0" smtClean="0"/>
              <a:t>	print “a is greater than b”</a:t>
            </a:r>
          </a:p>
          <a:p>
            <a:r>
              <a:rPr lang="en-US" sz="2000" dirty="0" err="1" smtClean="0"/>
              <a:t>e</a:t>
            </a:r>
            <a:r>
              <a:rPr lang="en-US" sz="2000" dirty="0" err="1" smtClean="0"/>
              <a:t>lif</a:t>
            </a:r>
            <a:r>
              <a:rPr lang="en-US" sz="2000" dirty="0" smtClean="0"/>
              <a:t>(a&lt;b):</a:t>
            </a:r>
            <a:endParaRPr lang="en-US" sz="2000" dirty="0" smtClean="0"/>
          </a:p>
          <a:p>
            <a:r>
              <a:rPr lang="en-US" sz="2000" dirty="0" smtClean="0"/>
              <a:t>	print “b is greater than a”</a:t>
            </a:r>
          </a:p>
          <a:p>
            <a:r>
              <a:rPr lang="en-US" sz="2000" dirty="0" smtClean="0"/>
              <a:t>else:</a:t>
            </a:r>
          </a:p>
          <a:p>
            <a:r>
              <a:rPr lang="en-US" sz="2000" dirty="0" smtClean="0"/>
              <a:t>	print “a is equal to b”</a:t>
            </a:r>
          </a:p>
          <a:p>
            <a:r>
              <a:rPr lang="en-US" sz="2000" dirty="0" smtClean="0"/>
              <a:t>	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for and while loops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For  loop:</a:t>
            </a:r>
          </a:p>
          <a:p>
            <a:r>
              <a:rPr lang="en-US" sz="2000" dirty="0" smtClean="0"/>
              <a:t>Ex 1 :</a:t>
            </a:r>
          </a:p>
          <a:p>
            <a:r>
              <a:rPr lang="en-US" sz="2000" dirty="0" smtClean="0"/>
              <a:t>For  x in range(0,10):</a:t>
            </a:r>
          </a:p>
          <a:p>
            <a:r>
              <a:rPr lang="en-US" sz="2000" dirty="0" smtClean="0"/>
              <a:t>	print x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Ans</a:t>
            </a:r>
            <a:r>
              <a:rPr lang="en-US" sz="2000" dirty="0" smtClean="0"/>
              <a:t>: ?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Ex 2:</a:t>
            </a:r>
          </a:p>
          <a:p>
            <a:r>
              <a:rPr lang="en-US" sz="2000" dirty="0" smtClean="0"/>
              <a:t>a = [4,2,7,3,4]</a:t>
            </a:r>
          </a:p>
          <a:p>
            <a:r>
              <a:rPr lang="en-US" sz="2000" dirty="0" smtClean="0"/>
              <a:t>For x in a:</a:t>
            </a:r>
          </a:p>
          <a:p>
            <a:r>
              <a:rPr lang="en-US" sz="2000" dirty="0" smtClean="0"/>
              <a:t>	print x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Ans</a:t>
            </a:r>
            <a:r>
              <a:rPr lang="en-US" sz="2000" dirty="0" smtClean="0"/>
              <a:t>: ?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for and while loops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066800"/>
            <a:ext cx="777882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While loop:</a:t>
            </a:r>
          </a:p>
          <a:p>
            <a:r>
              <a:rPr lang="en-US" sz="2000" dirty="0" smtClean="0"/>
              <a:t>Ex 1 :</a:t>
            </a:r>
          </a:p>
          <a:p>
            <a:r>
              <a:rPr lang="en-US" sz="2000" dirty="0" smtClean="0"/>
              <a:t>Count =  0</a:t>
            </a:r>
          </a:p>
          <a:p>
            <a:r>
              <a:rPr lang="en-US" sz="2000" dirty="0" smtClean="0"/>
              <a:t>While (Count &lt;5):</a:t>
            </a:r>
          </a:p>
          <a:p>
            <a:r>
              <a:rPr lang="en-US" sz="2000" dirty="0" smtClean="0"/>
              <a:t>	print </a:t>
            </a:r>
            <a:r>
              <a:rPr lang="en-US" sz="2000" dirty="0" smtClean="0"/>
              <a:t>count</a:t>
            </a:r>
          </a:p>
          <a:p>
            <a:r>
              <a:rPr lang="en-US" sz="2000" dirty="0" smtClean="0"/>
              <a:t>	</a:t>
            </a:r>
            <a:r>
              <a:rPr lang="en-US" sz="2000" dirty="0" smtClean="0"/>
              <a:t>count += 1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Ans</a:t>
            </a:r>
            <a:r>
              <a:rPr lang="en-US" sz="2000" dirty="0" smtClean="0"/>
              <a:t> : ?</a:t>
            </a:r>
          </a:p>
          <a:p>
            <a:r>
              <a:rPr lang="en-US" sz="2000" dirty="0" smtClean="0"/>
              <a:t>	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numbers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Numbers are immutable</a:t>
            </a:r>
          </a:p>
          <a:p>
            <a:r>
              <a:rPr lang="en-US" sz="2000" dirty="0" smtClean="0"/>
              <a:t>Immutable meaning: one that cannot be changed</a:t>
            </a:r>
          </a:p>
          <a:p>
            <a:r>
              <a:rPr lang="en-US" sz="2000" dirty="0" smtClean="0"/>
              <a:t>Ex : a = 1234</a:t>
            </a:r>
          </a:p>
          <a:p>
            <a:r>
              <a:rPr lang="en-US" sz="2000" dirty="0" smtClean="0"/>
              <a:t>a[2</a:t>
            </a:r>
            <a:r>
              <a:rPr lang="en-US" sz="2000" dirty="0" smtClean="0"/>
              <a:t>] = 5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TypeError</a:t>
            </a:r>
            <a:r>
              <a:rPr lang="en-US" sz="2000" dirty="0" smtClean="0"/>
              <a:t>: '</a:t>
            </a:r>
            <a:r>
              <a:rPr lang="en-US" sz="2000" dirty="0" err="1" smtClean="0"/>
              <a:t>int</a:t>
            </a:r>
            <a:r>
              <a:rPr lang="en-US" sz="2000" dirty="0" smtClean="0"/>
              <a:t>' object has no attribute ‘__</a:t>
            </a:r>
            <a:r>
              <a:rPr lang="en-US" sz="2000" dirty="0" err="1" smtClean="0"/>
              <a:t>getitem</a:t>
            </a:r>
            <a:r>
              <a:rPr lang="en-US" sz="2000" dirty="0" smtClean="0"/>
              <a:t>__’</a:t>
            </a:r>
          </a:p>
          <a:p>
            <a:endParaRPr lang="en-US" sz="2000" dirty="0" smtClean="0"/>
          </a:p>
          <a:p>
            <a:r>
              <a:rPr lang="en-US" sz="2000" dirty="0" smtClean="0"/>
              <a:t>Python makes MATH simple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124325"/>
            <a:ext cx="44005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225" y="4562475"/>
            <a:ext cx="43529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Strings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7" name="Rectangle 6"/>
          <p:cNvSpPr/>
          <p:nvPr/>
        </p:nvSpPr>
        <p:spPr>
          <a:xfrm>
            <a:off x="609600" y="1066800"/>
            <a:ext cx="7778824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Strings are immutable</a:t>
            </a:r>
          </a:p>
          <a:p>
            <a:r>
              <a:rPr lang="en-US" sz="1600" dirty="0" smtClean="0"/>
              <a:t>Immutable meaning: one that cannot be changed</a:t>
            </a:r>
          </a:p>
          <a:p>
            <a:r>
              <a:rPr lang="en-US" sz="1600" dirty="0" smtClean="0"/>
              <a:t>Ex : a = “Hello”</a:t>
            </a:r>
          </a:p>
          <a:p>
            <a:r>
              <a:rPr lang="en-US" sz="1600" dirty="0" smtClean="0"/>
              <a:t>a[2] = “f”</a:t>
            </a:r>
          </a:p>
          <a:p>
            <a:endParaRPr lang="en-US" sz="1600" dirty="0" smtClean="0"/>
          </a:p>
          <a:p>
            <a:r>
              <a:rPr lang="en-US" sz="1600" dirty="0" err="1" smtClean="0"/>
              <a:t>TypeError</a:t>
            </a:r>
            <a:r>
              <a:rPr lang="en-US" sz="1600" dirty="0" smtClean="0"/>
              <a:t>: '</a:t>
            </a:r>
            <a:r>
              <a:rPr lang="en-US" sz="1600" dirty="0" err="1" smtClean="0"/>
              <a:t>str</a:t>
            </a:r>
            <a:r>
              <a:rPr lang="en-US" sz="1600" dirty="0" smtClean="0"/>
              <a:t>' object does not support item assignment</a:t>
            </a:r>
          </a:p>
          <a:p>
            <a:endParaRPr lang="en-US" sz="1600" dirty="0" smtClean="0"/>
          </a:p>
          <a:p>
            <a:r>
              <a:rPr lang="en-US" sz="1600" dirty="0" smtClean="0"/>
              <a:t>Try this !!!:</a:t>
            </a:r>
          </a:p>
          <a:p>
            <a:endParaRPr lang="en-US" sz="1600" dirty="0" smtClean="0"/>
          </a:p>
          <a:p>
            <a:r>
              <a:rPr lang="en-US" sz="1600" dirty="0" smtClean="0"/>
              <a:t>For x in a:</a:t>
            </a:r>
          </a:p>
          <a:p>
            <a:r>
              <a:rPr lang="en-US" sz="1600" dirty="0" smtClean="0"/>
              <a:t>	Print x</a:t>
            </a:r>
          </a:p>
          <a:p>
            <a:endParaRPr lang="en-US" sz="1600" dirty="0" smtClean="0"/>
          </a:p>
          <a:p>
            <a:r>
              <a:rPr lang="en-US" sz="1600" dirty="0" smtClean="0"/>
              <a:t>Strings also fall under the category of collections</a:t>
            </a:r>
          </a:p>
          <a:p>
            <a:endParaRPr lang="en-US" sz="1600" dirty="0" smtClean="0"/>
          </a:p>
          <a:p>
            <a:r>
              <a:rPr lang="en-US" sz="1600" dirty="0" smtClean="0"/>
              <a:t>What is ?</a:t>
            </a:r>
          </a:p>
          <a:p>
            <a:r>
              <a:rPr lang="en-US" sz="1600" dirty="0" smtClean="0"/>
              <a:t>a[ :2:1] = </a:t>
            </a:r>
          </a:p>
          <a:p>
            <a:r>
              <a:rPr lang="en-US" sz="1600" dirty="0" smtClean="0"/>
              <a:t>a[ :2:-1] = </a:t>
            </a:r>
          </a:p>
          <a:p>
            <a:r>
              <a:rPr lang="en-US" sz="1600" dirty="0" smtClean="0"/>
              <a:t>a[ : :-1] = 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400" dirty="0" smtClean="0"/>
              <a:t>	</a:t>
            </a:r>
          </a:p>
          <a:p>
            <a:pPr marL="457200" lvl="2"/>
            <a:r>
              <a:rPr lang="en-US" sz="1400" dirty="0" smtClean="0"/>
              <a:t> </a:t>
            </a:r>
          </a:p>
          <a:p>
            <a:endParaRPr lang="en-US" sz="1400" dirty="0" smtClean="0"/>
          </a:p>
          <a:p>
            <a:r>
              <a:rPr lang="en-US" sz="1400" dirty="0" smtClean="0"/>
              <a:t>	</a:t>
            </a:r>
          </a:p>
          <a:p>
            <a:r>
              <a:rPr lang="en-US" sz="1400" dirty="0" smtClean="0"/>
              <a:t>	</a:t>
            </a:r>
          </a:p>
          <a:p>
            <a:r>
              <a:rPr lang="en-US" sz="1400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if Lists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List is mutable</a:t>
            </a:r>
          </a:p>
          <a:p>
            <a:r>
              <a:rPr lang="en-US" sz="2000" dirty="0" smtClean="0"/>
              <a:t>It fall under collections</a:t>
            </a:r>
          </a:p>
          <a:p>
            <a:r>
              <a:rPr lang="en-US" sz="2000" dirty="0" smtClean="0"/>
              <a:t>It is heterogeneous</a:t>
            </a:r>
          </a:p>
          <a:p>
            <a:r>
              <a:rPr lang="en-US" sz="2000" dirty="0" smtClean="0"/>
              <a:t>Elements will be in the order as what entered</a:t>
            </a:r>
          </a:p>
          <a:p>
            <a:r>
              <a:rPr lang="en-US" sz="2000" dirty="0" smtClean="0"/>
              <a:t>It can be used as a stack </a:t>
            </a:r>
          </a:p>
          <a:p>
            <a:endParaRPr lang="en-US" sz="2000" dirty="0" smtClean="0"/>
          </a:p>
          <a:p>
            <a:r>
              <a:rPr lang="en-US" sz="2000" dirty="0" smtClean="0"/>
              <a:t> Ex:</a:t>
            </a:r>
          </a:p>
          <a:p>
            <a:r>
              <a:rPr lang="en-US" sz="2000" dirty="0" smtClean="0"/>
              <a:t>a = [1,2,3,5]</a:t>
            </a:r>
          </a:p>
          <a:p>
            <a:endParaRPr lang="en-US" sz="2000" dirty="0" smtClean="0"/>
          </a:p>
          <a:p>
            <a:r>
              <a:rPr lang="en-US" sz="2000" dirty="0" smtClean="0"/>
              <a:t>You can do:</a:t>
            </a:r>
          </a:p>
          <a:p>
            <a:r>
              <a:rPr lang="en-US" sz="2000" dirty="0" smtClean="0"/>
              <a:t>a[3] = 4</a:t>
            </a:r>
          </a:p>
          <a:p>
            <a:endParaRPr lang="en-US" sz="2000" dirty="0" smtClean="0"/>
          </a:p>
          <a:p>
            <a:r>
              <a:rPr lang="en-US" sz="2000" dirty="0" smtClean="0"/>
              <a:t>a.pop()</a:t>
            </a:r>
          </a:p>
          <a:p>
            <a:r>
              <a:rPr lang="en-US" sz="2000" dirty="0" err="1" smtClean="0"/>
              <a:t>Ans</a:t>
            </a:r>
            <a:r>
              <a:rPr lang="en-US" sz="2000" dirty="0" smtClean="0"/>
              <a:t> : 5</a:t>
            </a:r>
          </a:p>
          <a:p>
            <a:r>
              <a:rPr lang="en-US" sz="2000" dirty="0" smtClean="0"/>
              <a:t>Print a</a:t>
            </a:r>
          </a:p>
          <a:p>
            <a:r>
              <a:rPr lang="en-US" sz="2000" dirty="0" smtClean="0"/>
              <a:t>[1,2,3]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7" name="Rectangle 6"/>
          <p:cNvSpPr/>
          <p:nvPr/>
        </p:nvSpPr>
        <p:spPr>
          <a:xfrm>
            <a:off x="609600" y="1066800"/>
            <a:ext cx="777882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If there is any series data that should not be modified even by mistake then make it a </a:t>
            </a:r>
            <a:r>
              <a:rPr lang="en-US" sz="2000" dirty="0" err="1" smtClean="0"/>
              <a:t>tuple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 smtClean="0"/>
              <a:t>Elements will be in the order as what entered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Ex:</a:t>
            </a:r>
          </a:p>
          <a:p>
            <a:r>
              <a:rPr lang="en-US" sz="2000" dirty="0" smtClean="0"/>
              <a:t>a = ([4,5,1,2,3], [7,4,6,2])</a:t>
            </a:r>
          </a:p>
          <a:p>
            <a:r>
              <a:rPr lang="en-US" sz="2000" dirty="0" smtClean="0"/>
              <a:t>Type(a)  = ?</a:t>
            </a:r>
          </a:p>
          <a:p>
            <a:endParaRPr lang="en-US" sz="2000" dirty="0" smtClean="0"/>
          </a:p>
          <a:p>
            <a:r>
              <a:rPr lang="en-US" sz="2000" dirty="0" smtClean="0"/>
              <a:t>a[0].sort() = ?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Dictionary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Here Keys are immutable but Values are mutable:</a:t>
            </a:r>
          </a:p>
          <a:p>
            <a:r>
              <a:rPr lang="en-US" sz="2000" dirty="0" smtClean="0"/>
              <a:t>Here the order of the elements may change(it may not be in the order in which you put )</a:t>
            </a:r>
          </a:p>
          <a:p>
            <a:endParaRPr lang="en-US" sz="2000" dirty="0" smtClean="0"/>
          </a:p>
          <a:p>
            <a:r>
              <a:rPr lang="en-US" sz="2000" dirty="0" smtClean="0"/>
              <a:t>Problem:</a:t>
            </a:r>
          </a:p>
          <a:p>
            <a:r>
              <a:rPr lang="en-US" sz="2000" dirty="0" smtClean="0"/>
              <a:t>a = </a:t>
            </a:r>
            <a:r>
              <a:rPr lang="en-US" sz="2000" dirty="0" err="1" smtClean="0"/>
              <a:t>raw_input</a:t>
            </a:r>
            <a:r>
              <a:rPr lang="en-US" sz="2000" dirty="0" smtClean="0"/>
              <a:t>(“please enter a string : ”)</a:t>
            </a:r>
          </a:p>
          <a:p>
            <a:r>
              <a:rPr lang="en-US" sz="2000" dirty="0" smtClean="0"/>
              <a:t>Print all distinct letters as keys and number of occurrences of letter s as </a:t>
            </a:r>
            <a:r>
              <a:rPr lang="en-US" sz="2000" dirty="0" err="1" smtClean="0"/>
              <a:t>velues</a:t>
            </a:r>
            <a:r>
              <a:rPr lang="en-US" sz="2000" dirty="0" smtClean="0"/>
              <a:t> </a:t>
            </a:r>
          </a:p>
          <a:p>
            <a:endParaRPr lang="en-US" sz="2000" dirty="0" smtClean="0"/>
          </a:p>
          <a:p>
            <a:r>
              <a:rPr lang="en-US" sz="2000" dirty="0" smtClean="0"/>
              <a:t>Ex : input string = “hello”</a:t>
            </a:r>
          </a:p>
          <a:p>
            <a:r>
              <a:rPr lang="en-US" sz="2000" dirty="0" smtClean="0"/>
              <a:t>{‘h’:1 , ‘e’ : 1, ‘l’ : 2, ‘o’: 1}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sets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Sets removes duplicates</a:t>
            </a:r>
          </a:p>
          <a:p>
            <a:r>
              <a:rPr lang="en-US" sz="2000" dirty="0" smtClean="0"/>
              <a:t>Can be used as sets in regular mathematics</a:t>
            </a:r>
          </a:p>
          <a:p>
            <a:r>
              <a:rPr lang="en-US" sz="2000" dirty="0" smtClean="0"/>
              <a:t>To find union, intersection, </a:t>
            </a:r>
            <a:r>
              <a:rPr lang="en-US" sz="2000" dirty="0" err="1" smtClean="0"/>
              <a:t>isdisjoined</a:t>
            </a:r>
            <a:r>
              <a:rPr lang="en-US" sz="2000" dirty="0" smtClean="0"/>
              <a:t>?, </a:t>
            </a:r>
            <a:r>
              <a:rPr lang="en-US" sz="2000" dirty="0" err="1" smtClean="0"/>
              <a:t>issubset</a:t>
            </a:r>
            <a:r>
              <a:rPr lang="en-US" sz="2000" dirty="0" smtClean="0"/>
              <a:t>()?</a:t>
            </a:r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1 . Find the number of letters(Should not have special characters), words and paragraphs in this text, find the number if occurrence of the word “</a:t>
            </a:r>
            <a:r>
              <a:rPr lang="en-US" dirty="0" err="1" smtClean="0"/>
              <a:t>Cyborg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dirty="0" smtClean="0"/>
              <a:t>“A </a:t>
            </a:r>
            <a:r>
              <a:rPr lang="en-US" b="1" dirty="0" err="1" smtClean="0"/>
              <a:t>cyborg</a:t>
            </a:r>
            <a:r>
              <a:rPr lang="en-US" dirty="0" smtClean="0"/>
              <a:t> (short for "</a:t>
            </a:r>
            <a:r>
              <a:rPr lang="en-US" dirty="0" smtClean="0">
                <a:hlinkClick r:id="rId2" tooltip="Cybernetic"/>
              </a:rPr>
              <a:t>cybernetic</a:t>
            </a:r>
            <a:r>
              <a:rPr lang="en-US" dirty="0" smtClean="0"/>
              <a:t> </a:t>
            </a:r>
            <a:r>
              <a:rPr lang="en-US" dirty="0" smtClean="0">
                <a:hlinkClick r:id="rId3" tooltip="Organism"/>
              </a:rPr>
              <a:t>organism</a:t>
            </a:r>
            <a:r>
              <a:rPr lang="en-US" dirty="0" smtClean="0"/>
              <a:t>") is a theoretical or fictional being with both organic </a:t>
            </a:r>
            <a:r>
              <a:rPr lang="en-US" dirty="0" err="1" smtClean="0"/>
              <a:t>and</a:t>
            </a:r>
            <a:r>
              <a:rPr lang="en-US" dirty="0" err="1" smtClean="0">
                <a:hlinkClick r:id="rId4" tooltip="Biomechatronic"/>
              </a:rPr>
              <a:t>biomechatronic</a:t>
            </a:r>
            <a:r>
              <a:rPr lang="en-US" dirty="0" smtClean="0"/>
              <a:t> parts. The term was coined in 1960 by </a:t>
            </a:r>
            <a:r>
              <a:rPr lang="en-US" dirty="0" smtClean="0">
                <a:hlinkClick r:id="rId5" tooltip="Manfred Clynes"/>
              </a:rPr>
              <a:t>Manfred </a:t>
            </a:r>
            <a:r>
              <a:rPr lang="en-US" dirty="0" err="1" smtClean="0">
                <a:hlinkClick r:id="rId5" tooltip="Manfred Clynes"/>
              </a:rPr>
              <a:t>Clynes</a:t>
            </a:r>
            <a:r>
              <a:rPr lang="en-US" dirty="0" smtClean="0"/>
              <a:t> and </a:t>
            </a:r>
            <a:r>
              <a:rPr lang="en-US" dirty="0" smtClean="0">
                <a:hlinkClick r:id="rId6" tooltip="Nathan S. Kline"/>
              </a:rPr>
              <a:t>Nathan S. Kline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7"/>
              </a:rPr>
              <a:t>[1]</a:t>
            </a:r>
            <a:r>
              <a:rPr lang="en-US" dirty="0" smtClean="0"/>
              <a:t> D. S. </a:t>
            </a:r>
            <a:r>
              <a:rPr lang="en-US" dirty="0" err="1" smtClean="0"/>
              <a:t>Halacy's</a:t>
            </a:r>
            <a:r>
              <a:rPr lang="en-US" dirty="0" smtClean="0"/>
              <a:t> </a:t>
            </a:r>
            <a:r>
              <a:rPr lang="en-US" i="1" dirty="0" err="1" smtClean="0"/>
              <a:t>Cyborg</a:t>
            </a:r>
            <a:r>
              <a:rPr lang="en-US" i="1" dirty="0" smtClean="0"/>
              <a:t>: Evolution of the Superman</a:t>
            </a:r>
            <a:r>
              <a:rPr lang="en-US" dirty="0" smtClean="0"/>
              <a:t> in 1965 featured an introduction which spoke of a "new frontier" that was "not merely space, but more profoundly the relationship between 'inner space' to 'outer space' – a bridge...between mind and matter."</a:t>
            </a:r>
            <a:r>
              <a:rPr lang="en-US" baseline="30000" dirty="0" smtClean="0">
                <a:hlinkClick r:id="rId7"/>
              </a:rPr>
              <a:t>[2]</a:t>
            </a:r>
            <a:endParaRPr lang="en-US" dirty="0" smtClean="0"/>
          </a:p>
          <a:p>
            <a:r>
              <a:rPr lang="en-US" dirty="0" smtClean="0"/>
              <a:t>The term </a:t>
            </a:r>
            <a:r>
              <a:rPr lang="en-US" dirty="0" err="1" smtClean="0"/>
              <a:t>cyborg</a:t>
            </a:r>
            <a:r>
              <a:rPr lang="en-US" dirty="0" smtClean="0"/>
              <a:t> is not the same thing as </a:t>
            </a:r>
            <a:r>
              <a:rPr lang="en-US" dirty="0" smtClean="0">
                <a:hlinkClick r:id="rId8" tooltip="Bionic"/>
              </a:rPr>
              <a:t>bionic</a:t>
            </a:r>
            <a:r>
              <a:rPr lang="en-US" dirty="0" smtClean="0"/>
              <a:t> and often applied to an organism that has restored function or enhanced abilities due to the integration of some artificial component or technology that relies on some sort of </a:t>
            </a:r>
            <a:r>
              <a:rPr lang="en-US" dirty="0" smtClean="0">
                <a:hlinkClick r:id="rId9" tooltip="Feedback"/>
              </a:rPr>
              <a:t>feedback</a:t>
            </a:r>
            <a:r>
              <a:rPr lang="en-US" dirty="0" smtClean="0"/>
              <a:t>.</a:t>
            </a:r>
            <a:r>
              <a:rPr lang="en-US" baseline="30000" dirty="0" smtClean="0">
                <a:hlinkClick r:id="rId7"/>
              </a:rPr>
              <a:t>[3][4]</a:t>
            </a:r>
            <a:r>
              <a:rPr lang="en-US" dirty="0" smtClean="0"/>
              <a:t> While </a:t>
            </a:r>
            <a:r>
              <a:rPr lang="en-US" dirty="0" err="1" smtClean="0"/>
              <a:t>cyborgs</a:t>
            </a:r>
            <a:r>
              <a:rPr lang="en-US" dirty="0" smtClean="0"/>
              <a:t> are commonly thought of as </a:t>
            </a:r>
            <a:r>
              <a:rPr lang="en-US" dirty="0" smtClean="0">
                <a:hlinkClick r:id="rId10" tooltip="Mammal"/>
              </a:rPr>
              <a:t>mammals</a:t>
            </a:r>
            <a:r>
              <a:rPr lang="en-US" dirty="0" smtClean="0"/>
              <a:t>, they might also conceivably be any kind of </a:t>
            </a:r>
            <a:r>
              <a:rPr lang="en-US" dirty="0" smtClean="0">
                <a:hlinkClick r:id="rId3" tooltip="Organism"/>
              </a:rPr>
              <a:t>organism</a:t>
            </a:r>
            <a:r>
              <a:rPr lang="en-US" dirty="0" smtClean="0"/>
              <a:t> and the term "Cybernetic organism" has been applied to networks, such as road systems, corporations and governments, which have been classed as such. The term can also apply to micro-organisms which are modified to perform at higher levels than their unmodified counterparts. It is hypothesized that </a:t>
            </a:r>
            <a:r>
              <a:rPr lang="en-US" dirty="0" err="1" smtClean="0"/>
              <a:t>cyborg</a:t>
            </a:r>
            <a:r>
              <a:rPr lang="en-US" dirty="0" smtClean="0"/>
              <a:t> technology will form a part of the </a:t>
            </a:r>
            <a:r>
              <a:rPr lang="en-US" dirty="0" smtClean="0">
                <a:hlinkClick r:id="rId11" tooltip="Future human evolution (page does not exist)"/>
              </a:rPr>
              <a:t>future human evolution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”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12 June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Thank you</a:t>
            </a:r>
            <a:endParaRPr lang="en-US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42F8-CEA3-49F3-B751-D92902D0DDAB}" type="datetime3">
              <a:rPr lang="en-US" smtClean="0"/>
              <a:pPr/>
              <a:t>12 June 2015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2148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heme/theme1.xml><?xml version="1.0" encoding="utf-8"?>
<a:theme xmlns:a="http://schemas.openxmlformats.org/drawingml/2006/main" name="ppt_template_continental_automotive_en-4-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ppt_template_continental_automotive_en-4-3</Template>
  <TotalTime>0</TotalTime>
  <Words>544</Words>
  <Application>Microsoft Office PowerPoint</Application>
  <PresentationFormat>On-screen Show (4:3)</PresentationFormat>
  <Paragraphs>299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ppt_template_continental_automotive_en-4-3</vt:lpstr>
      <vt:lpstr>03. Python – Usage of Data types </vt:lpstr>
      <vt:lpstr>Topics </vt:lpstr>
      <vt:lpstr>Refrencing in python </vt:lpstr>
      <vt:lpstr>Basics of if and else statements</vt:lpstr>
      <vt:lpstr>Basics of for and while loops</vt:lpstr>
      <vt:lpstr>Basics of for and while loops</vt:lpstr>
      <vt:lpstr>Usage of numbers</vt:lpstr>
      <vt:lpstr>Usage of Strings</vt:lpstr>
      <vt:lpstr>Usage if Lists</vt:lpstr>
      <vt:lpstr>Usage of tuples</vt:lpstr>
      <vt:lpstr>Usage of Dictionary</vt:lpstr>
      <vt:lpstr>Usage of sets</vt:lpstr>
      <vt:lpstr>Assignments</vt:lpstr>
      <vt:lpstr>Thank you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uidt5719</dc:creator>
  <cp:lastModifiedBy>uidr2702</cp:lastModifiedBy>
  <cp:revision>419</cp:revision>
  <dcterms:created xsi:type="dcterms:W3CDTF">2013-12-05T05:21:14Z</dcterms:created>
  <dcterms:modified xsi:type="dcterms:W3CDTF">2015-06-12T13:18:07Z</dcterms:modified>
</cp:coreProperties>
</file>